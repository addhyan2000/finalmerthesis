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5"/>
    <p:sldId id="257" r:id="rId6"/>
    <p:sldId id="258" r:id="rId7"/>
    <p:sldId id="259" r:id="rId4"/>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presProps" Target="presProps.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Clips</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A8CC2F"/>
              </a:solidFill>
            </c:spPr>
          </c:dPt>
          <c:dPt>
            <c:idx val="2"/>
            <c:invertIfNegative val="0"/>
            <c:bubble3D val="0"/>
            <c:spPr>
              <a:solidFill>
                <a:srgbClr val="00A0C8"/>
              </a:solidFill>
            </c:spPr>
          </c:dPt>
          <c:cat>
            <c:strRef>
              <c:f>Sheet1!$A$2:$A$4</c:f>
              <c:strCache>
                <c:ptCount val="3"/>
                <c:pt idx="0">
                  <c:v>Negative</c:v>
                </c:pt>
                <c:pt idx="1">
                  <c:v>Positive</c:v>
                </c:pt>
                <c:pt idx="2">
                  <c:v>Surprise</c:v>
                </c:pt>
              </c:strCache>
            </c:strRef>
          </c:cat>
          <c:val>
            <c:numRef>
              <c:f>Sheet1!$B$2:$B$4</c:f>
              <c:numCache>
                <c:formatCode>General</c:formatCode>
                <c:ptCount val="3"/>
                <c:pt idx="0">
                  <c:v>99</c:v>
                </c:pt>
                <c:pt idx="1">
                  <c:v>32</c:v>
                </c:pt>
                <c:pt idx="2">
                  <c:v>25</c:v>
                </c:pt>
              </c:numCache>
            </c:numRef>
          </c:val>
        </c:ser>
        <c:dLbls>
          <c:numFmt formatCode="0" sourceLinked="0"/>
          <c:txPr>
            <a:bodyPr/>
            <a:lstStyle/>
            <a:p>
              <a:pPr>
                <a:defRPr sz="1000">
                  <a:solidFill>
                    <a:srgbClr val="414141"/>
                  </a:solidFill>
                  <a:latin typeface="Aria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1000">
                <a:solidFill>
                  <a:srgbClr val="414141"/>
                </a:solidFill>
                <a:latin typeface="Arial"/>
              </a:defRPr>
            </a:pPr>
          </a:p>
        </c:txPr>
        <c:crossAx val="-2113994440"/>
        <c:crosses val="autoZero"/>
        <c:auto val="1"/>
        <c:lblAlgn val="ctr"/>
        <c:lblOffset val="100"/>
        <c:noMultiLvlLbl val="0"/>
      </c:catAx>
      <c:valAx>
        <c:axId val="-2113994440"/>
        <c:scaling>
          <c:max val="120.0"/>
          <c:min val="0.0"/>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20.0"/>
      </c:valAx>
    </c:plotArea>
    <c:dispBlanksAs val="gap"/>
  </c:chart>
  <c:txPr>
    <a:bodyPr/>
    <a:lstStyle/>
    <a:p>
      <a:pPr>
        <a:defRPr sz="1000">
          <a:solidFill>
            <a:srgbClr val="414141"/>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Pooled macro F1</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004CA0"/>
              </a:solidFill>
            </c:spPr>
          </c:dPt>
          <c:dPt>
            <c:idx val="3"/>
            <c:invertIfNegative val="0"/>
            <c:bubble3D val="0"/>
            <c:spPr>
              <a:solidFill>
                <a:srgbClr val="004CA0"/>
              </a:solidFill>
            </c:spPr>
          </c:dPt>
          <c:dPt>
            <c:idx val="4"/>
            <c:invertIfNegative val="0"/>
            <c:bubble3D val="0"/>
            <c:spPr>
              <a:solidFill>
                <a:srgbClr val="004CA0"/>
              </a:solidFill>
            </c:spPr>
          </c:dPt>
          <c:dPt>
            <c:idx val="5"/>
            <c:invertIfNegative val="0"/>
            <c:bubble3D val="0"/>
            <c:spPr>
              <a:solidFill>
                <a:srgbClr val="004CA0"/>
              </a:solidFill>
            </c:spPr>
          </c:dPt>
          <c:dPt>
            <c:idx val="6"/>
            <c:invertIfNegative val="0"/>
            <c:bubble3D val="0"/>
            <c:spPr>
              <a:solidFill>
                <a:srgbClr val="8C8C8C"/>
              </a:solidFill>
            </c:spPr>
          </c:dPt>
          <c:dPt>
            <c:idx val="7"/>
            <c:invertIfNegative val="0"/>
            <c:bubble3D val="0"/>
            <c:spPr>
              <a:solidFill>
                <a:srgbClr val="8C8C8C"/>
              </a:solidFill>
            </c:spPr>
          </c:dPt>
          <c:dPt>
            <c:idx val="8"/>
            <c:invertIfNegative val="0"/>
            <c:bubble3D val="0"/>
            <c:spPr>
              <a:solidFill>
                <a:srgbClr val="8C8C8C"/>
              </a:solidFill>
            </c:spPr>
          </c:dPt>
          <c:dPt>
            <c:idx val="9"/>
            <c:invertIfNegative val="0"/>
            <c:bubble3D val="0"/>
            <c:spPr>
              <a:solidFill>
                <a:srgbClr val="8C8C8C"/>
              </a:solidFill>
            </c:spPr>
          </c:dPt>
          <c:dPt>
            <c:idx val="10"/>
            <c:invertIfNegative val="0"/>
            <c:bubble3D val="0"/>
            <c:spPr>
              <a:solidFill>
                <a:srgbClr val="8C8C8C"/>
              </a:solidFill>
            </c:spPr>
          </c:dPt>
          <c:dPt>
            <c:idx val="11"/>
            <c:invertIfNegative val="0"/>
            <c:bubble3D val="0"/>
            <c:spPr>
              <a:solidFill>
                <a:srgbClr val="8C8C8C"/>
              </a:solidFill>
            </c:spPr>
          </c:dPt>
          <c:cat>
            <c:strRef>
              <c:f>Sheet1!$A$2:$A$13</c:f>
              <c:strCache>
                <c:ptCount val="12"/>
                <c:pt idx="0">
                  <c:v>C2</c:v>
                </c:pt>
                <c:pt idx="1">
                  <c:v>C8</c:v>
                </c:pt>
                <c:pt idx="2">
                  <c:v>C7</c:v>
                </c:pt>
                <c:pt idx="3">
                  <c:v>C12</c:v>
                </c:pt>
                <c:pt idx="4">
                  <c:v>C6</c:v>
                </c:pt>
                <c:pt idx="5">
                  <c:v>C9</c:v>
                </c:pt>
                <c:pt idx="6">
                  <c:v>C13</c:v>
                </c:pt>
                <c:pt idx="7">
                  <c:v>C4</c:v>
                </c:pt>
                <c:pt idx="8">
                  <c:v>C1</c:v>
                </c:pt>
                <c:pt idx="9">
                  <c:v>C5</c:v>
                </c:pt>
                <c:pt idx="10">
                  <c:v>C3</c:v>
                </c:pt>
                <c:pt idx="11">
                  <c:v>C16</c:v>
                </c:pt>
              </c:strCache>
            </c:strRef>
          </c:cat>
          <c:val>
            <c:numRef>
              <c:f>Sheet1!$B$2:$B$13</c:f>
              <c:numCache>
                <c:formatCode>General</c:formatCode>
                <c:ptCount val="12"/>
                <c:pt idx="0">
                  <c:v>0.7122</c:v>
                </c:pt>
                <c:pt idx="1">
                  <c:v>0.6659</c:v>
                </c:pt>
                <c:pt idx="2">
                  <c:v>0.6625</c:v>
                </c:pt>
                <c:pt idx="3">
                  <c:v>0.6581</c:v>
                </c:pt>
                <c:pt idx="4">
                  <c:v>0.6171</c:v>
                </c:pt>
                <c:pt idx="5">
                  <c:v>0.583</c:v>
                </c:pt>
                <c:pt idx="6">
                  <c:v>0.448</c:v>
                </c:pt>
                <c:pt idx="7">
                  <c:v>0.4386</c:v>
                </c:pt>
                <c:pt idx="8">
                  <c:v>0.4337</c:v>
                </c:pt>
                <c:pt idx="9">
                  <c:v>0.4302</c:v>
                </c:pt>
                <c:pt idx="10">
                  <c:v>0.4252</c:v>
                </c:pt>
                <c:pt idx="11">
                  <c:v>0.4192</c:v>
                </c:pt>
              </c:numCache>
            </c:numRef>
          </c:val>
        </c:ser>
        <c:dLbls>
          <c:numFmt formatCode="0.000" sourceLinked="0"/>
          <c:txPr>
            <a:bodyPr/>
            <a:lstStyle/>
            <a:p>
              <a:pPr>
                <a:defRPr sz="750">
                  <a:solidFill>
                    <a:srgbClr val="414141"/>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900">
                <a:solidFill>
                  <a:srgbClr val="414141"/>
                </a:solidFill>
                <a:latin typeface="Arial"/>
              </a:defRPr>
            </a:pPr>
          </a:p>
        </c:txPr>
        <c:crossAx val="-2113994440"/>
        <c:crosses val="autoZero"/>
        <c:auto val="1"/>
        <c:lblAlgn val="ctr"/>
        <c:lblOffset val="100"/>
        <c:noMultiLvlLbl val="0"/>
      </c:catAx>
      <c:valAx>
        <c:axId val="-2113994440"/>
        <c:scaling>
          <c:max val="0.8"/>
          <c:min val="0.0"/>
        </c:scaling>
        <c:delete val="0"/>
        <c:axPos val="l"/>
        <c:majorGridlines>
          <c:spPr>
            <a:ln w="6350">
              <a:solidFill>
                <a:srgbClr val="D9D9D9"/>
              </a:solidFill>
            </a:ln>
          </c:spPr>
        </c:majorGridlines>
        <c:title>
          <c:tx>
            <c:rich>
              <a:bodyPr/>
              <a:lstStyle/>
              <a:p>
                <a:r>
                  <a:rPr sz="900" b="0">
                    <a:solidFill>
                      <a:srgbClr val="8C8C8C"/>
                    </a:solidFill>
                    <a:latin typeface="Arial"/>
                  </a:rPr>
                  <a:t>Pooled macro F1 (higher is better)</a:t>
                </a:r>
              </a:p>
            </c:rich>
          </c:tx>
          <c:layout/>
          <c:overlay val="0"/>
        </c:title>
        <c:numFmt formatCode="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2"/>
      </c:valAx>
    </c:plotArea>
    <c:dispBlanksAs val="gap"/>
  </c:chart>
  <c:txPr>
    <a:bodyPr/>
    <a:lstStyle/>
    <a:p>
      <a:pPr>
        <a:defRPr sz="900">
          <a:solidFill>
            <a:srgbClr val="414141"/>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Mean effect</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8C8C8C"/>
              </a:solidFill>
            </c:spPr>
          </c:dPt>
          <c:dPt>
            <c:idx val="2"/>
            <c:invertIfNegative val="0"/>
            <c:bubble3D val="0"/>
            <c:spPr>
              <a:solidFill>
                <a:srgbClr val="8C8C8C"/>
              </a:solidFill>
            </c:spPr>
          </c:dPt>
          <c:dPt>
            <c:idx val="3"/>
            <c:invertIfNegative val="0"/>
            <c:bubble3D val="0"/>
            <c:spPr>
              <a:solidFill>
                <a:srgbClr val="D2007E"/>
              </a:solidFill>
            </c:spPr>
          </c:dPt>
          <c:cat>
            <c:strRef>
              <c:f>Sheet1!$A$2:$A$5</c:f>
              <c:strCache>
                <c:ptCount val="4"/>
                <c:pt idx="0">
                  <c:v>Transformer</c:v>
                </c:pt>
                <c:pt idx="1">
                  <c:v>Magnification</c:v>
                </c:pt>
                <c:pt idx="2">
                  <c:v>SimAM</c:v>
                </c:pt>
                <c:pt idx="3">
                  <c:v>Conv. stem</c:v>
                </c:pt>
              </c:strCache>
            </c:strRef>
          </c:cat>
          <c:val>
            <c:numRef>
              <c:f>Sheet1!$B$2:$B$5</c:f>
              <c:numCache>
                <c:formatCode>General</c:formatCode>
                <c:ptCount val="4"/>
                <c:pt idx="0">
                  <c:v>0.2173</c:v>
                </c:pt>
                <c:pt idx="1">
                  <c:v>0.0152</c:v>
                </c:pt>
                <c:pt idx="2">
                  <c:v>0.0034</c:v>
                </c:pt>
                <c:pt idx="3">
                  <c:v>-0.031</c:v>
                </c:pt>
              </c:numCache>
            </c:numRef>
          </c:val>
        </c:ser>
        <c:dLbls>
          <c:numFmt formatCode="+0.0000;−0.0000" sourceLinked="0"/>
          <c:txPr>
            <a:bodyPr/>
            <a:lstStyle/>
            <a:p>
              <a:pPr>
                <a:defRPr sz="900">
                  <a:solidFill>
                    <a:srgbClr val="414141"/>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900">
                <a:solidFill>
                  <a:srgbClr val="414141"/>
                </a:solidFill>
                <a:latin typeface="Arial"/>
              </a:defRPr>
            </a:pPr>
          </a:p>
        </c:txPr>
        <c:crossAx val="-2113994440"/>
        <c:crosses val="autoZero"/>
        <c:auto val="1"/>
        <c:lblAlgn val="ctr"/>
        <c:lblOffset val="100"/>
        <c:noMultiLvlLbl val="0"/>
      </c:catAx>
      <c:valAx>
        <c:axId val="-2113994440"/>
        <c:scaling>
          <c:max val="0.25"/>
          <c:min val="-0.05"/>
        </c:scaling>
        <c:delete val="0"/>
        <c:axPos val="l"/>
        <c:majorGridlines>
          <c:spPr>
            <a:ln w="6350">
              <a:solidFill>
                <a:srgbClr val="D9D9D9"/>
              </a:solidFill>
            </a:ln>
          </c:spPr>
        </c:majorGridlines>
        <c:title>
          <c:tx>
            <c:rich>
              <a:bodyPr/>
              <a:lstStyle/>
              <a:p>
                <a:r>
                  <a:rPr sz="900" b="0">
                    <a:solidFill>
                      <a:srgbClr val="8C8C8C"/>
                    </a:solidFill>
                    <a:latin typeface="Arial"/>
                  </a:rPr>
                  <a:t>Average change in pooled macro F1</a:t>
                </a:r>
              </a:p>
            </c:rich>
          </c:tx>
          <c:layout/>
          <c:overlay val="0"/>
        </c:title>
        <c:numFmt formatCode="0.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05"/>
      </c:valAx>
    </c:plotArea>
    <c:dispBlanksAs val="gap"/>
  </c:chart>
  <c:txPr>
    <a:bodyPr/>
    <a:lstStyle/>
    <a:p>
      <a:pPr>
        <a:defRPr sz="900">
          <a:solidFill>
            <a:srgbClr val="414141"/>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UF1</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A8CC2F"/>
              </a:solidFill>
            </c:spPr>
          </c:dPt>
          <c:dPt>
            <c:idx val="3"/>
            <c:invertIfNegative val="0"/>
            <c:bubble3D val="0"/>
            <c:spPr>
              <a:solidFill>
                <a:srgbClr val="004CA0"/>
              </a:solidFill>
            </c:spPr>
          </c:dPt>
          <c:dPt>
            <c:idx val="4"/>
            <c:invertIfNegative val="0"/>
            <c:bubble3D val="0"/>
            <c:spPr>
              <a:solidFill>
                <a:srgbClr val="004CA0"/>
              </a:solidFill>
            </c:spPr>
          </c:dPt>
          <c:dPt>
            <c:idx val="5"/>
            <c:invertIfNegative val="0"/>
            <c:bubble3D val="0"/>
            <c:spPr>
              <a:solidFill>
                <a:srgbClr val="004CA0"/>
              </a:solidFill>
            </c:spPr>
          </c:dPt>
          <c:dPt>
            <c:idx val="6"/>
            <c:invertIfNegative val="0"/>
            <c:bubble3D val="0"/>
            <c:spPr>
              <a:solidFill>
                <a:srgbClr val="004CA0"/>
              </a:solidFill>
            </c:spPr>
          </c:dPt>
          <c:dPt>
            <c:idx val="7"/>
            <c:invertIfNegative val="0"/>
            <c:bubble3D val="0"/>
            <c:spPr>
              <a:solidFill>
                <a:srgbClr val="004CA0"/>
              </a:solidFill>
            </c:spPr>
          </c:dPt>
          <c:cat>
            <c:strRef>
              <c:f>Sheet1!$A$2:$A$9</c:f>
              <c:strCache>
                <c:ptCount val="8"/>
                <c:pt idx="0">
                  <c:v>LBP-TOP</c:v>
                </c:pt>
                <c:pt idx="1">
                  <c:v>Quang et al.</c:v>
                </c:pt>
                <c:pt idx="2">
                  <c:v>This study (C2)</c:v>
                </c:pt>
                <c:pt idx="3">
                  <c:v>Bi-WOOF</c:v>
                </c:pt>
                <c:pt idx="4">
                  <c:v>EMR</c:v>
                </c:pt>
                <c:pt idx="5">
                  <c:v>STSTNet</c:v>
                </c:pt>
                <c:pt idx="6">
                  <c:v>Zhou et al.</c:v>
                </c:pt>
                <c:pt idx="7">
                  <c:v>OFF-ApexNet</c:v>
                </c:pt>
              </c:strCache>
            </c:strRef>
          </c:cat>
          <c:val>
            <c:numRef>
              <c:f>Sheet1!$B$2:$B$9</c:f>
              <c:numCache>
                <c:formatCode>General</c:formatCode>
                <c:ptCount val="8"/>
                <c:pt idx="0">
                  <c:v>0.7026</c:v>
                </c:pt>
                <c:pt idx="1">
                  <c:v>0.7068</c:v>
                </c:pt>
                <c:pt idx="2">
                  <c:v>0.7122</c:v>
                </c:pt>
                <c:pt idx="3">
                  <c:v>0.7805</c:v>
                </c:pt>
                <c:pt idx="4">
                  <c:v>0.8293</c:v>
                </c:pt>
                <c:pt idx="5">
                  <c:v>0.8382</c:v>
                </c:pt>
                <c:pt idx="6">
                  <c:v>0.8621</c:v>
                </c:pt>
                <c:pt idx="7">
                  <c:v>0.8764</c:v>
                </c:pt>
              </c:numCache>
            </c:numRef>
          </c:val>
        </c:ser>
        <c:dLbls>
          <c:numFmt formatCode="0.0000" sourceLinked="0"/>
          <c:txPr>
            <a:bodyPr/>
            <a:lstStyle/>
            <a:p>
              <a:pPr>
                <a:defRPr sz="800">
                  <a:solidFill>
                    <a:srgbClr val="414141"/>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low"/>
        <c:spPr>
          <a:ln>
            <a:solidFill>
              <a:srgbClr val="8C8C8C"/>
            </a:solidFill>
          </a:ln>
        </c:spPr>
        <c:txPr>
          <a:bodyPr/>
          <a:lstStyle/>
          <a:p>
            <a:pPr>
              <a:defRPr sz="900">
                <a:solidFill>
                  <a:srgbClr val="414141"/>
                </a:solidFill>
                <a:latin typeface="Arial"/>
              </a:defRPr>
            </a:pPr>
          </a:p>
        </c:txPr>
        <c:crossAx val="-2113994440"/>
        <c:crosses val="autoZero"/>
        <c:auto val="1"/>
        <c:lblAlgn val="ctr"/>
        <c:lblOffset val="100"/>
        <c:noMultiLvlLbl val="0"/>
      </c:catAx>
      <c:valAx>
        <c:axId val="-2113994440"/>
        <c:scaling>
          <c:max val="1.0"/>
          <c:min val="0.0"/>
        </c:scaling>
        <c:delete val="0"/>
        <c:axPos val="b"/>
        <c:majorGridlines>
          <c:spPr>
            <a:ln w="6350">
              <a:solidFill>
                <a:srgbClr val="D9D9D9"/>
              </a:solidFill>
            </a:ln>
          </c:spPr>
        </c:majorGridlines>
        <c:numFmt formatCode="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2"/>
      </c:valAx>
    </c:plotArea>
    <c:dispBlanksAs val="gap"/>
  </c:chart>
  <c:txPr>
    <a:bodyPr/>
    <a:lstStyle/>
    <a:p>
      <a:pPr>
        <a:defRPr sz="900">
          <a:solidFill>
            <a:srgbClr val="414141"/>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Transformer</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004CA0"/>
              </a:solidFill>
            </c:spPr>
          </c:dPt>
          <c:dPt>
            <c:idx val="3"/>
            <c:invertIfNegative val="0"/>
            <c:bubble3D val="0"/>
            <c:spPr>
              <a:solidFill>
                <a:srgbClr val="004CA0"/>
              </a:solidFill>
            </c:spPr>
          </c:dPt>
          <c:dPt>
            <c:idx val="4"/>
            <c:invertIfNegative val="0"/>
            <c:bubble3D val="0"/>
            <c:spPr>
              <a:solidFill>
                <a:srgbClr val="004CA0"/>
              </a:solidFill>
            </c:spPr>
          </c:dPt>
          <c:dPt>
            <c:idx val="5"/>
            <c:invertIfNegative val="0"/>
            <c:bubble3D val="0"/>
            <c:spPr>
              <a:solidFill>
                <a:srgbClr val="004CA0"/>
              </a:solidFill>
            </c:spPr>
          </c:dPt>
          <c:cat>
            <c:strRef>
              <c:f>Sheet1!$A$2:$A$7</c:f>
              <c:strCache>
                <c:ptCount val="6"/>
                <c:pt idx="0">
                  <c:v>1→2</c:v>
                </c:pt>
                <c:pt idx="1">
                  <c:v>16→8</c:v>
                </c:pt>
                <c:pt idx="2">
                  <c:v>4→12</c:v>
                </c:pt>
                <c:pt idx="3">
                  <c:v>13→7</c:v>
                </c:pt>
                <c:pt idx="4">
                  <c:v>5→6</c:v>
                </c:pt>
                <c:pt idx="5">
                  <c:v>3→9</c:v>
                </c:pt>
              </c:strCache>
            </c:strRef>
          </c:cat>
          <c:val>
            <c:numRef>
              <c:f>Sheet1!$B$2:$B$7</c:f>
              <c:numCache>
                <c:formatCode>General</c:formatCode>
                <c:ptCount val="6"/>
                <c:pt idx="0">
                  <c:v>0.2786</c:v>
                </c:pt>
                <c:pt idx="1">
                  <c:v>0.2467</c:v>
                </c:pt>
                <c:pt idx="2">
                  <c:v>0.2195</c:v>
                </c:pt>
                <c:pt idx="3">
                  <c:v>0.2146</c:v>
                </c:pt>
                <c:pt idx="4">
                  <c:v>0.1869</c:v>
                </c:pt>
                <c:pt idx="5">
                  <c:v>0.1578</c:v>
                </c:pt>
              </c:numCache>
            </c:numRef>
          </c:val>
        </c:ser>
        <c:dLbls>
          <c:numFmt formatCode="+0.000;−0.000" sourceLinked="0"/>
          <c:txPr>
            <a:bodyPr/>
            <a:lstStyle/>
            <a:p>
              <a:pPr>
                <a:defRPr sz="750">
                  <a:solidFill>
                    <a:srgbClr val="414141"/>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00">
                <a:solidFill>
                  <a:srgbClr val="414141"/>
                </a:solidFill>
                <a:latin typeface="Arial"/>
              </a:defRPr>
            </a:pPr>
          </a:p>
        </c:txPr>
        <c:crossAx val="-2113994440"/>
        <c:crosses val="autoZero"/>
        <c:auto val="1"/>
        <c:lblAlgn val="ctr"/>
        <c:lblOffset val="100"/>
        <c:noMultiLvlLbl val="0"/>
      </c:catAx>
      <c:valAx>
        <c:axId val="-2113994440"/>
        <c:scaling>
          <c:max val="0.3"/>
          <c:min val="-0.2"/>
        </c:scaling>
        <c:delete val="0"/>
        <c:axPos val="l"/>
        <c:majorGridlines>
          <c:spPr>
            <a:ln w="6350">
              <a:solidFill>
                <a:srgbClr val="D9D9D9"/>
              </a:solidFill>
            </a:ln>
          </c:spPr>
        </c:majorGridlines>
        <c:numFmt formatCode="0.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1"/>
      </c:valAx>
    </c:plotArea>
    <c:dispBlanksAs val="gap"/>
  </c:chart>
  <c:txPr>
    <a:bodyPr/>
    <a:lstStyle/>
    <a:p>
      <a:pPr>
        <a:defRPr sz="800">
          <a:solidFill>
            <a:srgbClr val="414141"/>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Magnification</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004CA0"/>
              </a:solidFill>
            </c:spPr>
          </c:dPt>
          <c:dPt>
            <c:idx val="3"/>
            <c:invertIfNegative val="0"/>
            <c:bubble3D val="0"/>
            <c:spPr>
              <a:solidFill>
                <a:srgbClr val="004CA0"/>
              </a:solidFill>
            </c:spPr>
          </c:dPt>
          <c:dPt>
            <c:idx val="4"/>
            <c:invertIfNegative val="0"/>
            <c:bubble3D val="0"/>
            <c:spPr>
              <a:solidFill>
                <a:srgbClr val="D2007E"/>
              </a:solidFill>
            </c:spPr>
          </c:dPt>
          <c:dPt>
            <c:idx val="5"/>
            <c:invertIfNegative val="0"/>
            <c:bubble3D val="0"/>
            <c:spPr>
              <a:solidFill>
                <a:srgbClr val="D2007E"/>
              </a:solidFill>
            </c:spPr>
          </c:dPt>
          <c:cat>
            <c:strRef>
              <c:f>Sheet1!$A$2:$A$7</c:f>
              <c:strCache>
                <c:ptCount val="6"/>
                <c:pt idx="0">
                  <c:v>9→7</c:v>
                </c:pt>
                <c:pt idx="1">
                  <c:v>6→8</c:v>
                </c:pt>
                <c:pt idx="2">
                  <c:v>3→13</c:v>
                </c:pt>
                <c:pt idx="3">
                  <c:v>1→4</c:v>
                </c:pt>
                <c:pt idx="4">
                  <c:v>5→16</c:v>
                </c:pt>
                <c:pt idx="5">
                  <c:v>2→12</c:v>
                </c:pt>
              </c:strCache>
            </c:strRef>
          </c:cat>
          <c:val>
            <c:numRef>
              <c:f>Sheet1!$B$2:$B$7</c:f>
              <c:numCache>
                <c:formatCode>General</c:formatCode>
                <c:ptCount val="6"/>
                <c:pt idx="0">
                  <c:v>0.0795</c:v>
                </c:pt>
                <c:pt idx="1">
                  <c:v>0.0488</c:v>
                </c:pt>
                <c:pt idx="2">
                  <c:v>0.0228</c:v>
                </c:pt>
                <c:pt idx="3">
                  <c:v>0.0049</c:v>
                </c:pt>
                <c:pt idx="4">
                  <c:v>-0.0109</c:v>
                </c:pt>
                <c:pt idx="5">
                  <c:v>-0.0541</c:v>
                </c:pt>
              </c:numCache>
            </c:numRef>
          </c:val>
        </c:ser>
        <c:dLbls>
          <c:numFmt formatCode="+0.000;−0.000" sourceLinked="0"/>
          <c:txPr>
            <a:bodyPr/>
            <a:lstStyle/>
            <a:p>
              <a:pPr>
                <a:defRPr sz="750">
                  <a:solidFill>
                    <a:srgbClr val="414141"/>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00">
                <a:solidFill>
                  <a:srgbClr val="414141"/>
                </a:solidFill>
                <a:latin typeface="Arial"/>
              </a:defRPr>
            </a:pPr>
          </a:p>
        </c:txPr>
        <c:crossAx val="-2113994440"/>
        <c:crosses val="autoZero"/>
        <c:auto val="1"/>
        <c:lblAlgn val="ctr"/>
        <c:lblOffset val="100"/>
        <c:noMultiLvlLbl val="0"/>
      </c:catAx>
      <c:valAx>
        <c:axId val="-2113994440"/>
        <c:scaling>
          <c:max val="0.3"/>
          <c:min val="-0.2"/>
        </c:scaling>
        <c:delete val="0"/>
        <c:axPos val="l"/>
        <c:majorGridlines>
          <c:spPr>
            <a:ln w="6350">
              <a:solidFill>
                <a:srgbClr val="D9D9D9"/>
              </a:solidFill>
            </a:ln>
          </c:spPr>
        </c:majorGridlines>
        <c:numFmt formatCode="0.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1"/>
      </c:valAx>
    </c:plotArea>
    <c:dispBlanksAs val="gap"/>
  </c:chart>
  <c:txPr>
    <a:bodyPr/>
    <a:lstStyle/>
    <a:p>
      <a:pPr>
        <a:defRPr sz="800">
          <a:solidFill>
            <a:srgbClr val="414141"/>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SimAM</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004CA0"/>
              </a:solidFill>
            </c:spPr>
          </c:dPt>
          <c:dPt>
            <c:idx val="3"/>
            <c:invertIfNegative val="0"/>
            <c:bubble3D val="0"/>
            <c:spPr>
              <a:solidFill>
                <a:srgbClr val="D2007E"/>
              </a:solidFill>
            </c:spPr>
          </c:dPt>
          <c:cat>
            <c:strRef>
              <c:f>Sheet1!$A$2:$A$5</c:f>
              <c:strCache>
                <c:ptCount val="4"/>
                <c:pt idx="0">
                  <c:v>9→6</c:v>
                </c:pt>
                <c:pt idx="1">
                  <c:v>3→5</c:v>
                </c:pt>
                <c:pt idx="2">
                  <c:v>7→8</c:v>
                </c:pt>
                <c:pt idx="3">
                  <c:v>13→16</c:v>
                </c:pt>
              </c:strCache>
            </c:strRef>
          </c:cat>
          <c:val>
            <c:numRef>
              <c:f>Sheet1!$B$2:$B$5</c:f>
              <c:numCache>
                <c:formatCode>General</c:formatCode>
                <c:ptCount val="4"/>
                <c:pt idx="0">
                  <c:v>0.0341</c:v>
                </c:pt>
                <c:pt idx="1">
                  <c:v>0.005</c:v>
                </c:pt>
                <c:pt idx="2">
                  <c:v>0.0034</c:v>
                </c:pt>
                <c:pt idx="3">
                  <c:v>-0.0288</c:v>
                </c:pt>
              </c:numCache>
            </c:numRef>
          </c:val>
        </c:ser>
        <c:dLbls>
          <c:numFmt formatCode="+0.000;−0.000" sourceLinked="0"/>
          <c:txPr>
            <a:bodyPr/>
            <a:lstStyle/>
            <a:p>
              <a:pPr>
                <a:defRPr sz="750">
                  <a:solidFill>
                    <a:srgbClr val="414141"/>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00">
                <a:solidFill>
                  <a:srgbClr val="414141"/>
                </a:solidFill>
                <a:latin typeface="Arial"/>
              </a:defRPr>
            </a:pPr>
          </a:p>
        </c:txPr>
        <c:crossAx val="-2113994440"/>
        <c:crosses val="autoZero"/>
        <c:auto val="1"/>
        <c:lblAlgn val="ctr"/>
        <c:lblOffset val="100"/>
        <c:noMultiLvlLbl val="0"/>
      </c:catAx>
      <c:valAx>
        <c:axId val="-2113994440"/>
        <c:scaling>
          <c:max val="0.3"/>
          <c:min val="-0.2"/>
        </c:scaling>
        <c:delete val="0"/>
        <c:axPos val="l"/>
        <c:majorGridlines>
          <c:spPr>
            <a:ln w="6350">
              <a:solidFill>
                <a:srgbClr val="D9D9D9"/>
              </a:solidFill>
            </a:ln>
          </c:spPr>
        </c:majorGridlines>
        <c:numFmt formatCode="0.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1"/>
      </c:valAx>
    </c:plotArea>
    <c:dispBlanksAs val="gap"/>
  </c:chart>
  <c:txPr>
    <a:bodyPr/>
    <a:lstStyle/>
    <a:p>
      <a:pPr>
        <a:defRPr sz="800">
          <a:solidFill>
            <a:srgbClr val="414141"/>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Convolutional stem</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D2007E"/>
              </a:solidFill>
            </c:spPr>
          </c:dPt>
          <c:dPt>
            <c:idx val="3"/>
            <c:invertIfNegative val="0"/>
            <c:bubble3D val="0"/>
            <c:spPr>
              <a:solidFill>
                <a:srgbClr val="D2007E"/>
              </a:solidFill>
            </c:spPr>
          </c:dPt>
          <c:cat>
            <c:strRef>
              <c:f>Sheet1!$A$2:$A$5</c:f>
              <c:strCache>
                <c:ptCount val="4"/>
                <c:pt idx="0">
                  <c:v>4→13</c:v>
                </c:pt>
                <c:pt idx="1">
                  <c:v>12→7</c:v>
                </c:pt>
                <c:pt idx="2">
                  <c:v>1→3</c:v>
                </c:pt>
                <c:pt idx="3">
                  <c:v>2→9</c:v>
                </c:pt>
              </c:strCache>
            </c:strRef>
          </c:cat>
          <c:val>
            <c:numRef>
              <c:f>Sheet1!$B$2:$B$5</c:f>
              <c:numCache>
                <c:formatCode>General</c:formatCode>
                <c:ptCount val="4"/>
                <c:pt idx="0">
                  <c:v>0.0094</c:v>
                </c:pt>
                <c:pt idx="1">
                  <c:v>0.0044</c:v>
                </c:pt>
                <c:pt idx="2">
                  <c:v>-0.0085</c:v>
                </c:pt>
                <c:pt idx="3">
                  <c:v>-0.1292</c:v>
                </c:pt>
              </c:numCache>
            </c:numRef>
          </c:val>
        </c:ser>
        <c:dLbls>
          <c:numFmt formatCode="+0.000;−0.000" sourceLinked="0"/>
          <c:txPr>
            <a:bodyPr/>
            <a:lstStyle/>
            <a:p>
              <a:pPr>
                <a:defRPr sz="750">
                  <a:solidFill>
                    <a:srgbClr val="414141"/>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00">
                <a:solidFill>
                  <a:srgbClr val="414141"/>
                </a:solidFill>
                <a:latin typeface="Arial"/>
              </a:defRPr>
            </a:pPr>
          </a:p>
        </c:txPr>
        <c:crossAx val="-2113994440"/>
        <c:crosses val="autoZero"/>
        <c:auto val="1"/>
        <c:lblAlgn val="ctr"/>
        <c:lblOffset val="100"/>
        <c:noMultiLvlLbl val="0"/>
      </c:catAx>
      <c:valAx>
        <c:axId val="-2113994440"/>
        <c:scaling>
          <c:max val="0.3"/>
          <c:min val="-0.2"/>
        </c:scaling>
        <c:delete val="0"/>
        <c:axPos val="l"/>
        <c:majorGridlines>
          <c:spPr>
            <a:ln w="6350">
              <a:solidFill>
                <a:srgbClr val="D9D9D9"/>
              </a:solidFill>
            </a:ln>
          </c:spPr>
        </c:majorGridlines>
        <c:numFmt formatCode="0.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1"/>
      </c:valAx>
    </c:plotArea>
    <c:dispBlanksAs val="gap"/>
  </c:chart>
  <c:txPr>
    <a:bodyPr/>
    <a:lstStyle/>
    <a:p>
      <a:pPr>
        <a:defRPr sz="800">
          <a:solidFill>
            <a:srgbClr val="414141"/>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Negative (99 clips)</c:v>
                </c:pt>
              </c:strCache>
            </c:strRef>
          </c:tx>
          <c:spPr>
            <a:solidFill>
              <a:srgbClr val="004CA0"/>
            </a:solidFill>
          </c:spPr>
          <c:invertIfNegative val="0"/>
          <c:cat>
            <c:strRef>
              <c:f>Sheet1!$A$2:$A$13</c:f>
              <c:strCache>
                <c:ptCount val="12"/>
                <c:pt idx="0">
                  <c:v>C2</c:v>
                </c:pt>
                <c:pt idx="1">
                  <c:v>C8</c:v>
                </c:pt>
                <c:pt idx="2">
                  <c:v>C7</c:v>
                </c:pt>
                <c:pt idx="3">
                  <c:v>C12</c:v>
                </c:pt>
                <c:pt idx="4">
                  <c:v>C6</c:v>
                </c:pt>
                <c:pt idx="5">
                  <c:v>C9</c:v>
                </c:pt>
                <c:pt idx="6">
                  <c:v>C13</c:v>
                </c:pt>
                <c:pt idx="7">
                  <c:v>C4</c:v>
                </c:pt>
                <c:pt idx="8">
                  <c:v>C1</c:v>
                </c:pt>
                <c:pt idx="9">
                  <c:v>C5</c:v>
                </c:pt>
                <c:pt idx="10">
                  <c:v>C3</c:v>
                </c:pt>
                <c:pt idx="11">
                  <c:v>C16</c:v>
                </c:pt>
              </c:strCache>
            </c:strRef>
          </c:cat>
          <c:val>
            <c:numRef>
              <c:f>Sheet1!$B$2:$B$13</c:f>
              <c:numCache>
                <c:formatCode>General</c:formatCode>
                <c:ptCount val="12"/>
                <c:pt idx="0">
                  <c:v>0.8068</c:v>
                </c:pt>
                <c:pt idx="1">
                  <c:v>0.8458</c:v>
                </c:pt>
                <c:pt idx="2">
                  <c:v>0.7845</c:v>
                </c:pt>
                <c:pt idx="3">
                  <c:v>0.7485</c:v>
                </c:pt>
                <c:pt idx="4">
                  <c:v>0.8325</c:v>
                </c:pt>
                <c:pt idx="5">
                  <c:v>0.8491</c:v>
                </c:pt>
                <c:pt idx="6">
                  <c:v>0.4127</c:v>
                </c:pt>
                <c:pt idx="7">
                  <c:v>0.5641</c:v>
                </c:pt>
                <c:pt idx="8">
                  <c:v>0.56</c:v>
                </c:pt>
                <c:pt idx="9">
                  <c:v>0.384</c:v>
                </c:pt>
                <c:pt idx="10">
                  <c:v>0.3607</c:v>
                </c:pt>
                <c:pt idx="11">
                  <c:v>0.35</c:v>
                </c:pt>
              </c:numCache>
            </c:numRef>
          </c:val>
        </c:ser>
        <c:ser>
          <c:idx val="1"/>
          <c:order val="1"/>
          <c:tx>
            <c:strRef>
              <c:f>Sheet1!$C$1</c:f>
              <c:strCache>
                <c:ptCount val="1"/>
                <c:pt idx="0">
                  <c:v>Positive (32 clips)</c:v>
                </c:pt>
              </c:strCache>
            </c:strRef>
          </c:tx>
          <c:spPr>
            <a:solidFill>
              <a:srgbClr val="A8CC2F"/>
            </a:solidFill>
          </c:spPr>
          <c:invertIfNegative val="0"/>
          <c:cat>
            <c:strRef>
              <c:f>Sheet1!$A$2:$A$13</c:f>
              <c:strCache>
                <c:ptCount val="12"/>
                <c:pt idx="0">
                  <c:v>C2</c:v>
                </c:pt>
                <c:pt idx="1">
                  <c:v>C8</c:v>
                </c:pt>
                <c:pt idx="2">
                  <c:v>C7</c:v>
                </c:pt>
                <c:pt idx="3">
                  <c:v>C12</c:v>
                </c:pt>
                <c:pt idx="4">
                  <c:v>C6</c:v>
                </c:pt>
                <c:pt idx="5">
                  <c:v>C9</c:v>
                </c:pt>
                <c:pt idx="6">
                  <c:v>C13</c:v>
                </c:pt>
                <c:pt idx="7">
                  <c:v>C4</c:v>
                </c:pt>
                <c:pt idx="8">
                  <c:v>C1</c:v>
                </c:pt>
                <c:pt idx="9">
                  <c:v>C5</c:v>
                </c:pt>
                <c:pt idx="10">
                  <c:v>C3</c:v>
                </c:pt>
                <c:pt idx="11">
                  <c:v>C16</c:v>
                </c:pt>
              </c:strCache>
            </c:strRef>
          </c:cat>
          <c:val>
            <c:numRef>
              <c:f>Sheet1!$C$2:$C$13</c:f>
              <c:numCache>
                <c:formatCode>General</c:formatCode>
                <c:ptCount val="12"/>
                <c:pt idx="0">
                  <c:v>0.6506</c:v>
                </c:pt>
                <c:pt idx="1">
                  <c:v>0.5556</c:v>
                </c:pt>
                <c:pt idx="2">
                  <c:v>0.5479</c:v>
                </c:pt>
                <c:pt idx="3">
                  <c:v>0.5591</c:v>
                </c:pt>
                <c:pt idx="4">
                  <c:v>0.4286</c:v>
                </c:pt>
                <c:pt idx="5">
                  <c:v>0.6</c:v>
                </c:pt>
                <c:pt idx="6">
                  <c:v>0.5278</c:v>
                </c:pt>
                <c:pt idx="7">
                  <c:v>0.5055</c:v>
                </c:pt>
                <c:pt idx="8">
                  <c:v>0.3714</c:v>
                </c:pt>
                <c:pt idx="9">
                  <c:v>0.5227</c:v>
                </c:pt>
                <c:pt idx="10">
                  <c:v>0.5227</c:v>
                </c:pt>
                <c:pt idx="11">
                  <c:v>0.5143</c:v>
                </c:pt>
              </c:numCache>
            </c:numRef>
          </c:val>
        </c:ser>
        <c:ser>
          <c:idx val="2"/>
          <c:order val="2"/>
          <c:tx>
            <c:strRef>
              <c:f>Sheet1!$D$1</c:f>
              <c:strCache>
                <c:ptCount val="1"/>
                <c:pt idx="0">
                  <c:v>Surprise (25 clips)</c:v>
                </c:pt>
              </c:strCache>
            </c:strRef>
          </c:tx>
          <c:spPr>
            <a:solidFill>
              <a:srgbClr val="00A0C8"/>
            </a:solidFill>
          </c:spPr>
          <c:invertIfNegative val="0"/>
          <c:cat>
            <c:strRef>
              <c:f>Sheet1!$A$2:$A$13</c:f>
              <c:strCache>
                <c:ptCount val="12"/>
                <c:pt idx="0">
                  <c:v>C2</c:v>
                </c:pt>
                <c:pt idx="1">
                  <c:v>C8</c:v>
                </c:pt>
                <c:pt idx="2">
                  <c:v>C7</c:v>
                </c:pt>
                <c:pt idx="3">
                  <c:v>C12</c:v>
                </c:pt>
                <c:pt idx="4">
                  <c:v>C6</c:v>
                </c:pt>
                <c:pt idx="5">
                  <c:v>C9</c:v>
                </c:pt>
                <c:pt idx="6">
                  <c:v>C13</c:v>
                </c:pt>
                <c:pt idx="7">
                  <c:v>C4</c:v>
                </c:pt>
                <c:pt idx="8">
                  <c:v>C1</c:v>
                </c:pt>
                <c:pt idx="9">
                  <c:v>C5</c:v>
                </c:pt>
                <c:pt idx="10">
                  <c:v>C3</c:v>
                </c:pt>
                <c:pt idx="11">
                  <c:v>C16</c:v>
                </c:pt>
              </c:strCache>
            </c:strRef>
          </c:cat>
          <c:val>
            <c:numRef>
              <c:f>Sheet1!$D$2:$D$13</c:f>
              <c:numCache>
                <c:formatCode>General</c:formatCode>
                <c:ptCount val="12"/>
                <c:pt idx="0">
                  <c:v>0.6792</c:v>
                </c:pt>
                <c:pt idx="1">
                  <c:v>0.5965</c:v>
                </c:pt>
                <c:pt idx="2">
                  <c:v>0.6552</c:v>
                </c:pt>
                <c:pt idx="3">
                  <c:v>0.6667</c:v>
                </c:pt>
                <c:pt idx="4">
                  <c:v>0.5902</c:v>
                </c:pt>
                <c:pt idx="5">
                  <c:v>0.3</c:v>
                </c:pt>
                <c:pt idx="6">
                  <c:v>0.4035</c:v>
                </c:pt>
                <c:pt idx="7">
                  <c:v>0.2462</c:v>
                </c:pt>
                <c:pt idx="8">
                  <c:v>0.3696</c:v>
                </c:pt>
                <c:pt idx="9">
                  <c:v>0.3838</c:v>
                </c:pt>
                <c:pt idx="10">
                  <c:v>0.3922</c:v>
                </c:pt>
                <c:pt idx="11">
                  <c:v>0.3934</c:v>
                </c:pt>
              </c:numCache>
            </c:numRef>
          </c:val>
        </c:ser>
        <c:gapWidth val="40"/>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50">
                <a:solidFill>
                  <a:srgbClr val="414141"/>
                </a:solidFill>
                <a:latin typeface="Arial"/>
              </a:defRPr>
            </a:pPr>
          </a:p>
        </c:txPr>
        <c:crossAx val="-2113994440"/>
        <c:crosses val="autoZero"/>
        <c:auto val="1"/>
        <c:lblAlgn val="ctr"/>
        <c:lblOffset val="100"/>
        <c:noMultiLvlLbl val="0"/>
      </c:catAx>
      <c:valAx>
        <c:axId val="-2113994440"/>
        <c:scaling>
          <c:max val="1.0"/>
          <c:min val="0.0"/>
        </c:scaling>
        <c:delete val="0"/>
        <c:axPos val="l"/>
        <c:majorGridlines>
          <c:spPr>
            <a:ln w="6350">
              <a:solidFill>
                <a:srgbClr val="D9D9D9"/>
              </a:solidFill>
            </a:ln>
          </c:spPr>
        </c:majorGridlines>
        <c:title>
          <c:tx>
            <c:rich>
              <a:bodyPr/>
              <a:lstStyle/>
              <a:p>
                <a:r>
                  <a:rPr sz="900" b="0">
                    <a:solidFill>
                      <a:srgbClr val="8C8C8C"/>
                    </a:solidFill>
                    <a:latin typeface="Arial"/>
                  </a:rPr>
                  <a:t>Pooled per-class F1</a:t>
                </a:r>
              </a:p>
            </c:rich>
          </c:tx>
          <c:layout/>
          <c:overlay val="0"/>
        </c:title>
        <c:numFmt formatCode="0.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0.2"/>
      </c:valAx>
    </c:plotArea>
    <c:legend>
      <c:legendPos val="b"/>
      <c:overlay val="0"/>
      <c:txPr>
        <a:bodyPr/>
        <a:lstStyle/>
        <a:p>
          <a:pPr>
            <a:defRPr sz="900"/>
          </a:pPr>
        </a:p>
      </c:txPr>
    </c:legend>
    <c:dispBlanksAs val="gap"/>
  </c:chart>
  <c:txPr>
    <a:bodyPr/>
    <a:lstStyle/>
    <a:p>
      <a:pPr>
        <a:defRPr sz="850">
          <a:solidFill>
            <a:srgbClr val="414141"/>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Clips</c:v>
                </c:pt>
              </c:strCache>
            </c:strRef>
          </c:tx>
          <c:spPr>
            <a:solidFill>
              <a:srgbClr val="004CA0"/>
            </a:solidFill>
          </c:spPr>
          <c:invertIfNegative val="0"/>
          <c:dPt>
            <c:idx val="0"/>
            <c:invertIfNegative val="0"/>
            <c:bubble3D val="0"/>
            <c:spPr>
              <a:solidFill>
                <a:srgbClr val="004CA0"/>
              </a:solidFill>
            </c:spPr>
          </c:dPt>
          <c:dPt>
            <c:idx val="1"/>
            <c:invertIfNegative val="0"/>
            <c:bubble3D val="0"/>
            <c:spPr>
              <a:solidFill>
                <a:srgbClr val="004CA0"/>
              </a:solidFill>
            </c:spPr>
          </c:dPt>
          <c:dPt>
            <c:idx val="2"/>
            <c:invertIfNegative val="0"/>
            <c:bubble3D val="0"/>
            <c:spPr>
              <a:solidFill>
                <a:srgbClr val="004CA0"/>
              </a:solidFill>
            </c:spPr>
          </c:dPt>
          <c:dPt>
            <c:idx val="3"/>
            <c:invertIfNegative val="0"/>
            <c:bubble3D val="0"/>
            <c:spPr>
              <a:solidFill>
                <a:srgbClr val="004CA0"/>
              </a:solidFill>
            </c:spPr>
          </c:dPt>
          <c:dPt>
            <c:idx val="4"/>
            <c:invertIfNegative val="0"/>
            <c:bubble3D val="0"/>
            <c:spPr>
              <a:solidFill>
                <a:srgbClr val="A8CC2F"/>
              </a:solidFill>
            </c:spPr>
          </c:dPt>
          <c:dPt>
            <c:idx val="5"/>
            <c:invertIfNegative val="0"/>
            <c:bubble3D val="0"/>
            <c:spPr>
              <a:solidFill>
                <a:srgbClr val="00A0C8"/>
              </a:solidFill>
            </c:spPr>
          </c:dPt>
          <c:dPt>
            <c:idx val="6"/>
            <c:invertIfNegative val="0"/>
            <c:bubble3D val="0"/>
            <c:spPr>
              <a:solidFill>
                <a:srgbClr val="8C8C8C"/>
              </a:solidFill>
            </c:spPr>
          </c:dPt>
          <c:cat>
            <c:strRef>
              <c:f>Sheet1!$A$2:$A$8</c:f>
              <c:strCache>
                <c:ptCount val="7"/>
                <c:pt idx="0">
                  <c:v>Disgust</c:v>
                </c:pt>
                <c:pt idx="1">
                  <c:v>Repression</c:v>
                </c:pt>
                <c:pt idx="2">
                  <c:v>Sadness</c:v>
                </c:pt>
                <c:pt idx="3">
                  <c:v>Fear</c:v>
                </c:pt>
                <c:pt idx="4">
                  <c:v>Happiness</c:v>
                </c:pt>
                <c:pt idx="5">
                  <c:v>Surprise</c:v>
                </c:pt>
                <c:pt idx="6">
                  <c:v>Others</c:v>
                </c:pt>
              </c:strCache>
            </c:strRef>
          </c:cat>
          <c:val>
            <c:numRef>
              <c:f>Sheet1!$B$2:$B$8</c:f>
              <c:numCache>
                <c:formatCode>General</c:formatCode>
                <c:ptCount val="7"/>
                <c:pt idx="0">
                  <c:v>63</c:v>
                </c:pt>
                <c:pt idx="1">
                  <c:v>27</c:v>
                </c:pt>
                <c:pt idx="2">
                  <c:v>7</c:v>
                </c:pt>
                <c:pt idx="3">
                  <c:v>2</c:v>
                </c:pt>
                <c:pt idx="4">
                  <c:v>32</c:v>
                </c:pt>
                <c:pt idx="5">
                  <c:v>25</c:v>
                </c:pt>
                <c:pt idx="6">
                  <c:v>99</c:v>
                </c:pt>
              </c:numCache>
            </c:numRef>
          </c:val>
        </c:ser>
        <c:dLbls>
          <c:numFmt formatCode="0" sourceLinked="0"/>
          <c:txPr>
            <a:bodyPr/>
            <a:lstStyle/>
            <a:p>
              <a:pPr>
                <a:defRPr sz="900">
                  <a:solidFill>
                    <a:srgbClr val="414141"/>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50">
                <a:solidFill>
                  <a:srgbClr val="414141"/>
                </a:solidFill>
                <a:latin typeface="Arial"/>
              </a:defRPr>
            </a:pPr>
          </a:p>
        </c:txPr>
        <c:crossAx val="-2113994440"/>
        <c:crosses val="autoZero"/>
        <c:auto val="1"/>
        <c:lblAlgn val="ctr"/>
        <c:lblOffset val="100"/>
        <c:noMultiLvlLbl val="0"/>
      </c:catAx>
      <c:valAx>
        <c:axId val="-2113994440"/>
        <c:scaling>
          <c:max val="120.0"/>
          <c:min val="0.0"/>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20.0"/>
      </c:valAx>
    </c:plotArea>
    <c:dispBlanksAs val="gap"/>
  </c:chart>
  <c:txPr>
    <a:bodyPr/>
    <a:lstStyle/>
    <a:p>
      <a:pPr>
        <a:defRPr sz="850">
          <a:solidFill>
            <a:srgbClr val="414141"/>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Negative</c:v>
                </c:pt>
              </c:strCache>
            </c:strRef>
          </c:tx>
          <c:spPr>
            <a:solidFill>
              <a:srgbClr val="004CA0"/>
            </a:solidFill>
          </c:spPr>
          <c:invertIfNegative val="0"/>
          <c:cat>
            <c:strRef>
              <c:f>Sheet1!$A$2:$A$14</c:f>
              <c:strCache>
                <c:ptCount val="13"/>
                <c:pt idx="0">
                  <c:v>True</c:v>
                </c:pt>
                <c:pt idx="1">
                  <c:v>C2</c:v>
                </c:pt>
                <c:pt idx="2">
                  <c:v>C8</c:v>
                </c:pt>
                <c:pt idx="3">
                  <c:v>C7</c:v>
                </c:pt>
                <c:pt idx="4">
                  <c:v>C12</c:v>
                </c:pt>
                <c:pt idx="5">
                  <c:v>C6</c:v>
                </c:pt>
                <c:pt idx="6">
                  <c:v>C9</c:v>
                </c:pt>
                <c:pt idx="7">
                  <c:v>C13</c:v>
                </c:pt>
                <c:pt idx="8">
                  <c:v>C4</c:v>
                </c:pt>
                <c:pt idx="9">
                  <c:v>C1</c:v>
                </c:pt>
                <c:pt idx="10">
                  <c:v>C5</c:v>
                </c:pt>
                <c:pt idx="11">
                  <c:v>C3</c:v>
                </c:pt>
                <c:pt idx="12">
                  <c:v>C16</c:v>
                </c:pt>
              </c:strCache>
            </c:strRef>
          </c:cat>
          <c:val>
            <c:numRef>
              <c:f>Sheet1!$B$2:$B$14</c:f>
              <c:numCache>
                <c:formatCode>General</c:formatCode>
                <c:ptCount val="13"/>
                <c:pt idx="0">
                  <c:v>99</c:v>
                </c:pt>
                <c:pt idx="1">
                  <c:v>77</c:v>
                </c:pt>
                <c:pt idx="2">
                  <c:v>102</c:v>
                </c:pt>
                <c:pt idx="3">
                  <c:v>82</c:v>
                </c:pt>
                <c:pt idx="4">
                  <c:v>72</c:v>
                </c:pt>
                <c:pt idx="5">
                  <c:v>110</c:v>
                </c:pt>
                <c:pt idx="6">
                  <c:v>113</c:v>
                </c:pt>
                <c:pt idx="7">
                  <c:v>27</c:v>
                </c:pt>
                <c:pt idx="8">
                  <c:v>57</c:v>
                </c:pt>
                <c:pt idx="9">
                  <c:v>51</c:v>
                </c:pt>
                <c:pt idx="10">
                  <c:v>26</c:v>
                </c:pt>
                <c:pt idx="11">
                  <c:v>23</c:v>
                </c:pt>
                <c:pt idx="12">
                  <c:v>21</c:v>
                </c:pt>
              </c:numCache>
            </c:numRef>
          </c:val>
        </c:ser>
        <c:ser>
          <c:idx val="1"/>
          <c:order val="1"/>
          <c:tx>
            <c:strRef>
              <c:f>Sheet1!$C$1</c:f>
              <c:strCache>
                <c:ptCount val="1"/>
                <c:pt idx="0">
                  <c:v>Positive</c:v>
                </c:pt>
              </c:strCache>
            </c:strRef>
          </c:tx>
          <c:spPr>
            <a:solidFill>
              <a:srgbClr val="A8CC2F"/>
            </a:solidFill>
          </c:spPr>
          <c:invertIfNegative val="0"/>
          <c:cat>
            <c:strRef>
              <c:f>Sheet1!$A$2:$A$14</c:f>
              <c:strCache>
                <c:ptCount val="13"/>
                <c:pt idx="0">
                  <c:v>True</c:v>
                </c:pt>
                <c:pt idx="1">
                  <c:v>C2</c:v>
                </c:pt>
                <c:pt idx="2">
                  <c:v>C8</c:v>
                </c:pt>
                <c:pt idx="3">
                  <c:v>C7</c:v>
                </c:pt>
                <c:pt idx="4">
                  <c:v>C12</c:v>
                </c:pt>
                <c:pt idx="5">
                  <c:v>C6</c:v>
                </c:pt>
                <c:pt idx="6">
                  <c:v>C9</c:v>
                </c:pt>
                <c:pt idx="7">
                  <c:v>C13</c:v>
                </c:pt>
                <c:pt idx="8">
                  <c:v>C4</c:v>
                </c:pt>
                <c:pt idx="9">
                  <c:v>C1</c:v>
                </c:pt>
                <c:pt idx="10">
                  <c:v>C5</c:v>
                </c:pt>
                <c:pt idx="11">
                  <c:v>C3</c:v>
                </c:pt>
                <c:pt idx="12">
                  <c:v>C16</c:v>
                </c:pt>
              </c:strCache>
            </c:strRef>
          </c:cat>
          <c:val>
            <c:numRef>
              <c:f>Sheet1!$C$2:$C$14</c:f>
              <c:numCache>
                <c:formatCode>General</c:formatCode>
                <c:ptCount val="13"/>
                <c:pt idx="0">
                  <c:v>32</c:v>
                </c:pt>
                <c:pt idx="1">
                  <c:v>51</c:v>
                </c:pt>
                <c:pt idx="2">
                  <c:v>22</c:v>
                </c:pt>
                <c:pt idx="3">
                  <c:v>41</c:v>
                </c:pt>
                <c:pt idx="4">
                  <c:v>61</c:v>
                </c:pt>
                <c:pt idx="5">
                  <c:v>10</c:v>
                </c:pt>
                <c:pt idx="6">
                  <c:v>28</c:v>
                </c:pt>
                <c:pt idx="7">
                  <c:v>40</c:v>
                </c:pt>
                <c:pt idx="8">
                  <c:v>59</c:v>
                </c:pt>
                <c:pt idx="9">
                  <c:v>38</c:v>
                </c:pt>
                <c:pt idx="10">
                  <c:v>56</c:v>
                </c:pt>
                <c:pt idx="11">
                  <c:v>56</c:v>
                </c:pt>
                <c:pt idx="12">
                  <c:v>38</c:v>
                </c:pt>
              </c:numCache>
            </c:numRef>
          </c:val>
        </c:ser>
        <c:ser>
          <c:idx val="2"/>
          <c:order val="2"/>
          <c:tx>
            <c:strRef>
              <c:f>Sheet1!$D$1</c:f>
              <c:strCache>
                <c:ptCount val="1"/>
                <c:pt idx="0">
                  <c:v>Surprise</c:v>
                </c:pt>
              </c:strCache>
            </c:strRef>
          </c:tx>
          <c:spPr>
            <a:solidFill>
              <a:srgbClr val="00A0C8"/>
            </a:solidFill>
          </c:spPr>
          <c:invertIfNegative val="0"/>
          <c:cat>
            <c:strRef>
              <c:f>Sheet1!$A$2:$A$14</c:f>
              <c:strCache>
                <c:ptCount val="13"/>
                <c:pt idx="0">
                  <c:v>True</c:v>
                </c:pt>
                <c:pt idx="1">
                  <c:v>C2</c:v>
                </c:pt>
                <c:pt idx="2">
                  <c:v>C8</c:v>
                </c:pt>
                <c:pt idx="3">
                  <c:v>C7</c:v>
                </c:pt>
                <c:pt idx="4">
                  <c:v>C12</c:v>
                </c:pt>
                <c:pt idx="5">
                  <c:v>C6</c:v>
                </c:pt>
                <c:pt idx="6">
                  <c:v>C9</c:v>
                </c:pt>
                <c:pt idx="7">
                  <c:v>C13</c:v>
                </c:pt>
                <c:pt idx="8">
                  <c:v>C4</c:v>
                </c:pt>
                <c:pt idx="9">
                  <c:v>C1</c:v>
                </c:pt>
                <c:pt idx="10">
                  <c:v>C5</c:v>
                </c:pt>
                <c:pt idx="11">
                  <c:v>C3</c:v>
                </c:pt>
                <c:pt idx="12">
                  <c:v>C16</c:v>
                </c:pt>
              </c:strCache>
            </c:strRef>
          </c:cat>
          <c:val>
            <c:numRef>
              <c:f>Sheet1!$D$2:$D$14</c:f>
              <c:numCache>
                <c:formatCode>General</c:formatCode>
                <c:ptCount val="13"/>
                <c:pt idx="0">
                  <c:v>25</c:v>
                </c:pt>
                <c:pt idx="1">
                  <c:v>28</c:v>
                </c:pt>
                <c:pt idx="2">
                  <c:v>32</c:v>
                </c:pt>
                <c:pt idx="3">
                  <c:v>33</c:v>
                </c:pt>
                <c:pt idx="4">
                  <c:v>23</c:v>
                </c:pt>
                <c:pt idx="5">
                  <c:v>36</c:v>
                </c:pt>
                <c:pt idx="6">
                  <c:v>15</c:v>
                </c:pt>
                <c:pt idx="7">
                  <c:v>89</c:v>
                </c:pt>
                <c:pt idx="8">
                  <c:v>40</c:v>
                </c:pt>
                <c:pt idx="9">
                  <c:v>67</c:v>
                </c:pt>
                <c:pt idx="10">
                  <c:v>74</c:v>
                </c:pt>
                <c:pt idx="11">
                  <c:v>77</c:v>
                </c:pt>
                <c:pt idx="12">
                  <c:v>97</c:v>
                </c:pt>
              </c:numCache>
            </c:numRef>
          </c:val>
        </c:ser>
        <c:gapWidth val="40"/>
        <c:axId val="-2068027336"/>
        <c:axId val="-2113994440"/>
      </c:barChart>
      <c:catAx>
        <c:axId val="-2068027336"/>
        <c:scaling>
          <c:orientation val="minMax"/>
        </c:scaling>
        <c:delete val="0"/>
        <c:axPos val="b"/>
        <c:majorTickMark val="out"/>
        <c:minorTickMark val="none"/>
        <c:tickLblPos val="low"/>
        <c:spPr>
          <a:ln>
            <a:solidFill>
              <a:srgbClr val="8C8C8C"/>
            </a:solidFill>
          </a:ln>
        </c:spPr>
        <c:txPr>
          <a:bodyPr/>
          <a:lstStyle/>
          <a:p>
            <a:pPr>
              <a:defRPr sz="850">
                <a:solidFill>
                  <a:srgbClr val="414141"/>
                </a:solidFill>
                <a:latin typeface="Arial"/>
              </a:defRPr>
            </a:pPr>
          </a:p>
        </c:txPr>
        <c:crossAx val="-2113994440"/>
        <c:crosses val="autoZero"/>
        <c:auto val="1"/>
        <c:lblAlgn val="ctr"/>
        <c:lblOffset val="100"/>
        <c:noMultiLvlLbl val="0"/>
      </c:catAx>
      <c:valAx>
        <c:axId val="-2113994440"/>
        <c:scaling>
          <c:max val="120.0"/>
          <c:min val="0.0"/>
        </c:scaling>
        <c:delete val="0"/>
        <c:axPos val="l"/>
        <c:majorGridlines>
          <c:spPr>
            <a:ln w="6350">
              <a:solidFill>
                <a:srgbClr val="D9D9D9"/>
              </a:solidFill>
            </a:ln>
          </c:spPr>
        </c:majorGridlines>
        <c:title>
          <c:tx>
            <c:rich>
              <a:bodyPr/>
              <a:lstStyle/>
              <a:p>
                <a:r>
                  <a:rPr sz="900" b="0">
                    <a:solidFill>
                      <a:srgbClr val="8C8C8C"/>
                    </a:solidFill>
                    <a:latin typeface="Arial"/>
                  </a:rPr>
                  <a:t>Clips predicted as each class</a:t>
                </a:r>
              </a:p>
            </c:rich>
          </c:tx>
          <c:layout/>
          <c:overlay val="0"/>
        </c:title>
        <c:numFmt formatCode="0" sourceLinked="0"/>
        <c:majorTickMark val="out"/>
        <c:minorTickMark val="none"/>
        <c:tickLblPos val="nextTo"/>
        <c:spPr>
          <a:ln>
            <a:noFill/>
          </a:ln>
        </c:spPr>
        <c:txPr>
          <a:bodyPr/>
          <a:lstStyle/>
          <a:p>
            <a:pPr>
              <a:defRPr sz="800">
                <a:solidFill>
                  <a:srgbClr val="8C8C8C"/>
                </a:solidFill>
                <a:latin typeface="Arial"/>
              </a:defRPr>
            </a:pPr>
          </a:p>
        </c:txPr>
        <c:crossAx val="-2068027336"/>
        <c:crosses val="autoZero"/>
        <c:majorUnit val="20.0"/>
      </c:valAx>
    </c:plotArea>
    <c:legend>
      <c:legendPos val="b"/>
      <c:overlay val="0"/>
      <c:txPr>
        <a:bodyPr/>
        <a:lstStyle/>
        <a:p>
          <a:pPr>
            <a:defRPr sz="900"/>
          </a:pPr>
        </a:p>
      </c:txPr>
    </c:legend>
    <c:dispBlanksAs val="gap"/>
  </c:chart>
  <c:txPr>
    <a:bodyPr/>
    <a:lstStyle/>
    <a:p>
      <a:pPr>
        <a:defRPr sz="850">
          <a:solidFill>
            <a:srgbClr val="414141"/>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6858000" cy="9144000"/>
          </a:xfrm>
          <a:prstGeom prst="rect">
            <a:avLst/>
          </a:prstGeom>
          <a:solidFill>
            <a:srgbClr val="FFFFFF"/>
          </a:solidFill>
          <a:ln w="38160">
            <a:noFill/>
          </a:ln>
        </p:spPr>
        <p:txBody>
          <a:bodyPr lIns="90000" tIns="45000" rIns="90000" bIns="45000" anchor="ctr" anchorCtr="1">
            <a:noAutofit/>
          </a:bodyPr>
          <a:p>
            <a:endParaRPr lang="en-US" sz="2400" b="0" u="none" strike="noStrike">
              <a:solidFill>
                <a:srgbClr val="000000"/>
              </a:solidFill>
              <a:effectLst/>
              <a:uFillTx/>
              <a:latin typeface="Arial"/>
            </a:endParaRPr>
          </a:p>
        </p:txBody>
      </p:sp>
      <p:sp>
        <p:nvSpPr>
          <p:cNvPr id="8" name="PlaceHolder 1"/>
          <p:cNvSpPr>
            <a:spLocks noGrp="1"/>
          </p:cNvSpPr>
          <p:nvPr>
            <p:ph type="hdr"/>
          </p:nvPr>
        </p:nvSpPr>
        <p:spPr>
          <a:xfrm>
            <a:off x="-360" y="0"/>
            <a:ext cx="2971800" cy="457200"/>
          </a:xfrm>
          <a:prstGeom prst="rect">
            <a:avLst/>
          </a:prstGeom>
          <a:noFill/>
          <a:ln w="3816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Arial"/>
            </a:endParaRPr>
          </a:p>
        </p:txBody>
      </p:sp>
      <p:sp>
        <p:nvSpPr>
          <p:cNvPr id="9" name="PlaceHolder 2"/>
          <p:cNvSpPr>
            <a:spLocks noGrp="1"/>
          </p:cNvSpPr>
          <p:nvPr>
            <p:ph type="dt" idx="2"/>
          </p:nvPr>
        </p:nvSpPr>
        <p:spPr>
          <a:xfrm>
            <a:off x="3885840" y="0"/>
            <a:ext cx="2971800" cy="457200"/>
          </a:xfrm>
          <a:prstGeom prst="rect">
            <a:avLst/>
          </a:prstGeom>
          <a:noFill/>
          <a:ln w="3816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Arial"/>
            </a:endParaRPr>
          </a:p>
        </p:txBody>
      </p:sp>
      <p:sp>
        <p:nvSpPr>
          <p:cNvPr id="10"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A8CC2F"/>
                </a:solidFill>
                <a:effectLst/>
                <a:uFillTx/>
                <a:latin typeface="Arial"/>
              </a:rPr>
              <a:t>Click to move the slide</a:t>
            </a:r>
            <a:endParaRPr lang="en-US" sz="1800" b="1" u="none" strike="noStrike">
              <a:solidFill>
                <a:srgbClr val="A8CC2F"/>
              </a:solidFill>
              <a:effectLst/>
              <a:uFillTx/>
              <a:latin typeface="Arial"/>
            </a:endParaRPr>
          </a:p>
        </p:txBody>
      </p:sp>
      <p:sp>
        <p:nvSpPr>
          <p:cNvPr id="11" name="PlaceHolder 4"/>
          <p:cNvSpPr>
            <a:spLocks noGrp="1"/>
          </p:cNvSpPr>
          <p:nvPr>
            <p:ph type="body"/>
          </p:nvPr>
        </p:nvSpPr>
        <p:spPr>
          <a:xfrm>
            <a:off x="914400" y="4343400"/>
            <a:ext cx="5029200" cy="4114800"/>
          </a:xfrm>
          <a:prstGeom prst="rect">
            <a:avLst/>
          </a:prstGeom>
          <a:noFill/>
          <a:ln w="0">
            <a:noFill/>
          </a:ln>
        </p:spPr>
        <p:txBody>
          <a:bodyPr lIns="90000" tIns="46800" rIns="90000" bIns="4680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Arial"/>
              </a:rPr>
              <a:t>Click to edit the notes format</a:t>
            </a:r>
            <a:endParaRPr lang="en-US" sz="1200" b="0" u="none" strike="noStrike">
              <a:solidFill>
                <a:srgbClr val="000000"/>
              </a:solidFill>
              <a:effectLst/>
              <a:uFillTx/>
              <a:latin typeface="Arial"/>
            </a:endParaRPr>
          </a:p>
        </p:txBody>
      </p:sp>
      <p:sp>
        <p:nvSpPr>
          <p:cNvPr id="12" name="PlaceHolder 5"/>
          <p:cNvSpPr>
            <a:spLocks noGrp="1"/>
          </p:cNvSpPr>
          <p:nvPr>
            <p:ph type="ftr" idx="3"/>
          </p:nvPr>
        </p:nvSpPr>
        <p:spPr>
          <a:xfrm>
            <a:off x="-360" y="8686800"/>
            <a:ext cx="2971800" cy="457200"/>
          </a:xfrm>
          <a:prstGeom prst="rect">
            <a:avLst/>
          </a:prstGeom>
          <a:noFill/>
          <a:ln w="3816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Arial"/>
            </a:endParaRPr>
          </a:p>
        </p:txBody>
      </p:sp>
      <p:sp>
        <p:nvSpPr>
          <p:cNvPr id="13" name="PlaceHolder 6"/>
          <p:cNvSpPr>
            <a:spLocks noGrp="1"/>
          </p:cNvSpPr>
          <p:nvPr>
            <p:ph type="sldNum" idx="4"/>
          </p:nvPr>
        </p:nvSpPr>
        <p:spPr>
          <a:xfrm>
            <a:off x="3885840" y="8686800"/>
            <a:ext cx="2971800" cy="457200"/>
          </a:xfrm>
          <a:prstGeom prst="rect">
            <a:avLst/>
          </a:prstGeom>
          <a:noFill/>
          <a:ln w="3816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de-DE" sz="1200" b="0" u="none" strike="noStrike">
                <a:solidFill>
                  <a:srgbClr val="000000"/>
                </a:solidFill>
                <a:effectLst/>
                <a:uFillTx/>
                <a:latin typeface="Arial"/>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AD5263B-0FEB-496E-BABD-4BDDB597740F}" type="slidenum">
              <a:rPr lang="de-DE" sz="1200" b="0" u="none" strike="noStrike">
                <a:solidFill>
                  <a:srgbClr val="000000"/>
                </a:solidFill>
                <a:effectLst/>
                <a:uFillTx/>
                <a:latin typeface="Arial"/>
              </a:rPr>
              <a:t>&lt;number&gt;</a:t>
            </a:fld>
            <a:endParaRPr lang="en-US" sz="1200" b="0" u="none" strike="noStrik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Good morning, and thank you for being here. My name is [your name], and I will present my master's thesis, "Improving Micro-Expression Recognition through Temporal and Motion Modeling".</a:t>
            </a:r>
          </a:p>
          <a:p>
            <a:r>
              <a:t>I will assume that you have not read the thesis. So I will first explain what micro-expressions are, how a computer can recognise them and which technologies are involved, before I show what I did and what I found.</a:t>
            </a:r>
          </a:p>
        </p:txBody>
      </p:sp>
      <p:sp>
        <p:nvSpPr>
          <p:cNvPr id="4" name="Slide Number Placeholder 3"/>
          <p:cNvSpPr>
            <a:spLocks noGrp="1"/>
          </p:cNvSpPr>
          <p:nvPr>
            <p:ph type="sldNum" idx="4"/>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talk has five parts. First, the problem: what micro-expressions are and why they are hard for a computer. Second, the technologies: the building blocks a recognition system is made of. Third, the experiment: I switched four of these building blocks on and off in every valid combination. Fourth, the results: which blocks actually help. And fifth, the conclusion, with the limits of the study and the next steps.</a:t>
            </a:r>
          </a:p>
          <a:p>
            <a:r>
              <a:t>In one sentence: I took a standard recognition system apart and measured what each of its parts really contributes.</a:t>
            </a:r>
          </a:p>
        </p:txBody>
      </p:sp>
      <p:sp>
        <p:nvSpPr>
          <p:cNvPr id="4" name="Slide Number Placeholder 3"/>
          <p:cNvSpPr>
            <a:spLocks noGrp="1"/>
          </p:cNvSpPr>
          <p:nvPr>
            <p:ph type="sldNum" idx="4"/>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 micro-expression is a very brief facial movement that appears when a person tries to hide an emotion. The pictures show a real example from the CASME II dataset: the inner brows move down very slightly, and the experts labelled this as disgust. The strongest point of the movement, called the apex, comes about 110 milliseconds after it starts.</a:t>
            </a:r>
          </a:p>
          <a:p>
            <a:r>
              <a:t>Three properties make micro-expressions special. They are brief: no longer than about half a second. They are faint: the movement is close to the noise of an ordinary camera. And they are involuntary, so they cannot simply be acted; they must be provoked in a laboratory. Applications such as clinical diagnosis or interrogation are often mentioned, but these are motivations of the field, not working products.</a:t>
            </a:r>
          </a:p>
        </p:txBody>
      </p:sp>
      <p:sp>
        <p:nvSpPr>
          <p:cNvPr id="4" name="Slide Number Placeholder 3"/>
          <p:cNvSpPr>
            <a:spLocks noGrp="1"/>
          </p:cNvSpPr>
          <p:nvPr>
            <p:ph type="sldNum" idx="4"/>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What does the computer actually have to do? It receives a short video clip that starts when the movement starts and ends when it ends. It must answer with one of three emotion classes: Negative, which covers disgust, repression, sadness and fear; Positive, which is happiness; or Surprise. This is called micro-expression recognition.</a:t>
            </a:r>
          </a:p>
          <a:p>
            <a:r>
              <a:t>It is hard for three reasons. The movement is short, so only a few frames contain it. It is faint: it may change the brightness of the skin by only a few grey levels. And the data are scarce: because the expressions must be filmed in a laboratory, the dataset I used has only 156 usable clips.</a:t>
            </a:r>
          </a:p>
        </p:txBody>
      </p:sp>
      <p:sp>
        <p:nvSpPr>
          <p:cNvPr id="4" name="Slide Number Placeholder 3"/>
          <p:cNvSpPr>
            <a:spLocks noGrp="1"/>
          </p:cNvSpPr>
          <p:nvPr>
            <p:ph type="sldNum" idx="4"/>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Researchers have responded to these difficulties by building recognition systems as a chain of stages, a pipeline. First, the tiny motion is magnified. Second, the video is turned into a description of motion: how did each point move? Third, every clip is brought to the same number of frames. Fourth, a spatial feature extractor looks for patterns inside each frame. And fifth, a temporal model follows how the movement develops over time. The second row shows the technology I used for each stage.</a:t>
            </a:r>
          </a:p>
          <a:p>
            <a:r>
              <a:t>Each stage was introduced in a different paper, with its own reported improvement, and today they are usually used together. The dashed boxes mark the stages that I switch on and off. The next five slides explain each technology in simple terms.</a:t>
            </a:r>
          </a:p>
        </p:txBody>
      </p:sp>
      <p:sp>
        <p:nvSpPr>
          <p:cNvPr id="4" name="Slide Number Placeholder 3"/>
          <p:cNvSpPr>
            <a:spLocks noGrp="1"/>
          </p:cNvSpPr>
          <p:nvPr>
            <p:ph type="sldNum" idx="4"/>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first technology describes motion. Optical flow compares two frames and computes, for every pixel, how far and in which direction the image moved: a horizontal number, u, and a vertical number, v. The drawing on the left shows what happens when the whole head moves sideways: every point gets the same arrow. The middle drawing shows a micro-expression: only the points around the inner brows move.</a:t>
            </a:r>
          </a:p>
          <a:p>
            <a:r>
              <a:t>Optical strain goes one step further. It measures whether neighbouring points move differently, in other words whether the skin is stretched or compressed. When the whole head shifts, strain is zero; when the brows lower, strain is high only around the brows. In my system the network never sees the face itself, only these three motion maps: u, v and strain.</a:t>
            </a:r>
          </a:p>
        </p:txBody>
      </p:sp>
      <p:sp>
        <p:nvSpPr>
          <p:cNvPr id="4" name="Slide Number Placeholder 3"/>
          <p:cNvSpPr>
            <a:spLocks noGrp="1"/>
          </p:cNvSpPr>
          <p:nvPr>
            <p:ph type="sldNum" idx="4"/>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second technology is Eulerian video magnification. You can think of it as a microscope for motion. At every pixel it looks at how the brightness changes over time, keeps only the changes within a chosen speed range, multiplies them and adds them back to the video. The grey line is a tiny change in brightness at one pixel; the blue line is the same change after magnification.</a:t>
            </a:r>
          </a:p>
          <a:p>
            <a:r>
              <a:t>I used a factor alpha of 10, so the change becomes eleven times larger, and a range of 5 to 25 hertz, which matches the duration of micro-expressions. Magnification is applied before the motion is measured. Its risk is shown in pink: the method cannot tell an expression from noise or head movement in the same range, so those are amplified too.</a:t>
            </a:r>
          </a:p>
        </p:txBody>
      </p:sp>
      <p:sp>
        <p:nvSpPr>
          <p:cNvPr id="4" name="Slide Number Placeholder 3"/>
          <p:cNvSpPr>
            <a:spLocks noGrp="1"/>
          </p:cNvSpPr>
          <p:nvPr>
            <p:ph type="sldNum" idx="4"/>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remaining technologies are parts of a neural network, so a word on what that is. A neural network is a large collection of adjustable numbers, called parameters, arranged in layers. The input, here the motion maps, passes through the layers, and at the end the network gives a score for each of the three classes; the highest score is its answer.</a:t>
            </a:r>
          </a:p>
          <a:p>
            <a:r>
              <a:t>During training, the network sees example clips with their correct labels and adjusts its parameters step by step to make fewer mistakes. During testing, it is scored on clips it has never seen. My models have between about five thousand and about three hundred and sixty thousand parameters, but there are only 156 clips. A large model can memorise its training clips instead of learning something general, so model size matters.</a:t>
            </a:r>
          </a:p>
        </p:txBody>
      </p:sp>
      <p:sp>
        <p:nvSpPr>
          <p:cNvPr id="4" name="Slide Number Placeholder 3"/>
          <p:cNvSpPr>
            <a:spLocks noGrp="1"/>
          </p:cNvSpPr>
          <p:nvPr>
            <p:ph type="sldNum" idx="4"/>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fourth technology is the convolutional stem, which learns patterns within each frame. A convolution slides a small three-by-three filter over each motion map and responds wherever it finds the pattern it has learned, for example a local change in motion. My stem has three separate streams: one for horizontal flow, one for vertical flow and one for strain. When the stem is switched off, each frame is simply reduced to a coarse four-by-four grid of average motion.</a:t>
            </a:r>
          </a:p>
          <a:p>
            <a:r>
              <a:t>SimAM is an attention module that works on the stem's output. Attention means giving more weight to what matters. SimAM gives a higher weight to values that stand out from the rest, and turns ordinary values down slightly. It has no adjustable parameters, and its weights always lie between about 0.62 and 1.</a:t>
            </a:r>
          </a:p>
        </p:txBody>
      </p:sp>
      <p:sp>
        <p:nvSpPr>
          <p:cNvPr id="4" name="Slide Number Placeholder 3"/>
          <p:cNvSpPr>
            <a:spLocks noGrp="1"/>
          </p:cNvSpPr>
          <p:nvPr>
            <p:ph type="sldNum" idx="4"/>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fifth technology is the temporal transformer. Transformers were introduced for machine translation; mine is a very small one. The clip becomes a sequence of 32 steps, one for each pair of neighbouring frames, shown here as boxes. In self-attention, every step looks at all the other steps and decides how much each of them matters. The pink arcs show this for one step near the apex: it can relate itself both to the rising and to the falling part of the movement. A positional encoding tells the model the order of the steps. My transformer has four layers and eight attention heads and is trained from scratch.</a:t>
            </a:r>
          </a:p>
          <a:p>
            <a:r>
              <a:t>When the transformer is switched off, the 32 steps are simply averaged. Then the order is lost, and the rising and falling movement partly cancel each other out.</a:t>
            </a:r>
          </a:p>
        </p:txBody>
      </p:sp>
      <p:sp>
        <p:nvSpPr>
          <p:cNvPr id="4" name="Slide Number Placeholder 3"/>
          <p:cNvSpPr>
            <a:spLocks noGrp="1"/>
          </p:cNvSpPr>
          <p:nvPr>
            <p:ph type="sldNum" idx="4"/>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So what is missing? My literature review found four shared limitations. First, components are tested one at a time, inside one proposed system. Second, evaluation protocols differ: even the number of CASME II clips differs between papers. Third, the best results rely on extra training data or pre-training, which a single small dataset cannot reproduce. Fourth, settings such as the magnification factor are copied between systems without being re-tested.</a:t>
            </a:r>
          </a:p>
          <a:p>
            <a:r>
              <a:t>Together this is the research gap: no reviewed study tests the stages of the standard pipeline in combination under one protocol. So we cannot say which stages are really needed, which are habit, and which only work together with others.</a:t>
            </a:r>
          </a:p>
        </p:txBody>
      </p:sp>
      <p:sp>
        <p:nvSpPr>
          <p:cNvPr id="4" name="Slide Number Placeholder 3"/>
          <p:cNvSpPr>
            <a:spLocks noGrp="1"/>
          </p:cNvSpPr>
          <p:nvPr>
            <p:ph type="sldNum" idx="4"/>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leads to the central research question, taken from the task description: how can the modelling of temporal phases and motion cues improve the recognition of these subtle, short-lived expressions?</a:t>
            </a:r>
          </a:p>
          <a:p>
            <a:r>
              <a:t>I split it into three concrete questions. One: how much does the temporal transformer help, compared with an otherwise identical system without it? Two: does Eulerian video magnification help? Three: do the learned convolutional stem and SimAM attention add anything beyond the motion maps themselves? The key words are "otherwise identical": every comparison removes one part and nothing else.</a:t>
            </a:r>
          </a:p>
        </p:txBody>
      </p:sp>
      <p:sp>
        <p:nvSpPr>
          <p:cNvPr id="4" name="Slide Number Placeholder 3"/>
          <p:cNvSpPr>
            <a:spLocks noGrp="1"/>
          </p:cNvSpPr>
          <p:nvPr>
            <p:ph type="sldNum" idx="4"/>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All experiments use CASME II, a dataset recorded at 200 frames per second, in which experts marked the start, the peak and the end of each micro-expression. The released version contains 255 clips from 26 people. I removed the category "Others", a leftover group for clips that fit no emotion; this also removes one person. That leaves 156 clips from 25 people: 99 Negative, 32 Positive and 25 Surprise.</a:t>
            </a:r>
          </a:p>
          <a:p>
            <a:r>
              <a:t>This imbalance matters. A system that always answers "Negative" would already be right 63 percent of the time, without recognising anything.</a:t>
            </a:r>
          </a:p>
        </p:txBody>
      </p:sp>
      <p:sp>
        <p:nvSpPr>
          <p:cNvPr id="4" name="Slide Number Placeholder 3"/>
          <p:cNvSpPr>
            <a:spLocks noGrp="1"/>
          </p:cNvSpPr>
          <p:nvPr>
            <p:ph type="sldNum" idx="4"/>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Here is how one clip becomes the input of the network. The frames are converted to greyscale and resized to 224 by 224 pixels. Thirty-three frames are taken at equal spacing between the start and the end of the expression. If magnification is switched on, it is applied at this point. Then optical flow is computed between each pair of neighbouring frames, which gives 32 pairs, and strain is computed from the flow.</a:t>
            </a:r>
          </a:p>
          <a:p>
            <a:r>
              <a:t>The result is a block of numbers: three motion maps, for 32 time steps, each 224 by 224 pixels. This preparation is done once per clip, so every configuration receives exactly the same input.</a:t>
            </a:r>
          </a:p>
        </p:txBody>
      </p:sp>
      <p:sp>
        <p:nvSpPr>
          <p:cNvPr id="4" name="Slide Number Placeholder 3"/>
          <p:cNvSpPr>
            <a:spLocks noGrp="1"/>
          </p:cNvSpPr>
          <p:nvPr>
            <p:ph type="sldNum" idx="4"/>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These are the four parts that I switch on and off. Three of them deal with motion: magnification, the convolutional stem and SimAM attention. The fourth, the transformer, deals with time.</a:t>
            </a:r>
          </a:p>
          <a:p>
            <a:r>
              <a:t>When a part is switched off, it is replaced by the simplest operation that keeps the system working: no magnification; a coarse four-by-four average instead of the stem; unchanged values instead of SimAM; and a plain average over time instead of the transformer. SimAM can only be switched on together with the stem, because it re-weights the stem's output.</a:t>
            </a:r>
          </a:p>
        </p:txBody>
      </p:sp>
      <p:sp>
        <p:nvSpPr>
          <p:cNvPr id="4" name="Slide Number Placeholder 3"/>
          <p:cNvSpPr>
            <a:spLocks noGrp="1"/>
          </p:cNvSpPr>
          <p:nvPr>
            <p:ph type="sldNum" idx="4"/>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Four on-off switches give sixteen combinations. Four of them would switch on SimAM without the stem, which is not possible, so twelve valid configurations remain, named C1 to C16 in the table. Each one is trained from scratch.</a:t>
            </a:r>
          </a:p>
          <a:p>
            <a:r>
              <a:t>To measure one part, I use matched pairs: two configurations that are identical except for that part. For example, C1 has nothing switched on, and C2 differs from it only by the transformer, so the difference between their scores is the effect of the transformer in that setting. There are twenty such pairs, and the effect of a part is the average over its pairs.</a:t>
            </a:r>
          </a:p>
        </p:txBody>
      </p:sp>
      <p:sp>
        <p:nvSpPr>
          <p:cNvPr id="4" name="Slide Number Placeholder 3"/>
          <p:cNvSpPr>
            <a:spLocks noGrp="1"/>
          </p:cNvSpPr>
          <p:nvPr>
            <p:ph type="sldNum" idx="4"/>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Two choices make the test fair. The first is how the data are split. In leave-one-subject-out testing, the model is trained on 24 people and tested on the one person it has never seen. This is repeated 25 times, once for every person, so each clip is tested exactly once, always by a model that never saw that face.</a:t>
            </a:r>
          </a:p>
          <a:p>
            <a:r>
              <a:t>The second is the score. Because Negative is so common, I do not use plain accuracy. I use macro F1: for each class, F1 combines how many of its clips are found and how many of the answers for that class are right; the three class scores are then averaged, so the rare classes count as much as the common one. Always answering Negative gives 63 percent accuracy but a macro F1 of only 0.26. One declared limitation: the best training epoch was chosen on the test person.</a:t>
            </a:r>
          </a:p>
        </p:txBody>
      </p:sp>
      <p:sp>
        <p:nvSpPr>
          <p:cNvPr id="4" name="Slide Number Placeholder 3"/>
          <p:cNvSpPr>
            <a:spLocks noGrp="1"/>
          </p:cNvSpPr>
          <p:nvPr>
            <p:ph type="sldNum" idx="4"/>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Now the results. Each bar is one configuration, and higher is better. The picture is a clear split. The six blue bars are the configurations with the transformer; they score between 0.58 and 0.71. The six grey bars have no transformer and score between 0.42 and 0.45.</a:t>
            </a:r>
          </a:p>
          <a:p>
            <a:r>
              <a:t>The two groups do not overlap at all: the closest members are 0.135 apart, and no other part divides the configurations like this. So the first result is simple: whether a system contains the temporal transformer decides which group it belongs to.</a:t>
            </a:r>
          </a:p>
        </p:txBody>
      </p:sp>
      <p:sp>
        <p:nvSpPr>
          <p:cNvPr id="4" name="Slide Number Placeholder 3"/>
          <p:cNvSpPr>
            <a:spLocks noGrp="1"/>
          </p:cNvSpPr>
          <p:nvPr>
            <p:ph type="sldNum" idx="4"/>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best configuration is C2, which contains only the transformer, with a macro F1 of 0.7122. C8, with all four parts switched on, scores 0.6659, which is 0.0463 lower. Interestingly, C8 gets one more clip right, because it is stronger on the common Negative class, while C2 is better on the rare classes. Every configuration beats the always-Negative answer.</a:t>
            </a:r>
          </a:p>
          <a:p>
            <a:r>
              <a:t>The gap between C2 and C8 comes from a single training run, so it is not a proven advantage. But it shows something important: had I evaluated only the complete system, I would never have noticed that a part of it works better.</a:t>
            </a:r>
          </a:p>
        </p:txBody>
      </p:sp>
      <p:sp>
        <p:nvSpPr>
          <p:cNvPr id="4" name="Slide Number Placeholder 3"/>
          <p:cNvSpPr>
            <a:spLocks noGrp="1"/>
          </p:cNvSpPr>
          <p:nvPr>
            <p:ph type="sldNum" idx="4"/>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slide shows the average effect of each part. Adding the transformer improves macro F1 by 0.2173 on average, and it helps in all six of its pairs. Magnification adds only 0.0152, with four of six pairs positive. SimAM adds 0.0034, which cannot be told apart from zero. And the convolutional stem is the only part that hurts on average, by 0.0310.</a:t>
            </a:r>
          </a:p>
          <a:p>
            <a:r>
              <a:t>Even the smallest improvement from the transformer is larger than the average effect of any other part. The effects are also not additive: switching everything on does not give the best result.</a:t>
            </a:r>
          </a:p>
        </p:txBody>
      </p:sp>
      <p:sp>
        <p:nvSpPr>
          <p:cNvPr id="4" name="Slide Number Placeholder 3"/>
          <p:cNvSpPr>
            <a:spLocks noGrp="1"/>
          </p:cNvSpPr>
          <p:nvPr>
            <p:ph type="sldNum" idx="4"/>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How do the models go wrong? A confusion matrix shows, for each true class in the rows, how its clips were classified in the columns. The diagonal holds the correct answers, and darker cells mean more clips.</a:t>
            </a:r>
          </a:p>
          <a:p>
            <a:r>
              <a:t>On the left, C1, with nothing switched on, predicts the rare classes far too often: 35 of the 99 Negative clips are called Surprise. All systems without the transformer behave like this. A likely reason is that training shows the three classes equally often, so with weak features the model guesses them about equally. In the middle, C8 is pushed the other way: 13 of the 32 Positive clips become Negative. On the right, C2 recognises all three classes with similar success: 72, 84 and 72 percent.</a:t>
            </a:r>
          </a:p>
        </p:txBody>
      </p:sp>
      <p:sp>
        <p:nvSpPr>
          <p:cNvPr id="4" name="Slide Number Placeholder 3"/>
          <p:cNvSpPr>
            <a:spLocks noGrp="1"/>
          </p:cNvSpPr>
          <p:nvPr>
            <p:ph type="sldNum" idx="4"/>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Why did the parts behave like this? These are plausible explanations, not tested ones. Without the transformer, the 32 steps are averaged, so the rising and falling movement cancel out and the order is lost; the transformer can relate start, peak and end. But it also adds about 349,000 parameters, so order and size cannot be separated.</a:t>
            </a:r>
          </a:p>
          <a:p>
            <a:r>
              <a:t>Magnification helps little, probably because optical flow already captures faint motion, the maps are normalised anyway and, without face alignment, head movement is amplified too. SimAM can only scale values between about 0.62 and 1, so its effect is bound to be small. And the stem averages its output over the whole frame, which throws away where the movement happened, while its replacement keeps a coarse grid.</a:t>
            </a:r>
          </a:p>
        </p:txBody>
      </p:sp>
      <p:sp>
        <p:nvSpPr>
          <p:cNvPr id="4" name="Slide Number Placeholder 3"/>
          <p:cNvSpPr>
            <a:spLocks noGrp="1"/>
          </p:cNvSpPr>
          <p:nvPr>
            <p:ph type="sldNum" idx="4"/>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How does this compare with published work? The chart shows the results reported on CASME II in a well-known benchmark, the MEGC 2019 challenge. My best result, 0.7122, lies above two entries and below five.</a:t>
            </a:r>
          </a:p>
          <a:p>
            <a:r>
              <a:t>But this is not a like-for-like comparison. The published systems were trained on a combined dataset of 442 clips, almost three times as many. They were evaluated on 145 CASME II clips, while I use 156. And my epoch selection can only raise my scores, so it cannot explain the gap. The comparison places my results in context; it does not claim the best performance.</a:t>
            </a:r>
          </a:p>
        </p:txBody>
      </p:sp>
      <p:sp>
        <p:nvSpPr>
          <p:cNvPr id="4" name="Slide Number Placeholder 3"/>
          <p:cNvSpPr>
            <a:spLocks noGrp="1"/>
          </p:cNvSpPr>
          <p:nvPr>
            <p:ph type="sldNum" idx="4"/>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answer the research questions. One: the temporal transformer gave by far the largest improvement, 0.2173 on average, in all six pairs. Two: magnification did not improve recognition reliably, and it even lowered the best configuration. Three: neither the stem nor SimAM added to the motion maps; the stem hurt on average and SimAM could not be told apart from zero.</a:t>
            </a:r>
          </a:p>
          <a:p>
            <a:r>
              <a:t>So, for the central question: on a small dataset, the improvement comes from modelling how the motion develops over time, not from more preprocessing or more learned spatial processing. Robustness to noise was not measured separately.</a:t>
            </a:r>
          </a:p>
        </p:txBody>
      </p:sp>
      <p:sp>
        <p:nvSpPr>
          <p:cNvPr id="4" name="Slide Number Placeholder 3"/>
          <p:cNvSpPr>
            <a:spLocks noGrp="1"/>
          </p:cNvSpPr>
          <p:nvPr>
            <p:ph type="sldNum" idx="4"/>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These results have clear limits. Each configuration was trained once, with one random seed, so there are no confidence intervals. The best epoch was chosen on the test person, which makes the scores somewhat optimistic. Individual predictions were not stored, so no significance test is possible.</a:t>
            </a:r>
          </a:p>
          <a:p>
            <a:r>
              <a:t>The settings, such as the magnification factor, were fixed and not tuned. The implementation departs from the reviewed methods at twelve declared points, for example a stem without temporal filters. And everything rests on one dataset: 156 clips from 25 young people of one ethnicity, filmed in a laboratory.</a:t>
            </a:r>
          </a:p>
        </p:txBody>
      </p:sp>
      <p:sp>
        <p:nvSpPr>
          <p:cNvPr id="4" name="Slide Number Placeholder 3"/>
          <p:cNvSpPr>
            <a:spLocks noGrp="1"/>
          </p:cNvSpPr>
          <p:nvPr>
            <p:ph type="sldNum" idx="4"/>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limitations point directly to the next steps. First, a cleaner evaluation: choose the epoch on separate people, store every prediction for significance tests, and repeat with several seeds. Second, test the stem at lower resolutions such as 28 by 28 pixels. Third, apply magnification before the frames are sampled, try other magnification factors and another flow method. Fourth, compare the transformer with an equally large model that ignores time. And finally, repeat the study on larger and more diverse datasets such as SAMM, CAS(ME) cubed and DFME.</a:t>
            </a:r>
          </a:p>
        </p:txBody>
      </p:sp>
      <p:sp>
        <p:nvSpPr>
          <p:cNvPr id="4" name="Slide Number Placeholder 3"/>
          <p:cNvSpPr>
            <a:spLocks noGrp="1"/>
          </p:cNvSpPr>
          <p:nvPr>
            <p:ph type="sldNum" idx="4"/>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sum up, the thesis makes three contributions. First, a factorial evaluation of a standard pipeline: all twelve valid combinations of four parts under one protocol. Second, a measured account of what each part contributes: the transformer carries almost all of the effect, magnification and SimAM are small, and the stem is negative on average. Third, evidence that the full pipeline is not the best configuration.</a:t>
            </a:r>
          </a:p>
          <a:p>
            <a:r>
              <a:t>My conclusion: within one dataset and one training protocol, modelling how facial motion develops over time matters more for micro-expression recognition than adding more preprocessing or spatial processing.</a:t>
            </a:r>
          </a:p>
        </p:txBody>
      </p:sp>
      <p:sp>
        <p:nvSpPr>
          <p:cNvPr id="4" name="Slide Number Placeholder 3"/>
          <p:cNvSpPr>
            <a:spLocks noGrp="1"/>
          </p:cNvSpPr>
          <p:nvPr>
            <p:ph type="sldNum" idx="4"/>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Thank you for your attention. I am happy to take your questions. After this slide there are backup slides with more detail on the data, the model, the training and the full results, which I can show if they help to answer a question.</a:t>
            </a:r>
          </a:p>
        </p:txBody>
      </p:sp>
      <p:sp>
        <p:nvSpPr>
          <p:cNvPr id="4" name="Slide Number Placeholder 3"/>
          <p:cNvSpPr>
            <a:spLocks noGrp="1"/>
          </p:cNvSpPr>
          <p:nvPr>
            <p:ph type="sldNum" idx="4"/>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Backup slides. These are not part of the talk. Jump to one only when a question calls for it. They cover: datasets, CASME II labels, fold composition, magnification, optical flow and strain, temporal sampling, the convolutional stream and SimAM, the transformer and SLSTT, training settings, metrics, the published evidence, the full results table, the predicted class distribution, the twelve divergences, and the research gap per component.</a:t>
            </a:r>
          </a:p>
        </p:txBody>
      </p:sp>
      <p:sp>
        <p:nvSpPr>
          <p:cNvPr id="4" name="Slide Number Placeholder 3"/>
          <p:cNvSpPr>
            <a:spLocks noGrp="1"/>
          </p:cNvSpPr>
          <p:nvPr>
            <p:ph type="sldNum" idx="4"/>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Here are all twenty matched pairs behind those means. Each bar is one pair, labelled "off to on" by configuration number, and all four panels share the same vertical scale.</a:t>
            </a:r>
          </a:p>
          <a:p/>
          <a:p>
            <a:r>
              <a:t>For the transformer, every bar is clearly positive. The largest gain is from C1 to C2, plus 0.279.</a:t>
            </a:r>
          </a:p>
          <a:p/>
          <a:p>
            <a:r>
              <a:t>For magnification the picture is mixed. The largest gain, plus 0.080, is from C9 to C7, where the stem and the transformer are present. The largest loss, minus 0.054, occurs when magnification is added to the best configuration, C2 to C12.</a:t>
            </a:r>
          </a:p>
          <a:p/>
          <a:p>
            <a:r>
              <a:t>For the convolutional stem, three of the four differences are smaller than 0.01. The mean is dominated by one pair: adding the stem to the best configuration, C2 to C9, loses 0.129.</a:t>
            </a:r>
          </a:p>
          <a:p/>
          <a:p>
            <a:r>
              <a:t>So small means can hide considerable variation, and the two large losses both occur when a component is added to the transformer-only configuration.</a:t>
            </a:r>
          </a:p>
        </p:txBody>
      </p:sp>
      <p:sp>
        <p:nvSpPr>
          <p:cNvPr id="4" name="Slide Number Placeholder 3"/>
          <p:cNvSpPr>
            <a:spLocks noGrp="1"/>
          </p:cNvSpPr>
          <p:nvPr>
            <p:ph type="sldNum" idx="4"/>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Macro F1 is an average over the three classes, so it is worth looking at the classes separately.</a:t>
            </a:r>
          </a:p>
          <a:p/>
          <a:p>
            <a:r>
              <a:t>First, every configuration has a nonzero F1 on all three classes. No configuration abandons a class.</a:t>
            </a:r>
          </a:p>
          <a:p/>
          <a:p>
            <a:r>
              <a:t>Second, C2, the best configuration, has the highest Positive and Surprise scores, 0.65 and 0.68. Its advantage in macro F1 comes from the minority classes.</a:t>
            </a:r>
          </a:p>
          <a:p/>
          <a:p>
            <a:r>
              <a:t>Third, C9, the stem plus the transformer, has the highest Negative F1 of all, 0.85, but a Surprise F1 of only 0.30. Its accuracy is nevertheless 0.73. This shows that high accuracy can coincide with weak minority-class performance, which is exactly why accuracy is not my primary metric.</a:t>
            </a:r>
          </a:p>
          <a:p/>
          <a:p>
            <a:r>
              <a:t>Fourth, the Negative class separates the two groups most clearly: with the transformer, Negative F1 is between 0.75 and 0.85; without it, between 0.35 and 0.56.</a:t>
            </a:r>
          </a:p>
        </p:txBody>
      </p:sp>
      <p:sp>
        <p:nvSpPr>
          <p:cNvPr id="4" name="Slide Number Placeholder 3"/>
          <p:cNvSpPr>
            <a:spLocks noGrp="1"/>
          </p:cNvSpPr>
          <p:nvPr>
            <p:ph type="sldNum" idx="4"/>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Stage two is training and evaluation. All twelve configurations are branches of a single model, in which each component is executed or skipped by a switch.</a:t>
            </a:r>
          </a:p>
          <a:p/>
          <a:p>
            <a:r>
              <a:t>The motion tensor passes through the convolutional stem and SimAM if they are enabled. Spatial pooling then removes the spatial dimensions and leaves a sequence of 32 time steps with 96 features each. The transformer processes this sequence, the result is averaged over time, and the classifier head produces three class scores.</a:t>
            </a:r>
          </a:p>
          <a:p/>
          <a:p>
            <a:r>
              <a:t>Because every configuration shares the same implementation, initialisation and layer order, two configurations that differ in one switch differ in nothing else.</a:t>
            </a:r>
          </a:p>
          <a:p/>
          <a:p>
            <a:r>
              <a:t>The parameter counts are on the slide. The stem has about 14,500 parameters, the transformer about 349,000. SimAM and magnification add none. So in the complete model the transformer holds about 96 percent of the parameters. So the transformer adds capacity as well as temporal modelling.</a:t>
            </a:r>
          </a:p>
        </p:txBody>
      </p:sp>
      <p:sp>
        <p:nvSpPr>
          <p:cNvPr id="4" name="Slide Number Placeholder 3"/>
          <p:cNvSpPr>
            <a:spLocks noGrp="1"/>
          </p:cNvSpPr>
          <p:nvPr>
            <p:ph type="sldNum" idx="4"/>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why I chose CASME II or how it compares with other datasets.</a:t>
            </a:r>
          </a:p>
          <a:p/>
          <a:p>
            <a:r>
              <a:t>The table lists the spontaneous micro-expression datasets most widely used for recognition. CASME II has 26 subjects in the released coding, 200 frames per second and FACS coding. SMIC is not FACS-coded. SAMM addresses the demographic narrowness with 13 ethnicities. CAS(ME) squared and MMEW also contain macro-expressions. DFME is far larger, with 7,526 clips from 671 participants.</a:t>
            </a:r>
          </a:p>
          <a:p/>
          <a:p>
            <a:r>
              <a:t>I chose CASME II for three reasons: the highest temporal resolution among datasets of comparable size, well-defined onset and offset annotation, and its status as the most widely reported single-dataset benchmark. The price is that no result extends to other populations or datasets.</a:t>
            </a:r>
          </a:p>
        </p:txBody>
      </p:sp>
      <p:sp>
        <p:nvSpPr>
          <p:cNvPr id="4" name="Slide Number Placeholder 3"/>
          <p:cNvSpPr>
            <a:spLocks noGrp="1"/>
          </p:cNvSpPr>
          <p:nvPr>
            <p:ph type="sldNum" idx="4"/>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about the class grouping or why my sample count differs from other papers.</a:t>
            </a:r>
          </a:p>
          <a:p/>
          <a:p>
            <a:r>
              <a:t>The released coding has seven labels: disgust 63, repression 27, sadness 7, fear 2, happiness 32, surprise 25 and others 99. Seven-class recognition is not viable with two fear clips and seven sadness clips.</a:t>
            </a:r>
          </a:p>
          <a:p/>
          <a:p>
            <a:r>
              <a:t>Three sample counts circulate for CASME II. The paper reports 247. The released coding file contains 255. MEGC 2019 uses 145, because its Negative class is disgust and repression only.</a:t>
            </a:r>
          </a:p>
          <a:p/>
          <a:p>
            <a:r>
              <a:t>I use 156: I add sadness and fear to Negative, following the mapping MEGC gives for SAMM. Nine of the eleven extra clips are sadness and fear; two are unexplained, because disgust and repression number 90 in the released coding against 88 in the challenge.</a:t>
            </a:r>
          </a:p>
        </p:txBody>
      </p:sp>
      <p:sp>
        <p:nvSpPr>
          <p:cNvPr id="4" name="Slide Number Placeholder 3"/>
          <p:cNvSpPr>
            <a:spLocks noGrp="1"/>
          </p:cNvSpPr>
          <p:nvPr>
            <p:ph type="sldNum" idx="4"/>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why I pool the confusion matrices instead of averaging per-fold scores.</a:t>
            </a:r>
          </a:p>
          <a:p/>
          <a:p>
            <a:r>
              <a:t>Each bar is one held-out subject, and the number above it is how many of the three classes that subject has. The folds are very unequal: subject 17 alone contributes 33 clips, and three subjects contribute a single clip.</a:t>
            </a:r>
          </a:p>
          <a:p/>
          <a:p>
            <a:r>
              <a:t>Ten folds contain only one class, eight contain two, and seven contain all three. A class that is absent from a fold contributes an F1 of zero, so a one-class fold can score at most one third and a two-class fold at most two thirds.</a:t>
            </a:r>
          </a:p>
          <a:p/>
          <a:p>
            <a:r>
              <a:t>The mean-of-folds macro F1 is therefore capped at about 0.627, however good the model is. Pooling the counts over all 156 clips avoids this ceiling, and it is exactly how the UF1 of MEGC 2019 is defined.</a:t>
            </a:r>
          </a:p>
        </p:txBody>
      </p:sp>
      <p:sp>
        <p:nvSpPr>
          <p:cNvPr id="4" name="Slide Number Placeholder 3"/>
          <p:cNvSpPr>
            <a:spLocks noGrp="1"/>
          </p:cNvSpPr>
          <p:nvPr>
            <p:ph type="sldNum" idx="4"/>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how magnification works or how my implementation differs from the reference.</a:t>
            </a:r>
          </a:p>
          <a:p/>
          <a:p>
            <a:r>
              <a:t>The first equation is the small-motion approximation: a small displacement delta changes the intensity by delta times the spatial gradient. Amplifying that variation by alpha gives an intensity that resembles a displacement enlarged by one plus alpha.</a:t>
            </a:r>
          </a:p>
          <a:p/>
          <a:p>
            <a:r>
              <a:t>The table lists the implementation choices. The band is the full 5 to 25 hertz, where Bai et al. narrowed it to 15 to 25 to reduce noise. The filter is a hard Fourier mask, not a Butterworth filter. The same alpha of 10 is applied to every level of a four-level Laplacian pyramid. And, most importantly, magnification is applied after the clip is sampled to 33 frames, so the realised pass-band depends on the clip length: about 2.5 to 12.5 hertz at the median length.</a:t>
            </a:r>
          </a:p>
          <a:p/>
          <a:p>
            <a:r>
              <a:t>The filter separates frequencies, not causes, so head movement in the band is amplified too.</a:t>
            </a:r>
          </a:p>
        </p:txBody>
      </p:sp>
      <p:sp>
        <p:nvSpPr>
          <p:cNvPr id="4" name="Slide Number Placeholder 3"/>
          <p:cNvSpPr>
            <a:spLocks noGrp="1"/>
          </p:cNvSpPr>
          <p:nvPr>
            <p:ph type="sldNum" idx="4"/>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for the mathematics of the motion representation.</a:t>
            </a:r>
          </a:p>
          <a:p/>
          <a:p>
            <a:r>
              <a:t>Optical flow rests on brightness constancy: a moving point keeps its intensity. A first-order expansion gives the flow constraint equation, which is one equation in two unknowns. That is the aperture problem, and it is why estimators add neighbourhood assumptions. I use the Farnebäck estimator.</a:t>
            </a:r>
          </a:p>
          <a:p/>
          <a:p>
            <a:r>
              <a:t>Optical strain is the symmetric part of the gradient of the displacement field. Its normal components describe stretching and compression, and the off-diagonal component describes shear. A uniform translation has zero strain.</a:t>
            </a:r>
          </a:p>
          <a:p/>
          <a:p>
            <a:r>
              <a:t>My scalar magnitude counts the shear component once. The Frobenius norm used by Liong et al. counts it twice. This is a declared divergence and was not tested experimentally.</a:t>
            </a:r>
          </a:p>
          <a:p/>
          <a:p>
            <a:r>
              <a:t>The three fields, u, v and the strain magnitude, form the three input channels.</a:t>
            </a:r>
          </a:p>
        </p:txBody>
      </p:sp>
      <p:sp>
        <p:nvSpPr>
          <p:cNvPr id="4" name="Slide Number Placeholder 3"/>
          <p:cNvSpPr>
            <a:spLocks noGrp="1"/>
          </p:cNvSpPr>
          <p:nvPr>
            <p:ph type="sldNum" idx="4"/>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about the sequence length, the frame rate or the Temporal Interpolation Model.</a:t>
            </a:r>
          </a:p>
          <a:p/>
          <a:p>
            <a:r>
              <a:t>Clips are between 31 and 126 frames long, with a median of 66. I sample 33 frames uniformly, so the effective frame rate is 6600 divided by the clip length: 100 frames per second at the median, and about 52 for the longest clip. 81 of the 156 clips are downsampled by a factor of two or more. Three clips have only 31 frames, so indices repeat and give near-zero flow.</a:t>
            </a:r>
          </a:p>
          <a:p/>
          <a:p>
            <a:r>
              <a:t>I sample existing frames and do not use the Temporal Interpolation Model, because synthesised frames would produce synthesised displacements.</a:t>
            </a:r>
          </a:p>
          <a:p/>
          <a:p>
            <a:r>
              <a:t>In the literature, ten frames is a convention, and the studies that test the length disagree: Li et al. find ten frames best, Ben et al. find sixty. I did not vary the length.</a:t>
            </a:r>
          </a:p>
        </p:txBody>
      </p:sp>
      <p:sp>
        <p:nvSpPr>
          <p:cNvPr id="4" name="Slide Number Placeholder 3"/>
          <p:cNvSpPr>
            <a:spLocks noGrp="1"/>
          </p:cNvSpPr>
          <p:nvPr>
            <p:ph type="sldNum" idx="4"/>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for the exact layers of the stem or the SimAM formula.</a:t>
            </a:r>
          </a:p>
          <a:p/>
          <a:p>
            <a:r>
              <a:t>Each stream has two convolutions with spatial kernels of one by three by three, with 16 and then 32 filters, each followed by batch normalisation, ReLU and channel-wise dropout of 0.3, and a final max pooling that halves height and width. The three streams are concatenated to 96 channels. No kernel spans time.</a:t>
            </a:r>
          </a:p>
          <a:p/>
          <a:p>
            <a:r>
              <a:t>SimAM computes the mean and variance of each channel, here over the whole clip. For each activation it computes a reciprocal energy that grows with the squared distance from the mean, and multiplies the activation by the sigmoid of that value.</a:t>
            </a:r>
          </a:p>
          <a:p/>
          <a:p>
            <a:r>
              <a:t>Because the reciprocal energy is at least one half, the weight lies between about 0.62 and 1. So SimAM can only attenuate moderately, which is one reason its measured effect is small.</a:t>
            </a:r>
          </a:p>
        </p:txBody>
      </p:sp>
      <p:sp>
        <p:nvSpPr>
          <p:cNvPr id="4" name="Slide Number Placeholder 3"/>
          <p:cNvSpPr>
            <a:spLocks noGrp="1"/>
          </p:cNvSpPr>
          <p:nvPr>
            <p:ph type="sldNum" idx="4"/>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how my transformer relates to SLSTT.</a:t>
            </a:r>
          </a:p>
          <a:p/>
          <a:p>
            <a:r>
              <a:t>The top equation is scaled dot-product self-attention. The second is the fixed sinusoidal positional encoding added to the 32 tokens; the feature dimension is 96.</a:t>
            </a:r>
          </a:p>
          <a:p/>
          <a:p>
            <a:r>
              <a:t>The table lists the six differences from published SLSTT. In SLSTT, self-attention is spatial, over patches within a frame, and an LSTM models time. In my model, self-attention is temporal, over the tokens of a clip, followed by a mean. SLSTT uses an ImageNet-pre-trained ViT-B/16 with twelve layers; mine has four small layers trained from scratch. SLSTT uses learned positions and onset-referenced flow; I use sinusoidal positions and consecutive-frame flow.</a:t>
            </a:r>
          </a:p>
          <a:p/>
          <a:p>
            <a:r>
              <a:t>So my component is a small temporal transformer encoder, not a reproduction of SLSTT, and I do not claim to validate SLSTT.</a:t>
            </a:r>
          </a:p>
        </p:txBody>
      </p:sp>
      <p:sp>
        <p:nvSpPr>
          <p:cNvPr id="4" name="Slide Number Placeholder 3"/>
          <p:cNvSpPr>
            <a:spLocks noGrp="1"/>
          </p:cNvSpPr>
          <p:nvPr>
            <p:ph type="sldNum" idx="4"/>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for exact training settings or the loss.</a:t>
            </a:r>
          </a:p>
          <a:p/>
          <a:p>
            <a:r>
              <a:t>The table gives the full recipe, identical for all configurations and folds. Focal loss with gamma of two, label smoothing of 0.05, a class-balanced sampler, AdamW with a learning rate and weight decay of ten to the minus four, five warmup epochs and cosine annealing, fifty epochs, batch size eight, gradient clipping and mixed precision.</a:t>
            </a:r>
          </a:p>
          <a:p/>
          <a:p>
            <a:r>
              <a:t>On the right are the loss formulas. The focal term reduces the contribution of confidently classified examples. It depends on difficulty, not on class frequency, so the frequency correction must come from the sampler.</a:t>
            </a:r>
          </a:p>
          <a:p/>
          <a:p>
            <a:r>
              <a:t>The class-weighting rule says that loss weights are used only when the sampler is inactive. It was introduced after two failures in opposite directions during development. I report that as context: its causal effect was not isolated.</a:t>
            </a:r>
          </a:p>
        </p:txBody>
      </p:sp>
      <p:sp>
        <p:nvSpPr>
          <p:cNvPr id="4" name="Slide Number Placeholder 3"/>
          <p:cNvSpPr>
            <a:spLocks noGrp="1"/>
          </p:cNvSpPr>
          <p:nvPr>
            <p:ph type="sldNum" idx="4"/>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to define the metrics.</a:t>
            </a:r>
          </a:p>
          <a:p/>
          <a:p>
            <a:r>
              <a:t>Precision is the share of predictions of a class that are correct. Recall is the share of clips of a class that are found. F1 is their harmonic mean. Macro F1 is the mean of the three class F1 scores, so each class has equal weight.</a:t>
            </a:r>
          </a:p>
          <a:p/>
          <a:p>
            <a:r>
              <a:t>My primary metric is pooled macro F1: the confusion matrices of the 25 folds are summed first, and the class F1 scores are computed once. This is identical in construction to the UF1 of MEGC 2019.</a:t>
            </a:r>
          </a:p>
          <a:p/>
          <a:p>
            <a:r>
              <a:t>I reject the mean of per-fold scores because of the fold composition: it is capped at 0.627.</a:t>
            </a:r>
          </a:p>
          <a:p/>
          <a:p>
            <a:r>
              <a:t>I report pooled accuracy alongside, but accuracy equals micro F1 and is dominated by the majority class. Always predicting Negative gives 0.6346 accuracy and only 0.2588 macro F1.</a:t>
            </a:r>
          </a:p>
        </p:txBody>
      </p:sp>
      <p:sp>
        <p:nvSpPr>
          <p:cNvPr id="4" name="Slide Number Placeholder 3"/>
          <p:cNvSpPr>
            <a:spLocks noGrp="1"/>
          </p:cNvSpPr>
          <p:nvPr>
            <p:ph type="sldNum" idx="4"/>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what the literature says about magnification and strain.</a:t>
            </a:r>
          </a:p>
          <a:p/>
          <a:p>
            <a:r>
              <a:t>On the left is a controlled comparison with and without magnification, from Li et al. 2018, with descriptor and classifier held fixed. On CASME II, magnification raises accuracy by about 5 points for LBP, 6.5 for HOG and 10 for HIGO. The curve over alpha is non-monotonic, with the best range 8 to 16. But all of these descriptors are computed on magnified pixel intensities; none is an explicit motion field. That is the case my thesis tests on a single dataset. Xia et al. 2020 ran a similar check on the composite dataset with optical-flow input and found that magnification lowered the score of every model, which is consistent with my result.</a:t>
            </a:r>
          </a:p>
          <a:p/>
          <a:p>
            <a:r>
              <a:t>On the right is Liong et al. 2016. Strain features alone are below the texture baseline; combined with strain weighting they reach 63.16 percent on CASME II, against 55.87 for the matched flow descriptors. But CASME II is evaluated leave-one-video-out there, which is not subject-independent, and these are hand-crafted descriptors.</a:t>
            </a:r>
          </a:p>
        </p:txBody>
      </p:sp>
      <p:sp>
        <p:nvSpPr>
          <p:cNvPr id="4" name="Slide Number Placeholder 3"/>
          <p:cNvSpPr>
            <a:spLocks noGrp="1"/>
          </p:cNvSpPr>
          <p:nvPr>
            <p:ph type="sldNum" idx="4"/>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for an exact number for any configuration.</a:t>
            </a:r>
          </a:p>
          <a:p/>
          <a:p>
            <a:r>
              <a:t>The table gives, for all twelve configurations in rank order, the components that are enabled, the pooled macro F1, the pooled accuracy and the three per-class F1 scores.</a:t>
            </a:r>
          </a:p>
          <a:p/>
          <a:p>
            <a:r>
              <a:t>Points worth knowing. C2 is first in macro F1 with 0.7122. C8 has the highest accuracy, 0.7500. C9 has the highest Negative F1, 0.8491, but a Surprise F1 of 0.3000. The lowest single class score is the Surprise F1 of C4, 0.2462. The six configurations without the transformer all lie between 0.4192 and 0.4480 in macro F1.</a:t>
            </a:r>
          </a:p>
        </p:txBody>
      </p:sp>
      <p:sp>
        <p:nvSpPr>
          <p:cNvPr id="4" name="Slide Number Placeholder 3"/>
          <p:cNvSpPr>
            <a:spLocks noGrp="1"/>
          </p:cNvSpPr>
          <p:nvPr>
            <p:ph type="sldNum" idx="4"/>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why the models without a transformer have low accuracy.</a:t>
            </a:r>
          </a:p>
          <a:p/>
          <a:p>
            <a:r>
              <a:t>The chart shows how many clips each configuration predicts as each class. The first group shows the true class sizes: 99, 32 and 25.</a:t>
            </a:r>
          </a:p>
          <a:p/>
          <a:p>
            <a:r>
              <a:t>The six configurations on the right have no transformer. They predict Surprise between 40 and 97 times, although only 25 clips are Surprise, and they predict Positive more often than its 32 clips. Most Negative clips are therefore misclassified.</a:t>
            </a:r>
          </a:p>
          <a:p/>
          <a:p>
            <a:r>
              <a:t>A likely cause is the balanced sampler: the model learns class frequencies near one third each, and when the features are weak, predictions follow that prior.</a:t>
            </a:r>
          </a:p>
          <a:p/>
          <a:p>
            <a:r>
              <a:t>The configurations with the transformer are much closer to the true distribution. Those that also contain the stem predict Negative 82 to 113 times, a shift towards the majority class.</a:t>
            </a:r>
          </a:p>
        </p:txBody>
      </p:sp>
      <p:sp>
        <p:nvSpPr>
          <p:cNvPr id="4" name="Slide Number Placeholder 3"/>
          <p:cNvSpPr>
            <a:spLocks noGrp="1"/>
          </p:cNvSpPr>
          <p:nvPr>
            <p:ph type="sldNum" idx="4"/>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how my implementation differs from the methods it draws on.</a:t>
            </a:r>
          </a:p>
          <a:p/>
          <a:p>
            <a:r>
              <a:t>The literature review identified twelve points of departure, and I declare all of them so that no result rests on an unstated assumption.</a:t>
            </a:r>
          </a:p>
          <a:p/>
          <a:p>
            <a:r>
              <a:t>Three were identified by the review itself and were not deliberate design decisions: the strain formula, the order of magnification and sampling, and the input resolution.</a:t>
            </a:r>
          </a:p>
          <a:p/>
          <a:p>
            <a:r>
              <a:t>None of them invalidates the ablation, because every configuration shares them. What they do is constrain the wording of the conclusions. What I measure is the contribution of a spatial stem at 224 by 224 and of a temporal encoder within this pipeline. It is not a verdict on temporal convolution or on SLSTT.</a:t>
            </a:r>
          </a:p>
        </p:txBody>
      </p:sp>
      <p:sp>
        <p:nvSpPr>
          <p:cNvPr id="4" name="Slide Number Placeholder 3"/>
          <p:cNvSpPr>
            <a:spLocks noGrp="1"/>
          </p:cNvSpPr>
          <p:nvPr>
            <p:ph type="sldNum" idx="4"/>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Use this if asked, for a specific component, what was unknown and what my study does not cover.</a:t>
            </a:r>
          </a:p>
          <a:p/>
          <a:p>
            <a:r>
              <a:t>For each component the table gives the research gap left by the reviewed literature and the limitation of my implementation. The first five rows are motion modelling; the last two are temporal modelling.</a:t>
            </a:r>
          </a:p>
          <a:p/>
          <a:p>
            <a:r>
              <a:t>For example, magnification has only been evaluated in front of appearance-based descriptors, and I fix alpha at 10. No study removes the learned spatial stem, and mine has spatial kernels only at 224 by 224. The best transformer results combine a pre-trained spatial transformer with an LSTM, and my ablation compares the complete encoder with mean pooling without isolating self-attention.</a:t>
            </a:r>
          </a:p>
          <a:p/>
          <a:p>
            <a:r>
              <a:t>For training, the imbalance treatment, gamma and label smoothing are identical in all configurations, so their effects are not measured.</a:t>
            </a:r>
          </a:p>
        </p:txBody>
      </p:sp>
      <p:sp>
        <p:nvSpPr>
          <p:cNvPr id="4" name="Slide Number Placeholder 3"/>
          <p:cNvSpPr>
            <a:spLocks noGrp="1"/>
          </p:cNvSpPr>
          <p:nvPr>
            <p:ph type="sldNum" idx="4"/>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TU title only">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2D25E59F-6C3E-461B-AE14-B81088E6D32F}" type="slidenum">
              <a:t>&lt;#&gt;</a:t>
            </a:fld>
          </a:p>
        </p:txBody>
      </p:sp>
      <p:sp>
        <p:nvSpPr>
          <p:cNvPr id="3" name="Title 2"/>
          <p:cNvSpPr>
            <a:spLocks noGrp="1"/>
          </p:cNvSpPr>
          <p:nvPr>
            <p:ph type="title"/>
          </p:nvPr>
        </p:nvSpPr>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609120"/>
            <a:ext cx="4952880" cy="1143000"/>
          </a:xfrm>
          <a:prstGeom prst="rect">
            <a:avLst/>
          </a:prstGeom>
          <a:noFill/>
          <a:ln w="0">
            <a:noFill/>
          </a:ln>
        </p:spPr>
        <p:txBody>
          <a:bodyPr lIns="90000" tIns="46800" rIns="90000" bIns="46800" anchor="t">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800" b="1" u="none" strike="noStrike">
                <a:solidFill>
                  <a:srgbClr val="A8CC2F"/>
                </a:solidFill>
                <a:effectLst/>
                <a:uFillTx/>
                <a:latin typeface="Arial"/>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A8CC2F"/>
                </a:solidFill>
                <a:effectLst/>
                <a:uFillTx/>
                <a:latin typeface="Arial"/>
              </a:rPr>
              <a:t>Click to edit the title text format</a:t>
            </a:r>
            <a:endParaRPr lang="en-US" sz="1800" b="1" u="none" strike="noStrike">
              <a:solidFill>
                <a:srgbClr val="A8CC2F"/>
              </a:solidFill>
              <a:effectLst/>
              <a:uFillTx/>
              <a:latin typeface="Arial"/>
            </a:endParaRPr>
          </a:p>
        </p:txBody>
      </p:sp>
      <p:sp>
        <p:nvSpPr>
          <p:cNvPr id="3" name="PlaceHolder 2"/>
          <p:cNvSpPr>
            <a:spLocks noGrp="1"/>
          </p:cNvSpPr>
          <p:nvPr>
            <p:ph type="body"/>
          </p:nvPr>
        </p:nvSpPr>
        <p:spPr>
          <a:xfrm>
            <a:off x="685440" y="1981080"/>
            <a:ext cx="8001000" cy="4114800"/>
          </a:xfrm>
          <a:prstGeom prst="rect">
            <a:avLst/>
          </a:prstGeom>
          <a:noFill/>
          <a:ln w="0">
            <a:noFill/>
          </a:ln>
        </p:spPr>
        <p:txBody>
          <a:bodyPr lIns="90000" tIns="46800" rIns="90000" bIns="46800" anchor="t">
            <a:normAutofit/>
          </a:bodyPr>
          <a:lstStyle>
            <a:lvl1pPr algn="l">
              <a:spcBef>
                <a:spcPts val="601"/>
              </a:spcBef>
              <a:buClr>
                <a:srgbClr val="414141"/>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1pPr>
            <a:lvl2pPr lvl="1" algn="l">
              <a:spcBef>
                <a:spcPts val="601"/>
              </a:spcBef>
              <a:buClr>
                <a:srgbClr val="414141"/>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2pPr>
            <a:lvl3pPr lvl="2" algn="l">
              <a:spcBef>
                <a:spcPts val="601"/>
              </a:spcBef>
              <a:buClr>
                <a:srgbClr val="414141"/>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3pPr>
            <a:lvl4pPr lvl="3" algn="l">
              <a:spcBef>
                <a:spcPts val="601"/>
              </a:spcBef>
              <a:buClr>
                <a:srgbClr val="414141"/>
              </a:buClr>
              <a:buFont typeface="Courier New"/>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4pPr>
            <a:lvl5pPr lvl="4" algn="l">
              <a:spcBef>
                <a:spcPts val="601"/>
              </a:spcBef>
              <a:buClr>
                <a:srgbClr val="A8CC2F"/>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5pPr>
            <a:lvl6pPr lvl="5" algn="l">
              <a:spcBef>
                <a:spcPts val="601"/>
              </a:spcBef>
              <a:buClr>
                <a:srgbClr val="000000"/>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6pPr>
            <a:lvl7pPr lvl="6" algn="l">
              <a:spcBef>
                <a:spcPts val="601"/>
              </a:spcBef>
              <a:buClr>
                <a:srgbClr val="000000"/>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400" b="0" u="none" strike="noStrike">
                <a:solidFill>
                  <a:srgbClr val="414141"/>
                </a:solidFill>
                <a:effectLst/>
                <a:uFillTx/>
                <a:latin typeface="Arial"/>
              </a:defRPr>
            </a:lvl7pPr>
          </a:lstStyle>
          <a:p>
            <a:pPr marL="343080" indent="-343080" algn="l">
              <a:spcBef>
                <a:spcPts val="601"/>
              </a:spcBef>
              <a:buClr>
                <a:srgbClr val="414141"/>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Click to edit the outline text format</a:t>
            </a:r>
            <a:endParaRPr lang="en-US" sz="2400" b="0" u="none" strike="noStrike">
              <a:solidFill>
                <a:srgbClr val="414141"/>
              </a:solidFill>
              <a:effectLst/>
              <a:uFillTx/>
              <a:latin typeface="Arial"/>
            </a:endParaRPr>
          </a:p>
          <a:p>
            <a:pPr marL="743040" lvl="1" indent="-285840" algn="l">
              <a:spcBef>
                <a:spcPts val="601"/>
              </a:spcBef>
              <a:buClr>
                <a:srgbClr val="414141"/>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Second Outline Level</a:t>
            </a:r>
            <a:endParaRPr lang="en-US" sz="2400" b="0" u="none" strike="noStrike">
              <a:solidFill>
                <a:srgbClr val="414141"/>
              </a:solidFill>
              <a:effectLst/>
              <a:uFillTx/>
              <a:latin typeface="Arial"/>
            </a:endParaRPr>
          </a:p>
          <a:p>
            <a:pPr marL="1143000" lvl="2" indent="-228600" algn="l">
              <a:spcBef>
                <a:spcPts val="601"/>
              </a:spcBef>
              <a:buClr>
                <a:srgbClr val="414141"/>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Third Outline Level</a:t>
            </a:r>
            <a:endParaRPr lang="en-US" sz="2400" b="0" u="none" strike="noStrike">
              <a:solidFill>
                <a:srgbClr val="414141"/>
              </a:solidFill>
              <a:effectLst/>
              <a:uFillTx/>
              <a:latin typeface="Arial"/>
            </a:endParaRPr>
          </a:p>
          <a:p>
            <a:pPr marL="1144440" lvl="3" algn="l">
              <a:spcBef>
                <a:spcPts val="601"/>
              </a:spcBef>
              <a:buClr>
                <a:srgbClr val="414141"/>
              </a:buClr>
              <a:buFont typeface="Courier New"/>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Fourth Outline Level</a:t>
            </a:r>
            <a:endParaRPr lang="en-US" sz="2400" b="0" u="none" strike="noStrike">
              <a:solidFill>
                <a:srgbClr val="414141"/>
              </a:solidFill>
              <a:effectLst/>
              <a:uFillTx/>
              <a:latin typeface="Arial"/>
            </a:endParaRPr>
          </a:p>
          <a:p>
            <a:pPr marL="1144440" lvl="4" indent="-228600" algn="l">
              <a:spcBef>
                <a:spcPts val="601"/>
              </a:spcBef>
              <a:buClr>
                <a:srgbClr val="A8CC2F"/>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Fifth Outline Level</a:t>
            </a:r>
            <a:endParaRPr lang="en-US" sz="2400" b="0" u="none" strike="noStrike">
              <a:solidFill>
                <a:srgbClr val="414141"/>
              </a:solidFill>
              <a:effectLst/>
              <a:uFillTx/>
              <a:latin typeface="Arial"/>
            </a:endParaRPr>
          </a:p>
          <a:p>
            <a:pPr marL="1144440" lvl="5" indent="-228600" algn="l">
              <a:spcBef>
                <a:spcPts val="601"/>
              </a:spcBef>
              <a:buClr>
                <a:srgbClr val="000000"/>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Sixth Outline Level</a:t>
            </a:r>
            <a:endParaRPr lang="en-US" sz="2400" b="0" u="none" strike="noStrike">
              <a:solidFill>
                <a:srgbClr val="414141"/>
              </a:solidFill>
              <a:effectLst/>
              <a:uFillTx/>
              <a:latin typeface="Arial"/>
            </a:endParaRPr>
          </a:p>
          <a:p>
            <a:pPr marL="1144440" lvl="6" indent="-228600" algn="l">
              <a:spcBef>
                <a:spcPts val="601"/>
              </a:spcBef>
              <a:buClr>
                <a:srgbClr val="000000"/>
              </a:buClr>
              <a:buFont typeface="Lucida Grande"/>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414141"/>
                </a:solidFill>
                <a:effectLst/>
                <a:uFillTx/>
                <a:latin typeface="Arial"/>
              </a:rPr>
              <a:t>Seventh Outline Level</a:t>
            </a:r>
            <a:endParaRPr lang="en-US" sz="2400" b="0" u="none" strike="noStrike">
              <a:solidFill>
                <a:srgbClr val="414141"/>
              </a:solidFill>
              <a:effectLst/>
              <a:uFillTx/>
              <a:latin typeface="Arial"/>
            </a:endParaRPr>
          </a:p>
        </p:txBody>
      </p:sp>
      <p:sp>
        <p:nvSpPr>
          <p:cNvPr id="4" name="PlaceHolder 3"/>
          <p:cNvSpPr>
            <a:spLocks noGrp="1"/>
          </p:cNvSpPr>
          <p:nvPr>
            <p:ph type="sldNum" idx="1"/>
          </p:nvPr>
        </p:nvSpPr>
        <p:spPr>
          <a:xfrm>
            <a:off x="6781680" y="6248160"/>
            <a:ext cx="1905120" cy="457200"/>
          </a:xfrm>
          <a:prstGeom prst="rect">
            <a:avLst/>
          </a:prstGeom>
          <a:noFill/>
          <a:ln w="3816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de-DE" sz="1000" b="0" u="none" strike="noStrike">
                <a:solidFill>
                  <a:srgbClr val="A8CC2F"/>
                </a:solidFill>
                <a:effectLst/>
                <a:uFillTx/>
                <a:latin typeface="Arial"/>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49486EB-CA32-4495-A6FC-E34EE2716EDF}" type="slidenum">
              <a:rPr lang="de-DE" sz="1000" b="0" u="none" strike="noStrike">
                <a:solidFill>
                  <a:srgbClr val="A8CC2F"/>
                </a:solidFill>
                <a:effectLst/>
                <a:uFillTx/>
                <a:latin typeface="Arial"/>
              </a:rPr>
              <a:t>&lt;number&gt;</a:t>
            </a:fld>
            <a:endParaRPr lang="en-US" sz="1000" b="0" u="none" strike="noStrike">
              <a:solidFill>
                <a:srgbClr val="000000"/>
              </a:solidFill>
              <a:effectLst/>
              <a:uFillTx/>
              <a:latin typeface="Arial"/>
            </a:endParaRPr>
          </a:p>
        </p:txBody>
      </p:sp>
      <p:pic>
        <p:nvPicPr>
          <p:cNvPr id="5" name="Picture 8" descr="btu_logo_rz_horiz_rgbjpg"/>
          <p:cNvPicPr/>
          <p:nvPr/>
        </p:nvPicPr>
        <p:blipFill>
          <a:blip r:embed="rId2"/>
          <a:stretch/>
        </p:blipFill>
        <p:spPr>
          <a:xfrm>
            <a:off x="5883120" y="420480"/>
            <a:ext cx="2762280" cy="1104840"/>
          </a:xfrm>
          <a:prstGeom prst="rect">
            <a:avLst/>
          </a:prstGeom>
          <a:noFill/>
          <a:ln w="38160">
            <a:noFill/>
          </a:ln>
        </p:spPr>
      </p:pic>
    </p:spTree>
  </p:cSld>
  <p:clrMap bg1="lt1" tx1="dk1" bg2="lt2" tx2="dk2" accent1="accent1" accent2="accent2" accent3="accent3" accent4="accent4" accent5="accent5" accent6="accent6" hlink="hlink" folHlink="folHlink"/>
  <p:sldLayoutIdLst>
    <p:sldLayoutId id="2147483649"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chart" Target="../charts/chart7.xml"/><Relationship Id="rId6" Type="http://schemas.openxmlformats.org/officeDocument/2006/relationships/chart" Target="../charts/char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chart" Target="../charts/char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chart" Target="../charts/char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66720" y="2286000"/>
            <a:ext cx="4419720" cy="3581280"/>
          </a:xfrm>
        </p:spPr>
        <p:txBody>
          <a:bodyPr anchor="ctr" wrap="square"/>
          <a:lstStyle/>
          <a:p>
            <a:pPr algn="l" marL="0" indent="0">
              <a:spcBef>
                <a:spcPts val="0"/>
              </a:spcBef>
              <a:spcAft>
                <a:spcPts val="600"/>
              </a:spcAft>
              <a:buNone/>
            </a:pPr>
            <a:r>
              <a:rPr sz="1600" b="0" i="0">
                <a:solidFill>
                  <a:srgbClr val="414141"/>
                </a:solidFill>
                <a:latin typeface="Arial"/>
              </a:rPr>
              <a:t>[DATE]</a:t>
            </a:r>
          </a:p>
          <a:p>
            <a:pPr algn="l" marL="0" indent="0">
              <a:spcBef>
                <a:spcPts val="0"/>
              </a:spcBef>
              <a:spcAft>
                <a:spcPts val="600"/>
              </a:spcAft>
              <a:buNone/>
            </a:pPr>
            <a:r>
              <a:rPr sz="1800" b="1" i="0">
                <a:solidFill>
                  <a:srgbClr val="414141"/>
                </a:solidFill>
                <a:latin typeface="Arial"/>
              </a:rPr>
              <a:t>IMPROVING MICRO-EXPRESSION RECOGNITION THROUGH TEMPORAL AND MOTION MODELING</a:t>
            </a:r>
          </a:p>
          <a:p>
            <a:pPr algn="l" marL="0" indent="0">
              <a:spcBef>
                <a:spcPts val="0"/>
              </a:spcBef>
              <a:spcAft>
                <a:spcPts val="1400"/>
              </a:spcAft>
              <a:buNone/>
            </a:pPr>
            <a:r>
              <a:rPr sz="1400" b="0" i="0">
                <a:solidFill>
                  <a:srgbClr val="414141"/>
                </a:solidFill>
                <a:latin typeface="Arial"/>
              </a:rPr>
              <a:t>A FACTORIAL ABLATION OF A STANDARD RECOGNITION PIPELINE ON CASME II</a:t>
            </a:r>
          </a:p>
          <a:p>
            <a:pPr algn="l" marL="0" indent="0">
              <a:spcBef>
                <a:spcPts val="0"/>
              </a:spcBef>
              <a:spcAft>
                <a:spcPts val="200"/>
              </a:spcAft>
              <a:buNone/>
            </a:pPr>
            <a:r>
              <a:rPr sz="1200" b="1" i="0">
                <a:solidFill>
                  <a:srgbClr val="A8CC2F"/>
                </a:solidFill>
                <a:latin typeface="Arial"/>
              </a:rPr>
              <a:t>Master's thesis defence</a:t>
            </a:r>
          </a:p>
          <a:p>
            <a:pPr algn="l" marL="0" indent="0">
              <a:spcBef>
                <a:spcPts val="0"/>
              </a:spcBef>
              <a:spcAft>
                <a:spcPts val="0"/>
              </a:spcAft>
              <a:buNone/>
            </a:pPr>
            <a:r>
              <a:rPr sz="1100" b="0" i="0">
                <a:solidFill>
                  <a:srgbClr val="414141"/>
                </a:solidFill>
                <a:latin typeface="Arial"/>
              </a:rPr>
              <a:t>[Your name]  |  Supervisor: [name]</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MASTER'S THESIS DEFENCE</a:t>
            </a:r>
          </a:p>
        </p:txBody>
      </p:sp>
      <p:pic>
        <p:nvPicPr>
          <p:cNvPr id="4" name="Picture 3" descr="swoosh.jpeg"/>
          <p:cNvPicPr>
            <a:picLocks noChangeAspect="1"/>
          </p:cNvPicPr>
          <p:nvPr/>
        </p:nvPicPr>
        <p:blipFill>
          <a:blip r:embed="rId3"/>
          <a:stretch>
            <a:fillRect/>
          </a:stretch>
        </p:blipFill>
        <p:spPr>
          <a:xfrm>
            <a:off x="0" y="2361960"/>
            <a:ext cx="4038480" cy="3387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WHAT THIS TALK COVERS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01 · THE PROBLEM</a:t>
            </a:r>
          </a:p>
        </p:txBody>
      </p:sp>
      <p:sp>
        <p:nvSpPr>
          <p:cNvPr id="902"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a:t>
            </a:fld>
          </a:p>
        </p:txBody>
      </p:sp>
      <p:sp>
        <p:nvSpPr>
          <p:cNvPr id="903" name="Rectangle 902"/>
          <p:cNvSpPr/>
          <p:nvPr/>
        </p:nvSpPr>
        <p:spPr>
          <a:xfrm>
            <a:off x="685800" y="1783080"/>
            <a:ext cx="7955279"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TextBox 903"/>
          <p:cNvSpPr txBox="1"/>
          <p:nvPr/>
        </p:nvSpPr>
        <p:spPr>
          <a:xfrm>
            <a:off x="777240" y="1783080"/>
            <a:ext cx="731520" cy="566928"/>
          </a:xfrm>
          <a:prstGeom prst="rect">
            <a:avLst/>
          </a:prstGeom>
          <a:noFill/>
        </p:spPr>
        <p:txBody>
          <a:bodyPr wrap="square" lIns="45720" rIns="45720" tIns="27432" bIns="27432" anchor="ctr"/>
          <a:lstStyle/>
          <a:p>
            <a:pPr algn="l" marL="0" indent="0">
              <a:spcBef>
                <a:spcPts val="0"/>
              </a:spcBef>
              <a:spcAft>
                <a:spcPts val="0"/>
              </a:spcAft>
              <a:buNone/>
            </a:pPr>
            <a:r>
              <a:rPr sz="2000" b="1" i="0">
                <a:solidFill>
                  <a:srgbClr val="A8CC2F"/>
                </a:solidFill>
                <a:latin typeface="Arial"/>
              </a:rPr>
              <a:t>01</a:t>
            </a:r>
          </a:p>
        </p:txBody>
      </p:sp>
      <p:sp>
        <p:nvSpPr>
          <p:cNvPr id="905" name="TextBox 904"/>
          <p:cNvSpPr txBox="1"/>
          <p:nvPr/>
        </p:nvSpPr>
        <p:spPr>
          <a:xfrm>
            <a:off x="1554480" y="1783080"/>
            <a:ext cx="2103120" cy="566928"/>
          </a:xfrm>
          <a:prstGeom prst="rect">
            <a:avLst/>
          </a:prstGeom>
          <a:noFill/>
        </p:spPr>
        <p:txBody>
          <a:bodyPr wrap="square" lIns="45720" rIns="45720" tIns="27432" bIns="27432" anchor="ctr"/>
          <a:lstStyle/>
          <a:p>
            <a:pPr algn="l" marL="0" indent="0">
              <a:spcBef>
                <a:spcPts val="0"/>
              </a:spcBef>
              <a:spcAft>
                <a:spcPts val="0"/>
              </a:spcAft>
              <a:buNone/>
            </a:pPr>
            <a:r>
              <a:rPr sz="1400" b="1" i="0">
                <a:solidFill>
                  <a:srgbClr val="004CA0"/>
                </a:solidFill>
                <a:latin typeface="Arial"/>
              </a:rPr>
              <a:t>The problem</a:t>
            </a:r>
          </a:p>
        </p:txBody>
      </p:sp>
      <p:sp>
        <p:nvSpPr>
          <p:cNvPr id="906" name="TextBox 905"/>
          <p:cNvSpPr txBox="1"/>
          <p:nvPr/>
        </p:nvSpPr>
        <p:spPr>
          <a:xfrm>
            <a:off x="3703320" y="1783080"/>
            <a:ext cx="4846320" cy="56692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What micro-expressions are and why computers find them hard to recognise</a:t>
            </a:r>
          </a:p>
        </p:txBody>
      </p:sp>
      <p:sp>
        <p:nvSpPr>
          <p:cNvPr id="907" name="Rectangle 906"/>
          <p:cNvSpPr/>
          <p:nvPr/>
        </p:nvSpPr>
        <p:spPr>
          <a:xfrm>
            <a:off x="685800" y="2441448"/>
            <a:ext cx="7955279"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TextBox 907"/>
          <p:cNvSpPr txBox="1"/>
          <p:nvPr/>
        </p:nvSpPr>
        <p:spPr>
          <a:xfrm>
            <a:off x="777240" y="2441448"/>
            <a:ext cx="731520" cy="566928"/>
          </a:xfrm>
          <a:prstGeom prst="rect">
            <a:avLst/>
          </a:prstGeom>
          <a:noFill/>
        </p:spPr>
        <p:txBody>
          <a:bodyPr wrap="square" lIns="45720" rIns="45720" tIns="27432" bIns="27432" anchor="ctr"/>
          <a:lstStyle/>
          <a:p>
            <a:pPr algn="l" marL="0" indent="0">
              <a:spcBef>
                <a:spcPts val="0"/>
              </a:spcBef>
              <a:spcAft>
                <a:spcPts val="0"/>
              </a:spcAft>
              <a:buNone/>
            </a:pPr>
            <a:r>
              <a:rPr sz="2000" b="1" i="0">
                <a:solidFill>
                  <a:srgbClr val="A8CC2F"/>
                </a:solidFill>
                <a:latin typeface="Arial"/>
              </a:rPr>
              <a:t>02</a:t>
            </a:r>
          </a:p>
        </p:txBody>
      </p:sp>
      <p:sp>
        <p:nvSpPr>
          <p:cNvPr id="909" name="TextBox 908"/>
          <p:cNvSpPr txBox="1"/>
          <p:nvPr/>
        </p:nvSpPr>
        <p:spPr>
          <a:xfrm>
            <a:off x="1554480" y="2441448"/>
            <a:ext cx="2103120" cy="566928"/>
          </a:xfrm>
          <a:prstGeom prst="rect">
            <a:avLst/>
          </a:prstGeom>
          <a:noFill/>
        </p:spPr>
        <p:txBody>
          <a:bodyPr wrap="square" lIns="45720" rIns="45720" tIns="27432" bIns="27432" anchor="ctr"/>
          <a:lstStyle/>
          <a:p>
            <a:pPr algn="l" marL="0" indent="0">
              <a:spcBef>
                <a:spcPts val="0"/>
              </a:spcBef>
              <a:spcAft>
                <a:spcPts val="0"/>
              </a:spcAft>
              <a:buNone/>
            </a:pPr>
            <a:r>
              <a:rPr sz="1400" b="1" i="0">
                <a:solidFill>
                  <a:srgbClr val="004CA0"/>
                </a:solidFill>
                <a:latin typeface="Arial"/>
              </a:rPr>
              <a:t>The technologies</a:t>
            </a:r>
          </a:p>
        </p:txBody>
      </p:sp>
      <p:sp>
        <p:nvSpPr>
          <p:cNvPr id="910" name="TextBox 909"/>
          <p:cNvSpPr txBox="1"/>
          <p:nvPr/>
        </p:nvSpPr>
        <p:spPr>
          <a:xfrm>
            <a:off x="3703320" y="2441448"/>
            <a:ext cx="4846320" cy="56692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The building blocks of a recognition system, explained without equations</a:t>
            </a:r>
          </a:p>
        </p:txBody>
      </p:sp>
      <p:sp>
        <p:nvSpPr>
          <p:cNvPr id="911" name="Rectangle 910"/>
          <p:cNvSpPr/>
          <p:nvPr/>
        </p:nvSpPr>
        <p:spPr>
          <a:xfrm>
            <a:off x="685800" y="3099815"/>
            <a:ext cx="7955279"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TextBox 911"/>
          <p:cNvSpPr txBox="1"/>
          <p:nvPr/>
        </p:nvSpPr>
        <p:spPr>
          <a:xfrm>
            <a:off x="777240" y="3099815"/>
            <a:ext cx="731520" cy="566928"/>
          </a:xfrm>
          <a:prstGeom prst="rect">
            <a:avLst/>
          </a:prstGeom>
          <a:noFill/>
        </p:spPr>
        <p:txBody>
          <a:bodyPr wrap="square" lIns="45720" rIns="45720" tIns="27432" bIns="27432" anchor="ctr"/>
          <a:lstStyle/>
          <a:p>
            <a:pPr algn="l" marL="0" indent="0">
              <a:spcBef>
                <a:spcPts val="0"/>
              </a:spcBef>
              <a:spcAft>
                <a:spcPts val="0"/>
              </a:spcAft>
              <a:buNone/>
            </a:pPr>
            <a:r>
              <a:rPr sz="2000" b="1" i="0">
                <a:solidFill>
                  <a:srgbClr val="A8CC2F"/>
                </a:solidFill>
                <a:latin typeface="Arial"/>
              </a:rPr>
              <a:t>03</a:t>
            </a:r>
          </a:p>
        </p:txBody>
      </p:sp>
      <p:sp>
        <p:nvSpPr>
          <p:cNvPr id="913" name="TextBox 912"/>
          <p:cNvSpPr txBox="1"/>
          <p:nvPr/>
        </p:nvSpPr>
        <p:spPr>
          <a:xfrm>
            <a:off x="1554480" y="3099815"/>
            <a:ext cx="2103120" cy="566928"/>
          </a:xfrm>
          <a:prstGeom prst="rect">
            <a:avLst/>
          </a:prstGeom>
          <a:noFill/>
        </p:spPr>
        <p:txBody>
          <a:bodyPr wrap="square" lIns="45720" rIns="45720" tIns="27432" bIns="27432" anchor="ctr"/>
          <a:lstStyle/>
          <a:p>
            <a:pPr algn="l" marL="0" indent="0">
              <a:spcBef>
                <a:spcPts val="0"/>
              </a:spcBef>
              <a:spcAft>
                <a:spcPts val="0"/>
              </a:spcAft>
              <a:buNone/>
            </a:pPr>
            <a:r>
              <a:rPr sz="1400" b="1" i="0">
                <a:solidFill>
                  <a:srgbClr val="004CA0"/>
                </a:solidFill>
                <a:latin typeface="Arial"/>
              </a:rPr>
              <a:t>The experiment</a:t>
            </a:r>
          </a:p>
        </p:txBody>
      </p:sp>
      <p:sp>
        <p:nvSpPr>
          <p:cNvPr id="914" name="TextBox 913"/>
          <p:cNvSpPr txBox="1"/>
          <p:nvPr/>
        </p:nvSpPr>
        <p:spPr>
          <a:xfrm>
            <a:off x="3703320" y="3099815"/>
            <a:ext cx="4846320" cy="56692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Switching four building blocks on and off in every valid combination</a:t>
            </a:r>
          </a:p>
        </p:txBody>
      </p:sp>
      <p:sp>
        <p:nvSpPr>
          <p:cNvPr id="915" name="Rectangle 914"/>
          <p:cNvSpPr/>
          <p:nvPr/>
        </p:nvSpPr>
        <p:spPr>
          <a:xfrm>
            <a:off x="685800" y="3758184"/>
            <a:ext cx="7955279"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TextBox 915"/>
          <p:cNvSpPr txBox="1"/>
          <p:nvPr/>
        </p:nvSpPr>
        <p:spPr>
          <a:xfrm>
            <a:off x="777240" y="3758184"/>
            <a:ext cx="731520" cy="566928"/>
          </a:xfrm>
          <a:prstGeom prst="rect">
            <a:avLst/>
          </a:prstGeom>
          <a:noFill/>
        </p:spPr>
        <p:txBody>
          <a:bodyPr wrap="square" lIns="45720" rIns="45720" tIns="27432" bIns="27432" anchor="ctr"/>
          <a:lstStyle/>
          <a:p>
            <a:pPr algn="l" marL="0" indent="0">
              <a:spcBef>
                <a:spcPts val="0"/>
              </a:spcBef>
              <a:spcAft>
                <a:spcPts val="0"/>
              </a:spcAft>
              <a:buNone/>
            </a:pPr>
            <a:r>
              <a:rPr sz="2000" b="1" i="0">
                <a:solidFill>
                  <a:srgbClr val="A8CC2F"/>
                </a:solidFill>
                <a:latin typeface="Arial"/>
              </a:rPr>
              <a:t>04</a:t>
            </a:r>
          </a:p>
        </p:txBody>
      </p:sp>
      <p:sp>
        <p:nvSpPr>
          <p:cNvPr id="917" name="TextBox 916"/>
          <p:cNvSpPr txBox="1"/>
          <p:nvPr/>
        </p:nvSpPr>
        <p:spPr>
          <a:xfrm>
            <a:off x="1554480" y="3758184"/>
            <a:ext cx="2103120" cy="566928"/>
          </a:xfrm>
          <a:prstGeom prst="rect">
            <a:avLst/>
          </a:prstGeom>
          <a:noFill/>
        </p:spPr>
        <p:txBody>
          <a:bodyPr wrap="square" lIns="45720" rIns="45720" tIns="27432" bIns="27432" anchor="ctr"/>
          <a:lstStyle/>
          <a:p>
            <a:pPr algn="l" marL="0" indent="0">
              <a:spcBef>
                <a:spcPts val="0"/>
              </a:spcBef>
              <a:spcAft>
                <a:spcPts val="0"/>
              </a:spcAft>
              <a:buNone/>
            </a:pPr>
            <a:r>
              <a:rPr sz="1400" b="1" i="0">
                <a:solidFill>
                  <a:srgbClr val="004CA0"/>
                </a:solidFill>
                <a:latin typeface="Arial"/>
              </a:rPr>
              <a:t>Results</a:t>
            </a:r>
          </a:p>
        </p:txBody>
      </p:sp>
      <p:sp>
        <p:nvSpPr>
          <p:cNvPr id="918" name="TextBox 917"/>
          <p:cNvSpPr txBox="1"/>
          <p:nvPr/>
        </p:nvSpPr>
        <p:spPr>
          <a:xfrm>
            <a:off x="3703320" y="3758184"/>
            <a:ext cx="4846320" cy="56692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Which building blocks actually help, and how the models make mistakes</a:t>
            </a:r>
          </a:p>
        </p:txBody>
      </p:sp>
      <p:sp>
        <p:nvSpPr>
          <p:cNvPr id="919" name="Rectangle 918"/>
          <p:cNvSpPr/>
          <p:nvPr/>
        </p:nvSpPr>
        <p:spPr>
          <a:xfrm>
            <a:off x="685800" y="4416552"/>
            <a:ext cx="7955279"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TextBox 919"/>
          <p:cNvSpPr txBox="1"/>
          <p:nvPr/>
        </p:nvSpPr>
        <p:spPr>
          <a:xfrm>
            <a:off x="777240" y="4416552"/>
            <a:ext cx="731520" cy="566928"/>
          </a:xfrm>
          <a:prstGeom prst="rect">
            <a:avLst/>
          </a:prstGeom>
          <a:noFill/>
        </p:spPr>
        <p:txBody>
          <a:bodyPr wrap="square" lIns="45720" rIns="45720" tIns="27432" bIns="27432" anchor="ctr"/>
          <a:lstStyle/>
          <a:p>
            <a:pPr algn="l" marL="0" indent="0">
              <a:spcBef>
                <a:spcPts val="0"/>
              </a:spcBef>
              <a:spcAft>
                <a:spcPts val="0"/>
              </a:spcAft>
              <a:buNone/>
            </a:pPr>
            <a:r>
              <a:rPr sz="2000" b="1" i="0">
                <a:solidFill>
                  <a:srgbClr val="A8CC2F"/>
                </a:solidFill>
                <a:latin typeface="Arial"/>
              </a:rPr>
              <a:t>05</a:t>
            </a:r>
          </a:p>
        </p:txBody>
      </p:sp>
      <p:sp>
        <p:nvSpPr>
          <p:cNvPr id="921" name="TextBox 920"/>
          <p:cNvSpPr txBox="1"/>
          <p:nvPr/>
        </p:nvSpPr>
        <p:spPr>
          <a:xfrm>
            <a:off x="1554480" y="4416552"/>
            <a:ext cx="2103120" cy="566928"/>
          </a:xfrm>
          <a:prstGeom prst="rect">
            <a:avLst/>
          </a:prstGeom>
          <a:noFill/>
        </p:spPr>
        <p:txBody>
          <a:bodyPr wrap="square" lIns="45720" rIns="45720" tIns="27432" bIns="27432" anchor="ctr"/>
          <a:lstStyle/>
          <a:p>
            <a:pPr algn="l" marL="0" indent="0">
              <a:spcBef>
                <a:spcPts val="0"/>
              </a:spcBef>
              <a:spcAft>
                <a:spcPts val="0"/>
              </a:spcAft>
              <a:buNone/>
            </a:pPr>
            <a:r>
              <a:rPr sz="1400" b="1" i="0">
                <a:solidFill>
                  <a:srgbClr val="004CA0"/>
                </a:solidFill>
                <a:latin typeface="Arial"/>
              </a:rPr>
              <a:t>Conclusion</a:t>
            </a:r>
          </a:p>
        </p:txBody>
      </p:sp>
      <p:sp>
        <p:nvSpPr>
          <p:cNvPr id="922" name="TextBox 921"/>
          <p:cNvSpPr txBox="1"/>
          <p:nvPr/>
        </p:nvSpPr>
        <p:spPr>
          <a:xfrm>
            <a:off x="3703320" y="4416552"/>
            <a:ext cx="4846320" cy="56692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Answers to the research questions, limitations and next steps</a:t>
            </a:r>
          </a:p>
        </p:txBody>
      </p:sp>
      <p:sp>
        <p:nvSpPr>
          <p:cNvPr id="923" name="Rectangle 922"/>
          <p:cNvSpPr/>
          <p:nvPr/>
        </p:nvSpPr>
        <p:spPr>
          <a:xfrm>
            <a:off x="685800" y="5166360"/>
            <a:ext cx="7955279" cy="77724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TextBox 923"/>
          <p:cNvSpPr txBox="1"/>
          <p:nvPr/>
        </p:nvSpPr>
        <p:spPr>
          <a:xfrm>
            <a:off x="822960" y="5221224"/>
            <a:ext cx="7680959" cy="667512"/>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A8CC2F"/>
                </a:solidFill>
                <a:latin typeface="Arial"/>
              </a:rPr>
              <a:t>In one sentence</a:t>
            </a:r>
          </a:p>
          <a:p>
            <a:pPr algn="l" marL="0" indent="0">
              <a:spcBef>
                <a:spcPts val="0"/>
              </a:spcBef>
              <a:spcAft>
                <a:spcPts val="300"/>
              </a:spcAft>
              <a:buNone/>
            </a:pPr>
            <a:r>
              <a:rPr sz="1200" b="0" i="0">
                <a:solidFill>
                  <a:srgbClr val="FFFFFF"/>
                </a:solidFill>
                <a:latin typeface="Arial"/>
              </a:rPr>
              <a:t>I took a standard micro-expression recognition system apart and measured what each of its parts really contributes.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MICRO-EXPRESSIONS ARE BRIEF, FAINT AND INVOLUNTARY</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01 · THE PROBLEM</a:t>
            </a:r>
          </a:p>
        </p:txBody>
      </p:sp>
      <p:sp>
        <p:nvSpPr>
          <p:cNvPr id="903"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a:t>
            </a:fld>
          </a:p>
        </p:txBody>
      </p:sp>
      <p:pic>
        <p:nvPicPr>
          <p:cNvPr id="904" name="Picture 903" descr="seq.png"/>
          <p:cNvPicPr>
            <a:picLocks noChangeAspect="1"/>
          </p:cNvPicPr>
          <p:nvPr/>
        </p:nvPicPr>
        <p:blipFill>
          <a:blip r:embed="rId3"/>
          <a:stretch>
            <a:fillRect/>
          </a:stretch>
        </p:blipFill>
        <p:spPr>
          <a:xfrm>
            <a:off x="685800" y="1783080"/>
            <a:ext cx="5074920" cy="1696667"/>
          </a:xfrm>
          <a:prstGeom prst="rect">
            <a:avLst/>
          </a:prstGeom>
        </p:spPr>
      </p:pic>
      <p:sp>
        <p:nvSpPr>
          <p:cNvPr id="905" name="TextBox 904"/>
          <p:cNvSpPr txBox="1"/>
          <p:nvPr/>
        </p:nvSpPr>
        <p:spPr>
          <a:xfrm>
            <a:off x="685800" y="3520440"/>
            <a:ext cx="5074920" cy="45720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8C8C8C"/>
                </a:solidFill>
                <a:latin typeface="Arial"/>
              </a:rPr>
              <a:t>A CASME II micro-expression: AU 4 and AU 9, labelled as disgust. The apex occurs about 110 ms after onset (Yan et al., 2014).</a:t>
            </a:r>
          </a:p>
        </p:txBody>
      </p:sp>
      <p:sp>
        <p:nvSpPr>
          <p:cNvPr id="906" name="Rectangle 905"/>
          <p:cNvSpPr/>
          <p:nvPr/>
        </p:nvSpPr>
        <p:spPr>
          <a:xfrm>
            <a:off x="5943600" y="1783080"/>
            <a:ext cx="26974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6035040" y="1847088"/>
            <a:ext cx="2514600" cy="530352"/>
          </a:xfrm>
          <a:prstGeom prst="rect">
            <a:avLst/>
          </a:prstGeom>
          <a:noFill/>
        </p:spPr>
        <p:txBody>
          <a:bodyPr wrap="square" lIns="45720" rIns="45720" tIns="27432" bIns="27432" anchor="t"/>
          <a:lstStyle/>
          <a:p>
            <a:pPr algn="l" marL="0" indent="0">
              <a:spcBef>
                <a:spcPts val="0"/>
              </a:spcBef>
              <a:spcAft>
                <a:spcPts val="100"/>
              </a:spcAft>
              <a:buNone/>
            </a:pPr>
            <a:r>
              <a:rPr sz="1150" b="1" i="0">
                <a:solidFill>
                  <a:srgbClr val="004CA0"/>
                </a:solidFill>
                <a:latin typeface="Arial"/>
              </a:rPr>
              <a:t>Brief</a:t>
            </a:r>
          </a:p>
          <a:p>
            <a:pPr algn="l" marL="0" indent="0">
              <a:spcBef>
                <a:spcPts val="0"/>
              </a:spcBef>
              <a:spcAft>
                <a:spcPts val="300"/>
              </a:spcAft>
              <a:buNone/>
            </a:pPr>
            <a:r>
              <a:rPr sz="1000" b="0" i="0">
                <a:solidFill>
                  <a:srgbClr val="414141"/>
                </a:solidFill>
                <a:latin typeface="Arial"/>
              </a:rPr>
              <a:t>They last no longer than about half a second.</a:t>
            </a:r>
          </a:p>
        </p:txBody>
      </p:sp>
      <p:sp>
        <p:nvSpPr>
          <p:cNvPr id="908" name="Rectangle 907"/>
          <p:cNvSpPr/>
          <p:nvPr/>
        </p:nvSpPr>
        <p:spPr>
          <a:xfrm>
            <a:off x="5943600" y="2532888"/>
            <a:ext cx="26974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TextBox 908"/>
          <p:cNvSpPr txBox="1"/>
          <p:nvPr/>
        </p:nvSpPr>
        <p:spPr>
          <a:xfrm>
            <a:off x="6035040" y="2596896"/>
            <a:ext cx="2514600" cy="530352"/>
          </a:xfrm>
          <a:prstGeom prst="rect">
            <a:avLst/>
          </a:prstGeom>
          <a:noFill/>
        </p:spPr>
        <p:txBody>
          <a:bodyPr wrap="square" lIns="45720" rIns="45720" tIns="27432" bIns="27432" anchor="t"/>
          <a:lstStyle/>
          <a:p>
            <a:pPr algn="l" marL="0" indent="0">
              <a:spcBef>
                <a:spcPts val="0"/>
              </a:spcBef>
              <a:spcAft>
                <a:spcPts val="100"/>
              </a:spcAft>
              <a:buNone/>
            </a:pPr>
            <a:r>
              <a:rPr sz="1150" b="1" i="0">
                <a:solidFill>
                  <a:srgbClr val="004CA0"/>
                </a:solidFill>
                <a:latin typeface="Arial"/>
              </a:rPr>
              <a:t>Faint</a:t>
            </a:r>
          </a:p>
          <a:p>
            <a:pPr algn="l" marL="0" indent="0">
              <a:spcBef>
                <a:spcPts val="0"/>
              </a:spcBef>
              <a:spcAft>
                <a:spcPts val="300"/>
              </a:spcAft>
              <a:buNone/>
            </a:pPr>
            <a:r>
              <a:rPr sz="1000" b="0" i="0">
                <a:solidFill>
                  <a:srgbClr val="414141"/>
                </a:solidFill>
                <a:latin typeface="Arial"/>
              </a:rPr>
              <a:t>Local, low-intensity movements close to the noise level of video.</a:t>
            </a:r>
          </a:p>
        </p:txBody>
      </p:sp>
      <p:sp>
        <p:nvSpPr>
          <p:cNvPr id="910" name="Rectangle 909"/>
          <p:cNvSpPr/>
          <p:nvPr/>
        </p:nvSpPr>
        <p:spPr>
          <a:xfrm>
            <a:off x="5943600" y="3282696"/>
            <a:ext cx="26974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TextBox 910"/>
          <p:cNvSpPr txBox="1"/>
          <p:nvPr/>
        </p:nvSpPr>
        <p:spPr>
          <a:xfrm>
            <a:off x="6035040" y="3346704"/>
            <a:ext cx="2514600" cy="530352"/>
          </a:xfrm>
          <a:prstGeom prst="rect">
            <a:avLst/>
          </a:prstGeom>
          <a:noFill/>
        </p:spPr>
        <p:txBody>
          <a:bodyPr wrap="square" lIns="45720" rIns="45720" tIns="27432" bIns="27432" anchor="t"/>
          <a:lstStyle/>
          <a:p>
            <a:pPr algn="l" marL="0" indent="0">
              <a:spcBef>
                <a:spcPts val="0"/>
              </a:spcBef>
              <a:spcAft>
                <a:spcPts val="100"/>
              </a:spcAft>
              <a:buNone/>
            </a:pPr>
            <a:r>
              <a:rPr sz="1150" b="1" i="0">
                <a:solidFill>
                  <a:srgbClr val="004CA0"/>
                </a:solidFill>
                <a:latin typeface="Arial"/>
              </a:rPr>
              <a:t>Involuntary</a:t>
            </a:r>
          </a:p>
          <a:p>
            <a:pPr algn="l" marL="0" indent="0">
              <a:spcBef>
                <a:spcPts val="0"/>
              </a:spcBef>
              <a:spcAft>
                <a:spcPts val="300"/>
              </a:spcAft>
              <a:buNone/>
            </a:pPr>
            <a:r>
              <a:rPr sz="1000" b="0" i="0">
                <a:solidFill>
                  <a:srgbClr val="414141"/>
                </a:solidFill>
                <a:latin typeface="Arial"/>
              </a:rPr>
              <a:t>They cannot be posed, so data must be elicited in the laboratory.</a:t>
            </a:r>
          </a:p>
        </p:txBody>
      </p:sp>
      <p:sp>
        <p:nvSpPr>
          <p:cNvPr id="912" name="Rectangle 911"/>
          <p:cNvSpPr/>
          <p:nvPr/>
        </p:nvSpPr>
        <p:spPr>
          <a:xfrm>
            <a:off x="685800" y="4160520"/>
            <a:ext cx="7955279" cy="13258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TextBox 912"/>
          <p:cNvSpPr txBox="1"/>
          <p:nvPr/>
        </p:nvSpPr>
        <p:spPr>
          <a:xfrm>
            <a:off x="822960" y="4215383"/>
            <a:ext cx="7680959" cy="1216152"/>
          </a:xfrm>
          <a:prstGeom prst="rect">
            <a:avLst/>
          </a:prstGeom>
          <a:noFill/>
        </p:spPr>
        <p:txBody>
          <a:bodyPr wrap="square" lIns="45720" rIns="45720" tIns="27432" bIns="27432" anchor="ctr"/>
          <a:lstStyle/>
          <a:p>
            <a:pPr algn="l" marL="0" indent="0">
              <a:spcBef>
                <a:spcPts val="0"/>
              </a:spcBef>
              <a:spcAft>
                <a:spcPts val="300"/>
              </a:spcAft>
              <a:buNone/>
            </a:pPr>
            <a:r>
              <a:rPr sz="1150" b="1" i="0">
                <a:solidFill>
                  <a:srgbClr val="A8CC2F"/>
                </a:solidFill>
                <a:latin typeface="Arial"/>
              </a:rPr>
              <a:t>Why it matters</a:t>
            </a:r>
          </a:p>
          <a:p>
            <a:pPr algn="l" marL="0" indent="0">
              <a:spcBef>
                <a:spcPts val="0"/>
              </a:spcBef>
              <a:spcAft>
                <a:spcPts val="300"/>
              </a:spcAft>
              <a:buNone/>
            </a:pPr>
            <a:r>
              <a:rPr sz="1200" b="0" i="0">
                <a:solidFill>
                  <a:srgbClr val="FFFFFF"/>
                </a:solidFill>
                <a:latin typeface="Arial"/>
              </a:rPr>
              <a:t>A micro-expression reveals an emotion that a person is trying to conceal. Reported motivations include national safety, police interrogation, clinical diagnosis, lie detection and negotiation. These are motivating claims of the field, not deployed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THE TASK: FROM A SHORT VIDEO TO AN EMOTION</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01 · THE PROBLEM</a:t>
            </a:r>
          </a:p>
        </p:txBody>
      </p:sp>
      <p:sp>
        <p:nvSpPr>
          <p:cNvPr id="904"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a:t>
            </a:fld>
          </a:p>
        </p:txBody>
      </p:sp>
      <p:pic>
        <p:nvPicPr>
          <p:cNvPr id="905" name="Picture 904" descr="seq.png"/>
          <p:cNvPicPr>
            <a:picLocks noChangeAspect="1"/>
          </p:cNvPicPr>
          <p:nvPr/>
        </p:nvPicPr>
        <p:blipFill>
          <a:blip r:embed="rId3"/>
          <a:stretch>
            <a:fillRect/>
          </a:stretch>
        </p:blipFill>
        <p:spPr>
          <a:xfrm>
            <a:off x="685800" y="1874519"/>
            <a:ext cx="3063240" cy="1024114"/>
          </a:xfrm>
          <a:prstGeom prst="rect">
            <a:avLst/>
          </a:prstGeom>
        </p:spPr>
      </p:pic>
      <p:cxnSp>
        <p:nvCxnSpPr>
          <p:cNvPr id="906" name="Connector 905"/>
          <p:cNvCxnSpPr/>
          <p:nvPr/>
        </p:nvCxnSpPr>
        <p:spPr>
          <a:xfrm>
            <a:off x="3813048" y="2395728"/>
            <a:ext cx="393192" cy="0"/>
          </a:xfrm>
          <a:prstGeom prst="line">
            <a:avLst/>
          </a:prstGeom>
          <a:ln w="15875">
            <a:solidFill>
              <a:srgbClr val="414141"/>
            </a:solidFill>
            <a:tailEnd type="triangle"/>
          </a:ln>
        </p:spPr>
        <p:style>
          <a:lnRef idx="2">
            <a:schemeClr val="accent1"/>
          </a:lnRef>
          <a:fillRef idx="0">
            <a:schemeClr val="accent1"/>
          </a:fillRef>
          <a:effectRef idx="1">
            <a:schemeClr val="accent1"/>
          </a:effectRef>
          <a:fontRef idx="minor">
            <a:schemeClr val="tx1"/>
          </a:fontRef>
        </p:style>
      </p:cxnSp>
      <p:sp>
        <p:nvSpPr>
          <p:cNvPr id="907" name="Rectangle 906"/>
          <p:cNvSpPr/>
          <p:nvPr/>
        </p:nvSpPr>
        <p:spPr>
          <a:xfrm>
            <a:off x="4251960" y="1828800"/>
            <a:ext cx="1828800" cy="11430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TextBox 907"/>
          <p:cNvSpPr txBox="1"/>
          <p:nvPr/>
        </p:nvSpPr>
        <p:spPr>
          <a:xfrm>
            <a:off x="4297680" y="1828800"/>
            <a:ext cx="1737360" cy="1143000"/>
          </a:xfrm>
          <a:prstGeom prst="rect">
            <a:avLst/>
          </a:prstGeom>
          <a:noFill/>
        </p:spPr>
        <p:txBody>
          <a:bodyPr wrap="square" lIns="45720" rIns="45720" tIns="27432" bIns="27432" anchor="ctr"/>
          <a:lstStyle/>
          <a:p>
            <a:pPr algn="ctr" marL="0" indent="0">
              <a:spcBef>
                <a:spcPts val="0"/>
              </a:spcBef>
              <a:spcAft>
                <a:spcPts val="300"/>
              </a:spcAft>
              <a:buNone/>
            </a:pPr>
            <a:r>
              <a:rPr sz="1200" b="1" i="0">
                <a:solidFill>
                  <a:srgbClr val="FFFFFF"/>
                </a:solidFill>
                <a:latin typeface="Arial"/>
              </a:rPr>
              <a:t>Recognition system</a:t>
            </a:r>
          </a:p>
          <a:p>
            <a:pPr algn="ctr" marL="0" indent="0">
              <a:spcBef>
                <a:spcPts val="0"/>
              </a:spcBef>
              <a:spcAft>
                <a:spcPts val="0"/>
              </a:spcAft>
              <a:buNone/>
            </a:pPr>
            <a:r>
              <a:rPr sz="950" b="0" i="0">
                <a:solidFill>
                  <a:srgbClr val="FFFFFF"/>
                </a:solidFill>
                <a:latin typeface="Arial"/>
              </a:rPr>
              <a:t>the pipeline studied in this thesis</a:t>
            </a:r>
          </a:p>
        </p:txBody>
      </p:sp>
      <p:cxnSp>
        <p:nvCxnSpPr>
          <p:cNvPr id="909" name="Connector 908"/>
          <p:cNvCxnSpPr/>
          <p:nvPr/>
        </p:nvCxnSpPr>
        <p:spPr>
          <a:xfrm>
            <a:off x="6126480" y="2395728"/>
            <a:ext cx="365760" cy="0"/>
          </a:xfrm>
          <a:prstGeom prst="line">
            <a:avLst/>
          </a:prstGeom>
          <a:ln w="15875">
            <a:solidFill>
              <a:srgbClr val="414141"/>
            </a:solidFill>
            <a:tailEnd type="triangle"/>
          </a:ln>
        </p:spPr>
        <p:style>
          <a:lnRef idx="2">
            <a:schemeClr val="accent1"/>
          </a:lnRef>
          <a:fillRef idx="0">
            <a:schemeClr val="accent1"/>
          </a:fillRef>
          <a:effectRef idx="1">
            <a:schemeClr val="accent1"/>
          </a:effectRef>
          <a:fontRef idx="minor">
            <a:schemeClr val="tx1"/>
          </a:fontRef>
        </p:style>
      </p:cxnSp>
      <p:sp>
        <p:nvSpPr>
          <p:cNvPr id="910" name="Rectangle 909"/>
          <p:cNvSpPr/>
          <p:nvPr/>
        </p:nvSpPr>
        <p:spPr>
          <a:xfrm>
            <a:off x="6537960" y="1828800"/>
            <a:ext cx="2103120" cy="338328"/>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TextBox 910"/>
          <p:cNvSpPr txBox="1"/>
          <p:nvPr/>
        </p:nvSpPr>
        <p:spPr>
          <a:xfrm>
            <a:off x="6537960" y="1828800"/>
            <a:ext cx="2103120" cy="338328"/>
          </a:xfrm>
          <a:prstGeom prst="rect">
            <a:avLst/>
          </a:prstGeom>
          <a:noFill/>
        </p:spPr>
        <p:txBody>
          <a:bodyPr wrap="square" lIns="45720" rIns="45720" tIns="27432" bIns="27432" anchor="ctr"/>
          <a:lstStyle/>
          <a:p>
            <a:pPr algn="ctr" marL="0" indent="0">
              <a:spcBef>
                <a:spcPts val="0"/>
              </a:spcBef>
              <a:spcAft>
                <a:spcPts val="0"/>
              </a:spcAft>
              <a:buNone/>
            </a:pPr>
            <a:r>
              <a:rPr sz="1100" b="1" i="0">
                <a:solidFill>
                  <a:srgbClr val="FFFFFF"/>
                </a:solidFill>
                <a:latin typeface="Arial"/>
              </a:rPr>
              <a:t>Negative</a:t>
            </a:r>
          </a:p>
        </p:txBody>
      </p:sp>
      <p:sp>
        <p:nvSpPr>
          <p:cNvPr id="912" name="Rectangle 911"/>
          <p:cNvSpPr/>
          <p:nvPr/>
        </p:nvSpPr>
        <p:spPr>
          <a:xfrm>
            <a:off x="6537960" y="2221992"/>
            <a:ext cx="2103120" cy="338328"/>
          </a:xfrm>
          <a:prstGeom prst="rect">
            <a:avLst/>
          </a:prstGeom>
          <a:solidFill>
            <a:srgbClr val="A8C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TextBox 912"/>
          <p:cNvSpPr txBox="1"/>
          <p:nvPr/>
        </p:nvSpPr>
        <p:spPr>
          <a:xfrm>
            <a:off x="6537960" y="2221992"/>
            <a:ext cx="2103120" cy="338328"/>
          </a:xfrm>
          <a:prstGeom prst="rect">
            <a:avLst/>
          </a:prstGeom>
          <a:noFill/>
        </p:spPr>
        <p:txBody>
          <a:bodyPr wrap="square" lIns="45720" rIns="45720" tIns="27432" bIns="27432" anchor="ctr"/>
          <a:lstStyle/>
          <a:p>
            <a:pPr algn="ctr" marL="0" indent="0">
              <a:spcBef>
                <a:spcPts val="0"/>
              </a:spcBef>
              <a:spcAft>
                <a:spcPts val="0"/>
              </a:spcAft>
              <a:buNone/>
            </a:pPr>
            <a:r>
              <a:rPr sz="1100" b="1" i="0">
                <a:solidFill>
                  <a:srgbClr val="414141"/>
                </a:solidFill>
                <a:latin typeface="Arial"/>
              </a:rPr>
              <a:t>Positive</a:t>
            </a:r>
          </a:p>
        </p:txBody>
      </p:sp>
      <p:sp>
        <p:nvSpPr>
          <p:cNvPr id="914" name="Rectangle 913"/>
          <p:cNvSpPr/>
          <p:nvPr/>
        </p:nvSpPr>
        <p:spPr>
          <a:xfrm>
            <a:off x="6537960" y="2615184"/>
            <a:ext cx="2103120" cy="338328"/>
          </a:xfrm>
          <a:prstGeom prst="rect">
            <a:avLst/>
          </a:prstGeom>
          <a:solidFill>
            <a:srgbClr val="00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TextBox 914"/>
          <p:cNvSpPr txBox="1"/>
          <p:nvPr/>
        </p:nvSpPr>
        <p:spPr>
          <a:xfrm>
            <a:off x="6537960" y="2615184"/>
            <a:ext cx="2103120" cy="338328"/>
          </a:xfrm>
          <a:prstGeom prst="rect">
            <a:avLst/>
          </a:prstGeom>
          <a:noFill/>
        </p:spPr>
        <p:txBody>
          <a:bodyPr wrap="square" lIns="45720" rIns="45720" tIns="27432" bIns="27432" anchor="ctr"/>
          <a:lstStyle/>
          <a:p>
            <a:pPr algn="ctr" marL="0" indent="0">
              <a:spcBef>
                <a:spcPts val="0"/>
              </a:spcBef>
              <a:spcAft>
                <a:spcPts val="0"/>
              </a:spcAft>
              <a:buNone/>
            </a:pPr>
            <a:r>
              <a:rPr sz="1100" b="1" i="0">
                <a:solidFill>
                  <a:srgbClr val="FFFFFF"/>
                </a:solidFill>
                <a:latin typeface="Arial"/>
              </a:rPr>
              <a:t>Surprise</a:t>
            </a:r>
          </a:p>
        </p:txBody>
      </p:sp>
      <p:sp>
        <p:nvSpPr>
          <p:cNvPr id="916" name="TextBox 915"/>
          <p:cNvSpPr txBox="1"/>
          <p:nvPr/>
        </p:nvSpPr>
        <p:spPr>
          <a:xfrm>
            <a:off x="685800" y="3017520"/>
            <a:ext cx="3063240" cy="411480"/>
          </a:xfrm>
          <a:prstGeom prst="rect">
            <a:avLst/>
          </a:prstGeom>
          <a:noFill/>
        </p:spPr>
        <p:txBody>
          <a:bodyPr wrap="square" lIns="45720" rIns="45720" tIns="27432" bIns="27432" anchor="t"/>
          <a:lstStyle/>
          <a:p>
            <a:pPr algn="l" marL="0" indent="0">
              <a:spcBef>
                <a:spcPts val="0"/>
              </a:spcBef>
              <a:spcAft>
                <a:spcPts val="300"/>
              </a:spcAft>
              <a:buNone/>
            </a:pPr>
            <a:r>
              <a:rPr sz="950" b="0" i="1">
                <a:solidFill>
                  <a:srgbClr val="8C8C8C"/>
                </a:solidFill>
                <a:latin typeface="Arial"/>
              </a:rPr>
              <a:t>Input: a video clip from the start (onset) to the end (offset) of the movement</a:t>
            </a:r>
          </a:p>
        </p:txBody>
      </p:sp>
      <p:sp>
        <p:nvSpPr>
          <p:cNvPr id="917" name="TextBox 916"/>
          <p:cNvSpPr txBox="1"/>
          <p:nvPr/>
        </p:nvSpPr>
        <p:spPr>
          <a:xfrm>
            <a:off x="6537960" y="3017520"/>
            <a:ext cx="2103120" cy="411480"/>
          </a:xfrm>
          <a:prstGeom prst="rect">
            <a:avLst/>
          </a:prstGeom>
          <a:noFill/>
        </p:spPr>
        <p:txBody>
          <a:bodyPr wrap="square" lIns="45720" rIns="45720" tIns="27432" bIns="27432" anchor="t"/>
          <a:lstStyle/>
          <a:p>
            <a:pPr algn="l" marL="0" indent="0">
              <a:spcBef>
                <a:spcPts val="0"/>
              </a:spcBef>
              <a:spcAft>
                <a:spcPts val="300"/>
              </a:spcAft>
              <a:buNone/>
            </a:pPr>
            <a:r>
              <a:rPr sz="950" b="0" i="1">
                <a:solidFill>
                  <a:srgbClr val="8C8C8C"/>
                </a:solidFill>
                <a:latin typeface="Arial"/>
              </a:rPr>
              <a:t>Output: one of three emotion classes</a:t>
            </a:r>
          </a:p>
        </p:txBody>
      </p:sp>
      <p:sp>
        <p:nvSpPr>
          <p:cNvPr id="918" name="TextBox 917"/>
          <p:cNvSpPr txBox="1"/>
          <p:nvPr/>
        </p:nvSpPr>
        <p:spPr>
          <a:xfrm>
            <a:off x="4251960" y="3017520"/>
            <a:ext cx="1828800" cy="411480"/>
          </a:xfrm>
          <a:prstGeom prst="rect">
            <a:avLst/>
          </a:prstGeom>
          <a:noFill/>
        </p:spPr>
        <p:txBody>
          <a:bodyPr wrap="square" lIns="45720" rIns="45720" tIns="27432" bIns="27432" anchor="t"/>
          <a:lstStyle/>
          <a:p>
            <a:pPr algn="ctr" marL="0" indent="0">
              <a:spcBef>
                <a:spcPts val="0"/>
              </a:spcBef>
              <a:spcAft>
                <a:spcPts val="300"/>
              </a:spcAft>
              <a:buNone/>
            </a:pPr>
            <a:r>
              <a:rPr sz="850" b="0" i="1">
                <a:solidFill>
                  <a:srgbClr val="8C8C8C"/>
                </a:solidFill>
                <a:latin typeface="Arial"/>
              </a:rPr>
              <a:t>Negative = disgust, repression, sadness, fear; Positive = happiness</a:t>
            </a:r>
          </a:p>
        </p:txBody>
      </p:sp>
      <p:sp>
        <p:nvSpPr>
          <p:cNvPr id="919" name="Rectangle 918"/>
          <p:cNvSpPr/>
          <p:nvPr/>
        </p:nvSpPr>
        <p:spPr>
          <a:xfrm>
            <a:off x="685800" y="3657600"/>
            <a:ext cx="2529839"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TextBox 919"/>
          <p:cNvSpPr txBox="1"/>
          <p:nvPr/>
        </p:nvSpPr>
        <p:spPr>
          <a:xfrm>
            <a:off x="795528" y="3730752"/>
            <a:ext cx="2310383" cy="2103120"/>
          </a:xfrm>
          <a:prstGeom prst="rect">
            <a:avLst/>
          </a:prstGeom>
          <a:noFill/>
        </p:spPr>
        <p:txBody>
          <a:bodyPr wrap="square" lIns="45720" rIns="45720" tIns="27432" bIns="27432" anchor="t"/>
          <a:lstStyle/>
          <a:p>
            <a:pPr algn="l" marL="0" indent="0">
              <a:spcBef>
                <a:spcPts val="0"/>
              </a:spcBef>
              <a:spcAft>
                <a:spcPts val="400"/>
              </a:spcAft>
              <a:buNone/>
            </a:pPr>
            <a:r>
              <a:rPr sz="1200" b="1" i="0">
                <a:solidFill>
                  <a:srgbClr val="004CA0"/>
                </a:solidFill>
                <a:latin typeface="Arial"/>
              </a:rPr>
              <a:t>Short</a:t>
            </a:r>
          </a:p>
          <a:p>
            <a:pPr algn="l" marL="0" indent="0">
              <a:spcBef>
                <a:spcPts val="0"/>
              </a:spcBef>
              <a:spcAft>
                <a:spcPts val="600"/>
              </a:spcAft>
              <a:buNone/>
            </a:pPr>
            <a:r>
              <a:rPr sz="2200" b="1" i="0">
                <a:solidFill>
                  <a:srgbClr val="004CA0"/>
                </a:solidFill>
                <a:latin typeface="Arial"/>
              </a:rPr>
              <a:t>≤ 0.5 s</a:t>
            </a:r>
          </a:p>
          <a:p>
            <a:pPr algn="l" marL="0" indent="0">
              <a:spcBef>
                <a:spcPts val="0"/>
              </a:spcBef>
              <a:spcAft>
                <a:spcPts val="300"/>
              </a:spcAft>
              <a:buNone/>
            </a:pPr>
            <a:r>
              <a:rPr sz="1100" b="0" i="0">
                <a:solidFill>
                  <a:srgbClr val="414141"/>
                </a:solidFill>
                <a:latin typeface="Arial"/>
              </a:rPr>
              <a:t>Only a few frames of the video contain the movement.</a:t>
            </a:r>
          </a:p>
        </p:txBody>
      </p:sp>
      <p:sp>
        <p:nvSpPr>
          <p:cNvPr id="921" name="Rectangle 920"/>
          <p:cNvSpPr/>
          <p:nvPr/>
        </p:nvSpPr>
        <p:spPr>
          <a:xfrm>
            <a:off x="3398519" y="3657600"/>
            <a:ext cx="2529839"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TextBox 921"/>
          <p:cNvSpPr txBox="1"/>
          <p:nvPr/>
        </p:nvSpPr>
        <p:spPr>
          <a:xfrm>
            <a:off x="3508248" y="3730752"/>
            <a:ext cx="2310383" cy="2103120"/>
          </a:xfrm>
          <a:prstGeom prst="rect">
            <a:avLst/>
          </a:prstGeom>
          <a:noFill/>
        </p:spPr>
        <p:txBody>
          <a:bodyPr wrap="square" lIns="45720" rIns="45720" tIns="27432" bIns="27432" anchor="t"/>
          <a:lstStyle/>
          <a:p>
            <a:pPr algn="l" marL="0" indent="0">
              <a:spcBef>
                <a:spcPts val="0"/>
              </a:spcBef>
              <a:spcAft>
                <a:spcPts val="400"/>
              </a:spcAft>
              <a:buNone/>
            </a:pPr>
            <a:r>
              <a:rPr sz="1200" b="1" i="0">
                <a:solidFill>
                  <a:srgbClr val="004CA0"/>
                </a:solidFill>
                <a:latin typeface="Arial"/>
              </a:rPr>
              <a:t>Faint</a:t>
            </a:r>
          </a:p>
          <a:p>
            <a:pPr algn="l" marL="0" indent="0">
              <a:spcBef>
                <a:spcPts val="0"/>
              </a:spcBef>
              <a:spcAft>
                <a:spcPts val="600"/>
              </a:spcAft>
              <a:buNone/>
            </a:pPr>
            <a:r>
              <a:rPr sz="2200" b="1" i="0">
                <a:solidFill>
                  <a:srgbClr val="004CA0"/>
                </a:solidFill>
                <a:latin typeface="Arial"/>
              </a:rPr>
              <a:t>a few grey levels</a:t>
            </a:r>
          </a:p>
          <a:p>
            <a:pPr algn="l" marL="0" indent="0">
              <a:spcBef>
                <a:spcPts val="0"/>
              </a:spcBef>
              <a:spcAft>
                <a:spcPts val="300"/>
              </a:spcAft>
              <a:buNone/>
            </a:pPr>
            <a:r>
              <a:rPr sz="1100" b="0" i="0">
                <a:solidFill>
                  <a:srgbClr val="414141"/>
                </a:solidFill>
                <a:latin typeface="Arial"/>
              </a:rPr>
              <a:t>The change in brightness on the skin is close to the noise of an ordinary camera.</a:t>
            </a:r>
          </a:p>
        </p:txBody>
      </p:sp>
      <p:sp>
        <p:nvSpPr>
          <p:cNvPr id="923" name="Rectangle 922"/>
          <p:cNvSpPr/>
          <p:nvPr/>
        </p:nvSpPr>
        <p:spPr>
          <a:xfrm>
            <a:off x="6111239" y="3657600"/>
            <a:ext cx="2529839"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TextBox 923"/>
          <p:cNvSpPr txBox="1"/>
          <p:nvPr/>
        </p:nvSpPr>
        <p:spPr>
          <a:xfrm>
            <a:off x="6220967" y="3730752"/>
            <a:ext cx="2310383" cy="2103120"/>
          </a:xfrm>
          <a:prstGeom prst="rect">
            <a:avLst/>
          </a:prstGeom>
          <a:noFill/>
        </p:spPr>
        <p:txBody>
          <a:bodyPr wrap="square" lIns="45720" rIns="45720" tIns="27432" bIns="27432" anchor="t"/>
          <a:lstStyle/>
          <a:p>
            <a:pPr algn="l" marL="0" indent="0">
              <a:spcBef>
                <a:spcPts val="0"/>
              </a:spcBef>
              <a:spcAft>
                <a:spcPts val="400"/>
              </a:spcAft>
              <a:buNone/>
            </a:pPr>
            <a:r>
              <a:rPr sz="1200" b="1" i="0">
                <a:solidFill>
                  <a:srgbClr val="004CA0"/>
                </a:solidFill>
                <a:latin typeface="Arial"/>
              </a:rPr>
              <a:t>Scarce data</a:t>
            </a:r>
          </a:p>
          <a:p>
            <a:pPr algn="l" marL="0" indent="0">
              <a:spcBef>
                <a:spcPts val="0"/>
              </a:spcBef>
              <a:spcAft>
                <a:spcPts val="600"/>
              </a:spcAft>
              <a:buNone/>
            </a:pPr>
            <a:r>
              <a:rPr sz="2200" b="1" i="0">
                <a:solidFill>
                  <a:srgbClr val="004CA0"/>
                </a:solidFill>
                <a:latin typeface="Arial"/>
              </a:rPr>
              <a:t>156 clips</a:t>
            </a:r>
          </a:p>
          <a:p>
            <a:pPr algn="l" marL="0" indent="0">
              <a:spcBef>
                <a:spcPts val="0"/>
              </a:spcBef>
              <a:spcAft>
                <a:spcPts val="300"/>
              </a:spcAft>
              <a:buNone/>
            </a:pPr>
            <a:r>
              <a:rPr sz="1100" b="0" i="0">
                <a:solidFill>
                  <a:srgbClr val="414141"/>
                </a:solidFill>
                <a:latin typeface="Arial"/>
              </a:rPr>
              <a:t>Expressions must be provoked and filmed in a laboratory, so datasets are small.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A RECOGNITION SYSTEM IS A PIPELINE OF STAGES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01 · THE PROBLEM</a:t>
            </a:r>
          </a:p>
        </p:txBody>
      </p:sp>
      <p:sp>
        <p:nvSpPr>
          <p:cNvPr id="905"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5</a:t>
            </a:fld>
          </a:p>
        </p:txBody>
      </p:sp>
      <p:sp>
        <p:nvSpPr>
          <p:cNvPr id="906" name="Rectangle 905"/>
          <p:cNvSpPr/>
          <p:nvPr/>
        </p:nvSpPr>
        <p:spPr>
          <a:xfrm>
            <a:off x="685800" y="1783080"/>
            <a:ext cx="1371600" cy="96012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22376" y="1783080"/>
            <a:ext cx="1298448" cy="960120"/>
          </a:xfrm>
          <a:prstGeom prst="rect">
            <a:avLst/>
          </a:prstGeom>
          <a:noFill/>
        </p:spPr>
        <p:txBody>
          <a:bodyPr wrap="square" lIns="18288" rIns="18288" tIns="27432" bIns="27432" anchor="ctr"/>
          <a:lstStyle/>
          <a:p>
            <a:pPr algn="ctr" marL="0" indent="0">
              <a:spcBef>
                <a:spcPts val="0"/>
              </a:spcBef>
              <a:spcAft>
                <a:spcPts val="200"/>
              </a:spcAft>
              <a:buNone/>
            </a:pPr>
            <a:r>
              <a:rPr sz="1050" b="1" i="0">
                <a:solidFill>
                  <a:srgbClr val="004CA0"/>
                </a:solidFill>
                <a:latin typeface="Arial"/>
              </a:rPr>
              <a:t>1 · Magnify</a:t>
            </a:r>
          </a:p>
          <a:p>
            <a:pPr algn="ctr" marL="0" indent="0">
              <a:spcBef>
                <a:spcPts val="0"/>
              </a:spcBef>
              <a:spcAft>
                <a:spcPts val="0"/>
              </a:spcAft>
              <a:buNone/>
            </a:pPr>
            <a:r>
              <a:rPr sz="950" b="0" i="0">
                <a:solidFill>
                  <a:srgbClr val="414141"/>
                </a:solidFill>
                <a:latin typeface="Arial"/>
              </a:rPr>
              <a:t>make the tiny motion bigger</a:t>
            </a:r>
          </a:p>
        </p:txBody>
      </p:sp>
      <p:cxnSp>
        <p:nvCxnSpPr>
          <p:cNvPr id="908" name="Connector 907"/>
          <p:cNvCxnSpPr/>
          <p:nvPr/>
        </p:nvCxnSpPr>
        <p:spPr>
          <a:xfrm>
            <a:off x="2093976" y="2263140"/>
            <a:ext cx="201168"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09" name="Rectangle 908"/>
          <p:cNvSpPr/>
          <p:nvPr/>
        </p:nvSpPr>
        <p:spPr>
          <a:xfrm>
            <a:off x="2331720" y="1783080"/>
            <a:ext cx="137160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TextBox 909"/>
          <p:cNvSpPr txBox="1"/>
          <p:nvPr/>
        </p:nvSpPr>
        <p:spPr>
          <a:xfrm>
            <a:off x="2368296" y="1783080"/>
            <a:ext cx="1298448" cy="960120"/>
          </a:xfrm>
          <a:prstGeom prst="rect">
            <a:avLst/>
          </a:prstGeom>
          <a:noFill/>
        </p:spPr>
        <p:txBody>
          <a:bodyPr wrap="square" lIns="18288" rIns="18288" tIns="27432" bIns="27432" anchor="ctr"/>
          <a:lstStyle/>
          <a:p>
            <a:pPr algn="ctr" marL="0" indent="0">
              <a:spcBef>
                <a:spcPts val="0"/>
              </a:spcBef>
              <a:spcAft>
                <a:spcPts val="200"/>
              </a:spcAft>
              <a:buNone/>
            </a:pPr>
            <a:r>
              <a:rPr sz="1050" b="1" i="0">
                <a:solidFill>
                  <a:srgbClr val="004CA0"/>
                </a:solidFill>
                <a:latin typeface="Arial"/>
              </a:rPr>
              <a:t>2 · Describe motion</a:t>
            </a:r>
          </a:p>
          <a:p>
            <a:pPr algn="ctr" marL="0" indent="0">
              <a:spcBef>
                <a:spcPts val="0"/>
              </a:spcBef>
              <a:spcAft>
                <a:spcPts val="0"/>
              </a:spcAft>
              <a:buNone/>
            </a:pPr>
            <a:r>
              <a:rPr sz="950" b="0" i="0">
                <a:solidFill>
                  <a:srgbClr val="414141"/>
                </a:solidFill>
                <a:latin typeface="Arial"/>
              </a:rPr>
              <a:t>how did each point move?</a:t>
            </a:r>
          </a:p>
        </p:txBody>
      </p:sp>
      <p:cxnSp>
        <p:nvCxnSpPr>
          <p:cNvPr id="911" name="Connector 910"/>
          <p:cNvCxnSpPr/>
          <p:nvPr/>
        </p:nvCxnSpPr>
        <p:spPr>
          <a:xfrm>
            <a:off x="3739896" y="2263140"/>
            <a:ext cx="201167"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12" name="Rectangle 911"/>
          <p:cNvSpPr/>
          <p:nvPr/>
        </p:nvSpPr>
        <p:spPr>
          <a:xfrm>
            <a:off x="3977639" y="1783080"/>
            <a:ext cx="137160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TextBox 912"/>
          <p:cNvSpPr txBox="1"/>
          <p:nvPr/>
        </p:nvSpPr>
        <p:spPr>
          <a:xfrm>
            <a:off x="4014215" y="1783080"/>
            <a:ext cx="1298448" cy="960120"/>
          </a:xfrm>
          <a:prstGeom prst="rect">
            <a:avLst/>
          </a:prstGeom>
          <a:noFill/>
        </p:spPr>
        <p:txBody>
          <a:bodyPr wrap="square" lIns="18288" rIns="18288" tIns="27432" bIns="27432" anchor="ctr"/>
          <a:lstStyle/>
          <a:p>
            <a:pPr algn="ctr" marL="0" indent="0">
              <a:spcBef>
                <a:spcPts val="0"/>
              </a:spcBef>
              <a:spcAft>
                <a:spcPts val="200"/>
              </a:spcAft>
              <a:buNone/>
            </a:pPr>
            <a:r>
              <a:rPr sz="1050" b="1" i="0">
                <a:solidFill>
                  <a:srgbClr val="004CA0"/>
                </a:solidFill>
                <a:latin typeface="Arial"/>
              </a:rPr>
              <a:t>3 · Normalise length</a:t>
            </a:r>
          </a:p>
          <a:p>
            <a:pPr algn="ctr" marL="0" indent="0">
              <a:spcBef>
                <a:spcPts val="0"/>
              </a:spcBef>
              <a:spcAft>
                <a:spcPts val="0"/>
              </a:spcAft>
              <a:buNone/>
            </a:pPr>
            <a:r>
              <a:rPr sz="950" b="0" i="0">
                <a:solidFill>
                  <a:srgbClr val="414141"/>
                </a:solidFill>
                <a:latin typeface="Arial"/>
              </a:rPr>
              <a:t>same number of frames per clip</a:t>
            </a:r>
          </a:p>
        </p:txBody>
      </p:sp>
      <p:cxnSp>
        <p:nvCxnSpPr>
          <p:cNvPr id="914" name="Connector 913"/>
          <p:cNvCxnSpPr/>
          <p:nvPr/>
        </p:nvCxnSpPr>
        <p:spPr>
          <a:xfrm>
            <a:off x="5385816" y="2263140"/>
            <a:ext cx="201167"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15" name="Rectangle 914"/>
          <p:cNvSpPr/>
          <p:nvPr/>
        </p:nvSpPr>
        <p:spPr>
          <a:xfrm>
            <a:off x="5623559" y="1783080"/>
            <a:ext cx="1371600" cy="96012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TextBox 915"/>
          <p:cNvSpPr txBox="1"/>
          <p:nvPr/>
        </p:nvSpPr>
        <p:spPr>
          <a:xfrm>
            <a:off x="5660136" y="1783080"/>
            <a:ext cx="1298448" cy="960120"/>
          </a:xfrm>
          <a:prstGeom prst="rect">
            <a:avLst/>
          </a:prstGeom>
          <a:noFill/>
        </p:spPr>
        <p:txBody>
          <a:bodyPr wrap="square" lIns="18288" rIns="18288" tIns="27432" bIns="27432" anchor="ctr"/>
          <a:lstStyle/>
          <a:p>
            <a:pPr algn="ctr" marL="0" indent="0">
              <a:spcBef>
                <a:spcPts val="0"/>
              </a:spcBef>
              <a:spcAft>
                <a:spcPts val="200"/>
              </a:spcAft>
              <a:buNone/>
            </a:pPr>
            <a:r>
              <a:rPr sz="1050" b="1" i="0">
                <a:solidFill>
                  <a:srgbClr val="004CA0"/>
                </a:solidFill>
                <a:latin typeface="Arial"/>
              </a:rPr>
              <a:t>4 · Spatial features</a:t>
            </a:r>
          </a:p>
          <a:p>
            <a:pPr algn="ctr" marL="0" indent="0">
              <a:spcBef>
                <a:spcPts val="0"/>
              </a:spcBef>
              <a:spcAft>
                <a:spcPts val="0"/>
              </a:spcAft>
              <a:buNone/>
            </a:pPr>
            <a:r>
              <a:rPr sz="950" b="0" i="0">
                <a:solidFill>
                  <a:srgbClr val="414141"/>
                </a:solidFill>
                <a:latin typeface="Arial"/>
              </a:rPr>
              <a:t>patterns within each frame</a:t>
            </a:r>
          </a:p>
        </p:txBody>
      </p:sp>
      <p:cxnSp>
        <p:nvCxnSpPr>
          <p:cNvPr id="917" name="Connector 916"/>
          <p:cNvCxnSpPr/>
          <p:nvPr/>
        </p:nvCxnSpPr>
        <p:spPr>
          <a:xfrm>
            <a:off x="7031736" y="2263140"/>
            <a:ext cx="201167"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18" name="Rectangle 917"/>
          <p:cNvSpPr/>
          <p:nvPr/>
        </p:nvSpPr>
        <p:spPr>
          <a:xfrm>
            <a:off x="7269479" y="1783080"/>
            <a:ext cx="1371600" cy="96012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TextBox 918"/>
          <p:cNvSpPr txBox="1"/>
          <p:nvPr/>
        </p:nvSpPr>
        <p:spPr>
          <a:xfrm>
            <a:off x="7306055" y="1783080"/>
            <a:ext cx="1298448" cy="960120"/>
          </a:xfrm>
          <a:prstGeom prst="rect">
            <a:avLst/>
          </a:prstGeom>
          <a:noFill/>
        </p:spPr>
        <p:txBody>
          <a:bodyPr wrap="square" lIns="18288" rIns="18288" tIns="27432" bIns="27432" anchor="ctr"/>
          <a:lstStyle/>
          <a:p>
            <a:pPr algn="ctr" marL="0" indent="0">
              <a:spcBef>
                <a:spcPts val="0"/>
              </a:spcBef>
              <a:spcAft>
                <a:spcPts val="200"/>
              </a:spcAft>
              <a:buNone/>
            </a:pPr>
            <a:r>
              <a:rPr sz="1050" b="1" i="0">
                <a:solidFill>
                  <a:srgbClr val="004CA0"/>
                </a:solidFill>
                <a:latin typeface="Arial"/>
              </a:rPr>
              <a:t>5 · Temporal model</a:t>
            </a:r>
          </a:p>
          <a:p>
            <a:pPr algn="ctr" marL="0" indent="0">
              <a:spcBef>
                <a:spcPts val="0"/>
              </a:spcBef>
              <a:spcAft>
                <a:spcPts val="0"/>
              </a:spcAft>
              <a:buNone/>
            </a:pPr>
            <a:r>
              <a:rPr sz="950" b="0" i="0">
                <a:solidFill>
                  <a:srgbClr val="414141"/>
                </a:solidFill>
                <a:latin typeface="Arial"/>
              </a:rPr>
              <a:t>how the movement develops over time</a:t>
            </a:r>
          </a:p>
        </p:txBody>
      </p:sp>
      <p:sp>
        <p:nvSpPr>
          <p:cNvPr id="920" name="TextBox 919"/>
          <p:cNvSpPr txBox="1"/>
          <p:nvPr/>
        </p:nvSpPr>
        <p:spPr>
          <a:xfrm>
            <a:off x="685800" y="2816352"/>
            <a:ext cx="1371600" cy="548640"/>
          </a:xfrm>
          <a:prstGeom prst="rect">
            <a:avLst/>
          </a:prstGeom>
          <a:noFill/>
        </p:spPr>
        <p:txBody>
          <a:bodyPr wrap="square" lIns="18288" rIns="18288" tIns="27432" bIns="27432" anchor="t"/>
          <a:lstStyle/>
          <a:p>
            <a:pPr algn="ctr" marL="0" indent="0">
              <a:spcBef>
                <a:spcPts val="0"/>
              </a:spcBef>
              <a:spcAft>
                <a:spcPts val="0"/>
              </a:spcAft>
              <a:buNone/>
            </a:pPr>
            <a:r>
              <a:rPr sz="950" b="1" i="0">
                <a:solidFill>
                  <a:srgbClr val="414141"/>
                </a:solidFill>
                <a:latin typeface="Arial"/>
              </a:rPr>
              <a:t>Eulerian video magnification</a:t>
            </a:r>
          </a:p>
        </p:txBody>
      </p:sp>
      <p:sp>
        <p:nvSpPr>
          <p:cNvPr id="921" name="TextBox 920"/>
          <p:cNvSpPr txBox="1"/>
          <p:nvPr/>
        </p:nvSpPr>
        <p:spPr>
          <a:xfrm>
            <a:off x="2331720" y="2816352"/>
            <a:ext cx="1371600" cy="548640"/>
          </a:xfrm>
          <a:prstGeom prst="rect">
            <a:avLst/>
          </a:prstGeom>
          <a:noFill/>
        </p:spPr>
        <p:txBody>
          <a:bodyPr wrap="square" lIns="18288" rIns="18288" tIns="27432" bIns="27432" anchor="t"/>
          <a:lstStyle/>
          <a:p>
            <a:pPr algn="ctr" marL="0" indent="0">
              <a:spcBef>
                <a:spcPts val="0"/>
              </a:spcBef>
              <a:spcAft>
                <a:spcPts val="0"/>
              </a:spcAft>
              <a:buNone/>
            </a:pPr>
            <a:r>
              <a:rPr sz="950" b="1" i="0">
                <a:solidFill>
                  <a:srgbClr val="414141"/>
                </a:solidFill>
                <a:latin typeface="Arial"/>
              </a:rPr>
              <a:t>optical flow and optical strain</a:t>
            </a:r>
          </a:p>
        </p:txBody>
      </p:sp>
      <p:sp>
        <p:nvSpPr>
          <p:cNvPr id="922" name="TextBox 921"/>
          <p:cNvSpPr txBox="1"/>
          <p:nvPr/>
        </p:nvSpPr>
        <p:spPr>
          <a:xfrm>
            <a:off x="3977639" y="2816352"/>
            <a:ext cx="1371600" cy="548640"/>
          </a:xfrm>
          <a:prstGeom prst="rect">
            <a:avLst/>
          </a:prstGeom>
          <a:noFill/>
        </p:spPr>
        <p:txBody>
          <a:bodyPr wrap="square" lIns="18288" rIns="18288" tIns="27432" bIns="27432" anchor="t"/>
          <a:lstStyle/>
          <a:p>
            <a:pPr algn="ctr" marL="0" indent="0">
              <a:spcBef>
                <a:spcPts val="0"/>
              </a:spcBef>
              <a:spcAft>
                <a:spcPts val="0"/>
              </a:spcAft>
              <a:buNone/>
            </a:pPr>
            <a:r>
              <a:rPr sz="950" b="1" i="0">
                <a:solidFill>
                  <a:srgbClr val="414141"/>
                </a:solidFill>
                <a:latin typeface="Arial"/>
              </a:rPr>
              <a:t>uniform sampling of 33 frames</a:t>
            </a:r>
          </a:p>
        </p:txBody>
      </p:sp>
      <p:sp>
        <p:nvSpPr>
          <p:cNvPr id="923" name="TextBox 922"/>
          <p:cNvSpPr txBox="1"/>
          <p:nvPr/>
        </p:nvSpPr>
        <p:spPr>
          <a:xfrm>
            <a:off x="5623560" y="2816352"/>
            <a:ext cx="1371600" cy="548640"/>
          </a:xfrm>
          <a:prstGeom prst="rect">
            <a:avLst/>
          </a:prstGeom>
          <a:noFill/>
        </p:spPr>
        <p:txBody>
          <a:bodyPr wrap="square" lIns="18288" rIns="18288" tIns="27432" bIns="27432" anchor="t"/>
          <a:lstStyle/>
          <a:p>
            <a:pPr algn="ctr" marL="0" indent="0">
              <a:spcBef>
                <a:spcPts val="0"/>
              </a:spcBef>
              <a:spcAft>
                <a:spcPts val="0"/>
              </a:spcAft>
              <a:buNone/>
            </a:pPr>
            <a:r>
              <a:rPr sz="950" b="1" i="0">
                <a:solidFill>
                  <a:srgbClr val="414141"/>
                </a:solidFill>
                <a:latin typeface="Arial"/>
              </a:rPr>
              <a:t>convolutional stem and SimAM attention</a:t>
            </a:r>
          </a:p>
        </p:txBody>
      </p:sp>
      <p:sp>
        <p:nvSpPr>
          <p:cNvPr id="924" name="TextBox 923"/>
          <p:cNvSpPr txBox="1"/>
          <p:nvPr/>
        </p:nvSpPr>
        <p:spPr>
          <a:xfrm>
            <a:off x="7269480" y="2816352"/>
            <a:ext cx="1371600" cy="548640"/>
          </a:xfrm>
          <a:prstGeom prst="rect">
            <a:avLst/>
          </a:prstGeom>
          <a:noFill/>
        </p:spPr>
        <p:txBody>
          <a:bodyPr wrap="square" lIns="18288" rIns="18288" tIns="27432" bIns="27432" anchor="t"/>
          <a:lstStyle/>
          <a:p>
            <a:pPr algn="ctr" marL="0" indent="0">
              <a:spcBef>
                <a:spcPts val="0"/>
              </a:spcBef>
              <a:spcAft>
                <a:spcPts val="0"/>
              </a:spcAft>
              <a:buNone/>
            </a:pPr>
            <a:r>
              <a:rPr sz="950" b="1" i="0">
                <a:solidFill>
                  <a:srgbClr val="414141"/>
                </a:solidFill>
                <a:latin typeface="Arial"/>
              </a:rPr>
              <a:t>temporal transformer</a:t>
            </a:r>
          </a:p>
        </p:txBody>
      </p:sp>
      <p:sp>
        <p:nvSpPr>
          <p:cNvPr id="925" name="TextBox 924"/>
          <p:cNvSpPr txBox="1"/>
          <p:nvPr/>
        </p:nvSpPr>
        <p:spPr>
          <a:xfrm>
            <a:off x="685800" y="3401568"/>
            <a:ext cx="7955279" cy="27432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D2007E"/>
                </a:solidFill>
                <a:latin typeface="Arial"/>
              </a:rPr>
              <a:t>Second row: the technology used for each stage in this thesis. Dashed boxes: the stages switched on and off in the experiment.</a:t>
            </a:r>
          </a:p>
        </p:txBody>
      </p:sp>
      <p:sp>
        <p:nvSpPr>
          <p:cNvPr id="926" name="Rectangle 925"/>
          <p:cNvSpPr/>
          <p:nvPr/>
        </p:nvSpPr>
        <p:spPr>
          <a:xfrm>
            <a:off x="685800" y="3840480"/>
            <a:ext cx="7955279" cy="10972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TextBox 926"/>
          <p:cNvSpPr txBox="1"/>
          <p:nvPr/>
        </p:nvSpPr>
        <p:spPr>
          <a:xfrm>
            <a:off x="822960" y="3895344"/>
            <a:ext cx="7680959" cy="987552"/>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A8CC2F"/>
                </a:solidFill>
                <a:latin typeface="Arial"/>
              </a:rPr>
              <a:t>The problem with this</a:t>
            </a:r>
          </a:p>
          <a:p>
            <a:pPr algn="l" marL="0" indent="0">
              <a:spcBef>
                <a:spcPts val="0"/>
              </a:spcBef>
              <a:spcAft>
                <a:spcPts val="300"/>
              </a:spcAft>
              <a:buNone/>
            </a:pPr>
            <a:r>
              <a:rPr sz="1200" b="0" i="0">
                <a:solidFill>
                  <a:srgbClr val="FFFFFF"/>
                </a:solidFill>
                <a:latin typeface="Arial"/>
              </a:rPr>
              <a:t>Each stage was proposed in a different paper, with its own reported improvement. They are usually used together, so it is unclear how much each one really contributes.</a:t>
            </a:r>
          </a:p>
        </p:txBody>
      </p:sp>
      <p:sp>
        <p:nvSpPr>
          <p:cNvPr id="928" name="TextBox 927"/>
          <p:cNvSpPr txBox="1"/>
          <p:nvPr/>
        </p:nvSpPr>
        <p:spPr>
          <a:xfrm>
            <a:off x="685800" y="5120640"/>
            <a:ext cx="7955279" cy="73152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The next five slides explain each technology in simple terms.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TECHNOLOGY 1: DESCRIBING MOTION WITH OPTICAL FLOW AND STRAIN</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06"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6</a:t>
            </a:fld>
          </a:p>
        </p:txBody>
      </p:sp>
      <p:pic>
        <p:nvPicPr>
          <p:cNvPr id="907" name="Picture 906" descr="flow_strain.png"/>
          <p:cNvPicPr>
            <a:picLocks noChangeAspect="1"/>
          </p:cNvPicPr>
          <p:nvPr/>
        </p:nvPicPr>
        <p:blipFill>
          <a:blip r:embed="rId3"/>
          <a:stretch>
            <a:fillRect/>
          </a:stretch>
        </p:blipFill>
        <p:spPr>
          <a:xfrm>
            <a:off x="685800" y="1719072"/>
            <a:ext cx="7955279" cy="2954818"/>
          </a:xfrm>
          <a:prstGeom prst="rect">
            <a:avLst/>
          </a:prstGeom>
        </p:spPr>
      </p:pic>
      <p:sp>
        <p:nvSpPr>
          <p:cNvPr id="908" name="TextBox 907"/>
          <p:cNvSpPr txBox="1"/>
          <p:nvPr/>
        </p:nvSpPr>
        <p:spPr>
          <a:xfrm>
            <a:off x="685800" y="4645152"/>
            <a:ext cx="7955279" cy="22860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Schematic illustration, not data.</a:t>
            </a:r>
          </a:p>
        </p:txBody>
      </p:sp>
      <p:sp>
        <p:nvSpPr>
          <p:cNvPr id="909" name="Rectangle 908"/>
          <p:cNvSpPr/>
          <p:nvPr/>
        </p:nvSpPr>
        <p:spPr>
          <a:xfrm>
            <a:off x="685800" y="4892040"/>
            <a:ext cx="388620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TextBox 909"/>
          <p:cNvSpPr txBox="1"/>
          <p:nvPr/>
        </p:nvSpPr>
        <p:spPr>
          <a:xfrm>
            <a:off x="777240" y="4956047"/>
            <a:ext cx="3703320" cy="923544"/>
          </a:xfrm>
          <a:prstGeom prst="rect">
            <a:avLst/>
          </a:prstGeom>
          <a:noFill/>
        </p:spPr>
        <p:txBody>
          <a:bodyPr wrap="square" lIns="45720" rIns="45720" tIns="27432" bIns="27432" anchor="t"/>
          <a:lstStyle/>
          <a:p>
            <a:pPr algn="l" marL="0" indent="0">
              <a:spcBef>
                <a:spcPts val="0"/>
              </a:spcBef>
              <a:spcAft>
                <a:spcPts val="200"/>
              </a:spcAft>
              <a:buNone/>
            </a:pPr>
            <a:r>
              <a:rPr sz="1150" b="1" i="0">
                <a:solidFill>
                  <a:srgbClr val="004CA0"/>
                </a:solidFill>
                <a:latin typeface="Arial"/>
              </a:rPr>
              <a:t>Optical flow</a:t>
            </a:r>
          </a:p>
          <a:p>
            <a:pPr algn="l" marL="0" indent="0">
              <a:spcBef>
                <a:spcPts val="0"/>
              </a:spcBef>
              <a:spcAft>
                <a:spcPts val="300"/>
              </a:spcAft>
              <a:buNone/>
            </a:pPr>
            <a:r>
              <a:rPr sz="1000" b="0" i="0">
                <a:solidFill>
                  <a:srgbClr val="414141"/>
                </a:solidFill>
                <a:latin typeface="Arial"/>
              </a:rPr>
              <a:t>Two numbers per pixel: how far it moved horizontally (u) and vertically (v) between two frames. Estimator: Farnebäck.</a:t>
            </a:r>
          </a:p>
        </p:txBody>
      </p:sp>
      <p:sp>
        <p:nvSpPr>
          <p:cNvPr id="911" name="Rectangle 910"/>
          <p:cNvSpPr/>
          <p:nvPr/>
        </p:nvSpPr>
        <p:spPr>
          <a:xfrm>
            <a:off x="4754880" y="4892040"/>
            <a:ext cx="388620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TextBox 911"/>
          <p:cNvSpPr txBox="1"/>
          <p:nvPr/>
        </p:nvSpPr>
        <p:spPr>
          <a:xfrm>
            <a:off x="4846320" y="4956047"/>
            <a:ext cx="3703320" cy="923544"/>
          </a:xfrm>
          <a:prstGeom prst="rect">
            <a:avLst/>
          </a:prstGeom>
          <a:noFill/>
        </p:spPr>
        <p:txBody>
          <a:bodyPr wrap="square" lIns="45720" rIns="45720" tIns="27432" bIns="27432" anchor="t"/>
          <a:lstStyle/>
          <a:p>
            <a:pPr algn="l" marL="0" indent="0">
              <a:spcBef>
                <a:spcPts val="0"/>
              </a:spcBef>
              <a:spcAft>
                <a:spcPts val="200"/>
              </a:spcAft>
              <a:buNone/>
            </a:pPr>
            <a:r>
              <a:rPr sz="1150" b="1" i="0">
                <a:solidFill>
                  <a:srgbClr val="004CA0"/>
                </a:solidFill>
                <a:latin typeface="Arial"/>
              </a:rPr>
              <a:t>Optical strain</a:t>
            </a:r>
          </a:p>
          <a:p>
            <a:pPr algn="l" marL="0" indent="0">
              <a:spcBef>
                <a:spcPts val="0"/>
              </a:spcBef>
              <a:spcAft>
                <a:spcPts val="300"/>
              </a:spcAft>
              <a:buNone/>
            </a:pPr>
            <a:r>
              <a:rPr sz="1000" b="0" i="0">
                <a:solidFill>
                  <a:srgbClr val="414141"/>
                </a:solidFill>
                <a:latin typeface="Arial"/>
              </a:rPr>
              <a:t>One number per pixel: how strongly the skin stretches or compresses. The network sees only u, v and strain, never the face.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TECHNOLOGY 2: EULERIAN VIDEO MAGNIFICATION</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07"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7</a:t>
            </a:fld>
          </a:p>
        </p:txBody>
      </p:sp>
      <p:pic>
        <p:nvPicPr>
          <p:cNvPr id="908" name="Picture 907" descr="magnification.png"/>
          <p:cNvPicPr>
            <a:picLocks noChangeAspect="1"/>
          </p:cNvPicPr>
          <p:nvPr/>
        </p:nvPicPr>
        <p:blipFill>
          <a:blip r:embed="rId3"/>
          <a:stretch>
            <a:fillRect/>
          </a:stretch>
        </p:blipFill>
        <p:spPr>
          <a:xfrm>
            <a:off x="685800" y="1783080"/>
            <a:ext cx="4572000" cy="2939143"/>
          </a:xfrm>
          <a:prstGeom prst="rect">
            <a:avLst/>
          </a:prstGeom>
        </p:spPr>
      </p:pic>
      <p:sp>
        <p:nvSpPr>
          <p:cNvPr id="909" name="TextBox 908"/>
          <p:cNvSpPr txBox="1"/>
          <p:nvPr/>
        </p:nvSpPr>
        <p:spPr>
          <a:xfrm>
            <a:off x="685800" y="4736592"/>
            <a:ext cx="4572000" cy="27432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Schematic illustration of one pixel, not data.</a:t>
            </a:r>
          </a:p>
        </p:txBody>
      </p:sp>
      <p:sp>
        <p:nvSpPr>
          <p:cNvPr id="910" name="TextBox 909"/>
          <p:cNvSpPr txBox="1"/>
          <p:nvPr/>
        </p:nvSpPr>
        <p:spPr>
          <a:xfrm>
            <a:off x="5440680" y="1783080"/>
            <a:ext cx="3200400" cy="320040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100" b="0" i="0">
                <a:solidFill>
                  <a:srgbClr val="414141"/>
                </a:solidFill>
                <a:latin typeface="Arial"/>
              </a:rPr>
              <a:t>A microscope for motion: small changes in brightness are made larger (Wu et al., 2012)</a:t>
            </a:r>
          </a:p>
          <a:p>
            <a:pPr algn="l" marL="155448" indent="-155448">
              <a:spcBef>
                <a:spcPts val="0"/>
              </a:spcBef>
              <a:spcAft>
                <a:spcPts val="600"/>
              </a:spcAft>
              <a:buClr>
                <a:srgbClr val="A8CC2F"/>
              </a:buClr>
              <a:buFont typeface="Arial"/>
              <a:buChar char="•"/>
            </a:pPr>
            <a:r>
              <a:rPr sz="1100" b="0" i="0">
                <a:solidFill>
                  <a:srgbClr val="414141"/>
                </a:solidFill>
                <a:latin typeface="Arial"/>
              </a:rPr>
              <a:t>At every pixel, only changes within a chosen speed range are kept: 5–25 Hz, matching the duration of micro-expressions</a:t>
            </a:r>
          </a:p>
          <a:p>
            <a:pPr algn="l" marL="155448" indent="-155448">
              <a:spcBef>
                <a:spcPts val="0"/>
              </a:spcBef>
              <a:spcAft>
                <a:spcPts val="600"/>
              </a:spcAft>
              <a:buClr>
                <a:srgbClr val="A8CC2F"/>
              </a:buClr>
              <a:buFont typeface="Arial"/>
              <a:buChar char="•"/>
            </a:pPr>
            <a:r>
              <a:rPr sz="1100" b="0" i="0">
                <a:solidFill>
                  <a:srgbClr val="414141"/>
                </a:solidFill>
                <a:latin typeface="Arial"/>
              </a:rPr>
              <a:t>These changes are multiplied: α = 10, so they become 11 times larger</a:t>
            </a:r>
          </a:p>
          <a:p>
            <a:pPr algn="l" marL="155448" indent="-155448">
              <a:spcBef>
                <a:spcPts val="0"/>
              </a:spcBef>
              <a:spcAft>
                <a:spcPts val="600"/>
              </a:spcAft>
              <a:buClr>
                <a:srgbClr val="A8CC2F"/>
              </a:buClr>
              <a:buFont typeface="Arial"/>
              <a:buChar char="•"/>
            </a:pPr>
            <a:r>
              <a:rPr sz="1100" b="0" i="0">
                <a:solidFill>
                  <a:srgbClr val="414141"/>
                </a:solidFill>
                <a:latin typeface="Arial"/>
              </a:rPr>
              <a:t>Applied to the frames before the motion is measured</a:t>
            </a:r>
          </a:p>
        </p:txBody>
      </p:sp>
      <p:sp>
        <p:nvSpPr>
          <p:cNvPr id="911" name="Rectangle 910"/>
          <p:cNvSpPr/>
          <p:nvPr/>
        </p:nvSpPr>
        <p:spPr>
          <a:xfrm>
            <a:off x="685800" y="5074920"/>
            <a:ext cx="7955279" cy="8686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TextBox 911"/>
          <p:cNvSpPr txBox="1"/>
          <p:nvPr/>
        </p:nvSpPr>
        <p:spPr>
          <a:xfrm>
            <a:off x="822960" y="5129783"/>
            <a:ext cx="7680959" cy="758952"/>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A8CC2F"/>
                </a:solidFill>
                <a:latin typeface="Arial"/>
              </a:rPr>
              <a:t>Risk</a:t>
            </a:r>
          </a:p>
          <a:p>
            <a:pPr algn="l" marL="0" indent="0">
              <a:spcBef>
                <a:spcPts val="0"/>
              </a:spcBef>
              <a:spcAft>
                <a:spcPts val="300"/>
              </a:spcAft>
              <a:buNone/>
            </a:pPr>
            <a:r>
              <a:rPr sz="1150" b="0" i="0">
                <a:solidFill>
                  <a:srgbClr val="FFFFFF"/>
                </a:solidFill>
                <a:latin typeface="Arial"/>
              </a:rPr>
              <a:t>The filter separates speeds, not causes: head movement and camera noise in the same range are amplified together with the expression.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TECHNOLOGY 3: HOW A NEURAL NETWORK LEARNS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08"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8</a:t>
            </a:fld>
          </a:p>
        </p:txBody>
      </p:sp>
      <p:sp>
        <p:nvSpPr>
          <p:cNvPr id="909" name="Rectangle 908"/>
          <p:cNvSpPr/>
          <p:nvPr/>
        </p:nvSpPr>
        <p:spPr>
          <a:xfrm>
            <a:off x="685800" y="2331720"/>
            <a:ext cx="91440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TextBox 909"/>
          <p:cNvSpPr txBox="1"/>
          <p:nvPr/>
        </p:nvSpPr>
        <p:spPr>
          <a:xfrm>
            <a:off x="685800" y="2331720"/>
            <a:ext cx="914400" cy="1463040"/>
          </a:xfrm>
          <a:prstGeom prst="rect">
            <a:avLst/>
          </a:prstGeom>
          <a:noFill/>
        </p:spPr>
        <p:txBody>
          <a:bodyPr wrap="square" lIns="27432" rIns="27432" tIns="27432" bIns="27432" anchor="ctr"/>
          <a:lstStyle/>
          <a:p>
            <a:pPr algn="ctr" marL="0" indent="0">
              <a:spcBef>
                <a:spcPts val="0"/>
              </a:spcBef>
              <a:spcAft>
                <a:spcPts val="200"/>
              </a:spcAft>
              <a:buNone/>
            </a:pPr>
            <a:r>
              <a:rPr sz="950" b="1" i="0">
                <a:solidFill>
                  <a:srgbClr val="004CA0"/>
                </a:solidFill>
                <a:latin typeface="Arial"/>
              </a:rPr>
              <a:t>motion maps</a:t>
            </a:r>
          </a:p>
          <a:p>
            <a:pPr algn="ctr" marL="0" indent="0">
              <a:spcBef>
                <a:spcPts val="0"/>
              </a:spcBef>
              <a:spcAft>
                <a:spcPts val="0"/>
              </a:spcAft>
              <a:buNone/>
            </a:pPr>
            <a:r>
              <a:rPr sz="900" b="0" i="0">
                <a:solidFill>
                  <a:srgbClr val="414141"/>
                </a:solidFill>
                <a:latin typeface="Arial"/>
              </a:rPr>
              <a:t>u, v, strain</a:t>
            </a:r>
          </a:p>
        </p:txBody>
      </p:sp>
      <p:cxnSp>
        <p:nvCxnSpPr>
          <p:cNvPr id="911" name="Connector 910"/>
          <p:cNvCxnSpPr/>
          <p:nvPr/>
        </p:nvCxnSpPr>
        <p:spPr>
          <a:xfrm flipV="1">
            <a:off x="1600200" y="2377440"/>
            <a:ext cx="365760" cy="68580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2" name="Connector 911"/>
          <p:cNvCxnSpPr/>
          <p:nvPr/>
        </p:nvCxnSpPr>
        <p:spPr>
          <a:xfrm flipV="1">
            <a:off x="1600200" y="2816352"/>
            <a:ext cx="365760" cy="24688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a:off x="1600200" y="3063240"/>
            <a:ext cx="365760" cy="1920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a:off x="1600200" y="3063240"/>
            <a:ext cx="365760" cy="63093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a:off x="2240279" y="2377440"/>
            <a:ext cx="457201"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a:off x="2240279" y="2377440"/>
            <a:ext cx="457201"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7" name="Connector 916"/>
          <p:cNvCxnSpPr/>
          <p:nvPr/>
        </p:nvCxnSpPr>
        <p:spPr>
          <a:xfrm>
            <a:off x="2240279" y="2377440"/>
            <a:ext cx="457201"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8" name="Connector 917"/>
          <p:cNvCxnSpPr/>
          <p:nvPr/>
        </p:nvCxnSpPr>
        <p:spPr>
          <a:xfrm>
            <a:off x="2240279" y="2377440"/>
            <a:ext cx="457201" cy="131673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flipV="1">
            <a:off x="2240279" y="2377440"/>
            <a:ext cx="457201"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0" name="Connector 919"/>
          <p:cNvCxnSpPr/>
          <p:nvPr/>
        </p:nvCxnSpPr>
        <p:spPr>
          <a:xfrm>
            <a:off x="2240279" y="2816352"/>
            <a:ext cx="457201"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1" name="Connector 920"/>
          <p:cNvCxnSpPr/>
          <p:nvPr/>
        </p:nvCxnSpPr>
        <p:spPr>
          <a:xfrm>
            <a:off x="2240279" y="2816352"/>
            <a:ext cx="457201"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a:off x="2240279" y="2816352"/>
            <a:ext cx="457201"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3" name="Connector 922"/>
          <p:cNvCxnSpPr/>
          <p:nvPr/>
        </p:nvCxnSpPr>
        <p:spPr>
          <a:xfrm flipV="1">
            <a:off x="2240279" y="2377440"/>
            <a:ext cx="457201"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4" name="Connector 923"/>
          <p:cNvCxnSpPr/>
          <p:nvPr/>
        </p:nvCxnSpPr>
        <p:spPr>
          <a:xfrm flipV="1">
            <a:off x="2240279" y="2816352"/>
            <a:ext cx="457201"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5" name="Connector 924"/>
          <p:cNvCxnSpPr/>
          <p:nvPr/>
        </p:nvCxnSpPr>
        <p:spPr>
          <a:xfrm>
            <a:off x="2240279" y="3255264"/>
            <a:ext cx="457201"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6" name="Connector 925"/>
          <p:cNvCxnSpPr/>
          <p:nvPr/>
        </p:nvCxnSpPr>
        <p:spPr>
          <a:xfrm>
            <a:off x="2240279" y="3255264"/>
            <a:ext cx="457201"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7" name="Connector 926"/>
          <p:cNvCxnSpPr/>
          <p:nvPr/>
        </p:nvCxnSpPr>
        <p:spPr>
          <a:xfrm flipV="1">
            <a:off x="2240279" y="2377440"/>
            <a:ext cx="457201" cy="131673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flipV="1">
            <a:off x="2240279" y="2816352"/>
            <a:ext cx="457201"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flipV="1">
            <a:off x="2240279" y="3255264"/>
            <a:ext cx="457201"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2240279" y="3694176"/>
            <a:ext cx="457201"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2971800" y="2377440"/>
            <a:ext cx="4572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2971800" y="2377440"/>
            <a:ext cx="457200"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3" name="Connector 932"/>
          <p:cNvCxnSpPr/>
          <p:nvPr/>
        </p:nvCxnSpPr>
        <p:spPr>
          <a:xfrm>
            <a:off x="2971800" y="2377440"/>
            <a:ext cx="457200"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4" name="Connector 933"/>
          <p:cNvCxnSpPr/>
          <p:nvPr/>
        </p:nvCxnSpPr>
        <p:spPr>
          <a:xfrm>
            <a:off x="2971800" y="2377440"/>
            <a:ext cx="457200" cy="131673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flipV="1">
            <a:off x="2971800" y="2377440"/>
            <a:ext cx="457200"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6" name="Connector 935"/>
          <p:cNvCxnSpPr/>
          <p:nvPr/>
        </p:nvCxnSpPr>
        <p:spPr>
          <a:xfrm>
            <a:off x="2971800" y="2816352"/>
            <a:ext cx="4572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7" name="Connector 936"/>
          <p:cNvCxnSpPr/>
          <p:nvPr/>
        </p:nvCxnSpPr>
        <p:spPr>
          <a:xfrm>
            <a:off x="2971800" y="2816352"/>
            <a:ext cx="457200"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8" name="Connector 937"/>
          <p:cNvCxnSpPr/>
          <p:nvPr/>
        </p:nvCxnSpPr>
        <p:spPr>
          <a:xfrm>
            <a:off x="2971800" y="2816352"/>
            <a:ext cx="457200"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39" name="Connector 938"/>
          <p:cNvCxnSpPr/>
          <p:nvPr/>
        </p:nvCxnSpPr>
        <p:spPr>
          <a:xfrm flipV="1">
            <a:off x="2971800" y="2377440"/>
            <a:ext cx="457200"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0" name="Connector 939"/>
          <p:cNvCxnSpPr/>
          <p:nvPr/>
        </p:nvCxnSpPr>
        <p:spPr>
          <a:xfrm flipV="1">
            <a:off x="2971800" y="2816352"/>
            <a:ext cx="457200"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1" name="Connector 940"/>
          <p:cNvCxnSpPr/>
          <p:nvPr/>
        </p:nvCxnSpPr>
        <p:spPr>
          <a:xfrm>
            <a:off x="2971800" y="3255264"/>
            <a:ext cx="4572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2" name="Connector 941"/>
          <p:cNvCxnSpPr/>
          <p:nvPr/>
        </p:nvCxnSpPr>
        <p:spPr>
          <a:xfrm>
            <a:off x="2971800" y="3255264"/>
            <a:ext cx="457200"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3" name="Connector 942"/>
          <p:cNvCxnSpPr/>
          <p:nvPr/>
        </p:nvCxnSpPr>
        <p:spPr>
          <a:xfrm flipV="1">
            <a:off x="2971800" y="2377440"/>
            <a:ext cx="457200" cy="131673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4" name="Connector 943"/>
          <p:cNvCxnSpPr/>
          <p:nvPr/>
        </p:nvCxnSpPr>
        <p:spPr>
          <a:xfrm flipV="1">
            <a:off x="2971800" y="2816352"/>
            <a:ext cx="457200" cy="87782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5" name="Connector 944"/>
          <p:cNvCxnSpPr/>
          <p:nvPr/>
        </p:nvCxnSpPr>
        <p:spPr>
          <a:xfrm flipV="1">
            <a:off x="2971800" y="3255264"/>
            <a:ext cx="457200" cy="438912"/>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6" name="Connector 945"/>
          <p:cNvCxnSpPr/>
          <p:nvPr/>
        </p:nvCxnSpPr>
        <p:spPr>
          <a:xfrm>
            <a:off x="2971800" y="3694176"/>
            <a:ext cx="45720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7" name="Connector 946"/>
          <p:cNvCxnSpPr/>
          <p:nvPr/>
        </p:nvCxnSpPr>
        <p:spPr>
          <a:xfrm>
            <a:off x="3703320" y="2377440"/>
            <a:ext cx="228600" cy="29260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8" name="Connector 947"/>
          <p:cNvCxnSpPr/>
          <p:nvPr/>
        </p:nvCxnSpPr>
        <p:spPr>
          <a:xfrm>
            <a:off x="3703320" y="2377440"/>
            <a:ext cx="228600" cy="74980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49" name="Connector 948"/>
          <p:cNvCxnSpPr/>
          <p:nvPr/>
        </p:nvCxnSpPr>
        <p:spPr>
          <a:xfrm>
            <a:off x="3703320" y="2377440"/>
            <a:ext cx="228600" cy="120700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0" name="Connector 949"/>
          <p:cNvCxnSpPr/>
          <p:nvPr/>
        </p:nvCxnSpPr>
        <p:spPr>
          <a:xfrm flipV="1">
            <a:off x="3703320" y="2670048"/>
            <a:ext cx="228600" cy="14630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1" name="Connector 950"/>
          <p:cNvCxnSpPr/>
          <p:nvPr/>
        </p:nvCxnSpPr>
        <p:spPr>
          <a:xfrm>
            <a:off x="3703320" y="2816352"/>
            <a:ext cx="228600" cy="31089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2" name="Connector 951"/>
          <p:cNvCxnSpPr/>
          <p:nvPr/>
        </p:nvCxnSpPr>
        <p:spPr>
          <a:xfrm>
            <a:off x="3703320" y="2816352"/>
            <a:ext cx="228600" cy="76809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3" name="Connector 952"/>
          <p:cNvCxnSpPr/>
          <p:nvPr/>
        </p:nvCxnSpPr>
        <p:spPr>
          <a:xfrm flipV="1">
            <a:off x="3703320" y="2670048"/>
            <a:ext cx="228600" cy="58521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4" name="Connector 953"/>
          <p:cNvCxnSpPr/>
          <p:nvPr/>
        </p:nvCxnSpPr>
        <p:spPr>
          <a:xfrm flipV="1">
            <a:off x="3703320" y="3127248"/>
            <a:ext cx="228600" cy="128016"/>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5" name="Connector 954"/>
          <p:cNvCxnSpPr/>
          <p:nvPr/>
        </p:nvCxnSpPr>
        <p:spPr>
          <a:xfrm>
            <a:off x="3703320" y="3255264"/>
            <a:ext cx="228600" cy="329184"/>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6" name="Connector 955"/>
          <p:cNvCxnSpPr/>
          <p:nvPr/>
        </p:nvCxnSpPr>
        <p:spPr>
          <a:xfrm flipV="1">
            <a:off x="3703320" y="2670048"/>
            <a:ext cx="228600" cy="102412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7" name="Connector 956"/>
          <p:cNvCxnSpPr/>
          <p:nvPr/>
        </p:nvCxnSpPr>
        <p:spPr>
          <a:xfrm flipV="1">
            <a:off x="3703320" y="3127248"/>
            <a:ext cx="228600" cy="56692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958" name="Connector 957"/>
          <p:cNvCxnSpPr/>
          <p:nvPr/>
        </p:nvCxnSpPr>
        <p:spPr>
          <a:xfrm flipV="1">
            <a:off x="3703320" y="3584448"/>
            <a:ext cx="228600" cy="109728"/>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959" name="Oval 958"/>
          <p:cNvSpPr/>
          <p:nvPr/>
        </p:nvSpPr>
        <p:spPr>
          <a:xfrm>
            <a:off x="1965960" y="2240280"/>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1965960" y="2679192"/>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1965960" y="3118104"/>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1965960" y="3557016"/>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2697480" y="2240280"/>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2697480" y="2679192"/>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2697480" y="3118104"/>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2697480" y="3557016"/>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3429000" y="2240280"/>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3429000" y="2679192"/>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3429000" y="3118104"/>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3429000" y="3557016"/>
            <a:ext cx="274320" cy="274320"/>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Rectangle 970"/>
          <p:cNvSpPr/>
          <p:nvPr/>
        </p:nvSpPr>
        <p:spPr>
          <a:xfrm>
            <a:off x="3931920" y="2514600"/>
            <a:ext cx="914400" cy="31089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TextBox 971"/>
          <p:cNvSpPr txBox="1"/>
          <p:nvPr/>
        </p:nvSpPr>
        <p:spPr>
          <a:xfrm>
            <a:off x="3931920" y="2514600"/>
            <a:ext cx="914400" cy="310896"/>
          </a:xfrm>
          <a:prstGeom prst="rect">
            <a:avLst/>
          </a:prstGeom>
          <a:noFill/>
        </p:spPr>
        <p:txBody>
          <a:bodyPr wrap="square" lIns="18288" rIns="18288" tIns="27432" bIns="27432" anchor="ctr"/>
          <a:lstStyle/>
          <a:p>
            <a:pPr algn="ctr" marL="0" indent="0">
              <a:spcBef>
                <a:spcPts val="0"/>
              </a:spcBef>
              <a:spcAft>
                <a:spcPts val="0"/>
              </a:spcAft>
              <a:buNone/>
            </a:pPr>
            <a:r>
              <a:rPr sz="950" b="1" i="0">
                <a:solidFill>
                  <a:srgbClr val="FFFFFF"/>
                </a:solidFill>
                <a:latin typeface="Arial"/>
              </a:rPr>
              <a:t>Negative</a:t>
            </a:r>
          </a:p>
        </p:txBody>
      </p:sp>
      <p:sp>
        <p:nvSpPr>
          <p:cNvPr id="973" name="Rectangle 972"/>
          <p:cNvSpPr/>
          <p:nvPr/>
        </p:nvSpPr>
        <p:spPr>
          <a:xfrm>
            <a:off x="3931920" y="2971800"/>
            <a:ext cx="914400"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TextBox 973"/>
          <p:cNvSpPr txBox="1"/>
          <p:nvPr/>
        </p:nvSpPr>
        <p:spPr>
          <a:xfrm>
            <a:off x="3931920" y="2971800"/>
            <a:ext cx="914400" cy="310896"/>
          </a:xfrm>
          <a:prstGeom prst="rect">
            <a:avLst/>
          </a:prstGeom>
          <a:noFill/>
        </p:spPr>
        <p:txBody>
          <a:bodyPr wrap="square" lIns="18288" rIns="18288" tIns="27432" bIns="27432" anchor="ctr"/>
          <a:lstStyle/>
          <a:p>
            <a:pPr algn="ctr" marL="0" indent="0">
              <a:spcBef>
                <a:spcPts val="0"/>
              </a:spcBef>
              <a:spcAft>
                <a:spcPts val="0"/>
              </a:spcAft>
              <a:buNone/>
            </a:pPr>
            <a:r>
              <a:rPr sz="950" b="1" i="0">
                <a:solidFill>
                  <a:srgbClr val="414141"/>
                </a:solidFill>
                <a:latin typeface="Arial"/>
              </a:rPr>
              <a:t>Positive</a:t>
            </a:r>
          </a:p>
        </p:txBody>
      </p:sp>
      <p:sp>
        <p:nvSpPr>
          <p:cNvPr id="975" name="Rectangle 974"/>
          <p:cNvSpPr/>
          <p:nvPr/>
        </p:nvSpPr>
        <p:spPr>
          <a:xfrm>
            <a:off x="3931920" y="3429000"/>
            <a:ext cx="914400"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TextBox 975"/>
          <p:cNvSpPr txBox="1"/>
          <p:nvPr/>
        </p:nvSpPr>
        <p:spPr>
          <a:xfrm>
            <a:off x="3931920" y="3429000"/>
            <a:ext cx="914400" cy="310896"/>
          </a:xfrm>
          <a:prstGeom prst="rect">
            <a:avLst/>
          </a:prstGeom>
          <a:noFill/>
        </p:spPr>
        <p:txBody>
          <a:bodyPr wrap="square" lIns="18288" rIns="18288" tIns="27432" bIns="27432" anchor="ctr"/>
          <a:lstStyle/>
          <a:p>
            <a:pPr algn="ctr" marL="0" indent="0">
              <a:spcBef>
                <a:spcPts val="0"/>
              </a:spcBef>
              <a:spcAft>
                <a:spcPts val="0"/>
              </a:spcAft>
              <a:buNone/>
            </a:pPr>
            <a:r>
              <a:rPr sz="950" b="1" i="0">
                <a:solidFill>
                  <a:srgbClr val="414141"/>
                </a:solidFill>
                <a:latin typeface="Arial"/>
              </a:rPr>
              <a:t>Surprise</a:t>
            </a:r>
          </a:p>
        </p:txBody>
      </p:sp>
      <p:sp>
        <p:nvSpPr>
          <p:cNvPr id="977" name="TextBox 976"/>
          <p:cNvSpPr txBox="1"/>
          <p:nvPr/>
        </p:nvSpPr>
        <p:spPr>
          <a:xfrm>
            <a:off x="1828800" y="1874519"/>
            <a:ext cx="2011680" cy="274320"/>
          </a:xfrm>
          <a:prstGeom prst="rect">
            <a:avLst/>
          </a:prstGeom>
          <a:noFill/>
        </p:spPr>
        <p:txBody>
          <a:bodyPr wrap="square" lIns="45720" rIns="45720" tIns="27432" bIns="27432" anchor="t"/>
          <a:lstStyle/>
          <a:p>
            <a:pPr algn="ctr" marL="0" indent="0">
              <a:spcBef>
                <a:spcPts val="0"/>
              </a:spcBef>
              <a:spcAft>
                <a:spcPts val="300"/>
              </a:spcAft>
              <a:buNone/>
            </a:pPr>
            <a:r>
              <a:rPr sz="950" b="0" i="1">
                <a:solidFill>
                  <a:srgbClr val="8C8C8C"/>
                </a:solidFill>
                <a:latin typeface="Arial"/>
              </a:rPr>
              <a:t>layers of parameters</a:t>
            </a:r>
          </a:p>
        </p:txBody>
      </p:sp>
      <p:sp>
        <p:nvSpPr>
          <p:cNvPr id="978" name="TextBox 977"/>
          <p:cNvSpPr txBox="1"/>
          <p:nvPr/>
        </p:nvSpPr>
        <p:spPr>
          <a:xfrm>
            <a:off x="3840480" y="2148840"/>
            <a:ext cx="1097280" cy="320040"/>
          </a:xfrm>
          <a:prstGeom prst="rect">
            <a:avLst/>
          </a:prstGeom>
          <a:noFill/>
        </p:spPr>
        <p:txBody>
          <a:bodyPr wrap="square" lIns="45720" rIns="45720" tIns="27432" bIns="27432" anchor="t"/>
          <a:lstStyle/>
          <a:p>
            <a:pPr algn="ctr" marL="0" indent="0">
              <a:spcBef>
                <a:spcPts val="0"/>
              </a:spcBef>
              <a:spcAft>
                <a:spcPts val="300"/>
              </a:spcAft>
              <a:buNone/>
            </a:pPr>
            <a:r>
              <a:rPr sz="950" b="0" i="1">
                <a:solidFill>
                  <a:srgbClr val="8C8C8C"/>
                </a:solidFill>
                <a:latin typeface="Arial"/>
              </a:rPr>
              <a:t>class scores</a:t>
            </a:r>
          </a:p>
        </p:txBody>
      </p:sp>
      <p:sp>
        <p:nvSpPr>
          <p:cNvPr id="979" name="TextBox 978"/>
          <p:cNvSpPr txBox="1"/>
          <p:nvPr/>
        </p:nvSpPr>
        <p:spPr>
          <a:xfrm>
            <a:off x="685800" y="3977639"/>
            <a:ext cx="4206240" cy="457200"/>
          </a:xfrm>
          <a:prstGeom prst="rect">
            <a:avLst/>
          </a:prstGeom>
          <a:noFill/>
        </p:spPr>
        <p:txBody>
          <a:bodyPr wrap="square" lIns="45720" rIns="45720" tIns="27432" bIns="27432" anchor="t"/>
          <a:lstStyle/>
          <a:p>
            <a:pPr algn="l" marL="0" indent="0">
              <a:spcBef>
                <a:spcPts val="0"/>
              </a:spcBef>
              <a:spcAft>
                <a:spcPts val="300"/>
              </a:spcAft>
              <a:buNone/>
            </a:pPr>
            <a:r>
              <a:rPr sz="950" b="0" i="1">
                <a:solidFill>
                  <a:srgbClr val="8C8C8C"/>
                </a:solidFill>
                <a:latin typeface="Arial"/>
              </a:rPr>
              <a:t>The highest score is the answer (here: Negative).</a:t>
            </a:r>
          </a:p>
        </p:txBody>
      </p:sp>
      <p:sp>
        <p:nvSpPr>
          <p:cNvPr id="980" name="Rectangle 979"/>
          <p:cNvSpPr/>
          <p:nvPr/>
        </p:nvSpPr>
        <p:spPr>
          <a:xfrm>
            <a:off x="5120640" y="1783080"/>
            <a:ext cx="352044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TextBox 980"/>
          <p:cNvSpPr txBox="1"/>
          <p:nvPr/>
        </p:nvSpPr>
        <p:spPr>
          <a:xfrm>
            <a:off x="5230368" y="1865376"/>
            <a:ext cx="3300984" cy="1069848"/>
          </a:xfrm>
          <a:prstGeom prst="rect">
            <a:avLst/>
          </a:prstGeom>
          <a:noFill/>
        </p:spPr>
        <p:txBody>
          <a:bodyPr wrap="square" lIns="45720" rIns="45720" tIns="27432" bIns="27432" anchor="t"/>
          <a:lstStyle/>
          <a:p>
            <a:pPr algn="l" marL="0" indent="0">
              <a:spcBef>
                <a:spcPts val="0"/>
              </a:spcBef>
              <a:spcAft>
                <a:spcPts val="400"/>
              </a:spcAft>
              <a:buNone/>
            </a:pPr>
            <a:r>
              <a:rPr sz="1200" b="1" i="0">
                <a:solidFill>
                  <a:srgbClr val="004CA0"/>
                </a:solidFill>
                <a:latin typeface="Arial"/>
              </a:rPr>
              <a:t>Training</a:t>
            </a:r>
          </a:p>
          <a:p>
            <a:pPr algn="l" marL="0" indent="0">
              <a:spcBef>
                <a:spcPts val="0"/>
              </a:spcBef>
              <a:spcAft>
                <a:spcPts val="300"/>
              </a:spcAft>
              <a:buNone/>
            </a:pPr>
            <a:r>
              <a:rPr sz="1050" b="0" i="0">
                <a:solidFill>
                  <a:srgbClr val="414141"/>
                </a:solidFill>
                <a:latin typeface="Arial"/>
              </a:rPr>
              <a:t>The network sees clips with their correct labels and adjusts its parameters, step by step, to make fewer mistakes.</a:t>
            </a:r>
          </a:p>
        </p:txBody>
      </p:sp>
      <p:sp>
        <p:nvSpPr>
          <p:cNvPr id="982" name="Rectangle 981"/>
          <p:cNvSpPr/>
          <p:nvPr/>
        </p:nvSpPr>
        <p:spPr>
          <a:xfrm>
            <a:off x="5120640" y="3154680"/>
            <a:ext cx="35204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TextBox 982"/>
          <p:cNvSpPr txBox="1"/>
          <p:nvPr/>
        </p:nvSpPr>
        <p:spPr>
          <a:xfrm>
            <a:off x="5230368" y="3236976"/>
            <a:ext cx="3300984" cy="841248"/>
          </a:xfrm>
          <a:prstGeom prst="rect">
            <a:avLst/>
          </a:prstGeom>
          <a:noFill/>
        </p:spPr>
        <p:txBody>
          <a:bodyPr wrap="square" lIns="45720" rIns="45720" tIns="27432" bIns="27432" anchor="t"/>
          <a:lstStyle/>
          <a:p>
            <a:pPr algn="l" marL="0" indent="0">
              <a:spcBef>
                <a:spcPts val="0"/>
              </a:spcBef>
              <a:spcAft>
                <a:spcPts val="400"/>
              </a:spcAft>
              <a:buNone/>
            </a:pPr>
            <a:r>
              <a:rPr sz="1200" b="1" i="0">
                <a:solidFill>
                  <a:srgbClr val="004CA0"/>
                </a:solidFill>
                <a:latin typeface="Arial"/>
              </a:rPr>
              <a:t>Testing</a:t>
            </a:r>
          </a:p>
          <a:p>
            <a:pPr algn="l" marL="0" indent="0">
              <a:spcBef>
                <a:spcPts val="0"/>
              </a:spcBef>
              <a:spcAft>
                <a:spcPts val="300"/>
              </a:spcAft>
              <a:buNone/>
            </a:pPr>
            <a:r>
              <a:rPr sz="1050" b="0" i="0">
                <a:solidFill>
                  <a:srgbClr val="414141"/>
                </a:solidFill>
                <a:latin typeface="Arial"/>
              </a:rPr>
              <a:t>It is scored on clips of a person it has never seen.</a:t>
            </a:r>
          </a:p>
        </p:txBody>
      </p:sp>
      <p:sp>
        <p:nvSpPr>
          <p:cNvPr id="984" name="Rectangle 983"/>
          <p:cNvSpPr/>
          <p:nvPr/>
        </p:nvSpPr>
        <p:spPr>
          <a:xfrm>
            <a:off x="685800" y="4572000"/>
            <a:ext cx="7955279" cy="13258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TextBox 984"/>
          <p:cNvSpPr txBox="1"/>
          <p:nvPr/>
        </p:nvSpPr>
        <p:spPr>
          <a:xfrm>
            <a:off x="822960" y="4626864"/>
            <a:ext cx="7680959" cy="1216152"/>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A8CC2F"/>
                </a:solidFill>
                <a:latin typeface="Arial"/>
              </a:rPr>
              <a:t>Why model size matters here</a:t>
            </a:r>
          </a:p>
          <a:p>
            <a:pPr algn="l" marL="0" indent="0">
              <a:spcBef>
                <a:spcPts val="0"/>
              </a:spcBef>
              <a:spcAft>
                <a:spcPts val="300"/>
              </a:spcAft>
              <a:buNone/>
            </a:pPr>
            <a:r>
              <a:rPr sz="1150" b="0" i="0">
                <a:solidFill>
                  <a:srgbClr val="FFFFFF"/>
                </a:solidFill>
                <a:latin typeface="Arial"/>
              </a:rPr>
              <a:t>A parameter is one adjustable number. My models have between 5,187 and 363,763 of them, but the dataset has only 156 clips. A large model can memorise its training clips instead of learning what generalises.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TECHNOLOGY 4: LEARNED SPATIAL FEATURES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09"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9</a:t>
            </a:fld>
          </a:p>
        </p:txBody>
      </p:sp>
      <p:sp>
        <p:nvSpPr>
          <p:cNvPr id="910" name="TextBox 909"/>
          <p:cNvSpPr txBox="1"/>
          <p:nvPr/>
        </p:nvSpPr>
        <p:spPr>
          <a:xfrm>
            <a:off x="685800" y="1783080"/>
            <a:ext cx="3886200" cy="320040"/>
          </a:xfrm>
          <a:prstGeom prst="rect">
            <a:avLst/>
          </a:prstGeom>
          <a:noFill/>
        </p:spPr>
        <p:txBody>
          <a:bodyPr wrap="square" lIns="45720" rIns="45720" tIns="27432" bIns="27432" anchor="t"/>
          <a:lstStyle/>
          <a:p>
            <a:pPr algn="l" marL="0" indent="0">
              <a:spcBef>
                <a:spcPts val="0"/>
              </a:spcBef>
              <a:spcAft>
                <a:spcPts val="300"/>
              </a:spcAft>
              <a:buNone/>
            </a:pPr>
            <a:r>
              <a:rPr sz="1250" b="1" i="0">
                <a:solidFill>
                  <a:srgbClr val="004CA0"/>
                </a:solidFill>
                <a:latin typeface="Arial"/>
              </a:rPr>
              <a:t>Convolutional stem: learns local patterns</a:t>
            </a:r>
          </a:p>
        </p:txBody>
      </p:sp>
      <p:sp>
        <p:nvSpPr>
          <p:cNvPr id="911" name="Rectangle 910"/>
          <p:cNvSpPr/>
          <p:nvPr/>
        </p:nvSpPr>
        <p:spPr>
          <a:xfrm>
            <a:off x="868680"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Rectangle 911"/>
          <p:cNvSpPr/>
          <p:nvPr/>
        </p:nvSpPr>
        <p:spPr>
          <a:xfrm>
            <a:off x="1088136"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Rectangle 912"/>
          <p:cNvSpPr/>
          <p:nvPr/>
        </p:nvSpPr>
        <p:spPr>
          <a:xfrm>
            <a:off x="1307592"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Rectangle 913"/>
          <p:cNvSpPr/>
          <p:nvPr/>
        </p:nvSpPr>
        <p:spPr>
          <a:xfrm>
            <a:off x="1527048"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Rectangle 914"/>
          <p:cNvSpPr/>
          <p:nvPr/>
        </p:nvSpPr>
        <p:spPr>
          <a:xfrm>
            <a:off x="1746504"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1965960"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868680"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Rectangle 917"/>
          <p:cNvSpPr/>
          <p:nvPr/>
        </p:nvSpPr>
        <p:spPr>
          <a:xfrm>
            <a:off x="1088136"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Rectangle 918"/>
          <p:cNvSpPr/>
          <p:nvPr/>
        </p:nvSpPr>
        <p:spPr>
          <a:xfrm>
            <a:off x="1307592" y="2505456"/>
            <a:ext cx="201168" cy="201168"/>
          </a:xfrm>
          <a:prstGeom prst="rect">
            <a:avLst/>
          </a:prstGeom>
          <a:solidFill>
            <a:srgbClr val="9DB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Rectangle 919"/>
          <p:cNvSpPr/>
          <p:nvPr/>
        </p:nvSpPr>
        <p:spPr>
          <a:xfrm>
            <a:off x="1527048"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Rectangle 920"/>
          <p:cNvSpPr/>
          <p:nvPr/>
        </p:nvSpPr>
        <p:spPr>
          <a:xfrm>
            <a:off x="1746504"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Rectangle 921"/>
          <p:cNvSpPr/>
          <p:nvPr/>
        </p:nvSpPr>
        <p:spPr>
          <a:xfrm>
            <a:off x="1965960"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Rectangle 922"/>
          <p:cNvSpPr/>
          <p:nvPr/>
        </p:nvSpPr>
        <p:spPr>
          <a:xfrm>
            <a:off x="868680"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Rectangle 923"/>
          <p:cNvSpPr/>
          <p:nvPr/>
        </p:nvSpPr>
        <p:spPr>
          <a:xfrm>
            <a:off x="1088136"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Rectangle 924"/>
          <p:cNvSpPr/>
          <p:nvPr/>
        </p:nvSpPr>
        <p:spPr>
          <a:xfrm>
            <a:off x="1307592" y="2724912"/>
            <a:ext cx="201168" cy="201168"/>
          </a:xfrm>
          <a:prstGeom prst="rect">
            <a:avLst/>
          </a:prstGeom>
          <a:solidFill>
            <a:srgbClr val="9DB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Rectangle 925"/>
          <p:cNvSpPr/>
          <p:nvPr/>
        </p:nvSpPr>
        <p:spPr>
          <a:xfrm>
            <a:off x="1527048" y="2724912"/>
            <a:ext cx="201168" cy="201168"/>
          </a:xfrm>
          <a:prstGeom prst="rect">
            <a:avLst/>
          </a:prstGeom>
          <a:solidFill>
            <a:srgbClr val="9DB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Rectangle 926"/>
          <p:cNvSpPr/>
          <p:nvPr/>
        </p:nvSpPr>
        <p:spPr>
          <a:xfrm>
            <a:off x="1746504"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Rectangle 927"/>
          <p:cNvSpPr/>
          <p:nvPr/>
        </p:nvSpPr>
        <p:spPr>
          <a:xfrm>
            <a:off x="1965960"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Rectangle 928"/>
          <p:cNvSpPr/>
          <p:nvPr/>
        </p:nvSpPr>
        <p:spPr>
          <a:xfrm>
            <a:off x="868680"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Rectangle 929"/>
          <p:cNvSpPr/>
          <p:nvPr/>
        </p:nvSpPr>
        <p:spPr>
          <a:xfrm>
            <a:off x="1088136"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Rectangle 930"/>
          <p:cNvSpPr/>
          <p:nvPr/>
        </p:nvSpPr>
        <p:spPr>
          <a:xfrm>
            <a:off x="1307592"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Rectangle 931"/>
          <p:cNvSpPr/>
          <p:nvPr/>
        </p:nvSpPr>
        <p:spPr>
          <a:xfrm>
            <a:off x="1527048"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Rectangle 932"/>
          <p:cNvSpPr/>
          <p:nvPr/>
        </p:nvSpPr>
        <p:spPr>
          <a:xfrm>
            <a:off x="1746504"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Rectangle 933"/>
          <p:cNvSpPr/>
          <p:nvPr/>
        </p:nvSpPr>
        <p:spPr>
          <a:xfrm>
            <a:off x="1965960"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Rectangle 934"/>
          <p:cNvSpPr/>
          <p:nvPr/>
        </p:nvSpPr>
        <p:spPr>
          <a:xfrm>
            <a:off x="868680"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Rectangle 935"/>
          <p:cNvSpPr/>
          <p:nvPr/>
        </p:nvSpPr>
        <p:spPr>
          <a:xfrm>
            <a:off x="1088136"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Rectangle 936"/>
          <p:cNvSpPr/>
          <p:nvPr/>
        </p:nvSpPr>
        <p:spPr>
          <a:xfrm>
            <a:off x="1307592"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Rectangle 937"/>
          <p:cNvSpPr/>
          <p:nvPr/>
        </p:nvSpPr>
        <p:spPr>
          <a:xfrm>
            <a:off x="1527048"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Rectangle 938"/>
          <p:cNvSpPr/>
          <p:nvPr/>
        </p:nvSpPr>
        <p:spPr>
          <a:xfrm>
            <a:off x="1746504"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Rectangle 939"/>
          <p:cNvSpPr/>
          <p:nvPr/>
        </p:nvSpPr>
        <p:spPr>
          <a:xfrm>
            <a:off x="1965960"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Rectangle 940"/>
          <p:cNvSpPr/>
          <p:nvPr/>
        </p:nvSpPr>
        <p:spPr>
          <a:xfrm>
            <a:off x="868680" y="338328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Rectangle 941"/>
          <p:cNvSpPr/>
          <p:nvPr/>
        </p:nvSpPr>
        <p:spPr>
          <a:xfrm>
            <a:off x="1088136" y="338328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Rectangle 942"/>
          <p:cNvSpPr/>
          <p:nvPr/>
        </p:nvSpPr>
        <p:spPr>
          <a:xfrm>
            <a:off x="1307592" y="338328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Rectangle 943"/>
          <p:cNvSpPr/>
          <p:nvPr/>
        </p:nvSpPr>
        <p:spPr>
          <a:xfrm>
            <a:off x="1527048" y="338328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Rectangle 944"/>
          <p:cNvSpPr/>
          <p:nvPr/>
        </p:nvSpPr>
        <p:spPr>
          <a:xfrm>
            <a:off x="1746504" y="338328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Rectangle 945"/>
          <p:cNvSpPr/>
          <p:nvPr/>
        </p:nvSpPr>
        <p:spPr>
          <a:xfrm>
            <a:off x="1965960" y="338328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Rectangle 946"/>
          <p:cNvSpPr/>
          <p:nvPr/>
        </p:nvSpPr>
        <p:spPr>
          <a:xfrm>
            <a:off x="1069848" y="2487168"/>
            <a:ext cx="676656" cy="676656"/>
          </a:xfrm>
          <a:prstGeom prst="rect">
            <a:avLst/>
          </a:prstGeom>
          <a:noFill/>
          <a:ln w="28575">
            <a:solidFill>
              <a:srgbClr val="D20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8" name="Connector 947"/>
          <p:cNvCxnSpPr/>
          <p:nvPr/>
        </p:nvCxnSpPr>
        <p:spPr>
          <a:xfrm>
            <a:off x="2276856" y="2944368"/>
            <a:ext cx="466344" cy="0"/>
          </a:xfrm>
          <a:prstGeom prst="line">
            <a:avLst/>
          </a:prstGeom>
          <a:ln w="15875">
            <a:solidFill>
              <a:srgbClr val="414141"/>
            </a:solidFill>
            <a:tailEnd type="triangle"/>
          </a:ln>
        </p:spPr>
        <p:style>
          <a:lnRef idx="2">
            <a:schemeClr val="accent1"/>
          </a:lnRef>
          <a:fillRef idx="0">
            <a:schemeClr val="accent1"/>
          </a:fillRef>
          <a:effectRef idx="1">
            <a:schemeClr val="accent1"/>
          </a:effectRef>
          <a:fontRef idx="minor">
            <a:schemeClr val="tx1"/>
          </a:fontRef>
        </p:style>
      </p:cxnSp>
      <p:sp>
        <p:nvSpPr>
          <p:cNvPr id="949" name="Rectangle 948"/>
          <p:cNvSpPr/>
          <p:nvPr/>
        </p:nvSpPr>
        <p:spPr>
          <a:xfrm>
            <a:off x="2834640"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Rectangle 949"/>
          <p:cNvSpPr/>
          <p:nvPr/>
        </p:nvSpPr>
        <p:spPr>
          <a:xfrm>
            <a:off x="3054096" y="2505456"/>
            <a:ext cx="201168" cy="201168"/>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Rectangle 950"/>
          <p:cNvSpPr/>
          <p:nvPr/>
        </p:nvSpPr>
        <p:spPr>
          <a:xfrm>
            <a:off x="3273552"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Rectangle 951"/>
          <p:cNvSpPr/>
          <p:nvPr/>
        </p:nvSpPr>
        <p:spPr>
          <a:xfrm>
            <a:off x="3493008"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Rectangle 952"/>
          <p:cNvSpPr/>
          <p:nvPr/>
        </p:nvSpPr>
        <p:spPr>
          <a:xfrm>
            <a:off x="2834640"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Rectangle 953"/>
          <p:cNvSpPr/>
          <p:nvPr/>
        </p:nvSpPr>
        <p:spPr>
          <a:xfrm>
            <a:off x="3054096"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Rectangle 954"/>
          <p:cNvSpPr/>
          <p:nvPr/>
        </p:nvSpPr>
        <p:spPr>
          <a:xfrm>
            <a:off x="3273552"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Rectangle 955"/>
          <p:cNvSpPr/>
          <p:nvPr/>
        </p:nvSpPr>
        <p:spPr>
          <a:xfrm>
            <a:off x="3493008"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Rectangle 956"/>
          <p:cNvSpPr/>
          <p:nvPr/>
        </p:nvSpPr>
        <p:spPr>
          <a:xfrm>
            <a:off x="2834640"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Rectangle 957"/>
          <p:cNvSpPr/>
          <p:nvPr/>
        </p:nvSpPr>
        <p:spPr>
          <a:xfrm>
            <a:off x="3054096"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Rectangle 958"/>
          <p:cNvSpPr/>
          <p:nvPr/>
        </p:nvSpPr>
        <p:spPr>
          <a:xfrm>
            <a:off x="3273552"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Rectangle 959"/>
          <p:cNvSpPr/>
          <p:nvPr/>
        </p:nvSpPr>
        <p:spPr>
          <a:xfrm>
            <a:off x="3493008"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Rectangle 960"/>
          <p:cNvSpPr/>
          <p:nvPr/>
        </p:nvSpPr>
        <p:spPr>
          <a:xfrm>
            <a:off x="2834640"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Rectangle 961"/>
          <p:cNvSpPr/>
          <p:nvPr/>
        </p:nvSpPr>
        <p:spPr>
          <a:xfrm>
            <a:off x="3054096"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Rectangle 962"/>
          <p:cNvSpPr/>
          <p:nvPr/>
        </p:nvSpPr>
        <p:spPr>
          <a:xfrm>
            <a:off x="3273552"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Rectangle 963"/>
          <p:cNvSpPr/>
          <p:nvPr/>
        </p:nvSpPr>
        <p:spPr>
          <a:xfrm>
            <a:off x="3493008"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TextBox 964"/>
          <p:cNvSpPr txBox="1"/>
          <p:nvPr/>
        </p:nvSpPr>
        <p:spPr>
          <a:xfrm>
            <a:off x="777240" y="3621024"/>
            <a:ext cx="1554480" cy="274320"/>
          </a:xfrm>
          <a:prstGeom prst="rect">
            <a:avLst/>
          </a:prstGeom>
          <a:noFill/>
        </p:spPr>
        <p:txBody>
          <a:bodyPr wrap="square" lIns="45720" rIns="45720" tIns="27432" bIns="27432" anchor="t"/>
          <a:lstStyle/>
          <a:p>
            <a:pPr algn="ctr" marL="0" indent="0">
              <a:spcBef>
                <a:spcPts val="0"/>
              </a:spcBef>
              <a:spcAft>
                <a:spcPts val="300"/>
              </a:spcAft>
              <a:buNone/>
            </a:pPr>
            <a:r>
              <a:rPr sz="900" b="0" i="1">
                <a:solidFill>
                  <a:srgbClr val="8C8C8C"/>
                </a:solidFill>
                <a:latin typeface="Arial"/>
              </a:rPr>
              <a:t>motion map + 3 × 3 filter</a:t>
            </a:r>
          </a:p>
        </p:txBody>
      </p:sp>
      <p:sp>
        <p:nvSpPr>
          <p:cNvPr id="966" name="TextBox 965"/>
          <p:cNvSpPr txBox="1"/>
          <p:nvPr/>
        </p:nvSpPr>
        <p:spPr>
          <a:xfrm>
            <a:off x="2697480" y="3621024"/>
            <a:ext cx="1188720" cy="274320"/>
          </a:xfrm>
          <a:prstGeom prst="rect">
            <a:avLst/>
          </a:prstGeom>
          <a:noFill/>
        </p:spPr>
        <p:txBody>
          <a:bodyPr wrap="square" lIns="45720" rIns="45720" tIns="27432" bIns="27432" anchor="t"/>
          <a:lstStyle/>
          <a:p>
            <a:pPr algn="ctr" marL="0" indent="0">
              <a:spcBef>
                <a:spcPts val="0"/>
              </a:spcBef>
              <a:spcAft>
                <a:spcPts val="300"/>
              </a:spcAft>
              <a:buNone/>
            </a:pPr>
            <a:r>
              <a:rPr sz="900" b="0" i="1">
                <a:solidFill>
                  <a:srgbClr val="8C8C8C"/>
                </a:solidFill>
                <a:latin typeface="Arial"/>
              </a:rPr>
              <a:t>feature map</a:t>
            </a:r>
          </a:p>
        </p:txBody>
      </p:sp>
      <p:sp>
        <p:nvSpPr>
          <p:cNvPr id="967" name="TextBox 966"/>
          <p:cNvSpPr txBox="1"/>
          <p:nvPr/>
        </p:nvSpPr>
        <p:spPr>
          <a:xfrm>
            <a:off x="685800" y="3977639"/>
            <a:ext cx="3886200" cy="196596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150" b="0" i="0">
                <a:solidFill>
                  <a:srgbClr val="414141"/>
                </a:solidFill>
                <a:latin typeface="Arial"/>
              </a:rPr>
              <a:t>A small 3 × 3 filter slides over each frame and responds where its learned pattern appears</a:t>
            </a:r>
          </a:p>
          <a:p>
            <a:pPr algn="l" marL="155448" indent="-155448">
              <a:spcBef>
                <a:spcPts val="0"/>
              </a:spcBef>
              <a:spcAft>
                <a:spcPts val="600"/>
              </a:spcAft>
              <a:buClr>
                <a:srgbClr val="A8CC2F"/>
              </a:buClr>
              <a:buFont typeface="Arial"/>
              <a:buChar char="•"/>
            </a:pPr>
            <a:r>
              <a:rPr sz="1150" b="0" i="0">
                <a:solidFill>
                  <a:srgbClr val="414141"/>
                </a:solidFill>
                <a:latin typeface="Arial"/>
              </a:rPr>
              <a:t>Three separate streams: horizontal flow, vertical flow and strain</a:t>
            </a:r>
          </a:p>
          <a:p>
            <a:pPr algn="l" marL="155448" indent="-155448">
              <a:spcBef>
                <a:spcPts val="0"/>
              </a:spcBef>
              <a:spcAft>
                <a:spcPts val="600"/>
              </a:spcAft>
              <a:buClr>
                <a:srgbClr val="A8CC2F"/>
              </a:buClr>
              <a:buFont typeface="Arial"/>
              <a:buChar char="•"/>
            </a:pPr>
            <a:r>
              <a:rPr sz="1150" b="0" i="0">
                <a:solidFill>
                  <a:srgbClr val="414141"/>
                </a:solidFill>
                <a:latin typeface="Arial"/>
              </a:rPr>
              <a:t>Switched off: each frame is averaged to a coarse 4 × 4 grid instead</a:t>
            </a:r>
          </a:p>
        </p:txBody>
      </p:sp>
      <p:sp>
        <p:nvSpPr>
          <p:cNvPr id="968" name="TextBox 967"/>
          <p:cNvSpPr txBox="1"/>
          <p:nvPr/>
        </p:nvSpPr>
        <p:spPr>
          <a:xfrm>
            <a:off x="4754880" y="1783080"/>
            <a:ext cx="3886200" cy="320040"/>
          </a:xfrm>
          <a:prstGeom prst="rect">
            <a:avLst/>
          </a:prstGeom>
          <a:noFill/>
        </p:spPr>
        <p:txBody>
          <a:bodyPr wrap="square" lIns="45720" rIns="45720" tIns="27432" bIns="27432" anchor="t"/>
          <a:lstStyle/>
          <a:p>
            <a:pPr algn="l" marL="0" indent="0">
              <a:spcBef>
                <a:spcPts val="0"/>
              </a:spcBef>
              <a:spcAft>
                <a:spcPts val="300"/>
              </a:spcAft>
              <a:buNone/>
            </a:pPr>
            <a:r>
              <a:rPr sz="1250" b="1" i="0">
                <a:solidFill>
                  <a:srgbClr val="004CA0"/>
                </a:solidFill>
                <a:latin typeface="Arial"/>
              </a:rPr>
              <a:t>SimAM attention: highlights what stands out</a:t>
            </a:r>
          </a:p>
        </p:txBody>
      </p:sp>
      <p:sp>
        <p:nvSpPr>
          <p:cNvPr id="969" name="Rectangle 968"/>
          <p:cNvSpPr/>
          <p:nvPr/>
        </p:nvSpPr>
        <p:spPr>
          <a:xfrm>
            <a:off x="4983480"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Rectangle 969"/>
          <p:cNvSpPr/>
          <p:nvPr/>
        </p:nvSpPr>
        <p:spPr>
          <a:xfrm>
            <a:off x="5202936" y="2286000"/>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Rectangle 970"/>
          <p:cNvSpPr/>
          <p:nvPr/>
        </p:nvSpPr>
        <p:spPr>
          <a:xfrm>
            <a:off x="5422392"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Rectangle 971"/>
          <p:cNvSpPr/>
          <p:nvPr/>
        </p:nvSpPr>
        <p:spPr>
          <a:xfrm>
            <a:off x="5641848" y="2286000"/>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Rectangle 972"/>
          <p:cNvSpPr/>
          <p:nvPr/>
        </p:nvSpPr>
        <p:spPr>
          <a:xfrm>
            <a:off x="5861304" y="2286000"/>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Rectangle 973"/>
          <p:cNvSpPr/>
          <p:nvPr/>
        </p:nvSpPr>
        <p:spPr>
          <a:xfrm>
            <a:off x="4983480" y="2505456"/>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Rectangle 974"/>
          <p:cNvSpPr/>
          <p:nvPr/>
        </p:nvSpPr>
        <p:spPr>
          <a:xfrm>
            <a:off x="5202936" y="2505456"/>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Rectangle 975"/>
          <p:cNvSpPr/>
          <p:nvPr/>
        </p:nvSpPr>
        <p:spPr>
          <a:xfrm>
            <a:off x="5422392" y="2505456"/>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Rectangle 976"/>
          <p:cNvSpPr/>
          <p:nvPr/>
        </p:nvSpPr>
        <p:spPr>
          <a:xfrm>
            <a:off x="5641848" y="2505456"/>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Rectangle 977"/>
          <p:cNvSpPr/>
          <p:nvPr/>
        </p:nvSpPr>
        <p:spPr>
          <a:xfrm>
            <a:off x="5861304" y="2505456"/>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Rectangle 978"/>
          <p:cNvSpPr/>
          <p:nvPr/>
        </p:nvSpPr>
        <p:spPr>
          <a:xfrm>
            <a:off x="4983480"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Rectangle 979"/>
          <p:cNvSpPr/>
          <p:nvPr/>
        </p:nvSpPr>
        <p:spPr>
          <a:xfrm>
            <a:off x="5202936" y="2724912"/>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Rectangle 980"/>
          <p:cNvSpPr/>
          <p:nvPr/>
        </p:nvSpPr>
        <p:spPr>
          <a:xfrm>
            <a:off x="5422392" y="2724912"/>
            <a:ext cx="201168" cy="201168"/>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Rectangle 981"/>
          <p:cNvSpPr/>
          <p:nvPr/>
        </p:nvSpPr>
        <p:spPr>
          <a:xfrm>
            <a:off x="5641848" y="2724912"/>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Rectangle 982"/>
          <p:cNvSpPr/>
          <p:nvPr/>
        </p:nvSpPr>
        <p:spPr>
          <a:xfrm>
            <a:off x="5861304" y="2724912"/>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Rectangle 983"/>
          <p:cNvSpPr/>
          <p:nvPr/>
        </p:nvSpPr>
        <p:spPr>
          <a:xfrm>
            <a:off x="4983480" y="2944368"/>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Rectangle 984"/>
          <p:cNvSpPr/>
          <p:nvPr/>
        </p:nvSpPr>
        <p:spPr>
          <a:xfrm>
            <a:off x="5202936"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Rectangle 985"/>
          <p:cNvSpPr/>
          <p:nvPr/>
        </p:nvSpPr>
        <p:spPr>
          <a:xfrm>
            <a:off x="5422392" y="2944368"/>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Rectangle 986"/>
          <p:cNvSpPr/>
          <p:nvPr/>
        </p:nvSpPr>
        <p:spPr>
          <a:xfrm>
            <a:off x="5641848" y="2944368"/>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Rectangle 987"/>
          <p:cNvSpPr/>
          <p:nvPr/>
        </p:nvSpPr>
        <p:spPr>
          <a:xfrm>
            <a:off x="5861304" y="2944368"/>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Rectangle 988"/>
          <p:cNvSpPr/>
          <p:nvPr/>
        </p:nvSpPr>
        <p:spPr>
          <a:xfrm>
            <a:off x="4983480"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Rectangle 989"/>
          <p:cNvSpPr/>
          <p:nvPr/>
        </p:nvSpPr>
        <p:spPr>
          <a:xfrm>
            <a:off x="5202936" y="3163824"/>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Rectangle 990"/>
          <p:cNvSpPr/>
          <p:nvPr/>
        </p:nvSpPr>
        <p:spPr>
          <a:xfrm>
            <a:off x="5422392" y="3163824"/>
            <a:ext cx="201168" cy="201168"/>
          </a:xfrm>
          <a:prstGeom prst="rect">
            <a:avLst/>
          </a:prstGeom>
          <a:solidFill>
            <a:srgbClr val="E6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Rectangle 991"/>
          <p:cNvSpPr/>
          <p:nvPr/>
        </p:nvSpPr>
        <p:spPr>
          <a:xfrm>
            <a:off x="5641848" y="3163824"/>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Rectangle 992"/>
          <p:cNvSpPr/>
          <p:nvPr/>
        </p:nvSpPr>
        <p:spPr>
          <a:xfrm>
            <a:off x="5861304" y="3163824"/>
            <a:ext cx="201168" cy="201168"/>
          </a:xfrm>
          <a:prstGeom prst="rect">
            <a:avLst/>
          </a:prstGeom>
          <a:solidFill>
            <a:srgbClr val="C9D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TextBox 993"/>
          <p:cNvSpPr txBox="1"/>
          <p:nvPr/>
        </p:nvSpPr>
        <p:spPr>
          <a:xfrm>
            <a:off x="6172200" y="2240280"/>
            <a:ext cx="2468880" cy="1188720"/>
          </a:xfrm>
          <a:prstGeom prst="rect">
            <a:avLst/>
          </a:prstGeom>
          <a:noFill/>
        </p:spPr>
        <p:txBody>
          <a:bodyPr wrap="square" lIns="45720" rIns="45720" tIns="27432" bIns="27432" anchor="t"/>
          <a:lstStyle/>
          <a:p>
            <a:pPr algn="l" marL="0" indent="0">
              <a:spcBef>
                <a:spcPts val="0"/>
              </a:spcBef>
              <a:spcAft>
                <a:spcPts val="600"/>
              </a:spcAft>
              <a:buNone/>
            </a:pPr>
            <a:r>
              <a:rPr sz="1000" b="1" i="0">
                <a:solidFill>
                  <a:srgbClr val="004CA0"/>
                </a:solidFill>
                <a:latin typeface="Arial"/>
              </a:rPr>
              <a:t>stands out from the rest of its channel → weight close to 1</a:t>
            </a:r>
          </a:p>
          <a:p>
            <a:pPr algn="l" marL="0" indent="0">
              <a:spcBef>
                <a:spcPts val="0"/>
              </a:spcBef>
              <a:spcAft>
                <a:spcPts val="300"/>
              </a:spcAft>
              <a:buNone/>
            </a:pPr>
            <a:r>
              <a:rPr sz="1000" b="1" i="0">
                <a:solidFill>
                  <a:srgbClr val="8C8C8C"/>
                </a:solidFill>
                <a:latin typeface="Arial"/>
              </a:rPr>
              <a:t>ordinary value → weight about 0.62</a:t>
            </a:r>
          </a:p>
        </p:txBody>
      </p:sp>
      <p:sp>
        <p:nvSpPr>
          <p:cNvPr id="995" name="TextBox 994"/>
          <p:cNvSpPr txBox="1"/>
          <p:nvPr/>
        </p:nvSpPr>
        <p:spPr>
          <a:xfrm>
            <a:off x="4754880" y="3977639"/>
            <a:ext cx="3886200" cy="196596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150" b="0" i="0">
                <a:solidFill>
                  <a:srgbClr val="414141"/>
                </a:solidFill>
                <a:latin typeface="Arial"/>
              </a:rPr>
              <a:t>Attention means giving more weight to what matters</a:t>
            </a:r>
          </a:p>
          <a:p>
            <a:pPr algn="l" marL="155448" indent="-155448">
              <a:spcBef>
                <a:spcPts val="0"/>
              </a:spcBef>
              <a:spcAft>
                <a:spcPts val="600"/>
              </a:spcAft>
              <a:buClr>
                <a:srgbClr val="A8CC2F"/>
              </a:buClr>
              <a:buFont typeface="Arial"/>
              <a:buChar char="•"/>
            </a:pPr>
            <a:r>
              <a:rPr sz="1150" b="0" i="0">
                <a:solidFill>
                  <a:srgbClr val="414141"/>
                </a:solidFill>
                <a:latin typeface="Arial"/>
              </a:rPr>
              <a:t>Each value is compared with the others in its channel; distinctive values keep their size, ordinary ones are turned down</a:t>
            </a:r>
          </a:p>
          <a:p>
            <a:pPr algn="l" marL="155448" indent="-155448">
              <a:spcBef>
                <a:spcPts val="0"/>
              </a:spcBef>
              <a:spcAft>
                <a:spcPts val="600"/>
              </a:spcAft>
              <a:buClr>
                <a:srgbClr val="A8CC2F"/>
              </a:buClr>
              <a:buFont typeface="Arial"/>
              <a:buChar char="•"/>
            </a:pPr>
            <a:r>
              <a:rPr sz="1150" b="0" i="0">
                <a:solidFill>
                  <a:srgbClr val="414141"/>
                </a:solidFill>
                <a:latin typeface="Arial"/>
              </a:rPr>
              <a:t>No learned parameters; works only on the stem's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TECHNOLOGY 5: THE TEMPORAL TRANSFORMER</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10"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10</a:t>
            </a:fld>
          </a:p>
        </p:txBody>
      </p:sp>
      <p:pic>
        <p:nvPicPr>
          <p:cNvPr id="911" name="Picture 910" descr="transformer.png"/>
          <p:cNvPicPr>
            <a:picLocks noChangeAspect="1"/>
          </p:cNvPicPr>
          <p:nvPr/>
        </p:nvPicPr>
        <p:blipFill>
          <a:blip r:embed="rId3"/>
          <a:stretch>
            <a:fillRect/>
          </a:stretch>
        </p:blipFill>
        <p:spPr>
          <a:xfrm>
            <a:off x="685800" y="1691640"/>
            <a:ext cx="7955279" cy="2500231"/>
          </a:xfrm>
          <a:prstGeom prst="rect">
            <a:avLst/>
          </a:prstGeom>
        </p:spPr>
      </p:pic>
      <p:sp>
        <p:nvSpPr>
          <p:cNvPr id="912" name="TextBox 911"/>
          <p:cNvSpPr txBox="1"/>
          <p:nvPr/>
        </p:nvSpPr>
        <p:spPr>
          <a:xfrm>
            <a:off x="685800" y="4206240"/>
            <a:ext cx="7955279" cy="22860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Schematic illustration: one step near the apex attends to all other steps (thicker arc = more weight).</a:t>
            </a:r>
          </a:p>
        </p:txBody>
      </p:sp>
      <p:sp>
        <p:nvSpPr>
          <p:cNvPr id="913" name="Rectangle 912"/>
          <p:cNvSpPr/>
          <p:nvPr/>
        </p:nvSpPr>
        <p:spPr>
          <a:xfrm>
            <a:off x="685800" y="4480560"/>
            <a:ext cx="388620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777240" y="4544568"/>
            <a:ext cx="3703320" cy="1335024"/>
          </a:xfrm>
          <a:prstGeom prst="rect">
            <a:avLst/>
          </a:prstGeom>
          <a:noFill/>
        </p:spPr>
        <p:txBody>
          <a:bodyPr wrap="square" lIns="45720" rIns="45720" tIns="27432" bIns="27432" anchor="t"/>
          <a:lstStyle/>
          <a:p>
            <a:pPr algn="l" marL="0" indent="0">
              <a:spcBef>
                <a:spcPts val="0"/>
              </a:spcBef>
              <a:spcAft>
                <a:spcPts val="300"/>
              </a:spcAft>
              <a:buNone/>
            </a:pPr>
            <a:r>
              <a:rPr sz="1150" b="1" i="0">
                <a:solidFill>
                  <a:srgbClr val="004CA0"/>
                </a:solidFill>
                <a:latin typeface="Arial"/>
              </a:rPr>
              <a:t>With the transformer</a:t>
            </a:r>
          </a:p>
          <a:p>
            <a:pPr algn="l" marL="155448" indent="-155448">
              <a:spcBef>
                <a:spcPts val="0"/>
              </a:spcBef>
              <a:spcAft>
                <a:spcPts val="200"/>
              </a:spcAft>
              <a:buClr>
                <a:srgbClr val="A8CC2F"/>
              </a:buClr>
              <a:buFont typeface="Arial"/>
              <a:buChar char="•"/>
            </a:pPr>
            <a:r>
              <a:rPr sz="1000" b="0" i="0">
                <a:solidFill>
                  <a:srgbClr val="414141"/>
                </a:solidFill>
                <a:latin typeface="Arial"/>
              </a:rPr>
              <a:t>The clip becomes 32 steps, one per pair of frames</a:t>
            </a:r>
          </a:p>
          <a:p>
            <a:pPr algn="l" marL="155448" indent="-155448">
              <a:spcBef>
                <a:spcPts val="0"/>
              </a:spcBef>
              <a:spcAft>
                <a:spcPts val="200"/>
              </a:spcAft>
              <a:buClr>
                <a:srgbClr val="A8CC2F"/>
              </a:buClr>
              <a:buFont typeface="Arial"/>
              <a:buChar char="•"/>
            </a:pPr>
            <a:r>
              <a:rPr sz="1000" b="0" i="0">
                <a:solidFill>
                  <a:srgbClr val="414141"/>
                </a:solidFill>
                <a:latin typeface="Arial"/>
              </a:rPr>
              <a:t>Self-attention: every step weighs every other step</a:t>
            </a:r>
          </a:p>
          <a:p>
            <a:pPr algn="l" marL="155448" indent="-155448">
              <a:spcBef>
                <a:spcPts val="0"/>
              </a:spcBef>
              <a:spcAft>
                <a:spcPts val="200"/>
              </a:spcAft>
              <a:buClr>
                <a:srgbClr val="A8CC2F"/>
              </a:buClr>
              <a:buFont typeface="Arial"/>
              <a:buChar char="•"/>
            </a:pPr>
            <a:r>
              <a:rPr sz="1000" b="0" i="0">
                <a:solidFill>
                  <a:srgbClr val="414141"/>
                </a:solidFill>
                <a:latin typeface="Arial"/>
              </a:rPr>
              <a:t>A positional encoding gives the order; 4 layers, 8 heads, trained from scratch</a:t>
            </a:r>
          </a:p>
        </p:txBody>
      </p:sp>
      <p:sp>
        <p:nvSpPr>
          <p:cNvPr id="915" name="Rectangle 914"/>
          <p:cNvSpPr/>
          <p:nvPr/>
        </p:nvSpPr>
        <p:spPr>
          <a:xfrm>
            <a:off x="4754880" y="4480560"/>
            <a:ext cx="388620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TextBox 915"/>
          <p:cNvSpPr txBox="1"/>
          <p:nvPr/>
        </p:nvSpPr>
        <p:spPr>
          <a:xfrm>
            <a:off x="4846320" y="4544568"/>
            <a:ext cx="3703320" cy="1335024"/>
          </a:xfrm>
          <a:prstGeom prst="rect">
            <a:avLst/>
          </a:prstGeom>
          <a:noFill/>
        </p:spPr>
        <p:txBody>
          <a:bodyPr wrap="square" lIns="45720" rIns="45720" tIns="27432" bIns="27432" anchor="t"/>
          <a:lstStyle/>
          <a:p>
            <a:pPr algn="l" marL="0" indent="0">
              <a:spcBef>
                <a:spcPts val="0"/>
              </a:spcBef>
              <a:spcAft>
                <a:spcPts val="300"/>
              </a:spcAft>
              <a:buNone/>
            </a:pPr>
            <a:r>
              <a:rPr sz="1150" b="1" i="0">
                <a:solidFill>
                  <a:srgbClr val="004CA0"/>
                </a:solidFill>
                <a:latin typeface="Arial"/>
              </a:rPr>
              <a:t>Switched off</a:t>
            </a:r>
          </a:p>
          <a:p>
            <a:pPr algn="l" marL="155448" indent="-155448">
              <a:spcBef>
                <a:spcPts val="0"/>
              </a:spcBef>
              <a:spcAft>
                <a:spcPts val="200"/>
              </a:spcAft>
              <a:buClr>
                <a:srgbClr val="A8CC2F"/>
              </a:buClr>
              <a:buFont typeface="Arial"/>
              <a:buChar char="•"/>
            </a:pPr>
            <a:r>
              <a:rPr sz="1000" b="0" i="0">
                <a:solidFill>
                  <a:srgbClr val="414141"/>
                </a:solidFill>
                <a:latin typeface="Arial"/>
              </a:rPr>
              <a:t>The 32 steps are simply averaged</a:t>
            </a:r>
          </a:p>
          <a:p>
            <a:pPr algn="l" marL="155448" indent="-155448">
              <a:spcBef>
                <a:spcPts val="0"/>
              </a:spcBef>
              <a:spcAft>
                <a:spcPts val="200"/>
              </a:spcAft>
              <a:buClr>
                <a:srgbClr val="A8CC2F"/>
              </a:buClr>
              <a:buFont typeface="Arial"/>
              <a:buChar char="•"/>
            </a:pPr>
            <a:r>
              <a:rPr sz="1000" b="0" i="0">
                <a:solidFill>
                  <a:srgbClr val="414141"/>
                </a:solidFill>
                <a:latin typeface="Arial"/>
              </a:rPr>
              <a:t>The order of the steps is lost</a:t>
            </a:r>
          </a:p>
          <a:p>
            <a:pPr algn="l" marL="155448" indent="-155448">
              <a:spcBef>
                <a:spcPts val="0"/>
              </a:spcBef>
              <a:spcAft>
                <a:spcPts val="200"/>
              </a:spcAft>
              <a:buClr>
                <a:srgbClr val="A8CC2F"/>
              </a:buClr>
              <a:buFont typeface="Arial"/>
              <a:buChar char="•"/>
            </a:pPr>
            <a:r>
              <a:rPr sz="1000" b="0" i="0">
                <a:solidFill>
                  <a:srgbClr val="414141"/>
                </a:solidFill>
                <a:latin typeface="Arial"/>
              </a:rPr>
              <a:t>The rising and the falling movement partly cancel 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THE RESEARCH GAP: THE STAGES ARE NEVER TESTED TOGETHER</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11"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11</a:t>
            </a:fld>
          </a:p>
        </p:txBody>
      </p:sp>
      <p:sp>
        <p:nvSpPr>
          <p:cNvPr id="912" name="Rectangle 911"/>
          <p:cNvSpPr/>
          <p:nvPr/>
        </p:nvSpPr>
        <p:spPr>
          <a:xfrm>
            <a:off x="685800" y="1783080"/>
            <a:ext cx="388620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822960" y="1938528"/>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a</a:t>
            </a:r>
          </a:p>
        </p:txBody>
      </p:sp>
      <p:sp>
        <p:nvSpPr>
          <p:cNvPr id="914" name="TextBox 913"/>
          <p:cNvSpPr txBox="1"/>
          <p:nvPr/>
        </p:nvSpPr>
        <p:spPr>
          <a:xfrm>
            <a:off x="1325880" y="1874519"/>
            <a:ext cx="3154680" cy="105156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One component at a time</a:t>
            </a:r>
          </a:p>
          <a:p>
            <a:pPr algn="l" marL="0" indent="0">
              <a:spcBef>
                <a:spcPts val="0"/>
              </a:spcBef>
              <a:spcAft>
                <a:spcPts val="300"/>
              </a:spcAft>
              <a:buNone/>
            </a:pPr>
            <a:r>
              <a:rPr sz="1050" b="0" i="0">
                <a:solidFill>
                  <a:srgbClr val="414141"/>
                </a:solidFill>
                <a:latin typeface="Arial"/>
              </a:rPr>
              <a:t>Ablations stay inside one proposed design and change one factor from its defaults. Interactions between components are never observed.</a:t>
            </a:r>
          </a:p>
        </p:txBody>
      </p:sp>
      <p:sp>
        <p:nvSpPr>
          <p:cNvPr id="915" name="Rectangle 914"/>
          <p:cNvSpPr/>
          <p:nvPr/>
        </p:nvSpPr>
        <p:spPr>
          <a:xfrm>
            <a:off x="4754880" y="1783080"/>
            <a:ext cx="388620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4892040" y="1938528"/>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b</a:t>
            </a:r>
          </a:p>
        </p:txBody>
      </p:sp>
      <p:sp>
        <p:nvSpPr>
          <p:cNvPr id="917" name="TextBox 916"/>
          <p:cNvSpPr txBox="1"/>
          <p:nvPr/>
        </p:nvSpPr>
        <p:spPr>
          <a:xfrm>
            <a:off x="5394960" y="1874519"/>
            <a:ext cx="3154680" cy="105156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Inconsistent protocols</a:t>
            </a:r>
          </a:p>
          <a:p>
            <a:pPr algn="l" marL="0" indent="0">
              <a:spcBef>
                <a:spcPts val="0"/>
              </a:spcBef>
              <a:spcAft>
                <a:spcPts val="300"/>
              </a:spcAft>
              <a:buNone/>
            </a:pPr>
            <a:r>
              <a:rPr sz="1050" b="0" i="0">
                <a:solidFill>
                  <a:srgbClr val="414141"/>
                </a:solidFill>
                <a:latin typeface="Arial"/>
              </a:rPr>
              <a:t>Sample counts (247, 255, 145), label sets and the choice of leave-one-subject, video or sample out differ between studies.</a:t>
            </a:r>
          </a:p>
        </p:txBody>
      </p:sp>
      <p:sp>
        <p:nvSpPr>
          <p:cNvPr id="918" name="Rectangle 917"/>
          <p:cNvSpPr/>
          <p:nvPr/>
        </p:nvSpPr>
        <p:spPr>
          <a:xfrm>
            <a:off x="685800" y="3108960"/>
            <a:ext cx="388620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822960" y="3264408"/>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c</a:t>
            </a:r>
          </a:p>
        </p:txBody>
      </p:sp>
      <p:sp>
        <p:nvSpPr>
          <p:cNvPr id="920" name="TextBox 919"/>
          <p:cNvSpPr txBox="1"/>
          <p:nvPr/>
        </p:nvSpPr>
        <p:spPr>
          <a:xfrm>
            <a:off x="1325880" y="3200400"/>
            <a:ext cx="3154680" cy="105156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Richer training conditions</a:t>
            </a:r>
          </a:p>
          <a:p>
            <a:pPr algn="l" marL="0" indent="0">
              <a:spcBef>
                <a:spcPts val="0"/>
              </a:spcBef>
              <a:spcAft>
                <a:spcPts val="300"/>
              </a:spcAft>
              <a:buNone/>
            </a:pPr>
            <a:r>
              <a:rPr sz="1050" b="0" i="0">
                <a:solidFill>
                  <a:srgbClr val="414141"/>
                </a:solidFill>
                <a:latin typeface="Arial"/>
              </a:rPr>
              <a:t>The strongest CASME II results rely on composite-dataset training or ImageNet pre-training, not on one small dataset.</a:t>
            </a:r>
          </a:p>
        </p:txBody>
      </p:sp>
      <p:sp>
        <p:nvSpPr>
          <p:cNvPr id="921" name="Rectangle 920"/>
          <p:cNvSpPr/>
          <p:nvPr/>
        </p:nvSpPr>
        <p:spPr>
          <a:xfrm>
            <a:off x="4754880" y="3108960"/>
            <a:ext cx="388620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4892040" y="3264408"/>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d</a:t>
            </a:r>
          </a:p>
        </p:txBody>
      </p:sp>
      <p:sp>
        <p:nvSpPr>
          <p:cNvPr id="923" name="TextBox 922"/>
          <p:cNvSpPr txBox="1"/>
          <p:nvPr/>
        </p:nvSpPr>
        <p:spPr>
          <a:xfrm>
            <a:off x="5394960" y="3200400"/>
            <a:ext cx="3154680" cy="105156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Transferred parameters</a:t>
            </a:r>
          </a:p>
          <a:p>
            <a:pPr algn="l" marL="0" indent="0">
              <a:spcBef>
                <a:spcPts val="0"/>
              </a:spcBef>
              <a:spcAft>
                <a:spcPts val="300"/>
              </a:spcAft>
              <a:buNone/>
            </a:pPr>
            <a:r>
              <a:rPr sz="1050" b="0" i="0">
                <a:solidFill>
                  <a:srgbClr val="414141"/>
                </a:solidFill>
                <a:latin typeface="Arial"/>
              </a:rPr>
              <a:t>Magnification factor, sequence length and input resolution have interior optima but are reused without re-validation.</a:t>
            </a:r>
          </a:p>
        </p:txBody>
      </p:sp>
      <p:sp>
        <p:nvSpPr>
          <p:cNvPr id="924" name="Rectangle 923"/>
          <p:cNvSpPr/>
          <p:nvPr/>
        </p:nvSpPr>
        <p:spPr>
          <a:xfrm>
            <a:off x="685800" y="4480560"/>
            <a:ext cx="7955279" cy="13716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TextBox 924"/>
          <p:cNvSpPr txBox="1"/>
          <p:nvPr/>
        </p:nvSpPr>
        <p:spPr>
          <a:xfrm>
            <a:off x="822960" y="4535424"/>
            <a:ext cx="7680959" cy="1261872"/>
          </a:xfrm>
          <a:prstGeom prst="rect">
            <a:avLst/>
          </a:prstGeom>
          <a:noFill/>
        </p:spPr>
        <p:txBody>
          <a:bodyPr wrap="square" lIns="45720" rIns="45720" tIns="27432" bIns="27432" anchor="ctr"/>
          <a:lstStyle/>
          <a:p>
            <a:pPr algn="l" marL="0" indent="0">
              <a:spcBef>
                <a:spcPts val="0"/>
              </a:spcBef>
              <a:spcAft>
                <a:spcPts val="300"/>
              </a:spcAft>
              <a:buNone/>
            </a:pPr>
            <a:r>
              <a:rPr sz="1150" b="1" i="0">
                <a:solidFill>
                  <a:srgbClr val="A8CC2F"/>
                </a:solidFill>
                <a:latin typeface="Arial"/>
              </a:rPr>
              <a:t>The gap</a:t>
            </a:r>
          </a:p>
          <a:p>
            <a:pPr algn="l" marL="0" indent="0">
              <a:spcBef>
                <a:spcPts val="0"/>
              </a:spcBef>
              <a:spcAft>
                <a:spcPts val="300"/>
              </a:spcAft>
              <a:buNone/>
            </a:pPr>
            <a:r>
              <a:rPr sz="1200" b="0" i="0">
                <a:solidFill>
                  <a:srgbClr val="FFFFFF"/>
                </a:solidFill>
                <a:latin typeface="Arial"/>
              </a:rPr>
              <a:t>No reviewed study varies several stages of the standard pipeline jointly under one protocol, so the literature cannot show which stages are necessary, which are inherited convention, and which depend on the presence of another.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AIM AND RESEARCH QUESTIONS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02 · THE TECHNOLOGIES</a:t>
            </a:r>
          </a:p>
        </p:txBody>
      </p:sp>
      <p:sp>
        <p:nvSpPr>
          <p:cNvPr id="912"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12</a:t>
            </a:fld>
          </a:p>
        </p:txBody>
      </p:sp>
      <p:sp>
        <p:nvSpPr>
          <p:cNvPr id="913" name="Rectangle 912"/>
          <p:cNvSpPr/>
          <p:nvPr/>
        </p:nvSpPr>
        <p:spPr>
          <a:xfrm>
            <a:off x="685800" y="1783080"/>
            <a:ext cx="7955279" cy="10972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822960" y="1837943"/>
            <a:ext cx="7680959" cy="987552"/>
          </a:xfrm>
          <a:prstGeom prst="rect">
            <a:avLst/>
          </a:prstGeom>
          <a:noFill/>
        </p:spPr>
        <p:txBody>
          <a:bodyPr wrap="square" lIns="45720" rIns="45720" tIns="27432" bIns="27432" anchor="ctr"/>
          <a:lstStyle/>
          <a:p>
            <a:pPr algn="l" marL="0" indent="0">
              <a:spcBef>
                <a:spcPts val="0"/>
              </a:spcBef>
              <a:spcAft>
                <a:spcPts val="300"/>
              </a:spcAft>
              <a:buNone/>
            </a:pPr>
            <a:r>
              <a:rPr sz="1150" b="1" i="0">
                <a:solidFill>
                  <a:srgbClr val="A8CC2F"/>
                </a:solidFill>
                <a:latin typeface="Arial"/>
              </a:rPr>
              <a:t>Central research question</a:t>
            </a:r>
          </a:p>
          <a:p>
            <a:pPr algn="l" marL="0" indent="0">
              <a:spcBef>
                <a:spcPts val="0"/>
              </a:spcBef>
              <a:spcAft>
                <a:spcPts val="300"/>
              </a:spcAft>
              <a:buNone/>
            </a:pPr>
            <a:r>
              <a:rPr sz="1500" b="0" i="1">
                <a:solidFill>
                  <a:srgbClr val="FFFFFF"/>
                </a:solidFill>
                <a:latin typeface="Arial"/>
              </a:rPr>
              <a:t>How can the modelling of temporal phases and motion cues improve recognition accuracy for subtle and short-lived facial expressions?</a:t>
            </a:r>
          </a:p>
        </p:txBody>
      </p:sp>
      <p:sp>
        <p:nvSpPr>
          <p:cNvPr id="915" name="Rectangle 914"/>
          <p:cNvSpPr/>
          <p:nvPr/>
        </p:nvSpPr>
        <p:spPr>
          <a:xfrm>
            <a:off x="685800" y="3063240"/>
            <a:ext cx="7955279"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822960" y="3282696"/>
            <a:ext cx="402336" cy="402336"/>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1</a:t>
            </a:r>
          </a:p>
        </p:txBody>
      </p:sp>
      <p:sp>
        <p:nvSpPr>
          <p:cNvPr id="917" name="TextBox 916"/>
          <p:cNvSpPr txBox="1"/>
          <p:nvPr/>
        </p:nvSpPr>
        <p:spPr>
          <a:xfrm>
            <a:off x="1371600" y="3063240"/>
            <a:ext cx="2103120" cy="841248"/>
          </a:xfrm>
          <a:prstGeom prst="rect">
            <a:avLst/>
          </a:prstGeom>
          <a:noFill/>
        </p:spPr>
        <p:txBody>
          <a:bodyPr wrap="square" lIns="45720" rIns="45720" tIns="27432" bIns="27432" anchor="ctr"/>
          <a:lstStyle/>
          <a:p>
            <a:pPr algn="l" marL="0" indent="0">
              <a:spcBef>
                <a:spcPts val="0"/>
              </a:spcBef>
              <a:spcAft>
                <a:spcPts val="0"/>
              </a:spcAft>
              <a:buNone/>
            </a:pPr>
            <a:r>
              <a:rPr sz="1300" b="1" i="0">
                <a:solidFill>
                  <a:srgbClr val="004CA0"/>
                </a:solidFill>
                <a:latin typeface="Arial"/>
              </a:rPr>
              <a:t>Temporal modelling</a:t>
            </a:r>
          </a:p>
        </p:txBody>
      </p:sp>
      <p:sp>
        <p:nvSpPr>
          <p:cNvPr id="918" name="TextBox 917"/>
          <p:cNvSpPr txBox="1"/>
          <p:nvPr/>
        </p:nvSpPr>
        <p:spPr>
          <a:xfrm>
            <a:off x="3520440" y="3063240"/>
            <a:ext cx="5029200" cy="84124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To what extent does a transformer encoder improve recognition, compared with an otherwise identical pipeline without it?</a:t>
            </a:r>
          </a:p>
        </p:txBody>
      </p:sp>
      <p:sp>
        <p:nvSpPr>
          <p:cNvPr id="919" name="Rectangle 918"/>
          <p:cNvSpPr/>
          <p:nvPr/>
        </p:nvSpPr>
        <p:spPr>
          <a:xfrm>
            <a:off x="685800" y="4023360"/>
            <a:ext cx="7955279"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822960" y="4242816"/>
            <a:ext cx="402336" cy="402336"/>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2</a:t>
            </a:r>
          </a:p>
        </p:txBody>
      </p:sp>
      <p:sp>
        <p:nvSpPr>
          <p:cNvPr id="921" name="TextBox 920"/>
          <p:cNvSpPr txBox="1"/>
          <p:nvPr/>
        </p:nvSpPr>
        <p:spPr>
          <a:xfrm>
            <a:off x="1371600" y="4023360"/>
            <a:ext cx="2103120" cy="841248"/>
          </a:xfrm>
          <a:prstGeom prst="rect">
            <a:avLst/>
          </a:prstGeom>
          <a:noFill/>
        </p:spPr>
        <p:txBody>
          <a:bodyPr wrap="square" lIns="45720" rIns="45720" tIns="27432" bIns="27432" anchor="ctr"/>
          <a:lstStyle/>
          <a:p>
            <a:pPr algn="l" marL="0" indent="0">
              <a:spcBef>
                <a:spcPts val="0"/>
              </a:spcBef>
              <a:spcAft>
                <a:spcPts val="0"/>
              </a:spcAft>
              <a:buNone/>
            </a:pPr>
            <a:r>
              <a:rPr sz="1300" b="1" i="0">
                <a:solidFill>
                  <a:srgbClr val="004CA0"/>
                </a:solidFill>
                <a:latin typeface="Arial"/>
              </a:rPr>
              <a:t>Motion magnification</a:t>
            </a:r>
          </a:p>
        </p:txBody>
      </p:sp>
      <p:sp>
        <p:nvSpPr>
          <p:cNvPr id="922" name="TextBox 921"/>
          <p:cNvSpPr txBox="1"/>
          <p:nvPr/>
        </p:nvSpPr>
        <p:spPr>
          <a:xfrm>
            <a:off x="3520440" y="4023360"/>
            <a:ext cx="5029200" cy="84124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Does amplifying subtle facial motion through Eulerian video magnification, before the motion representation is computed, improve recognition?</a:t>
            </a:r>
          </a:p>
        </p:txBody>
      </p:sp>
      <p:sp>
        <p:nvSpPr>
          <p:cNvPr id="923" name="Rectangle 922"/>
          <p:cNvSpPr/>
          <p:nvPr/>
        </p:nvSpPr>
        <p:spPr>
          <a:xfrm>
            <a:off x="685800" y="4983480"/>
            <a:ext cx="7955279" cy="8412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822960" y="5202936"/>
            <a:ext cx="402336" cy="402336"/>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3</a:t>
            </a:r>
          </a:p>
        </p:txBody>
      </p:sp>
      <p:sp>
        <p:nvSpPr>
          <p:cNvPr id="925" name="TextBox 924"/>
          <p:cNvSpPr txBox="1"/>
          <p:nvPr/>
        </p:nvSpPr>
        <p:spPr>
          <a:xfrm>
            <a:off x="1371600" y="4983480"/>
            <a:ext cx="2103120" cy="841248"/>
          </a:xfrm>
          <a:prstGeom prst="rect">
            <a:avLst/>
          </a:prstGeom>
          <a:noFill/>
        </p:spPr>
        <p:txBody>
          <a:bodyPr wrap="square" lIns="45720" rIns="45720" tIns="27432" bIns="27432" anchor="ctr"/>
          <a:lstStyle/>
          <a:p>
            <a:pPr algn="l" marL="0" indent="0">
              <a:spcBef>
                <a:spcPts val="0"/>
              </a:spcBef>
              <a:spcAft>
                <a:spcPts val="0"/>
              </a:spcAft>
              <a:buNone/>
            </a:pPr>
            <a:r>
              <a:rPr sz="1300" b="1" i="0">
                <a:solidFill>
                  <a:srgbClr val="004CA0"/>
                </a:solidFill>
                <a:latin typeface="Arial"/>
              </a:rPr>
              <a:t>Learned spatial features</a:t>
            </a:r>
          </a:p>
        </p:txBody>
      </p:sp>
      <p:sp>
        <p:nvSpPr>
          <p:cNvPr id="926" name="TextBox 925"/>
          <p:cNvSpPr txBox="1"/>
          <p:nvPr/>
        </p:nvSpPr>
        <p:spPr>
          <a:xfrm>
            <a:off x="3520440" y="4983480"/>
            <a:ext cx="5029200" cy="841248"/>
          </a:xfrm>
          <a:prstGeom prst="rect">
            <a:avLst/>
          </a:prstGeom>
          <a:noFill/>
        </p:spPr>
        <p:txBody>
          <a:bodyPr wrap="square" lIns="45720" rIns="45720" tIns="27432" bIns="27432" anchor="ctr"/>
          <a:lstStyle/>
          <a:p>
            <a:pPr algn="l" marL="0" indent="0">
              <a:spcBef>
                <a:spcPts val="0"/>
              </a:spcBef>
              <a:spcAft>
                <a:spcPts val="0"/>
              </a:spcAft>
              <a:buNone/>
            </a:pPr>
            <a:r>
              <a:rPr sz="1150" b="0" i="0">
                <a:solidFill>
                  <a:srgbClr val="414141"/>
                </a:solidFill>
                <a:latin typeface="Arial"/>
              </a:rPr>
              <a:t>Do a learned convolutional stem and parameter-free attention add to the performance of the hand-computed motion representation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THE DATA: CASME II</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03 · THE EXPERIMENT</a:t>
            </a:r>
          </a:p>
        </p:txBody>
      </p:sp>
      <p:sp>
        <p:nvSpPr>
          <p:cNvPr id="913"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13</a:t>
            </a:fld>
          </a:p>
        </p:txBody>
      </p:sp>
      <p:sp>
        <p:nvSpPr>
          <p:cNvPr id="914" name="TextBox 913"/>
          <p:cNvSpPr txBox="1"/>
          <p:nvPr/>
        </p:nvSpPr>
        <p:spPr>
          <a:xfrm>
            <a:off x="685800" y="1783080"/>
            <a:ext cx="4343400" cy="256032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200" b="0" i="0">
                <a:solidFill>
                  <a:srgbClr val="414141"/>
                </a:solidFill>
                <a:latin typeface="Arial"/>
              </a:rPr>
              <a:t>Spontaneous micro-expressions recorded at 200 fps and 640 × 480 pixels, with onset, apex and offset annotation</a:t>
            </a:r>
          </a:p>
          <a:p>
            <a:pPr algn="l" marL="155448" indent="-155448">
              <a:spcBef>
                <a:spcPts val="0"/>
              </a:spcBef>
              <a:spcAft>
                <a:spcPts val="600"/>
              </a:spcAft>
              <a:buClr>
                <a:srgbClr val="A8CC2F"/>
              </a:buClr>
              <a:buFont typeface="Arial"/>
              <a:buChar char="•"/>
            </a:pPr>
            <a:r>
              <a:rPr sz="1200" b="0" i="0">
                <a:solidFill>
                  <a:srgbClr val="414141"/>
                </a:solidFill>
                <a:latin typeface="Arial"/>
              </a:rPr>
              <a:t>The released coding contains 255 clips from 26 subjects</a:t>
            </a:r>
          </a:p>
          <a:p>
            <a:pPr algn="l" marL="155448" indent="-155448">
              <a:spcBef>
                <a:spcPts val="0"/>
              </a:spcBef>
              <a:spcAft>
                <a:spcPts val="600"/>
              </a:spcAft>
              <a:buClr>
                <a:srgbClr val="A8CC2F"/>
              </a:buClr>
              <a:buFont typeface="Arial"/>
              <a:buChar char="•"/>
            </a:pPr>
            <a:r>
              <a:rPr sz="1200" b="0" i="0">
                <a:solidFill>
                  <a:srgbClr val="414141"/>
                </a:solidFill>
                <a:latin typeface="Arial"/>
              </a:rPr>
              <a:t>The residual Others category (99 clips) is excluded, which also removes subject 18</a:t>
            </a:r>
          </a:p>
          <a:p>
            <a:pPr algn="l" marL="155448" indent="-155448">
              <a:spcBef>
                <a:spcPts val="0"/>
              </a:spcBef>
              <a:spcAft>
                <a:spcPts val="600"/>
              </a:spcAft>
              <a:buClr>
                <a:srgbClr val="A8CC2F"/>
              </a:buClr>
              <a:buFont typeface="Arial"/>
              <a:buChar char="•"/>
            </a:pPr>
            <a:r>
              <a:rPr sz="1200" b="0" i="0">
                <a:solidFill>
                  <a:srgbClr val="414141"/>
                </a:solidFill>
                <a:latin typeface="Arial"/>
              </a:rPr>
              <a:t>Working set: 156 clips from 25 subjects</a:t>
            </a:r>
          </a:p>
          <a:p>
            <a:pPr algn="l" marL="155448" indent="-155448">
              <a:spcBef>
                <a:spcPts val="0"/>
              </a:spcBef>
              <a:spcAft>
                <a:spcPts val="600"/>
              </a:spcAft>
              <a:buClr>
                <a:srgbClr val="A8CC2F"/>
              </a:buClr>
              <a:buFont typeface="Arial"/>
              <a:buChar char="•"/>
            </a:pPr>
            <a:r>
              <a:rPr sz="1200" b="0" i="0">
                <a:solidFill>
                  <a:srgbClr val="414141"/>
                </a:solidFill>
                <a:latin typeface="Arial"/>
              </a:rPr>
              <a:t>Negative = disgust, repression, sadness, fear; Positive = happiness; Surprise = surprise</a:t>
            </a:r>
          </a:p>
        </p:txBody>
      </p:sp>
      <p:sp>
        <p:nvSpPr>
          <p:cNvPr id="915" name="Rectangle 914"/>
          <p:cNvSpPr/>
          <p:nvPr/>
        </p:nvSpPr>
        <p:spPr>
          <a:xfrm>
            <a:off x="685800" y="4480560"/>
            <a:ext cx="4343400" cy="12801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TextBox 915"/>
          <p:cNvSpPr txBox="1"/>
          <p:nvPr/>
        </p:nvSpPr>
        <p:spPr>
          <a:xfrm>
            <a:off x="795528" y="4562856"/>
            <a:ext cx="4123944" cy="1115568"/>
          </a:xfrm>
          <a:prstGeom prst="rect">
            <a:avLst/>
          </a:prstGeom>
          <a:noFill/>
        </p:spPr>
        <p:txBody>
          <a:bodyPr wrap="square" lIns="45720" rIns="45720" tIns="27432" bIns="27432" anchor="t"/>
          <a:lstStyle/>
          <a:p>
            <a:pPr algn="l" marL="0" indent="0">
              <a:spcBef>
                <a:spcPts val="0"/>
              </a:spcBef>
              <a:spcAft>
                <a:spcPts val="400"/>
              </a:spcAft>
              <a:buNone/>
            </a:pPr>
            <a:r>
              <a:rPr sz="1200" b="1" i="0">
                <a:solidFill>
                  <a:srgbClr val="004CA0"/>
                </a:solidFill>
                <a:latin typeface="Arial"/>
              </a:rPr>
              <a:t>Majority-class reference</a:t>
            </a:r>
          </a:p>
          <a:p>
            <a:pPr algn="l" marL="0" indent="0">
              <a:spcBef>
                <a:spcPts val="0"/>
              </a:spcBef>
              <a:spcAft>
                <a:spcPts val="300"/>
              </a:spcAft>
              <a:buNone/>
            </a:pPr>
            <a:r>
              <a:rPr sz="1100" b="0" i="0">
                <a:solidFill>
                  <a:srgbClr val="414141"/>
                </a:solidFill>
                <a:latin typeface="Arial"/>
              </a:rPr>
              <a:t>Always predicting Negative gives an accuracy of 0.6346 but a macro F1 of only 0.2588. Accuracy alone is therefore uninformative.</a:t>
            </a:r>
          </a:p>
        </p:txBody>
      </p:sp>
      <p:graphicFrame>
        <p:nvGraphicFramePr>
          <p:cNvPr id="917" name="Chart 916"/>
          <p:cNvGraphicFramePr>
            <a:graphicFrameLocks noGrp="1"/>
          </p:cNvGraphicFramePr>
          <p:nvPr/>
        </p:nvGraphicFramePr>
        <p:xfrm>
          <a:off x="5212080" y="1691640"/>
          <a:ext cx="3429000" cy="3840480"/>
        </p:xfrm>
        <a:graphic>
          <a:graphicData uri="http://schemas.openxmlformats.org/drawingml/2006/chart">
            <c:chart xmlns:c="http://schemas.openxmlformats.org/drawingml/2006/chart" r:id="rId3"/>
          </a:graphicData>
        </a:graphic>
      </p:graphicFrame>
      <p:sp>
        <p:nvSpPr>
          <p:cNvPr id="918" name="TextBox 917"/>
          <p:cNvSpPr txBox="1"/>
          <p:nvPr/>
        </p:nvSpPr>
        <p:spPr>
          <a:xfrm>
            <a:off x="5212080" y="5559552"/>
            <a:ext cx="3429000" cy="365760"/>
          </a:xfrm>
          <a:prstGeom prst="rect">
            <a:avLst/>
          </a:prstGeom>
          <a:noFill/>
        </p:spPr>
        <p:txBody>
          <a:bodyPr wrap="square" lIns="45720" rIns="45720" tIns="27432" bIns="27432" anchor="t"/>
          <a:lstStyle/>
          <a:p>
            <a:pPr algn="ctr" marL="0" indent="0">
              <a:spcBef>
                <a:spcPts val="0"/>
              </a:spcBef>
              <a:spcAft>
                <a:spcPts val="300"/>
              </a:spcAft>
              <a:buNone/>
            </a:pPr>
            <a:r>
              <a:rPr sz="900" b="0" i="1">
                <a:solidFill>
                  <a:srgbClr val="8C8C8C"/>
                </a:solidFill>
                <a:latin typeface="Arial"/>
              </a:rPr>
              <a:t>Class distribution of the working set: a ratio of about 4 : 1.3 :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PREPARING THE INPUT: FROM VIDEO CLIP TO MOTION MAPS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03 · THE EXPERIMENT</a:t>
            </a:r>
          </a:p>
        </p:txBody>
      </p:sp>
      <p:sp>
        <p:nvSpPr>
          <p:cNvPr id="914"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14</a:t>
            </a:fld>
          </a:p>
        </p:txBody>
      </p:sp>
      <p:sp>
        <p:nvSpPr>
          <p:cNvPr id="915" name="Rectangle 914"/>
          <p:cNvSpPr/>
          <p:nvPr/>
        </p:nvSpPr>
        <p:spPr>
          <a:xfrm>
            <a:off x="685800" y="1783080"/>
            <a:ext cx="1170432"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TextBox 915"/>
          <p:cNvSpPr txBox="1"/>
          <p:nvPr/>
        </p:nvSpPr>
        <p:spPr>
          <a:xfrm>
            <a:off x="722376" y="1783080"/>
            <a:ext cx="1097280" cy="96012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Frame preparation</a:t>
            </a:r>
          </a:p>
          <a:p>
            <a:pPr algn="ctr" marL="0" indent="0">
              <a:spcBef>
                <a:spcPts val="0"/>
              </a:spcBef>
              <a:spcAft>
                <a:spcPts val="0"/>
              </a:spcAft>
              <a:buNone/>
            </a:pPr>
            <a:r>
              <a:rPr sz="900" b="0" i="0">
                <a:solidFill>
                  <a:srgbClr val="414141"/>
                </a:solidFill>
                <a:latin typeface="Arial"/>
              </a:rPr>
              <a:t>greyscale, 224 × 224</a:t>
            </a:r>
          </a:p>
        </p:txBody>
      </p:sp>
      <p:cxnSp>
        <p:nvCxnSpPr>
          <p:cNvPr id="917" name="Connector 916"/>
          <p:cNvCxnSpPr/>
          <p:nvPr/>
        </p:nvCxnSpPr>
        <p:spPr>
          <a:xfrm>
            <a:off x="1892808" y="2263140"/>
            <a:ext cx="113385"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18" name="Rectangle 917"/>
          <p:cNvSpPr/>
          <p:nvPr/>
        </p:nvSpPr>
        <p:spPr>
          <a:xfrm>
            <a:off x="2042769" y="1783080"/>
            <a:ext cx="1170432"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TextBox 918"/>
          <p:cNvSpPr txBox="1"/>
          <p:nvPr/>
        </p:nvSpPr>
        <p:spPr>
          <a:xfrm>
            <a:off x="2079345" y="1783080"/>
            <a:ext cx="1097280" cy="96012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Uniform sampling</a:t>
            </a:r>
          </a:p>
          <a:p>
            <a:pPr algn="ctr" marL="0" indent="0">
              <a:spcBef>
                <a:spcPts val="0"/>
              </a:spcBef>
              <a:spcAft>
                <a:spcPts val="0"/>
              </a:spcAft>
              <a:buNone/>
            </a:pPr>
            <a:r>
              <a:rPr sz="900" b="0" i="0">
                <a:solidFill>
                  <a:srgbClr val="414141"/>
                </a:solidFill>
                <a:latin typeface="Arial"/>
              </a:rPr>
              <a:t>33 frames, onset to offset</a:t>
            </a:r>
          </a:p>
        </p:txBody>
      </p:sp>
      <p:cxnSp>
        <p:nvCxnSpPr>
          <p:cNvPr id="920" name="Connector 919"/>
          <p:cNvCxnSpPr/>
          <p:nvPr/>
        </p:nvCxnSpPr>
        <p:spPr>
          <a:xfrm>
            <a:off x="3249777" y="2263140"/>
            <a:ext cx="113386"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21" name="Rectangle 920"/>
          <p:cNvSpPr/>
          <p:nvPr/>
        </p:nvSpPr>
        <p:spPr>
          <a:xfrm>
            <a:off x="3399739" y="1783080"/>
            <a:ext cx="1170432" cy="96012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TextBox 921"/>
          <p:cNvSpPr txBox="1"/>
          <p:nvPr/>
        </p:nvSpPr>
        <p:spPr>
          <a:xfrm>
            <a:off x="3436315" y="1783080"/>
            <a:ext cx="1097280" cy="96012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Magnification</a:t>
            </a:r>
          </a:p>
          <a:p>
            <a:pPr algn="ctr" marL="0" indent="0">
              <a:spcBef>
                <a:spcPts val="0"/>
              </a:spcBef>
              <a:spcAft>
                <a:spcPts val="0"/>
              </a:spcAft>
              <a:buNone/>
            </a:pPr>
            <a:r>
              <a:rPr sz="900" b="0" i="0">
                <a:solidFill>
                  <a:srgbClr val="414141"/>
                </a:solidFill>
                <a:latin typeface="Arial"/>
              </a:rPr>
              <a:t>Eulerian, α = 10, 5–25 Hz</a:t>
            </a:r>
          </a:p>
        </p:txBody>
      </p:sp>
      <p:cxnSp>
        <p:nvCxnSpPr>
          <p:cNvPr id="923" name="Connector 922"/>
          <p:cNvCxnSpPr/>
          <p:nvPr/>
        </p:nvCxnSpPr>
        <p:spPr>
          <a:xfrm>
            <a:off x="4606747" y="2263140"/>
            <a:ext cx="113385"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24" name="Rectangle 923"/>
          <p:cNvSpPr/>
          <p:nvPr/>
        </p:nvSpPr>
        <p:spPr>
          <a:xfrm>
            <a:off x="4756708" y="1783080"/>
            <a:ext cx="1170432"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TextBox 924"/>
          <p:cNvSpPr txBox="1"/>
          <p:nvPr/>
        </p:nvSpPr>
        <p:spPr>
          <a:xfrm>
            <a:off x="4793284" y="1783080"/>
            <a:ext cx="1097280" cy="96012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Optical flow</a:t>
            </a:r>
          </a:p>
          <a:p>
            <a:pPr algn="ctr" marL="0" indent="0">
              <a:spcBef>
                <a:spcPts val="0"/>
              </a:spcBef>
              <a:spcAft>
                <a:spcPts val="0"/>
              </a:spcAft>
              <a:buNone/>
            </a:pPr>
            <a:r>
              <a:rPr sz="900" b="0" i="0">
                <a:solidFill>
                  <a:srgbClr val="414141"/>
                </a:solidFill>
                <a:latin typeface="Arial"/>
              </a:rPr>
              <a:t>Farnebäck, 32 frame pairs</a:t>
            </a:r>
          </a:p>
        </p:txBody>
      </p:sp>
      <p:cxnSp>
        <p:nvCxnSpPr>
          <p:cNvPr id="926" name="Connector 925"/>
          <p:cNvCxnSpPr/>
          <p:nvPr/>
        </p:nvCxnSpPr>
        <p:spPr>
          <a:xfrm>
            <a:off x="5963716" y="2263140"/>
            <a:ext cx="113386"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27" name="Rectangle 926"/>
          <p:cNvSpPr/>
          <p:nvPr/>
        </p:nvSpPr>
        <p:spPr>
          <a:xfrm>
            <a:off x="6113678" y="1783080"/>
            <a:ext cx="1170432"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TextBox 927"/>
          <p:cNvSpPr txBox="1"/>
          <p:nvPr/>
        </p:nvSpPr>
        <p:spPr>
          <a:xfrm>
            <a:off x="6150254" y="1783080"/>
            <a:ext cx="1097280" cy="96012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Optical strain</a:t>
            </a:r>
          </a:p>
          <a:p>
            <a:pPr algn="ctr" marL="0" indent="0">
              <a:spcBef>
                <a:spcPts val="0"/>
              </a:spcBef>
              <a:spcAft>
                <a:spcPts val="0"/>
              </a:spcAft>
              <a:buNone/>
            </a:pPr>
            <a:r>
              <a:rPr sz="900" b="0" i="0">
                <a:solidFill>
                  <a:srgbClr val="414141"/>
                </a:solidFill>
                <a:latin typeface="Arial"/>
              </a:rPr>
              <a:t>from spatial gradients</a:t>
            </a:r>
          </a:p>
        </p:txBody>
      </p:sp>
      <p:cxnSp>
        <p:nvCxnSpPr>
          <p:cNvPr id="929" name="Connector 928"/>
          <p:cNvCxnSpPr/>
          <p:nvPr/>
        </p:nvCxnSpPr>
        <p:spPr>
          <a:xfrm>
            <a:off x="7320686" y="2263140"/>
            <a:ext cx="113386"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30" name="Rectangle 929"/>
          <p:cNvSpPr/>
          <p:nvPr/>
        </p:nvSpPr>
        <p:spPr>
          <a:xfrm>
            <a:off x="7470648" y="1783080"/>
            <a:ext cx="1170432"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TextBox 930"/>
          <p:cNvSpPr txBox="1"/>
          <p:nvPr/>
        </p:nvSpPr>
        <p:spPr>
          <a:xfrm>
            <a:off x="7507223" y="1783080"/>
            <a:ext cx="1097280" cy="96012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Stack and normalise</a:t>
            </a:r>
          </a:p>
          <a:p>
            <a:pPr algn="ctr" marL="0" indent="0">
              <a:spcBef>
                <a:spcPts val="0"/>
              </a:spcBef>
              <a:spcAft>
                <a:spcPts val="0"/>
              </a:spcAft>
              <a:buNone/>
            </a:pPr>
            <a:r>
              <a:rPr sz="900" b="0" i="0">
                <a:solidFill>
                  <a:srgbClr val="414141"/>
                </a:solidFill>
                <a:latin typeface="Arial"/>
              </a:rPr>
              <a:t>[u, v, ε] to [0, 1]</a:t>
            </a:r>
          </a:p>
        </p:txBody>
      </p:sp>
      <p:sp>
        <p:nvSpPr>
          <p:cNvPr id="932" name="TextBox 931"/>
          <p:cNvSpPr txBox="1"/>
          <p:nvPr/>
        </p:nvSpPr>
        <p:spPr>
          <a:xfrm>
            <a:off x="685800" y="2788920"/>
            <a:ext cx="7955279" cy="27432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D2007E"/>
                </a:solidFill>
                <a:latin typeface="Arial"/>
              </a:rPr>
              <a:t>Dashed box: component switched on and off in the ablation</a:t>
            </a:r>
          </a:p>
        </p:txBody>
      </p:sp>
      <p:sp>
        <p:nvSpPr>
          <p:cNvPr id="933" name="Rectangle 932"/>
          <p:cNvSpPr/>
          <p:nvPr/>
        </p:nvSpPr>
        <p:spPr>
          <a:xfrm>
            <a:off x="685800" y="3200400"/>
            <a:ext cx="3017520" cy="22860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TextBox 933"/>
          <p:cNvSpPr txBox="1"/>
          <p:nvPr/>
        </p:nvSpPr>
        <p:spPr>
          <a:xfrm>
            <a:off x="822960" y="3255264"/>
            <a:ext cx="2743200" cy="2176272"/>
          </a:xfrm>
          <a:prstGeom prst="rect">
            <a:avLst/>
          </a:prstGeom>
          <a:noFill/>
        </p:spPr>
        <p:txBody>
          <a:bodyPr wrap="square" lIns="45720" rIns="45720" tIns="27432" bIns="27432" anchor="t"/>
          <a:lstStyle/>
          <a:p>
            <a:pPr algn="l" marL="0" indent="0">
              <a:spcBef>
                <a:spcPts val="0"/>
              </a:spcBef>
              <a:spcAft>
                <a:spcPts val="300"/>
              </a:spcAft>
              <a:buNone/>
            </a:pPr>
            <a:r>
              <a:rPr sz="1150" b="1" i="0">
                <a:solidFill>
                  <a:srgbClr val="A8CC2F"/>
                </a:solidFill>
                <a:latin typeface="Arial"/>
              </a:rPr>
              <a:t>Input tensor</a:t>
            </a:r>
          </a:p>
          <a:p>
            <a:pPr algn="l" marL="0" indent="0">
              <a:spcBef>
                <a:spcPts val="0"/>
              </a:spcBef>
              <a:spcAft>
                <a:spcPts val="400"/>
              </a:spcAft>
              <a:buNone/>
            </a:pPr>
            <a:r>
              <a:rPr sz="2200" b="1" i="0">
                <a:solidFill>
                  <a:srgbClr val="FFFFFF"/>
                </a:solidFill>
                <a:latin typeface="Arial"/>
              </a:rPr>
              <a:t>3 × 32 × 224 × 224</a:t>
            </a:r>
          </a:p>
          <a:p>
            <a:pPr algn="l" marL="0" indent="0">
              <a:spcBef>
                <a:spcPts val="0"/>
              </a:spcBef>
              <a:spcAft>
                <a:spcPts val="800"/>
              </a:spcAft>
              <a:buNone/>
            </a:pPr>
            <a:r>
              <a:rPr sz="1000" b="0" i="0">
                <a:solidFill>
                  <a:srgbClr val="FFFFFF"/>
                </a:solidFill>
                <a:latin typeface="Arial"/>
              </a:rPr>
              <a:t>channels × frame pairs × height × width</a:t>
            </a:r>
          </a:p>
          <a:p>
            <a:pPr algn="l" marL="0" indent="0">
              <a:spcBef>
                <a:spcPts val="0"/>
              </a:spcBef>
              <a:spcAft>
                <a:spcPts val="300"/>
              </a:spcAft>
              <a:buNone/>
            </a:pPr>
            <a:r>
              <a:rPr sz="1050" b="0" i="0">
                <a:solidFill>
                  <a:srgbClr val="FFFFFF"/>
                </a:solidFill>
                <a:latin typeface="Arial"/>
              </a:rPr>
              <a:t>Channels: horizontal flow u, vertical flow v and strain magnitude ε</a:t>
            </a:r>
          </a:p>
        </p:txBody>
      </p:sp>
      <p:sp>
        <p:nvSpPr>
          <p:cNvPr id="935" name="TextBox 934"/>
          <p:cNvSpPr txBox="1"/>
          <p:nvPr/>
        </p:nvSpPr>
        <p:spPr>
          <a:xfrm>
            <a:off x="3931920" y="3200400"/>
            <a:ext cx="4709160" cy="2697480"/>
          </a:xfrm>
          <a:prstGeom prst="rect">
            <a:avLst/>
          </a:prstGeom>
          <a:noFill/>
        </p:spPr>
        <p:txBody>
          <a:bodyPr wrap="square" lIns="45720" rIns="45720" tIns="27432" bIns="27432" anchor="t"/>
          <a:lstStyle/>
          <a:p>
            <a:pPr algn="l" marL="155448" indent="-155448">
              <a:spcBef>
                <a:spcPts val="0"/>
              </a:spcBef>
              <a:spcAft>
                <a:spcPts val="700"/>
              </a:spcAft>
              <a:buClr>
                <a:srgbClr val="A8CC2F"/>
              </a:buClr>
              <a:buFont typeface="Arial"/>
              <a:buChar char="•"/>
            </a:pPr>
            <a:r>
              <a:rPr sz="1200" b="0" i="0">
                <a:solidFill>
                  <a:srgbClr val="414141"/>
                </a:solidFill>
                <a:latin typeface="Arial"/>
              </a:rPr>
              <a:t>The network never receives pixel intensities, only displacement and deformation fields</a:t>
            </a:r>
          </a:p>
          <a:p>
            <a:pPr algn="l" marL="155448" indent="-155448">
              <a:spcBef>
                <a:spcPts val="0"/>
              </a:spcBef>
              <a:spcAft>
                <a:spcPts val="700"/>
              </a:spcAft>
              <a:buClr>
                <a:srgbClr val="A8CC2F"/>
              </a:buClr>
              <a:buFont typeface="Arial"/>
              <a:buChar char="•"/>
            </a:pPr>
            <a:r>
              <a:rPr sz="1200" b="0" i="0">
                <a:solidFill>
                  <a:srgbClr val="414141"/>
                </a:solidFill>
                <a:latin typeface="Arial"/>
              </a:rPr>
              <a:t>The original frames are used: no face detection, alignment or cropping</a:t>
            </a:r>
          </a:p>
          <a:p>
            <a:pPr algn="l" marL="155448" indent="-155448">
              <a:spcBef>
                <a:spcPts val="0"/>
              </a:spcBef>
              <a:spcAft>
                <a:spcPts val="700"/>
              </a:spcAft>
              <a:buClr>
                <a:srgbClr val="A8CC2F"/>
              </a:buClr>
              <a:buFont typeface="Arial"/>
              <a:buChar char="•"/>
            </a:pPr>
            <a:r>
              <a:rPr sz="1200" b="0" i="0">
                <a:solidFill>
                  <a:srgbClr val="414141"/>
                </a:solidFill>
                <a:latin typeface="Arial"/>
              </a:rPr>
              <a:t>Existing frames are sampled; no frames are synthesised by interpolation</a:t>
            </a:r>
          </a:p>
          <a:p>
            <a:pPr algn="l" marL="155448" indent="-155448">
              <a:spcBef>
                <a:spcPts val="0"/>
              </a:spcBef>
              <a:spcAft>
                <a:spcPts val="700"/>
              </a:spcAft>
              <a:buClr>
                <a:srgbClr val="A8CC2F"/>
              </a:buClr>
              <a:buFont typeface="Arial"/>
              <a:buChar char="•"/>
            </a:pPr>
            <a:r>
              <a:rPr sz="1200" b="0" i="0">
                <a:solidFill>
                  <a:srgbClr val="414141"/>
                </a:solidFill>
                <a:latin typeface="Arial"/>
              </a:rPr>
              <a:t>Stage 1 runs once per clip, so all configurations are compared on identical inputs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FOUR PARTS ARE SWITCHED ON AND OFF</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03 · THE EXPERIMENT</a:t>
            </a:r>
          </a:p>
        </p:txBody>
      </p:sp>
      <p:sp>
        <p:nvSpPr>
          <p:cNvPr id="915"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15</a:t>
            </a:fld>
          </a:p>
        </p:txBody>
      </p:sp>
      <p:sp>
        <p:nvSpPr>
          <p:cNvPr id="916" name="TextBox 915"/>
          <p:cNvSpPr txBox="1"/>
          <p:nvPr/>
        </p:nvSpPr>
        <p:spPr>
          <a:xfrm>
            <a:off x="685800" y="1737360"/>
            <a:ext cx="5931484" cy="274320"/>
          </a:xfrm>
          <a:prstGeom prst="rect">
            <a:avLst/>
          </a:prstGeom>
          <a:noFill/>
        </p:spPr>
        <p:txBody>
          <a:bodyPr wrap="square" lIns="45720" rIns="45720" tIns="27432" bIns="27432" anchor="t"/>
          <a:lstStyle/>
          <a:p>
            <a:pPr algn="l" marL="0" indent="0">
              <a:spcBef>
                <a:spcPts val="0"/>
              </a:spcBef>
              <a:spcAft>
                <a:spcPts val="300"/>
              </a:spcAft>
              <a:buNone/>
            </a:pPr>
            <a:r>
              <a:rPr sz="900" b="1" i="0" spc="100">
                <a:solidFill>
                  <a:srgbClr val="8C8C8C"/>
                </a:solidFill>
                <a:latin typeface="Arial"/>
              </a:rPr>
              <a:t>MOTION MODELLING</a:t>
            </a:r>
          </a:p>
        </p:txBody>
      </p:sp>
      <p:sp>
        <p:nvSpPr>
          <p:cNvPr id="917" name="TextBox 916"/>
          <p:cNvSpPr txBox="1"/>
          <p:nvPr/>
        </p:nvSpPr>
        <p:spPr>
          <a:xfrm>
            <a:off x="6757187" y="1737360"/>
            <a:ext cx="1883892" cy="274320"/>
          </a:xfrm>
          <a:prstGeom prst="rect">
            <a:avLst/>
          </a:prstGeom>
          <a:noFill/>
        </p:spPr>
        <p:txBody>
          <a:bodyPr wrap="square" lIns="45720" rIns="45720" tIns="27432" bIns="27432" anchor="t"/>
          <a:lstStyle/>
          <a:p>
            <a:pPr algn="l" marL="0" indent="0">
              <a:spcBef>
                <a:spcPts val="0"/>
              </a:spcBef>
              <a:spcAft>
                <a:spcPts val="300"/>
              </a:spcAft>
              <a:buNone/>
            </a:pPr>
            <a:r>
              <a:rPr sz="900" b="1" i="0" spc="100">
                <a:solidFill>
                  <a:srgbClr val="8C8C8C"/>
                </a:solidFill>
                <a:latin typeface="Arial"/>
              </a:rPr>
              <a:t>TEMPORAL MODELLING</a:t>
            </a:r>
          </a:p>
        </p:txBody>
      </p:sp>
      <p:sp>
        <p:nvSpPr>
          <p:cNvPr id="918" name="Rectangle 917"/>
          <p:cNvSpPr/>
          <p:nvPr/>
        </p:nvSpPr>
        <p:spPr>
          <a:xfrm>
            <a:off x="685800" y="2057400"/>
            <a:ext cx="1883892" cy="3840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813816" y="219456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1</a:t>
            </a:r>
          </a:p>
        </p:txBody>
      </p:sp>
      <p:sp>
        <p:nvSpPr>
          <p:cNvPr id="920" name="TextBox 919"/>
          <p:cNvSpPr txBox="1"/>
          <p:nvPr/>
        </p:nvSpPr>
        <p:spPr>
          <a:xfrm>
            <a:off x="777240" y="2679192"/>
            <a:ext cx="1701012" cy="566928"/>
          </a:xfrm>
          <a:prstGeom prst="rect">
            <a:avLst/>
          </a:prstGeom>
          <a:noFill/>
        </p:spPr>
        <p:txBody>
          <a:bodyPr wrap="square" lIns="45720" rIns="45720" tIns="27432" bIns="27432" anchor="t"/>
          <a:lstStyle/>
          <a:p>
            <a:pPr algn="l" marL="0" indent="0">
              <a:spcBef>
                <a:spcPts val="0"/>
              </a:spcBef>
              <a:spcAft>
                <a:spcPts val="0"/>
              </a:spcAft>
              <a:buNone/>
            </a:pPr>
            <a:r>
              <a:rPr sz="1200" b="1" i="0">
                <a:solidFill>
                  <a:srgbClr val="004CA0"/>
                </a:solidFill>
                <a:latin typeface="Arial"/>
              </a:rPr>
              <a:t>Eulerian video magnification</a:t>
            </a:r>
          </a:p>
        </p:txBody>
      </p:sp>
      <p:sp>
        <p:nvSpPr>
          <p:cNvPr id="921" name="TextBox 920"/>
          <p:cNvSpPr txBox="1"/>
          <p:nvPr/>
        </p:nvSpPr>
        <p:spPr>
          <a:xfrm>
            <a:off x="777240" y="3264408"/>
            <a:ext cx="1701012" cy="1280160"/>
          </a:xfrm>
          <a:prstGeom prst="rect">
            <a:avLst/>
          </a:prstGeom>
          <a:noFill/>
        </p:spPr>
        <p:txBody>
          <a:bodyPr wrap="square" lIns="45720" rIns="45720" tIns="27432" bIns="27432" anchor="t"/>
          <a:lstStyle/>
          <a:p>
            <a:pPr algn="l" marL="0" indent="0">
              <a:spcBef>
                <a:spcPts val="0"/>
              </a:spcBef>
              <a:spcAft>
                <a:spcPts val="300"/>
              </a:spcAft>
              <a:buNone/>
            </a:pPr>
            <a:r>
              <a:rPr sz="1050" b="0" i="0">
                <a:solidFill>
                  <a:srgbClr val="414141"/>
                </a:solidFill>
                <a:latin typeface="Arial"/>
              </a:rPr>
              <a:t>Amplifies subtle motion in a temporal frequency band before optical flow is computed.</a:t>
            </a:r>
          </a:p>
        </p:txBody>
      </p:sp>
      <p:sp>
        <p:nvSpPr>
          <p:cNvPr id="922" name="TextBox 921"/>
          <p:cNvSpPr txBox="1"/>
          <p:nvPr/>
        </p:nvSpPr>
        <p:spPr>
          <a:xfrm>
            <a:off x="777240" y="4617720"/>
            <a:ext cx="1701012" cy="1234440"/>
          </a:xfrm>
          <a:prstGeom prst="rect">
            <a:avLst/>
          </a:prstGeom>
          <a:noFill/>
        </p:spPr>
        <p:txBody>
          <a:bodyPr wrap="square" lIns="45720" rIns="45720" tIns="27432" bIns="27432" anchor="t"/>
          <a:lstStyle/>
          <a:p>
            <a:pPr algn="l" marL="0" indent="0">
              <a:spcBef>
                <a:spcPts val="0"/>
              </a:spcBef>
              <a:spcAft>
                <a:spcPts val="200"/>
              </a:spcAft>
              <a:buNone/>
            </a:pPr>
            <a:r>
              <a:rPr sz="1000" b="1" i="0">
                <a:solidFill>
                  <a:srgbClr val="004CA0"/>
                </a:solidFill>
                <a:latin typeface="Arial"/>
              </a:rPr>
              <a:t>When disabled</a:t>
            </a:r>
          </a:p>
          <a:p>
            <a:pPr algn="l" marL="0" indent="0">
              <a:spcBef>
                <a:spcPts val="0"/>
              </a:spcBef>
              <a:spcAft>
                <a:spcPts val="300"/>
              </a:spcAft>
              <a:buNone/>
            </a:pPr>
            <a:r>
              <a:rPr sz="1050" b="0" i="0">
                <a:solidFill>
                  <a:srgbClr val="414141"/>
                </a:solidFill>
                <a:latin typeface="Arial"/>
              </a:rPr>
              <a:t>No magnification</a:t>
            </a:r>
          </a:p>
        </p:txBody>
      </p:sp>
      <p:sp>
        <p:nvSpPr>
          <p:cNvPr id="923" name="Rectangle 922"/>
          <p:cNvSpPr/>
          <p:nvPr/>
        </p:nvSpPr>
        <p:spPr>
          <a:xfrm>
            <a:off x="2709595" y="2057400"/>
            <a:ext cx="1883892" cy="3840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2837611" y="219456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2</a:t>
            </a:r>
          </a:p>
        </p:txBody>
      </p:sp>
      <p:sp>
        <p:nvSpPr>
          <p:cNvPr id="925" name="TextBox 924"/>
          <p:cNvSpPr txBox="1"/>
          <p:nvPr/>
        </p:nvSpPr>
        <p:spPr>
          <a:xfrm>
            <a:off x="2801035" y="2679192"/>
            <a:ext cx="1701012" cy="566928"/>
          </a:xfrm>
          <a:prstGeom prst="rect">
            <a:avLst/>
          </a:prstGeom>
          <a:noFill/>
        </p:spPr>
        <p:txBody>
          <a:bodyPr wrap="square" lIns="45720" rIns="45720" tIns="27432" bIns="27432" anchor="t"/>
          <a:lstStyle/>
          <a:p>
            <a:pPr algn="l" marL="0" indent="0">
              <a:spcBef>
                <a:spcPts val="0"/>
              </a:spcBef>
              <a:spcAft>
                <a:spcPts val="0"/>
              </a:spcAft>
              <a:buNone/>
            </a:pPr>
            <a:r>
              <a:rPr sz="1200" b="1" i="0">
                <a:solidFill>
                  <a:srgbClr val="004CA0"/>
                </a:solidFill>
                <a:latin typeface="Arial"/>
              </a:rPr>
              <a:t>Convolutional stem</a:t>
            </a:r>
          </a:p>
        </p:txBody>
      </p:sp>
      <p:sp>
        <p:nvSpPr>
          <p:cNvPr id="926" name="TextBox 925"/>
          <p:cNvSpPr txBox="1"/>
          <p:nvPr/>
        </p:nvSpPr>
        <p:spPr>
          <a:xfrm>
            <a:off x="2801035" y="3264408"/>
            <a:ext cx="1701012" cy="1280160"/>
          </a:xfrm>
          <a:prstGeom prst="rect">
            <a:avLst/>
          </a:prstGeom>
          <a:noFill/>
        </p:spPr>
        <p:txBody>
          <a:bodyPr wrap="square" lIns="45720" rIns="45720" tIns="27432" bIns="27432" anchor="t"/>
          <a:lstStyle/>
          <a:p>
            <a:pPr algn="l" marL="0" indent="0">
              <a:spcBef>
                <a:spcPts val="0"/>
              </a:spcBef>
              <a:spcAft>
                <a:spcPts val="300"/>
              </a:spcAft>
              <a:buNone/>
            </a:pPr>
            <a:r>
              <a:rPr sz="1050" b="0" i="0">
                <a:solidFill>
                  <a:srgbClr val="414141"/>
                </a:solidFill>
                <a:latin typeface="Arial"/>
              </a:rPr>
              <a:t>Three streams with unshared weights, one per channel, using spatial-only kernels (1, 3, 3).</a:t>
            </a:r>
          </a:p>
        </p:txBody>
      </p:sp>
      <p:sp>
        <p:nvSpPr>
          <p:cNvPr id="927" name="TextBox 926"/>
          <p:cNvSpPr txBox="1"/>
          <p:nvPr/>
        </p:nvSpPr>
        <p:spPr>
          <a:xfrm>
            <a:off x="2801035" y="4617720"/>
            <a:ext cx="1701012" cy="1234440"/>
          </a:xfrm>
          <a:prstGeom prst="rect">
            <a:avLst/>
          </a:prstGeom>
          <a:noFill/>
        </p:spPr>
        <p:txBody>
          <a:bodyPr wrap="square" lIns="45720" rIns="45720" tIns="27432" bIns="27432" anchor="t"/>
          <a:lstStyle/>
          <a:p>
            <a:pPr algn="l" marL="0" indent="0">
              <a:spcBef>
                <a:spcPts val="0"/>
              </a:spcBef>
              <a:spcAft>
                <a:spcPts val="200"/>
              </a:spcAft>
              <a:buNone/>
            </a:pPr>
            <a:r>
              <a:rPr sz="1000" b="1" i="0">
                <a:solidFill>
                  <a:srgbClr val="004CA0"/>
                </a:solidFill>
                <a:latin typeface="Arial"/>
              </a:rPr>
              <a:t>When disabled</a:t>
            </a:r>
          </a:p>
          <a:p>
            <a:pPr algn="l" marL="0" indent="0">
              <a:spcBef>
                <a:spcPts val="0"/>
              </a:spcBef>
              <a:spcAft>
                <a:spcPts val="300"/>
              </a:spcAft>
              <a:buNone/>
            </a:pPr>
            <a:r>
              <a:rPr sz="1050" b="0" i="0">
                <a:solidFill>
                  <a:srgbClr val="414141"/>
                </a:solidFill>
                <a:latin typeface="Arial"/>
              </a:rPr>
              <a:t>4 × 4 average pooling per frame and a linear projection 48 → 96</a:t>
            </a:r>
          </a:p>
        </p:txBody>
      </p:sp>
      <p:sp>
        <p:nvSpPr>
          <p:cNvPr id="928" name="Rectangle 927"/>
          <p:cNvSpPr/>
          <p:nvPr/>
        </p:nvSpPr>
        <p:spPr>
          <a:xfrm>
            <a:off x="4733391" y="2057400"/>
            <a:ext cx="1883892" cy="3840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4861407" y="219456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3</a:t>
            </a:r>
          </a:p>
        </p:txBody>
      </p:sp>
      <p:sp>
        <p:nvSpPr>
          <p:cNvPr id="930" name="TextBox 929"/>
          <p:cNvSpPr txBox="1"/>
          <p:nvPr/>
        </p:nvSpPr>
        <p:spPr>
          <a:xfrm>
            <a:off x="4824831" y="2679192"/>
            <a:ext cx="1701012" cy="566928"/>
          </a:xfrm>
          <a:prstGeom prst="rect">
            <a:avLst/>
          </a:prstGeom>
          <a:noFill/>
        </p:spPr>
        <p:txBody>
          <a:bodyPr wrap="square" lIns="45720" rIns="45720" tIns="27432" bIns="27432" anchor="t"/>
          <a:lstStyle/>
          <a:p>
            <a:pPr algn="l" marL="0" indent="0">
              <a:spcBef>
                <a:spcPts val="0"/>
              </a:spcBef>
              <a:spcAft>
                <a:spcPts val="0"/>
              </a:spcAft>
              <a:buNone/>
            </a:pPr>
            <a:r>
              <a:rPr sz="1200" b="1" i="0">
                <a:solidFill>
                  <a:srgbClr val="004CA0"/>
                </a:solidFill>
                <a:latin typeface="Arial"/>
              </a:rPr>
              <a:t>SimAM attention</a:t>
            </a:r>
          </a:p>
        </p:txBody>
      </p:sp>
      <p:sp>
        <p:nvSpPr>
          <p:cNvPr id="931" name="TextBox 930"/>
          <p:cNvSpPr txBox="1"/>
          <p:nvPr/>
        </p:nvSpPr>
        <p:spPr>
          <a:xfrm>
            <a:off x="4824831" y="3264408"/>
            <a:ext cx="1701012" cy="1280160"/>
          </a:xfrm>
          <a:prstGeom prst="rect">
            <a:avLst/>
          </a:prstGeom>
          <a:noFill/>
        </p:spPr>
        <p:txBody>
          <a:bodyPr wrap="square" lIns="45720" rIns="45720" tIns="27432" bIns="27432" anchor="t"/>
          <a:lstStyle/>
          <a:p>
            <a:pPr algn="l" marL="0" indent="0">
              <a:spcBef>
                <a:spcPts val="0"/>
              </a:spcBef>
              <a:spcAft>
                <a:spcPts val="300"/>
              </a:spcAft>
              <a:buNone/>
            </a:pPr>
            <a:r>
              <a:rPr sz="1050" b="0" i="0">
                <a:solidFill>
                  <a:srgbClr val="414141"/>
                </a:solidFill>
                <a:latin typeface="Arial"/>
              </a:rPr>
              <a:t>Parameter-free re-weighting of the stem's activations. Requires the stem.</a:t>
            </a:r>
          </a:p>
        </p:txBody>
      </p:sp>
      <p:sp>
        <p:nvSpPr>
          <p:cNvPr id="932" name="TextBox 931"/>
          <p:cNvSpPr txBox="1"/>
          <p:nvPr/>
        </p:nvSpPr>
        <p:spPr>
          <a:xfrm>
            <a:off x="4824831" y="4617720"/>
            <a:ext cx="1701012" cy="1234440"/>
          </a:xfrm>
          <a:prstGeom prst="rect">
            <a:avLst/>
          </a:prstGeom>
          <a:noFill/>
        </p:spPr>
        <p:txBody>
          <a:bodyPr wrap="square" lIns="45720" rIns="45720" tIns="27432" bIns="27432" anchor="t"/>
          <a:lstStyle/>
          <a:p>
            <a:pPr algn="l" marL="0" indent="0">
              <a:spcBef>
                <a:spcPts val="0"/>
              </a:spcBef>
              <a:spcAft>
                <a:spcPts val="200"/>
              </a:spcAft>
              <a:buNone/>
            </a:pPr>
            <a:r>
              <a:rPr sz="1000" b="1" i="0">
                <a:solidFill>
                  <a:srgbClr val="004CA0"/>
                </a:solidFill>
                <a:latin typeface="Arial"/>
              </a:rPr>
              <a:t>When disabled</a:t>
            </a:r>
          </a:p>
          <a:p>
            <a:pPr algn="l" marL="0" indent="0">
              <a:spcBef>
                <a:spcPts val="0"/>
              </a:spcBef>
              <a:spcAft>
                <a:spcPts val="300"/>
              </a:spcAft>
              <a:buNone/>
            </a:pPr>
            <a:r>
              <a:rPr sz="1050" b="0" i="0">
                <a:solidFill>
                  <a:srgbClr val="414141"/>
                </a:solidFill>
                <a:latin typeface="Arial"/>
              </a:rPr>
              <a:t>Unmodified stream outputs</a:t>
            </a:r>
          </a:p>
        </p:txBody>
      </p:sp>
      <p:sp>
        <p:nvSpPr>
          <p:cNvPr id="933" name="Rectangle 932"/>
          <p:cNvSpPr/>
          <p:nvPr/>
        </p:nvSpPr>
        <p:spPr>
          <a:xfrm>
            <a:off x="6757187" y="2057400"/>
            <a:ext cx="1883892" cy="38404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6885203" y="219456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004CA0"/>
                </a:solidFill>
                <a:latin typeface="Arial"/>
              </a:rPr>
              <a:t>4</a:t>
            </a:r>
          </a:p>
        </p:txBody>
      </p:sp>
      <p:sp>
        <p:nvSpPr>
          <p:cNvPr id="935" name="TextBox 934"/>
          <p:cNvSpPr txBox="1"/>
          <p:nvPr/>
        </p:nvSpPr>
        <p:spPr>
          <a:xfrm>
            <a:off x="6848627" y="2679192"/>
            <a:ext cx="1701012" cy="566928"/>
          </a:xfrm>
          <a:prstGeom prst="rect">
            <a:avLst/>
          </a:prstGeom>
          <a:noFill/>
        </p:spPr>
        <p:txBody>
          <a:bodyPr wrap="square" lIns="45720" rIns="45720" tIns="27432" bIns="27432" anchor="t"/>
          <a:lstStyle/>
          <a:p>
            <a:pPr algn="l" marL="0" indent="0">
              <a:spcBef>
                <a:spcPts val="0"/>
              </a:spcBef>
              <a:spcAft>
                <a:spcPts val="0"/>
              </a:spcAft>
              <a:buNone/>
            </a:pPr>
            <a:r>
              <a:rPr sz="1200" b="1" i="0">
                <a:solidFill>
                  <a:srgbClr val="FFFFFF"/>
                </a:solidFill>
                <a:latin typeface="Arial"/>
              </a:rPr>
              <a:t>Temporal transformer</a:t>
            </a:r>
          </a:p>
        </p:txBody>
      </p:sp>
      <p:sp>
        <p:nvSpPr>
          <p:cNvPr id="936" name="TextBox 935"/>
          <p:cNvSpPr txBox="1"/>
          <p:nvPr/>
        </p:nvSpPr>
        <p:spPr>
          <a:xfrm>
            <a:off x="6848627" y="3264408"/>
            <a:ext cx="1701012" cy="1280160"/>
          </a:xfrm>
          <a:prstGeom prst="rect">
            <a:avLst/>
          </a:prstGeom>
          <a:noFill/>
        </p:spPr>
        <p:txBody>
          <a:bodyPr wrap="square" lIns="45720" rIns="45720" tIns="27432" bIns="27432" anchor="t"/>
          <a:lstStyle/>
          <a:p>
            <a:pPr algn="l" marL="0" indent="0">
              <a:spcBef>
                <a:spcPts val="0"/>
              </a:spcBef>
              <a:spcAft>
                <a:spcPts val="300"/>
              </a:spcAft>
              <a:buNone/>
            </a:pPr>
            <a:r>
              <a:rPr sz="1050" b="0" i="0">
                <a:solidFill>
                  <a:srgbClr val="FFFFFF"/>
                </a:solidFill>
                <a:latin typeface="Arial"/>
              </a:rPr>
              <a:t>Sinusoidal positions, four pre-norm layers and eight heads over 32 time steps.</a:t>
            </a:r>
          </a:p>
        </p:txBody>
      </p:sp>
      <p:sp>
        <p:nvSpPr>
          <p:cNvPr id="937" name="TextBox 936"/>
          <p:cNvSpPr txBox="1"/>
          <p:nvPr/>
        </p:nvSpPr>
        <p:spPr>
          <a:xfrm>
            <a:off x="6848627" y="4617720"/>
            <a:ext cx="1701012" cy="1234440"/>
          </a:xfrm>
          <a:prstGeom prst="rect">
            <a:avLst/>
          </a:prstGeom>
          <a:noFill/>
        </p:spPr>
        <p:txBody>
          <a:bodyPr wrap="square" lIns="45720" rIns="45720" tIns="27432" bIns="27432" anchor="t"/>
          <a:lstStyle/>
          <a:p>
            <a:pPr algn="l" marL="0" indent="0">
              <a:spcBef>
                <a:spcPts val="0"/>
              </a:spcBef>
              <a:spcAft>
                <a:spcPts val="200"/>
              </a:spcAft>
              <a:buNone/>
            </a:pPr>
            <a:r>
              <a:rPr sz="1000" b="1" i="0">
                <a:solidFill>
                  <a:srgbClr val="A8CC2F"/>
                </a:solidFill>
                <a:latin typeface="Arial"/>
              </a:rPr>
              <a:t>When disabled</a:t>
            </a:r>
          </a:p>
          <a:p>
            <a:pPr algn="l" marL="0" indent="0">
              <a:spcBef>
                <a:spcPts val="0"/>
              </a:spcBef>
              <a:spcAft>
                <a:spcPts val="300"/>
              </a:spcAft>
              <a:buNone/>
            </a:pPr>
            <a:r>
              <a:rPr sz="1050" b="0" i="0">
                <a:solidFill>
                  <a:srgbClr val="FFFFFF"/>
                </a:solidFill>
                <a:latin typeface="Arial"/>
              </a:rPr>
              <a:t>Mean over time: no parameters, no temporal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TWELVE CONFIGURATIONS AND MATCHED PAIRS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03 · THE EXPERIMENT</a:t>
            </a:r>
          </a:p>
        </p:txBody>
      </p:sp>
      <p:sp>
        <p:nvSpPr>
          <p:cNvPr id="916"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16</a:t>
            </a:fld>
          </a:p>
        </p:txBody>
      </p:sp>
      <p:graphicFrame>
        <p:nvGraphicFramePr>
          <p:cNvPr id="917" name="Table 916"/>
          <p:cNvGraphicFramePr>
            <a:graphicFrameLocks noGrp="1"/>
          </p:cNvGraphicFramePr>
          <p:nvPr/>
        </p:nvGraphicFramePr>
        <p:xfrm>
          <a:off x="685800" y="1783080"/>
          <a:ext cx="3291840" cy="3566160"/>
        </p:xfrm>
        <a:graphic>
          <a:graphicData uri="http://schemas.openxmlformats.org/drawingml/2006/table">
            <a:tbl>
              <a:tblPr firstRow="0" bandRow="0">
                <a:tableStyleId>{2D5ABB26-0587-4C30-8999-92F81FD0307C}</a:tableStyleId>
              </a:tblPr>
              <a:tblGrid>
                <a:gridCol w="731520"/>
                <a:gridCol w="640080"/>
                <a:gridCol w="640080"/>
                <a:gridCol w="640080"/>
                <a:gridCol w="640080"/>
              </a:tblGrid>
              <a:tr h="274320">
                <a:tc>
                  <a:txBody>
                    <a:bodyPr wrap="square"/>
                    <a:lstStyle/>
                    <a:p>
                      <a:pPr algn="ctr" marL="0" indent="0">
                        <a:spcBef>
                          <a:spcPts val="0"/>
                        </a:spcBef>
                        <a:spcAft>
                          <a:spcPts val="0"/>
                        </a:spcAft>
                        <a:buNone/>
                      </a:pPr>
                      <a:r>
                        <a:rPr sz="1000" b="1" i="0">
                          <a:solidFill>
                            <a:srgbClr val="FFFFFF"/>
                          </a:solidFill>
                          <a:latin typeface="Arial"/>
                        </a:rPr>
                        <a:t>Config.</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EVM</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SimAM</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CNN</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TF</a:t>
                      </a:r>
                    </a:p>
                  </a:txBody>
                  <a:tcPr marL="54864" marR="54864" marT="18288" marB="18288" anchor="ctr">
                    <a:lnL w="9525">
                      <a:noFill/>
                    </a:lnL>
                    <a:lnR w="9525">
                      <a:noFill/>
                    </a:lnR>
                    <a:lnT w="9525">
                      <a:noFill/>
                    </a:lnT>
                    <a:lnB w="9525">
                      <a:solidFill>
                        <a:srgbClr val="D9D9D9"/>
                      </a:solidFill>
                    </a:lnB>
                    <a:solidFill>
                      <a:srgbClr val="004CA0"/>
                    </a:solidFill>
                  </a:tcPr>
                </a:tc>
              </a:tr>
              <a:tr h="274320">
                <a:tc>
                  <a:txBody>
                    <a:bodyPr wrap="square"/>
                    <a:lstStyle/>
                    <a:p>
                      <a:pPr algn="ctr" marL="0" indent="0">
                        <a:spcBef>
                          <a:spcPts val="0"/>
                        </a:spcBef>
                        <a:spcAft>
                          <a:spcPts val="0"/>
                        </a:spcAft>
                        <a:buNone/>
                      </a:pPr>
                      <a:r>
                        <a:rPr sz="1000" b="1" i="0">
                          <a:solidFill>
                            <a:srgbClr val="414141"/>
                          </a:solidFill>
                          <a:latin typeface="Arial"/>
                        </a:rPr>
                        <a:t>C1</a:t>
                      </a:r>
                    </a:p>
                  </a:txBody>
                  <a:tcPr marL="54864" marR="54864" marT="18288" marB="18288" anchor="ctr">
                    <a:lnL w="9525">
                      <a:noFill/>
                    </a:lnL>
                    <a:lnR w="9525">
                      <a:noFill/>
                    </a:lnR>
                    <a:lnT w="9525">
                      <a:noFill/>
                    </a:lnT>
                    <a:lnB w="9525">
                      <a:solidFill>
                        <a:srgbClr val="D9D9D9"/>
                      </a:solidFill>
                    </a:lnB>
                    <a:solidFill>
                      <a:srgbClr val="A8CC2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ctr" marL="0" indent="0">
                        <a:spcBef>
                          <a:spcPts val="0"/>
                        </a:spcBef>
                        <a:spcAft>
                          <a:spcPts val="0"/>
                        </a:spcAft>
                        <a:buNone/>
                      </a:pPr>
                      <a:r>
                        <a:rPr sz="1000" b="1" i="0">
                          <a:solidFill>
                            <a:srgbClr val="414141"/>
                          </a:solidFill>
                          <a:latin typeface="Arial"/>
                        </a:rPr>
                        <a:t>C2</a:t>
                      </a:r>
                    </a:p>
                  </a:txBody>
                  <a:tcPr marL="54864" marR="54864" marT="18288" marB="18288" anchor="ctr">
                    <a:lnL w="9525">
                      <a:noFill/>
                    </a:lnL>
                    <a:lnR w="9525">
                      <a:noFill/>
                    </a:lnR>
                    <a:lnT w="9525">
                      <a:noFill/>
                    </a:lnT>
                    <a:lnB w="9525">
                      <a:solidFill>
                        <a:srgbClr val="D9D9D9"/>
                      </a:solidFill>
                    </a:lnB>
                    <a:solidFill>
                      <a:srgbClr val="A8CC2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r>
              <a:tr h="274320">
                <a:tc>
                  <a:txBody>
                    <a:bodyPr wrap="square"/>
                    <a:lstStyle/>
                    <a:p>
                      <a:pPr algn="ctr" marL="0" indent="0">
                        <a:spcBef>
                          <a:spcPts val="0"/>
                        </a:spcBef>
                        <a:spcAft>
                          <a:spcPts val="0"/>
                        </a:spcAft>
                        <a:buNone/>
                      </a:pPr>
                      <a:r>
                        <a:rPr sz="1000" b="1" i="0">
                          <a:solidFill>
                            <a:srgbClr val="414141"/>
                          </a:solidFill>
                          <a:latin typeface="Arial"/>
                        </a:rPr>
                        <a:t>C3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ctr" marL="0" indent="0">
                        <a:spcBef>
                          <a:spcPts val="0"/>
                        </a:spcBef>
                        <a:spcAft>
                          <a:spcPts val="0"/>
                        </a:spcAft>
                        <a:buNone/>
                      </a:pPr>
                      <a:r>
                        <a:rPr sz="1000" b="1" i="0">
                          <a:solidFill>
                            <a:srgbClr val="414141"/>
                          </a:solidFill>
                          <a:latin typeface="Arial"/>
                        </a:rPr>
                        <a:t>C4</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ctr" marL="0" indent="0">
                        <a:spcBef>
                          <a:spcPts val="0"/>
                        </a:spcBef>
                        <a:spcAft>
                          <a:spcPts val="0"/>
                        </a:spcAft>
                        <a:buNone/>
                      </a:pPr>
                      <a:r>
                        <a:rPr sz="1000" b="1" i="0">
                          <a:solidFill>
                            <a:srgbClr val="414141"/>
                          </a:solidFill>
                          <a:latin typeface="Arial"/>
                        </a:rPr>
                        <a:t>C5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ctr" marL="0" indent="0">
                        <a:spcBef>
                          <a:spcPts val="0"/>
                        </a:spcBef>
                        <a:spcAft>
                          <a:spcPts val="0"/>
                        </a:spcAft>
                        <a:buNone/>
                      </a:pPr>
                      <a:r>
                        <a:rPr sz="1000" b="1" i="0">
                          <a:solidFill>
                            <a:srgbClr val="414141"/>
                          </a:solidFill>
                          <a:latin typeface="Arial"/>
                        </a:rPr>
                        <a:t>C6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r>
              <a:tr h="274320">
                <a:tc>
                  <a:txBody>
                    <a:bodyPr wrap="square"/>
                    <a:lstStyle/>
                    <a:p>
                      <a:pPr algn="ctr" marL="0" indent="0">
                        <a:spcBef>
                          <a:spcPts val="0"/>
                        </a:spcBef>
                        <a:spcAft>
                          <a:spcPts val="0"/>
                        </a:spcAft>
                        <a:buNone/>
                      </a:pPr>
                      <a:r>
                        <a:rPr sz="1000" b="1" i="0">
                          <a:solidFill>
                            <a:srgbClr val="414141"/>
                          </a:solidFill>
                          <a:latin typeface="Arial"/>
                        </a:rPr>
                        <a:t>C7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r>
              <a:tr h="274320">
                <a:tc>
                  <a:txBody>
                    <a:bodyPr wrap="square"/>
                    <a:lstStyle/>
                    <a:p>
                      <a:pPr algn="ctr" marL="0" indent="0">
                        <a:spcBef>
                          <a:spcPts val="0"/>
                        </a:spcBef>
                        <a:spcAft>
                          <a:spcPts val="0"/>
                        </a:spcAft>
                        <a:buNone/>
                      </a:pPr>
                      <a:r>
                        <a:rPr sz="1000" b="1" i="0">
                          <a:solidFill>
                            <a:srgbClr val="414141"/>
                          </a:solidFill>
                          <a:latin typeface="Arial"/>
                        </a:rPr>
                        <a:t>C8</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r>
              <a:tr h="274320">
                <a:tc>
                  <a:txBody>
                    <a:bodyPr wrap="square"/>
                    <a:lstStyle/>
                    <a:p>
                      <a:pPr algn="ctr" marL="0" indent="0">
                        <a:spcBef>
                          <a:spcPts val="0"/>
                        </a:spcBef>
                        <a:spcAft>
                          <a:spcPts val="0"/>
                        </a:spcAft>
                        <a:buNone/>
                      </a:pPr>
                      <a:r>
                        <a:rPr sz="1000" b="1" i="0">
                          <a:solidFill>
                            <a:srgbClr val="414141"/>
                          </a:solidFill>
                          <a:latin typeface="Arial"/>
                        </a:rPr>
                        <a:t>C9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r>
              <a:tr h="274320">
                <a:tc>
                  <a:txBody>
                    <a:bodyPr wrap="square"/>
                    <a:lstStyle/>
                    <a:p>
                      <a:pPr algn="ctr" marL="0" indent="0">
                        <a:spcBef>
                          <a:spcPts val="0"/>
                        </a:spcBef>
                        <a:spcAft>
                          <a:spcPts val="0"/>
                        </a:spcAft>
                        <a:buNone/>
                      </a:pPr>
                      <a:r>
                        <a:rPr sz="1000" b="1" i="0">
                          <a:solidFill>
                            <a:srgbClr val="414141"/>
                          </a:solidFill>
                          <a:latin typeface="Arial"/>
                        </a:rPr>
                        <a:t>C12</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r>
              <a:tr h="274320">
                <a:tc>
                  <a:txBody>
                    <a:bodyPr wrap="square"/>
                    <a:lstStyle/>
                    <a:p>
                      <a:pPr algn="ctr" marL="0" indent="0">
                        <a:spcBef>
                          <a:spcPts val="0"/>
                        </a:spcBef>
                        <a:spcAft>
                          <a:spcPts val="0"/>
                        </a:spcAft>
                        <a:buNone/>
                      </a:pPr>
                      <a:r>
                        <a:rPr sz="1000" b="1" i="0">
                          <a:solidFill>
                            <a:srgbClr val="414141"/>
                          </a:solidFill>
                          <a:latin typeface="Arial"/>
                        </a:rPr>
                        <a:t>C13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ctr" marL="0" indent="0">
                        <a:spcBef>
                          <a:spcPts val="0"/>
                        </a:spcBef>
                        <a:spcAft>
                          <a:spcPts val="0"/>
                        </a:spcAft>
                        <a:buNone/>
                      </a:pPr>
                      <a:r>
                        <a:rPr sz="1000" b="1" i="0">
                          <a:solidFill>
                            <a:srgbClr val="414141"/>
                          </a:solidFill>
                          <a:latin typeface="Arial"/>
                        </a:rPr>
                        <a:t>C16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sp>
        <p:nvSpPr>
          <p:cNvPr id="918" name="TextBox 917"/>
          <p:cNvSpPr txBox="1"/>
          <p:nvPr/>
        </p:nvSpPr>
        <p:spPr>
          <a:xfrm>
            <a:off x="685800" y="5394960"/>
            <a:ext cx="3291840" cy="41148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EVM: magnification; CNN: convolutional stem; TF: transformer. Highlighted: the example pair.</a:t>
            </a:r>
          </a:p>
        </p:txBody>
      </p:sp>
      <p:sp>
        <p:nvSpPr>
          <p:cNvPr id="919" name="TextBox 918"/>
          <p:cNvSpPr txBox="1"/>
          <p:nvPr/>
        </p:nvSpPr>
        <p:spPr>
          <a:xfrm>
            <a:off x="4206240" y="1783080"/>
            <a:ext cx="4434840" cy="1188720"/>
          </a:xfrm>
          <a:prstGeom prst="rect">
            <a:avLst/>
          </a:prstGeom>
          <a:noFill/>
        </p:spPr>
        <p:txBody>
          <a:bodyPr wrap="square" lIns="45720" rIns="45720" tIns="27432" bIns="27432" anchor="t"/>
          <a:lstStyle/>
          <a:p>
            <a:pPr algn="l" marL="155448" indent="-155448">
              <a:spcBef>
                <a:spcPts val="0"/>
              </a:spcBef>
              <a:spcAft>
                <a:spcPts val="500"/>
              </a:spcAft>
              <a:buClr>
                <a:srgbClr val="A8CC2F"/>
              </a:buClr>
              <a:buFont typeface="Arial"/>
              <a:buChar char="•"/>
            </a:pPr>
            <a:r>
              <a:rPr sz="1150" b="0" i="0">
                <a:solidFill>
                  <a:srgbClr val="414141"/>
                </a:solidFill>
                <a:latin typeface="Arial"/>
              </a:rPr>
              <a:t>Four on–off switches give 2</a:t>
            </a:r>
            <a:r>
              <a:rPr sz="1150" b="0" i="0" baseline="30000">
                <a:solidFill>
                  <a:srgbClr val="414141"/>
                </a:solidFill>
                <a:latin typeface="Arial"/>
              </a:rPr>
              <a:t>4</a:t>
            </a:r>
            <a:r>
              <a:rPr sz="1150" b="0" i="0">
                <a:solidFill>
                  <a:srgbClr val="414141"/>
                </a:solidFill>
                <a:latin typeface="Arial"/>
              </a:rPr>
              <a:t> = 16 combinations</a:t>
            </a:r>
          </a:p>
          <a:p>
            <a:pPr algn="l" marL="155448" indent="-155448">
              <a:spcBef>
                <a:spcPts val="0"/>
              </a:spcBef>
              <a:spcAft>
                <a:spcPts val="500"/>
              </a:spcAft>
              <a:buClr>
                <a:srgbClr val="A8CC2F"/>
              </a:buClr>
              <a:buFont typeface="Arial"/>
              <a:buChar char="•"/>
            </a:pPr>
            <a:r>
              <a:rPr sz="1150" b="0" i="0">
                <a:solidFill>
                  <a:srgbClr val="414141"/>
                </a:solidFill>
                <a:latin typeface="Arial"/>
              </a:rPr>
              <a:t>Four would switch on SimAM without the stem: not possible, so not trained</a:t>
            </a:r>
          </a:p>
          <a:p>
            <a:pPr algn="l" marL="155448" indent="-155448">
              <a:spcBef>
                <a:spcPts val="0"/>
              </a:spcBef>
              <a:spcAft>
                <a:spcPts val="500"/>
              </a:spcAft>
              <a:buClr>
                <a:srgbClr val="A8CC2F"/>
              </a:buClr>
              <a:buFont typeface="Arial"/>
              <a:buChar char="•"/>
            </a:pPr>
            <a:r>
              <a:rPr sz="1150" b="0" i="0">
                <a:solidFill>
                  <a:srgbClr val="414141"/>
                </a:solidFill>
                <a:latin typeface="Arial"/>
              </a:rPr>
              <a:t>Each of the 12 valid configurations is trained from scratch</a:t>
            </a:r>
          </a:p>
        </p:txBody>
      </p:sp>
      <p:sp>
        <p:nvSpPr>
          <p:cNvPr id="920" name="Rectangle 919"/>
          <p:cNvSpPr/>
          <p:nvPr/>
        </p:nvSpPr>
        <p:spPr>
          <a:xfrm>
            <a:off x="4206240" y="3017520"/>
            <a:ext cx="4434840" cy="128016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4343400" y="3072384"/>
            <a:ext cx="4160520" cy="1170431"/>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A8CC2F"/>
                </a:solidFill>
                <a:latin typeface="Arial"/>
              </a:rPr>
              <a:t>Matched pair: the key idea</a:t>
            </a:r>
          </a:p>
          <a:p>
            <a:pPr algn="l" marL="0" indent="0">
              <a:spcBef>
                <a:spcPts val="0"/>
              </a:spcBef>
              <a:spcAft>
                <a:spcPts val="300"/>
              </a:spcAft>
              <a:buNone/>
            </a:pPr>
            <a:r>
              <a:rPr sz="1050" b="0" i="0">
                <a:solidFill>
                  <a:srgbClr val="FFFFFF"/>
                </a:solidFill>
                <a:latin typeface="Arial"/>
              </a:rPr>
              <a:t>Two configurations identical except for one part. Example: C1 (nothing switched on) and C2 (only the transformer). Their score difference is the effect of the transformer in that setting.</a:t>
            </a:r>
          </a:p>
        </p:txBody>
      </p:sp>
      <p:sp>
        <p:nvSpPr>
          <p:cNvPr id="922" name="Rectangle 921"/>
          <p:cNvSpPr/>
          <p:nvPr/>
        </p:nvSpPr>
        <p:spPr>
          <a:xfrm>
            <a:off x="4206240" y="4434840"/>
            <a:ext cx="10058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TextBox 922"/>
          <p:cNvSpPr txBox="1"/>
          <p:nvPr/>
        </p:nvSpPr>
        <p:spPr>
          <a:xfrm>
            <a:off x="4206240" y="4462272"/>
            <a:ext cx="1005840" cy="548640"/>
          </a:xfrm>
          <a:prstGeom prst="rect">
            <a:avLst/>
          </a:prstGeom>
          <a:noFill/>
        </p:spPr>
        <p:txBody>
          <a:bodyPr wrap="square" lIns="45720" rIns="45720" tIns="27432" bIns="27432" anchor="ctr"/>
          <a:lstStyle/>
          <a:p>
            <a:pPr algn="ctr" marL="0" indent="0">
              <a:spcBef>
                <a:spcPts val="0"/>
              </a:spcBef>
              <a:spcAft>
                <a:spcPts val="0"/>
              </a:spcAft>
              <a:buNone/>
            </a:pPr>
            <a:r>
              <a:rPr sz="2600" b="1" i="0">
                <a:solidFill>
                  <a:srgbClr val="004CA0"/>
                </a:solidFill>
                <a:latin typeface="Arial"/>
              </a:rPr>
              <a:t>6</a:t>
            </a:r>
          </a:p>
        </p:txBody>
      </p:sp>
      <p:sp>
        <p:nvSpPr>
          <p:cNvPr id="924" name="TextBox 923"/>
          <p:cNvSpPr txBox="1"/>
          <p:nvPr/>
        </p:nvSpPr>
        <p:spPr>
          <a:xfrm>
            <a:off x="4206240" y="4983480"/>
            <a:ext cx="1005840" cy="411480"/>
          </a:xfrm>
          <a:prstGeom prst="rect">
            <a:avLst/>
          </a:prstGeom>
          <a:noFill/>
        </p:spPr>
        <p:txBody>
          <a:bodyPr wrap="square" lIns="27432" rIns="27432" tIns="27432" bIns="27432" anchor="ctr"/>
          <a:lstStyle/>
          <a:p>
            <a:pPr algn="ctr" marL="0" indent="0">
              <a:spcBef>
                <a:spcPts val="0"/>
              </a:spcBef>
              <a:spcAft>
                <a:spcPts val="0"/>
              </a:spcAft>
              <a:buNone/>
            </a:pPr>
            <a:r>
              <a:rPr sz="900" b="0" i="0">
                <a:solidFill>
                  <a:srgbClr val="414141"/>
                </a:solidFill>
                <a:latin typeface="Arial"/>
              </a:rPr>
              <a:t>Transformer pairs</a:t>
            </a:r>
          </a:p>
        </p:txBody>
      </p:sp>
      <p:sp>
        <p:nvSpPr>
          <p:cNvPr id="925" name="Rectangle 924"/>
          <p:cNvSpPr/>
          <p:nvPr/>
        </p:nvSpPr>
        <p:spPr>
          <a:xfrm>
            <a:off x="5349240" y="4434840"/>
            <a:ext cx="10058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TextBox 925"/>
          <p:cNvSpPr txBox="1"/>
          <p:nvPr/>
        </p:nvSpPr>
        <p:spPr>
          <a:xfrm>
            <a:off x="5349240" y="4462272"/>
            <a:ext cx="1005840" cy="548640"/>
          </a:xfrm>
          <a:prstGeom prst="rect">
            <a:avLst/>
          </a:prstGeom>
          <a:noFill/>
        </p:spPr>
        <p:txBody>
          <a:bodyPr wrap="square" lIns="45720" rIns="45720" tIns="27432" bIns="27432" anchor="ctr"/>
          <a:lstStyle/>
          <a:p>
            <a:pPr algn="ctr" marL="0" indent="0">
              <a:spcBef>
                <a:spcPts val="0"/>
              </a:spcBef>
              <a:spcAft>
                <a:spcPts val="0"/>
              </a:spcAft>
              <a:buNone/>
            </a:pPr>
            <a:r>
              <a:rPr sz="2600" b="1" i="0">
                <a:solidFill>
                  <a:srgbClr val="004CA0"/>
                </a:solidFill>
                <a:latin typeface="Arial"/>
              </a:rPr>
              <a:t>6</a:t>
            </a:r>
          </a:p>
        </p:txBody>
      </p:sp>
      <p:sp>
        <p:nvSpPr>
          <p:cNvPr id="927" name="TextBox 926"/>
          <p:cNvSpPr txBox="1"/>
          <p:nvPr/>
        </p:nvSpPr>
        <p:spPr>
          <a:xfrm>
            <a:off x="5349240" y="4983480"/>
            <a:ext cx="1005840" cy="411480"/>
          </a:xfrm>
          <a:prstGeom prst="rect">
            <a:avLst/>
          </a:prstGeom>
          <a:noFill/>
        </p:spPr>
        <p:txBody>
          <a:bodyPr wrap="square" lIns="27432" rIns="27432" tIns="27432" bIns="27432" anchor="ctr"/>
          <a:lstStyle/>
          <a:p>
            <a:pPr algn="ctr" marL="0" indent="0">
              <a:spcBef>
                <a:spcPts val="0"/>
              </a:spcBef>
              <a:spcAft>
                <a:spcPts val="0"/>
              </a:spcAft>
              <a:buNone/>
            </a:pPr>
            <a:r>
              <a:rPr sz="900" b="0" i="0">
                <a:solidFill>
                  <a:srgbClr val="414141"/>
                </a:solidFill>
                <a:latin typeface="Arial"/>
              </a:rPr>
              <a:t>EVM pairs</a:t>
            </a:r>
          </a:p>
        </p:txBody>
      </p:sp>
      <p:sp>
        <p:nvSpPr>
          <p:cNvPr id="928" name="Rectangle 927"/>
          <p:cNvSpPr/>
          <p:nvPr/>
        </p:nvSpPr>
        <p:spPr>
          <a:xfrm>
            <a:off x="6492240" y="4434840"/>
            <a:ext cx="10058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TextBox 928"/>
          <p:cNvSpPr txBox="1"/>
          <p:nvPr/>
        </p:nvSpPr>
        <p:spPr>
          <a:xfrm>
            <a:off x="6492240" y="4462272"/>
            <a:ext cx="1005840" cy="548640"/>
          </a:xfrm>
          <a:prstGeom prst="rect">
            <a:avLst/>
          </a:prstGeom>
          <a:noFill/>
        </p:spPr>
        <p:txBody>
          <a:bodyPr wrap="square" lIns="45720" rIns="45720" tIns="27432" bIns="27432" anchor="ctr"/>
          <a:lstStyle/>
          <a:p>
            <a:pPr algn="ctr" marL="0" indent="0">
              <a:spcBef>
                <a:spcPts val="0"/>
              </a:spcBef>
              <a:spcAft>
                <a:spcPts val="0"/>
              </a:spcAft>
              <a:buNone/>
            </a:pPr>
            <a:r>
              <a:rPr sz="2600" b="1" i="0">
                <a:solidFill>
                  <a:srgbClr val="004CA0"/>
                </a:solidFill>
                <a:latin typeface="Arial"/>
              </a:rPr>
              <a:t>4</a:t>
            </a:r>
          </a:p>
        </p:txBody>
      </p:sp>
      <p:sp>
        <p:nvSpPr>
          <p:cNvPr id="930" name="TextBox 929"/>
          <p:cNvSpPr txBox="1"/>
          <p:nvPr/>
        </p:nvSpPr>
        <p:spPr>
          <a:xfrm>
            <a:off x="6492240" y="4983480"/>
            <a:ext cx="1005840" cy="411480"/>
          </a:xfrm>
          <a:prstGeom prst="rect">
            <a:avLst/>
          </a:prstGeom>
          <a:noFill/>
        </p:spPr>
        <p:txBody>
          <a:bodyPr wrap="square" lIns="27432" rIns="27432" tIns="27432" bIns="27432" anchor="ctr"/>
          <a:lstStyle/>
          <a:p>
            <a:pPr algn="ctr" marL="0" indent="0">
              <a:spcBef>
                <a:spcPts val="0"/>
              </a:spcBef>
              <a:spcAft>
                <a:spcPts val="0"/>
              </a:spcAft>
              <a:buNone/>
            </a:pPr>
            <a:r>
              <a:rPr sz="900" b="0" i="0">
                <a:solidFill>
                  <a:srgbClr val="414141"/>
                </a:solidFill>
                <a:latin typeface="Arial"/>
              </a:rPr>
              <a:t>SimAM pairs</a:t>
            </a:r>
          </a:p>
        </p:txBody>
      </p:sp>
      <p:sp>
        <p:nvSpPr>
          <p:cNvPr id="931" name="Rectangle 930"/>
          <p:cNvSpPr/>
          <p:nvPr/>
        </p:nvSpPr>
        <p:spPr>
          <a:xfrm>
            <a:off x="7635240" y="4434840"/>
            <a:ext cx="10058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TextBox 931"/>
          <p:cNvSpPr txBox="1"/>
          <p:nvPr/>
        </p:nvSpPr>
        <p:spPr>
          <a:xfrm>
            <a:off x="7635240" y="4462272"/>
            <a:ext cx="1005840" cy="548640"/>
          </a:xfrm>
          <a:prstGeom prst="rect">
            <a:avLst/>
          </a:prstGeom>
          <a:noFill/>
        </p:spPr>
        <p:txBody>
          <a:bodyPr wrap="square" lIns="45720" rIns="45720" tIns="27432" bIns="27432" anchor="ctr"/>
          <a:lstStyle/>
          <a:p>
            <a:pPr algn="ctr" marL="0" indent="0">
              <a:spcBef>
                <a:spcPts val="0"/>
              </a:spcBef>
              <a:spcAft>
                <a:spcPts val="0"/>
              </a:spcAft>
              <a:buNone/>
            </a:pPr>
            <a:r>
              <a:rPr sz="2600" b="1" i="0">
                <a:solidFill>
                  <a:srgbClr val="004CA0"/>
                </a:solidFill>
                <a:latin typeface="Arial"/>
              </a:rPr>
              <a:t>4</a:t>
            </a:r>
          </a:p>
        </p:txBody>
      </p:sp>
      <p:sp>
        <p:nvSpPr>
          <p:cNvPr id="933" name="TextBox 932"/>
          <p:cNvSpPr txBox="1"/>
          <p:nvPr/>
        </p:nvSpPr>
        <p:spPr>
          <a:xfrm>
            <a:off x="7635240" y="4983480"/>
            <a:ext cx="1005840" cy="411480"/>
          </a:xfrm>
          <a:prstGeom prst="rect">
            <a:avLst/>
          </a:prstGeom>
          <a:noFill/>
        </p:spPr>
        <p:txBody>
          <a:bodyPr wrap="square" lIns="27432" rIns="27432" tIns="27432" bIns="27432" anchor="ctr"/>
          <a:lstStyle/>
          <a:p>
            <a:pPr algn="ctr" marL="0" indent="0">
              <a:spcBef>
                <a:spcPts val="0"/>
              </a:spcBef>
              <a:spcAft>
                <a:spcPts val="0"/>
              </a:spcAft>
              <a:buNone/>
            </a:pPr>
            <a:r>
              <a:rPr sz="900" b="0" i="0">
                <a:solidFill>
                  <a:srgbClr val="414141"/>
                </a:solidFill>
                <a:latin typeface="Arial"/>
              </a:rPr>
              <a:t>CNN stem pairs</a:t>
            </a:r>
          </a:p>
        </p:txBody>
      </p:sp>
      <p:sp>
        <p:nvSpPr>
          <p:cNvPr id="934" name="TextBox 933"/>
          <p:cNvSpPr txBox="1"/>
          <p:nvPr/>
        </p:nvSpPr>
        <p:spPr>
          <a:xfrm>
            <a:off x="4206240" y="5486400"/>
            <a:ext cx="4434840" cy="411480"/>
          </a:xfrm>
          <a:prstGeom prst="rect">
            <a:avLst/>
          </a:prstGeom>
          <a:noFill/>
        </p:spPr>
        <p:txBody>
          <a:bodyPr wrap="square" lIns="45720" rIns="45720" tIns="27432" bIns="27432" anchor="t"/>
          <a:lstStyle/>
          <a:p>
            <a:pPr algn="l" marL="0" indent="0">
              <a:spcBef>
                <a:spcPts val="0"/>
              </a:spcBef>
              <a:spcAft>
                <a:spcPts val="300"/>
              </a:spcAft>
              <a:buNone/>
            </a:pPr>
            <a:r>
              <a:rPr sz="1000" b="0" i="1">
                <a:solidFill>
                  <a:srgbClr val="004CA0"/>
                </a:solidFill>
                <a:latin typeface="Arial"/>
              </a:rPr>
              <a:t>The effect of a part = the average over all of its pairs (20 pairs in total).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TESTING FAIRLY: UNSEEN PEOPLE AND A BALANCED SCORE</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03 · THE EXPERIMENT</a:t>
            </a:r>
          </a:p>
        </p:txBody>
      </p:sp>
      <p:sp>
        <p:nvSpPr>
          <p:cNvPr id="917"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17</a:t>
            </a:fld>
          </a:p>
        </p:txBody>
      </p:sp>
      <p:sp>
        <p:nvSpPr>
          <p:cNvPr id="918" name="TextBox 917"/>
          <p:cNvSpPr txBox="1"/>
          <p:nvPr/>
        </p:nvSpPr>
        <p:spPr>
          <a:xfrm>
            <a:off x="685800" y="1783080"/>
            <a:ext cx="3886200" cy="32004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Leave-one-subject-out: test on an unseen person</a:t>
            </a:r>
          </a:p>
        </p:txBody>
      </p:sp>
      <p:sp>
        <p:nvSpPr>
          <p:cNvPr id="919" name="TextBox 918"/>
          <p:cNvSpPr txBox="1"/>
          <p:nvPr/>
        </p:nvSpPr>
        <p:spPr>
          <a:xfrm>
            <a:off x="685800" y="2167128"/>
            <a:ext cx="640080" cy="274320"/>
          </a:xfrm>
          <a:prstGeom prst="rect">
            <a:avLst/>
          </a:prstGeom>
          <a:noFill/>
        </p:spPr>
        <p:txBody>
          <a:bodyPr wrap="square" lIns="18288" rIns="18288" tIns="27432" bIns="27432" anchor="ctr"/>
          <a:lstStyle/>
          <a:p>
            <a:pPr algn="l" marL="0" indent="0">
              <a:spcBef>
                <a:spcPts val="0"/>
              </a:spcBef>
              <a:spcAft>
                <a:spcPts val="0"/>
              </a:spcAft>
              <a:buNone/>
            </a:pPr>
            <a:r>
              <a:rPr sz="850" b="0" i="0">
                <a:solidFill>
                  <a:srgbClr val="8C8C8C"/>
                </a:solidFill>
                <a:latin typeface="Arial"/>
              </a:rPr>
              <a:t>test 1</a:t>
            </a:r>
          </a:p>
        </p:txBody>
      </p:sp>
      <p:sp>
        <p:nvSpPr>
          <p:cNvPr id="920" name="Rectangle 919"/>
          <p:cNvSpPr/>
          <p:nvPr/>
        </p:nvSpPr>
        <p:spPr>
          <a:xfrm>
            <a:off x="1325880" y="2240280"/>
            <a:ext cx="105156" cy="105156"/>
          </a:xfrm>
          <a:prstGeom prst="rect">
            <a:avLst/>
          </a:prstGeom>
          <a:solidFill>
            <a:srgbClr val="A8C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Rectangle 920"/>
          <p:cNvSpPr/>
          <p:nvPr/>
        </p:nvSpPr>
        <p:spPr>
          <a:xfrm>
            <a:off x="1449324"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Rectangle 921"/>
          <p:cNvSpPr/>
          <p:nvPr/>
        </p:nvSpPr>
        <p:spPr>
          <a:xfrm>
            <a:off x="1572768"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Rectangle 922"/>
          <p:cNvSpPr/>
          <p:nvPr/>
        </p:nvSpPr>
        <p:spPr>
          <a:xfrm>
            <a:off x="1696212"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Rectangle 923"/>
          <p:cNvSpPr/>
          <p:nvPr/>
        </p:nvSpPr>
        <p:spPr>
          <a:xfrm>
            <a:off x="1819656"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Rectangle 924"/>
          <p:cNvSpPr/>
          <p:nvPr/>
        </p:nvSpPr>
        <p:spPr>
          <a:xfrm>
            <a:off x="1943100"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Rectangle 925"/>
          <p:cNvSpPr/>
          <p:nvPr/>
        </p:nvSpPr>
        <p:spPr>
          <a:xfrm>
            <a:off x="2066543"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Rectangle 926"/>
          <p:cNvSpPr/>
          <p:nvPr/>
        </p:nvSpPr>
        <p:spPr>
          <a:xfrm>
            <a:off x="2189988"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Rectangle 927"/>
          <p:cNvSpPr/>
          <p:nvPr/>
        </p:nvSpPr>
        <p:spPr>
          <a:xfrm>
            <a:off x="2313432"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Rectangle 928"/>
          <p:cNvSpPr/>
          <p:nvPr/>
        </p:nvSpPr>
        <p:spPr>
          <a:xfrm>
            <a:off x="2436876"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Rectangle 929"/>
          <p:cNvSpPr/>
          <p:nvPr/>
        </p:nvSpPr>
        <p:spPr>
          <a:xfrm>
            <a:off x="2560320"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Rectangle 930"/>
          <p:cNvSpPr/>
          <p:nvPr/>
        </p:nvSpPr>
        <p:spPr>
          <a:xfrm>
            <a:off x="2683764"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Rectangle 931"/>
          <p:cNvSpPr/>
          <p:nvPr/>
        </p:nvSpPr>
        <p:spPr>
          <a:xfrm>
            <a:off x="2807208"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Rectangle 932"/>
          <p:cNvSpPr/>
          <p:nvPr/>
        </p:nvSpPr>
        <p:spPr>
          <a:xfrm>
            <a:off x="2930652"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Rectangle 933"/>
          <p:cNvSpPr/>
          <p:nvPr/>
        </p:nvSpPr>
        <p:spPr>
          <a:xfrm>
            <a:off x="3054096"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Rectangle 934"/>
          <p:cNvSpPr/>
          <p:nvPr/>
        </p:nvSpPr>
        <p:spPr>
          <a:xfrm>
            <a:off x="3177540"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Rectangle 935"/>
          <p:cNvSpPr/>
          <p:nvPr/>
        </p:nvSpPr>
        <p:spPr>
          <a:xfrm>
            <a:off x="3300984"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Rectangle 936"/>
          <p:cNvSpPr/>
          <p:nvPr/>
        </p:nvSpPr>
        <p:spPr>
          <a:xfrm>
            <a:off x="3424428"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Rectangle 937"/>
          <p:cNvSpPr/>
          <p:nvPr/>
        </p:nvSpPr>
        <p:spPr>
          <a:xfrm>
            <a:off x="3547872"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Rectangle 938"/>
          <p:cNvSpPr/>
          <p:nvPr/>
        </p:nvSpPr>
        <p:spPr>
          <a:xfrm>
            <a:off x="3671316"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Rectangle 939"/>
          <p:cNvSpPr/>
          <p:nvPr/>
        </p:nvSpPr>
        <p:spPr>
          <a:xfrm>
            <a:off x="3794760"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Rectangle 940"/>
          <p:cNvSpPr/>
          <p:nvPr/>
        </p:nvSpPr>
        <p:spPr>
          <a:xfrm>
            <a:off x="3918204"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Rectangle 941"/>
          <p:cNvSpPr/>
          <p:nvPr/>
        </p:nvSpPr>
        <p:spPr>
          <a:xfrm>
            <a:off x="4041648"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Rectangle 942"/>
          <p:cNvSpPr/>
          <p:nvPr/>
        </p:nvSpPr>
        <p:spPr>
          <a:xfrm>
            <a:off x="4165092"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Rectangle 943"/>
          <p:cNvSpPr/>
          <p:nvPr/>
        </p:nvSpPr>
        <p:spPr>
          <a:xfrm>
            <a:off x="4288536" y="2240280"/>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TextBox 944"/>
          <p:cNvSpPr txBox="1"/>
          <p:nvPr/>
        </p:nvSpPr>
        <p:spPr>
          <a:xfrm>
            <a:off x="685800" y="2551176"/>
            <a:ext cx="640080" cy="274320"/>
          </a:xfrm>
          <a:prstGeom prst="rect">
            <a:avLst/>
          </a:prstGeom>
          <a:noFill/>
        </p:spPr>
        <p:txBody>
          <a:bodyPr wrap="square" lIns="18288" rIns="18288" tIns="27432" bIns="27432" anchor="ctr"/>
          <a:lstStyle/>
          <a:p>
            <a:pPr algn="l" marL="0" indent="0">
              <a:spcBef>
                <a:spcPts val="0"/>
              </a:spcBef>
              <a:spcAft>
                <a:spcPts val="0"/>
              </a:spcAft>
              <a:buNone/>
            </a:pPr>
            <a:r>
              <a:rPr sz="850" b="0" i="0">
                <a:solidFill>
                  <a:srgbClr val="8C8C8C"/>
                </a:solidFill>
                <a:latin typeface="Arial"/>
              </a:rPr>
              <a:t>test 2</a:t>
            </a:r>
          </a:p>
        </p:txBody>
      </p:sp>
      <p:sp>
        <p:nvSpPr>
          <p:cNvPr id="946" name="Rectangle 945"/>
          <p:cNvSpPr/>
          <p:nvPr/>
        </p:nvSpPr>
        <p:spPr>
          <a:xfrm>
            <a:off x="1325880"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Rectangle 946"/>
          <p:cNvSpPr/>
          <p:nvPr/>
        </p:nvSpPr>
        <p:spPr>
          <a:xfrm>
            <a:off x="1449324" y="2624328"/>
            <a:ext cx="105156" cy="105156"/>
          </a:xfrm>
          <a:prstGeom prst="rect">
            <a:avLst/>
          </a:prstGeom>
          <a:solidFill>
            <a:srgbClr val="A8C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Rectangle 947"/>
          <p:cNvSpPr/>
          <p:nvPr/>
        </p:nvSpPr>
        <p:spPr>
          <a:xfrm>
            <a:off x="1572768"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Rectangle 948"/>
          <p:cNvSpPr/>
          <p:nvPr/>
        </p:nvSpPr>
        <p:spPr>
          <a:xfrm>
            <a:off x="1696212"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Rectangle 949"/>
          <p:cNvSpPr/>
          <p:nvPr/>
        </p:nvSpPr>
        <p:spPr>
          <a:xfrm>
            <a:off x="1819656"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Rectangle 950"/>
          <p:cNvSpPr/>
          <p:nvPr/>
        </p:nvSpPr>
        <p:spPr>
          <a:xfrm>
            <a:off x="1943100"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Rectangle 951"/>
          <p:cNvSpPr/>
          <p:nvPr/>
        </p:nvSpPr>
        <p:spPr>
          <a:xfrm>
            <a:off x="2066543"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Rectangle 952"/>
          <p:cNvSpPr/>
          <p:nvPr/>
        </p:nvSpPr>
        <p:spPr>
          <a:xfrm>
            <a:off x="2189988"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Rectangle 953"/>
          <p:cNvSpPr/>
          <p:nvPr/>
        </p:nvSpPr>
        <p:spPr>
          <a:xfrm>
            <a:off x="2313432"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Rectangle 954"/>
          <p:cNvSpPr/>
          <p:nvPr/>
        </p:nvSpPr>
        <p:spPr>
          <a:xfrm>
            <a:off x="2436876"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Rectangle 955"/>
          <p:cNvSpPr/>
          <p:nvPr/>
        </p:nvSpPr>
        <p:spPr>
          <a:xfrm>
            <a:off x="2560320"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Rectangle 956"/>
          <p:cNvSpPr/>
          <p:nvPr/>
        </p:nvSpPr>
        <p:spPr>
          <a:xfrm>
            <a:off x="2683764"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Rectangle 957"/>
          <p:cNvSpPr/>
          <p:nvPr/>
        </p:nvSpPr>
        <p:spPr>
          <a:xfrm>
            <a:off x="2807208"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Rectangle 958"/>
          <p:cNvSpPr/>
          <p:nvPr/>
        </p:nvSpPr>
        <p:spPr>
          <a:xfrm>
            <a:off x="2930652"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Rectangle 959"/>
          <p:cNvSpPr/>
          <p:nvPr/>
        </p:nvSpPr>
        <p:spPr>
          <a:xfrm>
            <a:off x="3054096"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Rectangle 960"/>
          <p:cNvSpPr/>
          <p:nvPr/>
        </p:nvSpPr>
        <p:spPr>
          <a:xfrm>
            <a:off x="3177540"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Rectangle 961"/>
          <p:cNvSpPr/>
          <p:nvPr/>
        </p:nvSpPr>
        <p:spPr>
          <a:xfrm>
            <a:off x="3300984"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Rectangle 962"/>
          <p:cNvSpPr/>
          <p:nvPr/>
        </p:nvSpPr>
        <p:spPr>
          <a:xfrm>
            <a:off x="3424428"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Rectangle 963"/>
          <p:cNvSpPr/>
          <p:nvPr/>
        </p:nvSpPr>
        <p:spPr>
          <a:xfrm>
            <a:off x="3547872"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Rectangle 964"/>
          <p:cNvSpPr/>
          <p:nvPr/>
        </p:nvSpPr>
        <p:spPr>
          <a:xfrm>
            <a:off x="3671316"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Rectangle 965"/>
          <p:cNvSpPr/>
          <p:nvPr/>
        </p:nvSpPr>
        <p:spPr>
          <a:xfrm>
            <a:off x="3794760"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Rectangle 966"/>
          <p:cNvSpPr/>
          <p:nvPr/>
        </p:nvSpPr>
        <p:spPr>
          <a:xfrm>
            <a:off x="3918204"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Rectangle 967"/>
          <p:cNvSpPr/>
          <p:nvPr/>
        </p:nvSpPr>
        <p:spPr>
          <a:xfrm>
            <a:off x="4041648"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Rectangle 968"/>
          <p:cNvSpPr/>
          <p:nvPr/>
        </p:nvSpPr>
        <p:spPr>
          <a:xfrm>
            <a:off x="4165092"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Rectangle 969"/>
          <p:cNvSpPr/>
          <p:nvPr/>
        </p:nvSpPr>
        <p:spPr>
          <a:xfrm>
            <a:off x="4288536" y="2624328"/>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TextBox 970"/>
          <p:cNvSpPr txBox="1"/>
          <p:nvPr/>
        </p:nvSpPr>
        <p:spPr>
          <a:xfrm>
            <a:off x="685800" y="2935224"/>
            <a:ext cx="640080" cy="274320"/>
          </a:xfrm>
          <a:prstGeom prst="rect">
            <a:avLst/>
          </a:prstGeom>
          <a:noFill/>
        </p:spPr>
        <p:txBody>
          <a:bodyPr wrap="square" lIns="18288" rIns="18288" tIns="27432" bIns="27432" anchor="ctr"/>
          <a:lstStyle/>
          <a:p>
            <a:pPr algn="l" marL="0" indent="0">
              <a:spcBef>
                <a:spcPts val="0"/>
              </a:spcBef>
              <a:spcAft>
                <a:spcPts val="0"/>
              </a:spcAft>
              <a:buNone/>
            </a:pPr>
            <a:r>
              <a:rPr sz="850" b="0" i="0">
                <a:solidFill>
                  <a:srgbClr val="8C8C8C"/>
                </a:solidFill>
                <a:latin typeface="Arial"/>
              </a:rPr>
              <a:t>test 25</a:t>
            </a:r>
          </a:p>
        </p:txBody>
      </p:sp>
      <p:sp>
        <p:nvSpPr>
          <p:cNvPr id="972" name="Rectangle 971"/>
          <p:cNvSpPr/>
          <p:nvPr/>
        </p:nvSpPr>
        <p:spPr>
          <a:xfrm>
            <a:off x="1325880"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Rectangle 972"/>
          <p:cNvSpPr/>
          <p:nvPr/>
        </p:nvSpPr>
        <p:spPr>
          <a:xfrm>
            <a:off x="1449324"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Rectangle 973"/>
          <p:cNvSpPr/>
          <p:nvPr/>
        </p:nvSpPr>
        <p:spPr>
          <a:xfrm>
            <a:off x="1572768"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Rectangle 974"/>
          <p:cNvSpPr/>
          <p:nvPr/>
        </p:nvSpPr>
        <p:spPr>
          <a:xfrm>
            <a:off x="1696212"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Rectangle 975"/>
          <p:cNvSpPr/>
          <p:nvPr/>
        </p:nvSpPr>
        <p:spPr>
          <a:xfrm>
            <a:off x="1819656"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Rectangle 976"/>
          <p:cNvSpPr/>
          <p:nvPr/>
        </p:nvSpPr>
        <p:spPr>
          <a:xfrm>
            <a:off x="1943100"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Rectangle 977"/>
          <p:cNvSpPr/>
          <p:nvPr/>
        </p:nvSpPr>
        <p:spPr>
          <a:xfrm>
            <a:off x="2066543"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Rectangle 978"/>
          <p:cNvSpPr/>
          <p:nvPr/>
        </p:nvSpPr>
        <p:spPr>
          <a:xfrm>
            <a:off x="2189988"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Rectangle 979"/>
          <p:cNvSpPr/>
          <p:nvPr/>
        </p:nvSpPr>
        <p:spPr>
          <a:xfrm>
            <a:off x="2313432"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Rectangle 980"/>
          <p:cNvSpPr/>
          <p:nvPr/>
        </p:nvSpPr>
        <p:spPr>
          <a:xfrm>
            <a:off x="2436876"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Rectangle 981"/>
          <p:cNvSpPr/>
          <p:nvPr/>
        </p:nvSpPr>
        <p:spPr>
          <a:xfrm>
            <a:off x="2560320"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Rectangle 982"/>
          <p:cNvSpPr/>
          <p:nvPr/>
        </p:nvSpPr>
        <p:spPr>
          <a:xfrm>
            <a:off x="2683764"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Rectangle 983"/>
          <p:cNvSpPr/>
          <p:nvPr/>
        </p:nvSpPr>
        <p:spPr>
          <a:xfrm>
            <a:off x="2807208"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Rectangle 984"/>
          <p:cNvSpPr/>
          <p:nvPr/>
        </p:nvSpPr>
        <p:spPr>
          <a:xfrm>
            <a:off x="2930652"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Rectangle 985"/>
          <p:cNvSpPr/>
          <p:nvPr/>
        </p:nvSpPr>
        <p:spPr>
          <a:xfrm>
            <a:off x="3054096"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Rectangle 986"/>
          <p:cNvSpPr/>
          <p:nvPr/>
        </p:nvSpPr>
        <p:spPr>
          <a:xfrm>
            <a:off x="3177540"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Rectangle 987"/>
          <p:cNvSpPr/>
          <p:nvPr/>
        </p:nvSpPr>
        <p:spPr>
          <a:xfrm>
            <a:off x="3300984"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Rectangle 988"/>
          <p:cNvSpPr/>
          <p:nvPr/>
        </p:nvSpPr>
        <p:spPr>
          <a:xfrm>
            <a:off x="3424428"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Rectangle 989"/>
          <p:cNvSpPr/>
          <p:nvPr/>
        </p:nvSpPr>
        <p:spPr>
          <a:xfrm>
            <a:off x="3547872"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Rectangle 990"/>
          <p:cNvSpPr/>
          <p:nvPr/>
        </p:nvSpPr>
        <p:spPr>
          <a:xfrm>
            <a:off x="3671316"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Rectangle 991"/>
          <p:cNvSpPr/>
          <p:nvPr/>
        </p:nvSpPr>
        <p:spPr>
          <a:xfrm>
            <a:off x="3794760"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Rectangle 992"/>
          <p:cNvSpPr/>
          <p:nvPr/>
        </p:nvSpPr>
        <p:spPr>
          <a:xfrm>
            <a:off x="3918204"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Rectangle 993"/>
          <p:cNvSpPr/>
          <p:nvPr/>
        </p:nvSpPr>
        <p:spPr>
          <a:xfrm>
            <a:off x="4041648"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Rectangle 994"/>
          <p:cNvSpPr/>
          <p:nvPr/>
        </p:nvSpPr>
        <p:spPr>
          <a:xfrm>
            <a:off x="4165092" y="3008376"/>
            <a:ext cx="105156" cy="105156"/>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Rectangle 995"/>
          <p:cNvSpPr/>
          <p:nvPr/>
        </p:nvSpPr>
        <p:spPr>
          <a:xfrm>
            <a:off x="4288536" y="3008376"/>
            <a:ext cx="105156" cy="105156"/>
          </a:xfrm>
          <a:prstGeom prst="rect">
            <a:avLst/>
          </a:prstGeom>
          <a:solidFill>
            <a:srgbClr val="A8C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TextBox 996"/>
          <p:cNvSpPr txBox="1"/>
          <p:nvPr/>
        </p:nvSpPr>
        <p:spPr>
          <a:xfrm>
            <a:off x="1325880" y="2761488"/>
            <a:ext cx="3108960" cy="201168"/>
          </a:xfrm>
          <a:prstGeom prst="rect">
            <a:avLst/>
          </a:prstGeom>
          <a:noFill/>
        </p:spPr>
        <p:txBody>
          <a:bodyPr wrap="square" lIns="0" rIns="0" tIns="27432" bIns="27432" anchor="t"/>
          <a:lstStyle/>
          <a:p>
            <a:pPr algn="ctr" marL="0" indent="0">
              <a:spcBef>
                <a:spcPts val="0"/>
              </a:spcBef>
              <a:spcAft>
                <a:spcPts val="0"/>
              </a:spcAft>
              <a:buNone/>
            </a:pPr>
            <a:r>
              <a:rPr sz="900" b="0" i="0">
                <a:solidFill>
                  <a:srgbClr val="8C8C8C"/>
                </a:solidFill>
                <a:latin typeface="Arial"/>
              </a:rPr>
              <a:t>· · ·</a:t>
            </a:r>
          </a:p>
        </p:txBody>
      </p:sp>
      <p:sp>
        <p:nvSpPr>
          <p:cNvPr id="998" name="TextBox 997"/>
          <p:cNvSpPr txBox="1"/>
          <p:nvPr/>
        </p:nvSpPr>
        <p:spPr>
          <a:xfrm>
            <a:off x="685800" y="3154680"/>
            <a:ext cx="3886200" cy="27432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blue: 24 training people   lime: the test person</a:t>
            </a:r>
          </a:p>
        </p:txBody>
      </p:sp>
      <p:sp>
        <p:nvSpPr>
          <p:cNvPr id="999" name="TextBox 998"/>
          <p:cNvSpPr txBox="1"/>
          <p:nvPr/>
        </p:nvSpPr>
        <p:spPr>
          <a:xfrm>
            <a:off x="685800" y="3474720"/>
            <a:ext cx="3886200" cy="128016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50" b="0" i="0">
                <a:solidFill>
                  <a:srgbClr val="414141"/>
                </a:solidFill>
                <a:latin typeface="Arial"/>
              </a:rPr>
              <a:t>Repeated 25 times, once per person</a:t>
            </a:r>
          </a:p>
          <a:p>
            <a:pPr algn="l" marL="155448" indent="-155448">
              <a:spcBef>
                <a:spcPts val="0"/>
              </a:spcBef>
              <a:spcAft>
                <a:spcPts val="400"/>
              </a:spcAft>
              <a:buClr>
                <a:srgbClr val="A8CC2F"/>
              </a:buClr>
              <a:buFont typeface="Arial"/>
              <a:buChar char="•"/>
            </a:pPr>
            <a:r>
              <a:rPr sz="1050" b="0" i="0">
                <a:solidFill>
                  <a:srgbClr val="414141"/>
                </a:solidFill>
                <a:latin typeface="Arial"/>
              </a:rPr>
              <a:t>Every clip is tested once, by a model that never saw that face</a:t>
            </a:r>
          </a:p>
          <a:p>
            <a:pPr algn="l" marL="155448" indent="-155448">
              <a:spcBef>
                <a:spcPts val="0"/>
              </a:spcBef>
              <a:spcAft>
                <a:spcPts val="400"/>
              </a:spcAft>
              <a:buClr>
                <a:srgbClr val="A8CC2F"/>
              </a:buClr>
              <a:buFont typeface="Arial"/>
              <a:buChar char="•"/>
            </a:pPr>
            <a:r>
              <a:rPr sz="1050" b="0" i="0">
                <a:solidFill>
                  <a:srgbClr val="414141"/>
                </a:solidFill>
                <a:latin typeface="Arial"/>
              </a:rPr>
              <a:t>Results of the 25 tests are added up before scoring</a:t>
            </a:r>
          </a:p>
        </p:txBody>
      </p:sp>
      <p:sp>
        <p:nvSpPr>
          <p:cNvPr id="1000" name="TextBox 999"/>
          <p:cNvSpPr txBox="1"/>
          <p:nvPr/>
        </p:nvSpPr>
        <p:spPr>
          <a:xfrm>
            <a:off x="4754880" y="1783080"/>
            <a:ext cx="3886200" cy="320040"/>
          </a:xfrm>
          <a:prstGeom prst="rect">
            <a:avLst/>
          </a:prstGeom>
          <a:noFill/>
        </p:spPr>
        <p:txBody>
          <a:bodyPr wrap="square" lIns="45720" rIns="45720" tIns="27432" bIns="27432" anchor="t"/>
          <a:lstStyle/>
          <a:p>
            <a:pPr algn="l" marL="0" indent="0">
              <a:spcBef>
                <a:spcPts val="0"/>
              </a:spcBef>
              <a:spcAft>
                <a:spcPts val="300"/>
              </a:spcAft>
              <a:buNone/>
            </a:pPr>
            <a:r>
              <a:rPr sz="1200" b="1" i="0">
                <a:solidFill>
                  <a:srgbClr val="004CA0"/>
                </a:solidFill>
                <a:latin typeface="Arial"/>
              </a:rPr>
              <a:t>Macro F1: every class counts equally</a:t>
            </a:r>
          </a:p>
        </p:txBody>
      </p:sp>
      <p:sp>
        <p:nvSpPr>
          <p:cNvPr id="1001" name="TextBox 1000"/>
          <p:cNvSpPr txBox="1"/>
          <p:nvPr/>
        </p:nvSpPr>
        <p:spPr>
          <a:xfrm>
            <a:off x="4754880" y="2194560"/>
            <a:ext cx="3886200" cy="274320"/>
          </a:xfrm>
          <a:prstGeom prst="rect">
            <a:avLst/>
          </a:prstGeom>
          <a:noFill/>
        </p:spPr>
        <p:txBody>
          <a:bodyPr wrap="square" lIns="45720" rIns="45720" tIns="27432" bIns="27432" anchor="t"/>
          <a:lstStyle/>
          <a:p>
            <a:pPr algn="l" marL="0" indent="0">
              <a:spcBef>
                <a:spcPts val="0"/>
              </a:spcBef>
              <a:spcAft>
                <a:spcPts val="300"/>
              </a:spcAft>
              <a:buNone/>
            </a:pPr>
            <a:r>
              <a:rPr sz="1000" b="1" i="0">
                <a:solidFill>
                  <a:srgbClr val="414141"/>
                </a:solidFill>
                <a:latin typeface="Arial"/>
              </a:rPr>
              <a:t>Always answering "Negative":</a:t>
            </a:r>
          </a:p>
        </p:txBody>
      </p:sp>
      <p:sp>
        <p:nvSpPr>
          <p:cNvPr id="1002" name="TextBox 1001"/>
          <p:cNvSpPr txBox="1"/>
          <p:nvPr/>
        </p:nvSpPr>
        <p:spPr>
          <a:xfrm>
            <a:off x="4754880" y="2542032"/>
            <a:ext cx="868680" cy="274320"/>
          </a:xfrm>
          <a:prstGeom prst="rect">
            <a:avLst/>
          </a:prstGeom>
          <a:noFill/>
        </p:spPr>
        <p:txBody>
          <a:bodyPr wrap="square" lIns="18288" rIns="18288" tIns="27432" bIns="27432" anchor="ctr"/>
          <a:lstStyle/>
          <a:p>
            <a:pPr algn="l" marL="0" indent="0">
              <a:spcBef>
                <a:spcPts val="0"/>
              </a:spcBef>
              <a:spcAft>
                <a:spcPts val="0"/>
              </a:spcAft>
              <a:buNone/>
            </a:pPr>
            <a:r>
              <a:rPr sz="950" b="0" i="0">
                <a:solidFill>
                  <a:srgbClr val="414141"/>
                </a:solidFill>
                <a:latin typeface="Arial"/>
              </a:rPr>
              <a:t>accuracy</a:t>
            </a:r>
          </a:p>
        </p:txBody>
      </p:sp>
      <p:sp>
        <p:nvSpPr>
          <p:cNvPr id="1003" name="Rectangle 1002"/>
          <p:cNvSpPr/>
          <p:nvPr/>
        </p:nvSpPr>
        <p:spPr>
          <a:xfrm>
            <a:off x="5623560" y="2578608"/>
            <a:ext cx="1508723" cy="219456"/>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TextBox 1003"/>
          <p:cNvSpPr txBox="1"/>
          <p:nvPr/>
        </p:nvSpPr>
        <p:spPr>
          <a:xfrm>
            <a:off x="7178003" y="2542032"/>
            <a:ext cx="731520" cy="274320"/>
          </a:xfrm>
          <a:prstGeom prst="rect">
            <a:avLst/>
          </a:prstGeom>
          <a:noFill/>
        </p:spPr>
        <p:txBody>
          <a:bodyPr wrap="square" lIns="18288" rIns="18288" tIns="27432" bIns="27432" anchor="ctr"/>
          <a:lstStyle/>
          <a:p>
            <a:pPr algn="l" marL="0" indent="0">
              <a:spcBef>
                <a:spcPts val="0"/>
              </a:spcBef>
              <a:spcAft>
                <a:spcPts val="0"/>
              </a:spcAft>
              <a:buNone/>
            </a:pPr>
            <a:r>
              <a:rPr sz="950" b="1" i="0">
                <a:solidFill>
                  <a:srgbClr val="8C8C8C"/>
                </a:solidFill>
                <a:latin typeface="Arial"/>
              </a:rPr>
              <a:t>0.6346</a:t>
            </a:r>
          </a:p>
        </p:txBody>
      </p:sp>
      <p:sp>
        <p:nvSpPr>
          <p:cNvPr id="1005" name="TextBox 1004"/>
          <p:cNvSpPr txBox="1"/>
          <p:nvPr/>
        </p:nvSpPr>
        <p:spPr>
          <a:xfrm>
            <a:off x="4754880" y="2907791"/>
            <a:ext cx="868680" cy="274320"/>
          </a:xfrm>
          <a:prstGeom prst="rect">
            <a:avLst/>
          </a:prstGeom>
          <a:noFill/>
        </p:spPr>
        <p:txBody>
          <a:bodyPr wrap="square" lIns="18288" rIns="18288" tIns="27432" bIns="27432" anchor="ctr"/>
          <a:lstStyle/>
          <a:p>
            <a:pPr algn="l" marL="0" indent="0">
              <a:spcBef>
                <a:spcPts val="0"/>
              </a:spcBef>
              <a:spcAft>
                <a:spcPts val="0"/>
              </a:spcAft>
              <a:buNone/>
            </a:pPr>
            <a:r>
              <a:rPr sz="950" b="0" i="0">
                <a:solidFill>
                  <a:srgbClr val="414141"/>
                </a:solidFill>
                <a:latin typeface="Arial"/>
              </a:rPr>
              <a:t>macro F1</a:t>
            </a:r>
          </a:p>
        </p:txBody>
      </p:sp>
      <p:sp>
        <p:nvSpPr>
          <p:cNvPr id="1006" name="Rectangle 1005"/>
          <p:cNvSpPr/>
          <p:nvPr/>
        </p:nvSpPr>
        <p:spPr>
          <a:xfrm>
            <a:off x="5623560" y="2944368"/>
            <a:ext cx="615281" cy="219456"/>
          </a:xfrm>
          <a:prstGeom prst="rect">
            <a:avLst/>
          </a:prstGeom>
          <a:solidFill>
            <a:srgbClr val="D20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TextBox 1006"/>
          <p:cNvSpPr txBox="1"/>
          <p:nvPr/>
        </p:nvSpPr>
        <p:spPr>
          <a:xfrm>
            <a:off x="6284561" y="2907791"/>
            <a:ext cx="731520" cy="274320"/>
          </a:xfrm>
          <a:prstGeom prst="rect">
            <a:avLst/>
          </a:prstGeom>
          <a:noFill/>
        </p:spPr>
        <p:txBody>
          <a:bodyPr wrap="square" lIns="18288" rIns="18288" tIns="27432" bIns="27432" anchor="ctr"/>
          <a:lstStyle/>
          <a:p>
            <a:pPr algn="l" marL="0" indent="0">
              <a:spcBef>
                <a:spcPts val="0"/>
              </a:spcBef>
              <a:spcAft>
                <a:spcPts val="0"/>
              </a:spcAft>
              <a:buNone/>
            </a:pPr>
            <a:r>
              <a:rPr sz="950" b="1" i="0">
                <a:solidFill>
                  <a:srgbClr val="D2007E"/>
                </a:solidFill>
                <a:latin typeface="Arial"/>
              </a:rPr>
              <a:t>0.2588</a:t>
            </a:r>
          </a:p>
        </p:txBody>
      </p:sp>
      <p:sp>
        <p:nvSpPr>
          <p:cNvPr id="1008" name="TextBox 1007"/>
          <p:cNvSpPr txBox="1"/>
          <p:nvPr/>
        </p:nvSpPr>
        <p:spPr>
          <a:xfrm>
            <a:off x="4754880" y="3291840"/>
            <a:ext cx="3886200" cy="146304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50" b="0" i="0">
                <a:solidFill>
                  <a:srgbClr val="414141"/>
                </a:solidFill>
                <a:latin typeface="Arial"/>
              </a:rPr>
              <a:t>F1 of a class: how many of its clips are found, and how many answers for it are right</a:t>
            </a:r>
          </a:p>
          <a:p>
            <a:pPr algn="l" marL="155448" indent="-155448">
              <a:spcBef>
                <a:spcPts val="0"/>
              </a:spcBef>
              <a:spcAft>
                <a:spcPts val="400"/>
              </a:spcAft>
              <a:buClr>
                <a:srgbClr val="A8CC2F"/>
              </a:buClr>
              <a:buFont typeface="Arial"/>
              <a:buChar char="•"/>
            </a:pPr>
            <a:r>
              <a:rPr sz="1050" b="0" i="0">
                <a:solidFill>
                  <a:srgbClr val="414141"/>
                </a:solidFill>
                <a:latin typeface="Arial"/>
              </a:rPr>
              <a:t>Macro F1: the average of the three class F1 scores</a:t>
            </a:r>
          </a:p>
          <a:p>
            <a:pPr algn="l" marL="155448" indent="-155448">
              <a:spcBef>
                <a:spcPts val="0"/>
              </a:spcBef>
              <a:spcAft>
                <a:spcPts val="400"/>
              </a:spcAft>
              <a:buClr>
                <a:srgbClr val="A8CC2F"/>
              </a:buClr>
              <a:buFont typeface="Arial"/>
              <a:buChar char="•"/>
            </a:pPr>
            <a:r>
              <a:rPr sz="1050" b="0" i="0">
                <a:solidFill>
                  <a:srgbClr val="414141"/>
                </a:solidFill>
                <a:latin typeface="Arial"/>
              </a:rPr>
              <a:t>So the rare classes count as much as the common one</a:t>
            </a:r>
          </a:p>
        </p:txBody>
      </p:sp>
      <p:sp>
        <p:nvSpPr>
          <p:cNvPr id="1009" name="Rectangle 1008"/>
          <p:cNvSpPr/>
          <p:nvPr/>
        </p:nvSpPr>
        <p:spPr>
          <a:xfrm>
            <a:off x="685800" y="4846320"/>
            <a:ext cx="7955279" cy="105156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TextBox 1009"/>
          <p:cNvSpPr txBox="1"/>
          <p:nvPr/>
        </p:nvSpPr>
        <p:spPr>
          <a:xfrm>
            <a:off x="822960" y="4901183"/>
            <a:ext cx="7680959" cy="941831"/>
          </a:xfrm>
          <a:prstGeom prst="rect">
            <a:avLst/>
          </a:prstGeom>
          <a:noFill/>
        </p:spPr>
        <p:txBody>
          <a:bodyPr wrap="square" lIns="45720" rIns="45720" tIns="27432" bIns="27432" anchor="ctr"/>
          <a:lstStyle/>
          <a:p>
            <a:pPr algn="l" marL="0" indent="0">
              <a:spcBef>
                <a:spcPts val="0"/>
              </a:spcBef>
              <a:spcAft>
                <a:spcPts val="300"/>
              </a:spcAft>
              <a:buNone/>
            </a:pPr>
            <a:r>
              <a:rPr sz="1050" b="1" i="0">
                <a:solidFill>
                  <a:srgbClr val="A8CC2F"/>
                </a:solidFill>
                <a:latin typeface="Arial"/>
              </a:rPr>
              <a:t>Same rules for every configuration</a:t>
            </a:r>
          </a:p>
          <a:p>
            <a:pPr algn="l" marL="0" indent="0">
              <a:spcBef>
                <a:spcPts val="0"/>
              </a:spcBef>
              <a:spcAft>
                <a:spcPts val="300"/>
              </a:spcAft>
              <a:buNone/>
            </a:pPr>
            <a:r>
              <a:rPr sz="1100" b="0" i="0">
                <a:solidFill>
                  <a:srgbClr val="FFFFFF"/>
                </a:solidFill>
                <a:latin typeface="Arial"/>
              </a:rPr>
              <a:t>Trained from scratch with one fixed recipe and random seed, no tuning. Declared limitation: the best training epoch was chosen on the test person.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RESULT 1: THE TRANSFORMER SPLITS THE RESULTS IN TWO</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04 · RESULTS</a:t>
            </a:r>
          </a:p>
        </p:txBody>
      </p:sp>
      <p:sp>
        <p:nvSpPr>
          <p:cNvPr id="918"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18</a:t>
            </a:fld>
          </a:p>
        </p:txBody>
      </p:sp>
      <p:graphicFrame>
        <p:nvGraphicFramePr>
          <p:cNvPr id="919" name="Chart 918"/>
          <p:cNvGraphicFramePr>
            <a:graphicFrameLocks noGrp="1"/>
          </p:cNvGraphicFramePr>
          <p:nvPr/>
        </p:nvGraphicFramePr>
        <p:xfrm>
          <a:off x="594360" y="1691640"/>
          <a:ext cx="5486400" cy="4023360"/>
        </p:xfrm>
        <a:graphic>
          <a:graphicData uri="http://schemas.openxmlformats.org/drawingml/2006/chart">
            <c:chart xmlns:c="http://schemas.openxmlformats.org/drawingml/2006/chart" r:id="rId3"/>
          </a:graphicData>
        </a:graphic>
      </p:graphicFrame>
      <p:sp>
        <p:nvSpPr>
          <p:cNvPr id="920" name="TextBox 919"/>
          <p:cNvSpPr txBox="1"/>
          <p:nvPr/>
        </p:nvSpPr>
        <p:spPr>
          <a:xfrm>
            <a:off x="685800" y="5669280"/>
            <a:ext cx="5394960" cy="27432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8C8C8C"/>
                </a:solidFill>
                <a:latin typeface="Arial"/>
              </a:rPr>
              <a:t>Each bar is one configuration. Blue: with transformer; grey: without.</a:t>
            </a:r>
          </a:p>
        </p:txBody>
      </p:sp>
      <p:sp>
        <p:nvSpPr>
          <p:cNvPr id="921" name="Rectangle 920"/>
          <p:cNvSpPr/>
          <p:nvPr/>
        </p:nvSpPr>
        <p:spPr>
          <a:xfrm>
            <a:off x="6217920" y="1783080"/>
            <a:ext cx="2423160" cy="9144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TextBox 921"/>
          <p:cNvSpPr txBox="1"/>
          <p:nvPr/>
        </p:nvSpPr>
        <p:spPr>
          <a:xfrm>
            <a:off x="6327648" y="1783080"/>
            <a:ext cx="2240280" cy="914400"/>
          </a:xfrm>
          <a:prstGeom prst="rect">
            <a:avLst/>
          </a:prstGeom>
          <a:noFill/>
        </p:spPr>
        <p:txBody>
          <a:bodyPr wrap="square" lIns="45720" rIns="45720" tIns="27432" bIns="27432" anchor="ctr"/>
          <a:lstStyle/>
          <a:p>
            <a:pPr algn="l" marL="0" indent="0">
              <a:spcBef>
                <a:spcPts val="0"/>
              </a:spcBef>
              <a:spcAft>
                <a:spcPts val="200"/>
              </a:spcAft>
              <a:buNone/>
            </a:pPr>
            <a:r>
              <a:rPr sz="1050" b="1" i="0">
                <a:solidFill>
                  <a:srgbClr val="A8CC2F"/>
                </a:solidFill>
                <a:latin typeface="Arial"/>
              </a:rPr>
              <a:t>With transformer</a:t>
            </a:r>
          </a:p>
          <a:p>
            <a:pPr algn="l" marL="0" indent="0">
              <a:spcBef>
                <a:spcPts val="0"/>
              </a:spcBef>
              <a:spcAft>
                <a:spcPts val="300"/>
              </a:spcAft>
              <a:buNone/>
            </a:pPr>
            <a:r>
              <a:rPr sz="1600" b="1" i="0">
                <a:solidFill>
                  <a:srgbClr val="FFFFFF"/>
                </a:solidFill>
                <a:latin typeface="Arial"/>
              </a:rPr>
              <a:t>0.5830 to 0.7122</a:t>
            </a:r>
          </a:p>
        </p:txBody>
      </p:sp>
      <p:sp>
        <p:nvSpPr>
          <p:cNvPr id="923" name="Rectangle 922"/>
          <p:cNvSpPr/>
          <p:nvPr/>
        </p:nvSpPr>
        <p:spPr>
          <a:xfrm>
            <a:off x="6217920" y="2834640"/>
            <a:ext cx="2423160" cy="9144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TextBox 923"/>
          <p:cNvSpPr txBox="1"/>
          <p:nvPr/>
        </p:nvSpPr>
        <p:spPr>
          <a:xfrm>
            <a:off x="6327648" y="2834640"/>
            <a:ext cx="2240280" cy="914400"/>
          </a:xfrm>
          <a:prstGeom prst="rect">
            <a:avLst/>
          </a:prstGeom>
          <a:noFill/>
        </p:spPr>
        <p:txBody>
          <a:bodyPr wrap="square" lIns="45720" rIns="45720" tIns="27432" bIns="27432" anchor="ctr"/>
          <a:lstStyle/>
          <a:p>
            <a:pPr algn="l" marL="0" indent="0">
              <a:spcBef>
                <a:spcPts val="0"/>
              </a:spcBef>
              <a:spcAft>
                <a:spcPts val="200"/>
              </a:spcAft>
              <a:buNone/>
            </a:pPr>
            <a:r>
              <a:rPr sz="1050" b="1" i="0">
                <a:solidFill>
                  <a:srgbClr val="FFFFFF"/>
                </a:solidFill>
                <a:latin typeface="Arial"/>
              </a:rPr>
              <a:t>Without transformer</a:t>
            </a:r>
          </a:p>
          <a:p>
            <a:pPr algn="l" marL="0" indent="0">
              <a:spcBef>
                <a:spcPts val="0"/>
              </a:spcBef>
              <a:spcAft>
                <a:spcPts val="300"/>
              </a:spcAft>
              <a:buNone/>
            </a:pPr>
            <a:r>
              <a:rPr sz="1600" b="1" i="0">
                <a:solidFill>
                  <a:srgbClr val="FFFFFF"/>
                </a:solidFill>
                <a:latin typeface="Arial"/>
              </a:rPr>
              <a:t>0.4192 to 0.4480</a:t>
            </a:r>
          </a:p>
        </p:txBody>
      </p:sp>
      <p:sp>
        <p:nvSpPr>
          <p:cNvPr id="925" name="TextBox 924"/>
          <p:cNvSpPr txBox="1"/>
          <p:nvPr/>
        </p:nvSpPr>
        <p:spPr>
          <a:xfrm>
            <a:off x="6217920" y="3931920"/>
            <a:ext cx="2423160" cy="201168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100" b="0" i="0">
                <a:solidFill>
                  <a:srgbClr val="414141"/>
                </a:solidFill>
                <a:latin typeface="Arial"/>
              </a:rPr>
              <a:t>The two groups do not overlap: the closest members are 0.1350 apart</a:t>
            </a:r>
          </a:p>
          <a:p>
            <a:pPr algn="l" marL="155448" indent="-155448">
              <a:spcBef>
                <a:spcPts val="0"/>
              </a:spcBef>
              <a:spcAft>
                <a:spcPts val="600"/>
              </a:spcAft>
              <a:buClr>
                <a:srgbClr val="A8CC2F"/>
              </a:buClr>
              <a:buFont typeface="Arial"/>
              <a:buChar char="•"/>
            </a:pPr>
            <a:r>
              <a:rPr sz="1100" b="0" i="0">
                <a:solidFill>
                  <a:srgbClr val="414141"/>
                </a:solidFill>
                <a:latin typeface="Arial"/>
              </a:rPr>
              <a:t>No other component divides the configurations in this way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RESULT 2: THE FULL SYSTEM IS NOT THE BEST ONE</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04 · RESULTS</a:t>
            </a:r>
          </a:p>
        </p:txBody>
      </p:sp>
      <p:sp>
        <p:nvSpPr>
          <p:cNvPr id="919"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19</a:t>
            </a:fld>
          </a:p>
        </p:txBody>
      </p:sp>
      <p:sp>
        <p:nvSpPr>
          <p:cNvPr id="920" name="Rectangle 919"/>
          <p:cNvSpPr/>
          <p:nvPr/>
        </p:nvSpPr>
        <p:spPr>
          <a:xfrm>
            <a:off x="685800" y="1783080"/>
            <a:ext cx="2529839" cy="196596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795528" y="1856231"/>
            <a:ext cx="2310383" cy="1828800"/>
          </a:xfrm>
          <a:prstGeom prst="rect">
            <a:avLst/>
          </a:prstGeom>
          <a:noFill/>
        </p:spPr>
        <p:txBody>
          <a:bodyPr wrap="square" lIns="45720" rIns="45720" tIns="27432" bIns="27432" anchor="t"/>
          <a:lstStyle/>
          <a:p>
            <a:pPr algn="l" marL="0" indent="0">
              <a:spcBef>
                <a:spcPts val="0"/>
              </a:spcBef>
              <a:spcAft>
                <a:spcPts val="400"/>
              </a:spcAft>
              <a:buNone/>
            </a:pPr>
            <a:r>
              <a:rPr sz="1150" b="1" i="0">
                <a:solidFill>
                  <a:srgbClr val="FFFFFF"/>
                </a:solidFill>
                <a:latin typeface="Arial"/>
              </a:rPr>
              <a:t>C2: transformer only</a:t>
            </a:r>
          </a:p>
          <a:p>
            <a:pPr algn="l" marL="0" indent="0">
              <a:spcBef>
                <a:spcPts val="0"/>
              </a:spcBef>
              <a:spcAft>
                <a:spcPts val="400"/>
              </a:spcAft>
              <a:buNone/>
            </a:pPr>
            <a:r>
              <a:rPr sz="3400" b="1" i="0">
                <a:solidFill>
                  <a:srgbClr val="A8CC2F"/>
                </a:solidFill>
                <a:latin typeface="Arial"/>
              </a:rPr>
              <a:t>0.7122</a:t>
            </a:r>
          </a:p>
          <a:p>
            <a:pPr algn="l" marL="0" indent="0">
              <a:spcBef>
                <a:spcPts val="0"/>
              </a:spcBef>
              <a:spcAft>
                <a:spcPts val="400"/>
              </a:spcAft>
              <a:buNone/>
            </a:pPr>
            <a:r>
              <a:rPr sz="1050" b="0" i="0">
                <a:solidFill>
                  <a:srgbClr val="FFFFFF"/>
                </a:solidFill>
                <a:latin typeface="Arial"/>
              </a:rPr>
              <a:t>pooled macro F1</a:t>
            </a:r>
          </a:p>
          <a:p>
            <a:pPr algn="l" marL="0" indent="0">
              <a:spcBef>
                <a:spcPts val="0"/>
              </a:spcBef>
              <a:spcAft>
                <a:spcPts val="300"/>
              </a:spcAft>
              <a:buNone/>
            </a:pPr>
            <a:r>
              <a:rPr sz="1050" b="0" i="0">
                <a:solidFill>
                  <a:srgbClr val="FFFFFF"/>
                </a:solidFill>
                <a:latin typeface="Arial"/>
              </a:rPr>
              <a:t>accuracy 0.7436 (116 of 156 clips)</a:t>
            </a:r>
          </a:p>
        </p:txBody>
      </p:sp>
      <p:sp>
        <p:nvSpPr>
          <p:cNvPr id="922" name="Rectangle 921"/>
          <p:cNvSpPr/>
          <p:nvPr/>
        </p:nvSpPr>
        <p:spPr>
          <a:xfrm>
            <a:off x="3398519" y="1783080"/>
            <a:ext cx="2529839" cy="1965960"/>
          </a:xfrm>
          <a:prstGeom prst="rect">
            <a:avLst/>
          </a:prstGeom>
          <a:solidFill>
            <a:srgbClr val="0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TextBox 922"/>
          <p:cNvSpPr txBox="1"/>
          <p:nvPr/>
        </p:nvSpPr>
        <p:spPr>
          <a:xfrm>
            <a:off x="3508248" y="1856231"/>
            <a:ext cx="2310383" cy="1828800"/>
          </a:xfrm>
          <a:prstGeom prst="rect">
            <a:avLst/>
          </a:prstGeom>
          <a:noFill/>
        </p:spPr>
        <p:txBody>
          <a:bodyPr wrap="square" lIns="45720" rIns="45720" tIns="27432" bIns="27432" anchor="t"/>
          <a:lstStyle/>
          <a:p>
            <a:pPr algn="l" marL="0" indent="0">
              <a:spcBef>
                <a:spcPts val="0"/>
              </a:spcBef>
              <a:spcAft>
                <a:spcPts val="400"/>
              </a:spcAft>
              <a:buNone/>
            </a:pPr>
            <a:r>
              <a:rPr sz="1150" b="1" i="0">
                <a:solidFill>
                  <a:srgbClr val="FFFFFF"/>
                </a:solidFill>
                <a:latin typeface="Arial"/>
              </a:rPr>
              <a:t>C8: all four components</a:t>
            </a:r>
          </a:p>
          <a:p>
            <a:pPr algn="l" marL="0" indent="0">
              <a:spcBef>
                <a:spcPts val="0"/>
              </a:spcBef>
              <a:spcAft>
                <a:spcPts val="400"/>
              </a:spcAft>
              <a:buNone/>
            </a:pPr>
            <a:r>
              <a:rPr sz="3400" b="1" i="0">
                <a:solidFill>
                  <a:srgbClr val="FFFFFF"/>
                </a:solidFill>
                <a:latin typeface="Arial"/>
              </a:rPr>
              <a:t>0.6659</a:t>
            </a:r>
          </a:p>
          <a:p>
            <a:pPr algn="l" marL="0" indent="0">
              <a:spcBef>
                <a:spcPts val="0"/>
              </a:spcBef>
              <a:spcAft>
                <a:spcPts val="400"/>
              </a:spcAft>
              <a:buNone/>
            </a:pPr>
            <a:r>
              <a:rPr sz="1050" b="0" i="0">
                <a:solidFill>
                  <a:srgbClr val="FFFFFF"/>
                </a:solidFill>
                <a:latin typeface="Arial"/>
              </a:rPr>
              <a:t>pooled macro F1</a:t>
            </a:r>
          </a:p>
          <a:p>
            <a:pPr algn="l" marL="0" indent="0">
              <a:spcBef>
                <a:spcPts val="0"/>
              </a:spcBef>
              <a:spcAft>
                <a:spcPts val="300"/>
              </a:spcAft>
              <a:buNone/>
            </a:pPr>
            <a:r>
              <a:rPr sz="1050" b="0" i="0">
                <a:solidFill>
                  <a:srgbClr val="FFFFFF"/>
                </a:solidFill>
                <a:latin typeface="Arial"/>
              </a:rPr>
              <a:t>accuracy 0.7500 (117 of 156 clips)</a:t>
            </a:r>
          </a:p>
        </p:txBody>
      </p:sp>
      <p:sp>
        <p:nvSpPr>
          <p:cNvPr id="924" name="Rectangle 923"/>
          <p:cNvSpPr/>
          <p:nvPr/>
        </p:nvSpPr>
        <p:spPr>
          <a:xfrm>
            <a:off x="6111239" y="1783080"/>
            <a:ext cx="2529839" cy="196596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TextBox 924"/>
          <p:cNvSpPr txBox="1"/>
          <p:nvPr/>
        </p:nvSpPr>
        <p:spPr>
          <a:xfrm>
            <a:off x="6220967" y="1856231"/>
            <a:ext cx="2310383" cy="1828800"/>
          </a:xfrm>
          <a:prstGeom prst="rect">
            <a:avLst/>
          </a:prstGeom>
          <a:noFill/>
        </p:spPr>
        <p:txBody>
          <a:bodyPr wrap="square" lIns="45720" rIns="45720" tIns="27432" bIns="27432" anchor="t"/>
          <a:lstStyle/>
          <a:p>
            <a:pPr algn="l" marL="0" indent="0">
              <a:spcBef>
                <a:spcPts val="0"/>
              </a:spcBef>
              <a:spcAft>
                <a:spcPts val="400"/>
              </a:spcAft>
              <a:buNone/>
            </a:pPr>
            <a:r>
              <a:rPr sz="1150" b="1" i="0">
                <a:solidFill>
                  <a:srgbClr val="FFFFFF"/>
                </a:solidFill>
                <a:latin typeface="Arial"/>
              </a:rPr>
              <a:t>All-Negative reference</a:t>
            </a:r>
          </a:p>
          <a:p>
            <a:pPr algn="l" marL="0" indent="0">
              <a:spcBef>
                <a:spcPts val="0"/>
              </a:spcBef>
              <a:spcAft>
                <a:spcPts val="400"/>
              </a:spcAft>
              <a:buNone/>
            </a:pPr>
            <a:r>
              <a:rPr sz="3400" b="1" i="0">
                <a:solidFill>
                  <a:srgbClr val="FFFFFF"/>
                </a:solidFill>
                <a:latin typeface="Arial"/>
              </a:rPr>
              <a:t>0.2588</a:t>
            </a:r>
          </a:p>
          <a:p>
            <a:pPr algn="l" marL="0" indent="0">
              <a:spcBef>
                <a:spcPts val="0"/>
              </a:spcBef>
              <a:spcAft>
                <a:spcPts val="400"/>
              </a:spcAft>
              <a:buNone/>
            </a:pPr>
            <a:r>
              <a:rPr sz="1050" b="0" i="0">
                <a:solidFill>
                  <a:srgbClr val="FFFFFF"/>
                </a:solidFill>
                <a:latin typeface="Arial"/>
              </a:rPr>
              <a:t>pooled macro F1</a:t>
            </a:r>
          </a:p>
          <a:p>
            <a:pPr algn="l" marL="0" indent="0">
              <a:spcBef>
                <a:spcPts val="0"/>
              </a:spcBef>
              <a:spcAft>
                <a:spcPts val="300"/>
              </a:spcAft>
              <a:buNone/>
            </a:pPr>
            <a:r>
              <a:rPr sz="1050" b="0" i="0">
                <a:solidFill>
                  <a:srgbClr val="FFFFFF"/>
                </a:solidFill>
                <a:latin typeface="Arial"/>
              </a:rPr>
              <a:t>accuracy 0.6346</a:t>
            </a:r>
          </a:p>
        </p:txBody>
      </p:sp>
      <p:sp>
        <p:nvSpPr>
          <p:cNvPr id="926" name="TextBox 925"/>
          <p:cNvSpPr txBox="1"/>
          <p:nvPr/>
        </p:nvSpPr>
        <p:spPr>
          <a:xfrm>
            <a:off x="685800" y="3977639"/>
            <a:ext cx="7955279" cy="192024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200" b="0" i="0">
                <a:solidFill>
                  <a:srgbClr val="414141"/>
                </a:solidFill>
                <a:latin typeface="Arial"/>
              </a:rPr>
              <a:t>A transformer applied directly to the motion representation outperforms the complete pipeline by 0.0463</a:t>
            </a:r>
          </a:p>
          <a:p>
            <a:pPr algn="l" marL="155448" indent="-155448">
              <a:spcBef>
                <a:spcPts val="0"/>
              </a:spcBef>
              <a:spcAft>
                <a:spcPts val="600"/>
              </a:spcAft>
              <a:buClr>
                <a:srgbClr val="A8CC2F"/>
              </a:buClr>
              <a:buFont typeface="Arial"/>
              <a:buChar char="•"/>
            </a:pPr>
            <a:r>
              <a:rPr sz="1200" b="0" i="0">
                <a:solidFill>
                  <a:srgbClr val="414141"/>
                </a:solidFill>
                <a:latin typeface="Arial"/>
              </a:rPr>
              <a:t>The two metrics select different configurations: C8 classifies one more clip correctly, but C2 is better on the minority classes</a:t>
            </a:r>
          </a:p>
          <a:p>
            <a:pPr algn="l" marL="155448" indent="-155448">
              <a:spcBef>
                <a:spcPts val="0"/>
              </a:spcBef>
              <a:spcAft>
                <a:spcPts val="600"/>
              </a:spcAft>
              <a:buClr>
                <a:srgbClr val="A8CC2F"/>
              </a:buClr>
              <a:buFont typeface="Arial"/>
              <a:buChar char="•"/>
            </a:pPr>
            <a:r>
              <a:rPr sz="1200" b="0" i="0">
                <a:solidFill>
                  <a:srgbClr val="414141"/>
                </a:solidFill>
                <a:latin typeface="Arial"/>
              </a:rPr>
              <a:t>All twelve configurations exceed the majority-class reference in macro F1</a:t>
            </a:r>
          </a:p>
          <a:p>
            <a:pPr algn="l" marL="155448" indent="-155448">
              <a:spcBef>
                <a:spcPts val="0"/>
              </a:spcBef>
              <a:spcAft>
                <a:spcPts val="600"/>
              </a:spcAft>
              <a:buClr>
                <a:srgbClr val="A8CC2F"/>
              </a:buClr>
              <a:buFont typeface="Arial"/>
              <a:buChar char="•"/>
            </a:pPr>
            <a:r>
              <a:rPr sz="1200" b="0" i="0">
                <a:solidFill>
                  <a:srgbClr val="414141"/>
                </a:solidFill>
                <a:latin typeface="Arial"/>
              </a:rPr>
              <a:t>The difference is a point estimate from a single seed, not a statistically established advantage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RESULT 3: WHAT EACH PART CONTRIBUTES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04 · RESULTS</a:t>
            </a:r>
          </a:p>
        </p:txBody>
      </p:sp>
      <p:sp>
        <p:nvSpPr>
          <p:cNvPr id="920"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20</a:t>
            </a:fld>
          </a:p>
        </p:txBody>
      </p:sp>
      <p:graphicFrame>
        <p:nvGraphicFramePr>
          <p:cNvPr id="921" name="Chart 920"/>
          <p:cNvGraphicFramePr>
            <a:graphicFrameLocks noGrp="1"/>
          </p:cNvGraphicFramePr>
          <p:nvPr/>
        </p:nvGraphicFramePr>
        <p:xfrm>
          <a:off x="594360" y="1691640"/>
          <a:ext cx="4343400" cy="4251960"/>
        </p:xfrm>
        <a:graphic>
          <a:graphicData uri="http://schemas.openxmlformats.org/drawingml/2006/chart">
            <c:chart xmlns:c="http://schemas.openxmlformats.org/drawingml/2006/chart" r:id="rId3"/>
          </a:graphicData>
        </a:graphic>
      </p:graphicFrame>
      <p:graphicFrame>
        <p:nvGraphicFramePr>
          <p:cNvPr id="922" name="Table 921"/>
          <p:cNvGraphicFramePr>
            <a:graphicFrameLocks noGrp="1"/>
          </p:cNvGraphicFramePr>
          <p:nvPr/>
        </p:nvGraphicFramePr>
        <p:xfrm>
          <a:off x="5074920" y="1783080"/>
          <a:ext cx="3566160" cy="1645920"/>
        </p:xfrm>
        <a:graphic>
          <a:graphicData uri="http://schemas.openxmlformats.org/drawingml/2006/table">
            <a:tbl>
              <a:tblPr firstRow="0" bandRow="0">
                <a:tableStyleId>{2D5ABB26-0587-4C30-8999-92F81FD0307C}</a:tableStyleId>
              </a:tblPr>
              <a:tblGrid>
                <a:gridCol w="1234440"/>
                <a:gridCol w="1005840"/>
                <a:gridCol w="1325880"/>
              </a:tblGrid>
              <a:tr h="329184">
                <a:tc>
                  <a:txBody>
                    <a:bodyPr wrap="square"/>
                    <a:lstStyle/>
                    <a:p>
                      <a:pPr algn="l" marL="0" indent="0">
                        <a:spcBef>
                          <a:spcPts val="0"/>
                        </a:spcBef>
                        <a:spcAft>
                          <a:spcPts val="0"/>
                        </a:spcAft>
                        <a:buNone/>
                      </a:pPr>
                      <a:r>
                        <a:rPr sz="950" b="1" i="0">
                          <a:solidFill>
                            <a:srgbClr val="FFFFFF"/>
                          </a:solidFill>
                          <a:latin typeface="Arial"/>
                        </a:rPr>
                        <a:t>Component</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50" b="1" i="0">
                          <a:solidFill>
                            <a:srgbClr val="FFFFFF"/>
                          </a:solidFill>
                          <a:latin typeface="Arial"/>
                        </a:rPr>
                        <a:t>Positive pairs</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50" b="1" i="0">
                          <a:solidFill>
                            <a:srgbClr val="FFFFFF"/>
                          </a:solidFill>
                          <a:latin typeface="Arial"/>
                        </a:rPr>
                        <a:t>Range</a:t>
                      </a:r>
                    </a:p>
                  </a:txBody>
                  <a:tcPr marL="54864" marR="54864" marT="18288" marB="18288" anchor="ctr">
                    <a:lnL w="9525">
                      <a:noFill/>
                    </a:lnL>
                    <a:lnR w="9525">
                      <a:noFill/>
                    </a:lnR>
                    <a:lnT w="9525">
                      <a:noFill/>
                    </a:lnT>
                    <a:lnB w="9525">
                      <a:solidFill>
                        <a:srgbClr val="D9D9D9"/>
                      </a:solidFill>
                    </a:lnB>
                    <a:solidFill>
                      <a:srgbClr val="004CA0"/>
                    </a:solidFill>
                  </a:tcPr>
                </a:tc>
              </a:tr>
              <a:tr h="329184">
                <a:tc>
                  <a:txBody>
                    <a:bodyPr wrap="square"/>
                    <a:lstStyle/>
                    <a:p>
                      <a:pPr algn="l" marL="0" indent="0">
                        <a:spcBef>
                          <a:spcPts val="0"/>
                        </a:spcBef>
                        <a:spcAft>
                          <a:spcPts val="0"/>
                        </a:spcAft>
                        <a:buNone/>
                      </a:pPr>
                      <a:r>
                        <a:rPr sz="950" b="1" i="0">
                          <a:solidFill>
                            <a:srgbClr val="414141"/>
                          </a:solidFill>
                          <a:latin typeface="Arial"/>
                        </a:rPr>
                        <a:t>Transformer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50" b="0" i="0">
                          <a:solidFill>
                            <a:srgbClr val="414141"/>
                          </a:solidFill>
                          <a:latin typeface="Arial"/>
                        </a:rPr>
                        <a:t>6 / 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50" b="0" i="0">
                          <a:solidFill>
                            <a:srgbClr val="414141"/>
                          </a:solidFill>
                          <a:latin typeface="Arial"/>
                        </a:rPr>
                        <a:t>+0.1578 to +0.2786</a:t>
                      </a:r>
                    </a:p>
                  </a:txBody>
                  <a:tcPr marL="54864" marR="54864" marT="18288" marB="18288" anchor="ctr">
                    <a:lnL w="9525">
                      <a:noFill/>
                    </a:lnL>
                    <a:lnR w="9525">
                      <a:noFill/>
                    </a:lnR>
                    <a:lnT w="9525">
                      <a:noFill/>
                    </a:lnT>
                    <a:lnB w="9525">
                      <a:solidFill>
                        <a:srgbClr val="D9D9D9"/>
                      </a:solidFill>
                    </a:lnB>
                    <a:solidFill>
                      <a:srgbClr val="FFFFFF"/>
                    </a:solidFill>
                  </a:tcPr>
                </a:tc>
              </a:tr>
              <a:tr h="329184">
                <a:tc>
                  <a:txBody>
                    <a:bodyPr wrap="square"/>
                    <a:lstStyle/>
                    <a:p>
                      <a:pPr algn="l" marL="0" indent="0">
                        <a:spcBef>
                          <a:spcPts val="0"/>
                        </a:spcBef>
                        <a:spcAft>
                          <a:spcPts val="0"/>
                        </a:spcAft>
                        <a:buNone/>
                      </a:pPr>
                      <a:r>
                        <a:rPr sz="950" b="1" i="0">
                          <a:solidFill>
                            <a:srgbClr val="414141"/>
                          </a:solidFill>
                          <a:latin typeface="Arial"/>
                        </a:rPr>
                        <a:t>Magnification</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50" b="0" i="0">
                          <a:solidFill>
                            <a:srgbClr val="414141"/>
                          </a:solidFill>
                          <a:latin typeface="Arial"/>
                        </a:rPr>
                        <a:t>4 / 6</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50" b="0" i="0">
                          <a:solidFill>
                            <a:srgbClr val="414141"/>
                          </a:solidFill>
                          <a:latin typeface="Arial"/>
                        </a:rPr>
                        <a:t>−0.0541 to +0.0795</a:t>
                      </a:r>
                    </a:p>
                  </a:txBody>
                  <a:tcPr marL="54864" marR="54864" marT="18288" marB="18288" anchor="ctr">
                    <a:lnL w="9525">
                      <a:noFill/>
                    </a:lnL>
                    <a:lnR w="9525">
                      <a:noFill/>
                    </a:lnR>
                    <a:lnT w="9525">
                      <a:noFill/>
                    </a:lnT>
                    <a:lnB w="9525">
                      <a:solidFill>
                        <a:srgbClr val="D9D9D9"/>
                      </a:solidFill>
                    </a:lnB>
                    <a:solidFill>
                      <a:srgbClr val="F2F2F2"/>
                    </a:solidFill>
                  </a:tcPr>
                </a:tc>
              </a:tr>
              <a:tr h="329184">
                <a:tc>
                  <a:txBody>
                    <a:bodyPr wrap="square"/>
                    <a:lstStyle/>
                    <a:p>
                      <a:pPr algn="l" marL="0" indent="0">
                        <a:spcBef>
                          <a:spcPts val="0"/>
                        </a:spcBef>
                        <a:spcAft>
                          <a:spcPts val="0"/>
                        </a:spcAft>
                        <a:buNone/>
                      </a:pPr>
                      <a:r>
                        <a:rPr sz="950" b="1" i="0">
                          <a:solidFill>
                            <a:srgbClr val="414141"/>
                          </a:solidFill>
                          <a:latin typeface="Arial"/>
                        </a:rPr>
                        <a:t>SimAM</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50" b="0" i="0">
                          <a:solidFill>
                            <a:srgbClr val="414141"/>
                          </a:solidFill>
                          <a:latin typeface="Arial"/>
                        </a:rPr>
                        <a:t>3 / 4</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50" b="0" i="0">
                          <a:solidFill>
                            <a:srgbClr val="414141"/>
                          </a:solidFill>
                          <a:latin typeface="Arial"/>
                        </a:rPr>
                        <a:t>−0.0288 to +0.0341</a:t>
                      </a:r>
                    </a:p>
                  </a:txBody>
                  <a:tcPr marL="54864" marR="54864" marT="18288" marB="18288" anchor="ctr">
                    <a:lnL w="9525">
                      <a:noFill/>
                    </a:lnL>
                    <a:lnR w="9525">
                      <a:noFill/>
                    </a:lnR>
                    <a:lnT w="9525">
                      <a:noFill/>
                    </a:lnT>
                    <a:lnB w="9525">
                      <a:solidFill>
                        <a:srgbClr val="D9D9D9"/>
                      </a:solidFill>
                    </a:lnB>
                    <a:solidFill>
                      <a:srgbClr val="FFFFFF"/>
                    </a:solidFill>
                  </a:tcPr>
                </a:tc>
              </a:tr>
              <a:tr h="329184">
                <a:tc>
                  <a:txBody>
                    <a:bodyPr wrap="square"/>
                    <a:lstStyle/>
                    <a:p>
                      <a:pPr algn="l" marL="0" indent="0">
                        <a:spcBef>
                          <a:spcPts val="0"/>
                        </a:spcBef>
                        <a:spcAft>
                          <a:spcPts val="0"/>
                        </a:spcAft>
                        <a:buNone/>
                      </a:pPr>
                      <a:r>
                        <a:rPr sz="950" b="1" i="0">
                          <a:solidFill>
                            <a:srgbClr val="414141"/>
                          </a:solidFill>
                          <a:latin typeface="Arial"/>
                        </a:rPr>
                        <a:t>Conv. stem</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50" b="0" i="0">
                          <a:solidFill>
                            <a:srgbClr val="414141"/>
                          </a:solidFill>
                          <a:latin typeface="Arial"/>
                        </a:rPr>
                        <a:t>2 / 4</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50" b="0" i="0">
                          <a:solidFill>
                            <a:srgbClr val="414141"/>
                          </a:solidFill>
                          <a:latin typeface="Arial"/>
                        </a:rPr>
                        <a:t>−0.1292 to +0.0094</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23" name="TextBox 922"/>
          <p:cNvSpPr txBox="1"/>
          <p:nvPr/>
        </p:nvSpPr>
        <p:spPr>
          <a:xfrm>
            <a:off x="5074920" y="3657600"/>
            <a:ext cx="3566160" cy="224028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150" b="0" i="0">
                <a:solidFill>
                  <a:srgbClr val="414141"/>
                </a:solidFill>
                <a:latin typeface="Arial"/>
              </a:rPr>
              <a:t>Even the smallest transformer gain exceeds the mean effect of every other component</a:t>
            </a:r>
          </a:p>
          <a:p>
            <a:pPr algn="l" marL="155448" indent="-155448">
              <a:spcBef>
                <a:spcPts val="0"/>
              </a:spcBef>
              <a:spcAft>
                <a:spcPts val="600"/>
              </a:spcAft>
              <a:buClr>
                <a:srgbClr val="A8CC2F"/>
              </a:buClr>
              <a:buFont typeface="Arial"/>
              <a:buChar char="•"/>
            </a:pPr>
            <a:r>
              <a:rPr sz="1150" b="0" i="0">
                <a:solidFill>
                  <a:srgbClr val="414141"/>
                </a:solidFill>
                <a:latin typeface="Arial"/>
              </a:rPr>
              <a:t>The stem is the only component with a negative mean effect</a:t>
            </a:r>
          </a:p>
          <a:p>
            <a:pPr algn="l" marL="155448" indent="-155448">
              <a:spcBef>
                <a:spcPts val="0"/>
              </a:spcBef>
              <a:spcAft>
                <a:spcPts val="600"/>
              </a:spcAft>
              <a:buClr>
                <a:srgbClr val="A8CC2F"/>
              </a:buClr>
              <a:buFont typeface="Arial"/>
              <a:buChar char="•"/>
            </a:pPr>
            <a:r>
              <a:rPr sz="1150" b="0" i="0">
                <a:solidFill>
                  <a:srgbClr val="414141"/>
                </a:solidFill>
                <a:latin typeface="Arial"/>
              </a:rPr>
              <a:t>The effects are not additive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HOW THE MODELS MAKE MISTAKES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04 · RESULTS</a:t>
            </a:r>
          </a:p>
        </p:txBody>
      </p:sp>
      <p:sp>
        <p:nvSpPr>
          <p:cNvPr id="921"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21</a:t>
            </a:fld>
          </a:p>
        </p:txBody>
      </p:sp>
      <p:sp>
        <p:nvSpPr>
          <p:cNvPr id="922" name="TextBox 921"/>
          <p:cNvSpPr txBox="1"/>
          <p:nvPr/>
        </p:nvSpPr>
        <p:spPr>
          <a:xfrm>
            <a:off x="685800" y="1783080"/>
            <a:ext cx="2514600" cy="292608"/>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C1: no components</a:t>
            </a:r>
          </a:p>
        </p:txBody>
      </p:sp>
      <p:graphicFrame>
        <p:nvGraphicFramePr>
          <p:cNvPr id="923" name="Table 922"/>
          <p:cNvGraphicFramePr>
            <a:graphicFrameLocks noGrp="1"/>
          </p:cNvGraphicFramePr>
          <p:nvPr/>
        </p:nvGraphicFramePr>
        <p:xfrm>
          <a:off x="685800" y="2103120"/>
          <a:ext cx="2514600" cy="2011680"/>
        </p:xfrm>
        <a:graphic>
          <a:graphicData uri="http://schemas.openxmlformats.org/drawingml/2006/table">
            <a:tbl>
              <a:tblPr firstRow="0" bandRow="0">
                <a:tableStyleId>{2D5ABB26-0587-4C30-8999-92F81FD0307C}</a:tableStyleId>
              </a:tblPr>
              <a:tblGrid>
                <a:gridCol w="594360"/>
                <a:gridCol w="640080"/>
                <a:gridCol w="640080"/>
                <a:gridCol w="640080"/>
              </a:tblGrid>
              <a:tr h="502920">
                <a:tc>
                  <a:txBody>
                    <a:bodyPr wrap="square"/>
                    <a:lstStyle/>
                    <a:p>
                      <a:pPr algn="ctr" marL="0" indent="0">
                        <a:spcBef>
                          <a:spcPts val="0"/>
                        </a:spcBef>
                        <a:spcAft>
                          <a:spcPts val="0"/>
                        </a:spcAft>
                        <a:buNone/>
                      </a:pPr>
                      <a:r>
                        <a:rPr sz="700" b="0" i="0">
                          <a:solidFill>
                            <a:srgbClr val="8C8C8C"/>
                          </a:solidFill>
                          <a:latin typeface="Arial"/>
                        </a:rPr>
                        <a:t>true\pred.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Neg.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Pos.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Sur.</a:t>
                      </a:r>
                    </a:p>
                  </a:txBody>
                  <a:tcPr marL="54864" marR="54864" marT="18288" marB="18288" anchor="ctr">
                    <a:lnL w="9525">
                      <a:noFill/>
                    </a:lnL>
                    <a:lnR w="9525">
                      <a:noFill/>
                    </a:lnR>
                    <a:lnT w="9525">
                      <a:noFill/>
                    </a:lnT>
                    <a:lnB w="9525">
                      <a:solidFill>
                        <a:srgbClr val="D9D9D9"/>
                      </a:solidFill>
                    </a:lnB>
                    <a:solidFill>
                      <a:srgbClr val="FFFFFF"/>
                    </a:solidFill>
                  </a:tcPr>
                </a:tc>
              </a:tr>
              <a:tr h="502920">
                <a:tc>
                  <a:txBody>
                    <a:bodyPr wrap="square"/>
                    <a:lstStyle/>
                    <a:p>
                      <a:pPr algn="ctr" marL="0" indent="0">
                        <a:spcBef>
                          <a:spcPts val="0"/>
                        </a:spcBef>
                        <a:spcAft>
                          <a:spcPts val="0"/>
                        </a:spcAft>
                        <a:buNone/>
                      </a:pPr>
                      <a:r>
                        <a:rPr sz="900" b="0" i="0">
                          <a:solidFill>
                            <a:srgbClr val="8C8C8C"/>
                          </a:solidFill>
                          <a:latin typeface="Arial"/>
                        </a:rPr>
                        <a:t>Neg.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42</a:t>
                      </a:r>
                    </a:p>
                    <a:p>
                      <a:pPr algn="ctr" marL="0" indent="0">
                        <a:spcBef>
                          <a:spcPts val="0"/>
                        </a:spcBef>
                        <a:spcAft>
                          <a:spcPts val="0"/>
                        </a:spcAft>
                        <a:buNone/>
                      </a:pPr>
                      <a:r>
                        <a:rPr sz="800" b="0" i="0">
                          <a:solidFill>
                            <a:srgbClr val="414141"/>
                          </a:solidFill>
                          <a:latin typeface="Arial"/>
                        </a:rPr>
                        <a:t>42 %</a:t>
                      </a:r>
                    </a:p>
                  </a:txBody>
                  <a:tcPr marL="54864" marR="54864" marT="18288" marB="18288" anchor="ctr">
                    <a:lnL w="9525">
                      <a:noFill/>
                    </a:lnL>
                    <a:lnR w="9525">
                      <a:noFill/>
                    </a:lnR>
                    <a:lnT w="9525">
                      <a:noFill/>
                    </a:lnT>
                    <a:lnB w="9525">
                      <a:solidFill>
                        <a:srgbClr val="D9D9D9"/>
                      </a:solidFill>
                    </a:lnB>
                    <a:solidFill>
                      <a:srgbClr val="8CAED4"/>
                    </a:solidFill>
                  </a:tcPr>
                </a:tc>
                <a:tc>
                  <a:txBody>
                    <a:bodyPr wrap="square"/>
                    <a:lstStyle/>
                    <a:p>
                      <a:pPr algn="ctr" marL="0" indent="0">
                        <a:spcBef>
                          <a:spcPts val="0"/>
                        </a:spcBef>
                        <a:spcAft>
                          <a:spcPts val="0"/>
                        </a:spcAft>
                        <a:buNone/>
                      </a:pPr>
                      <a:r>
                        <a:rPr sz="1200" b="1" i="0">
                          <a:solidFill>
                            <a:srgbClr val="414141"/>
                          </a:solidFill>
                          <a:latin typeface="Arial"/>
                        </a:rPr>
                        <a:t>22</a:t>
                      </a:r>
                    </a:p>
                    <a:p>
                      <a:pPr algn="ctr" marL="0" indent="0">
                        <a:spcBef>
                          <a:spcPts val="0"/>
                        </a:spcBef>
                        <a:spcAft>
                          <a:spcPts val="0"/>
                        </a:spcAft>
                        <a:buNone/>
                      </a:pPr>
                      <a:r>
                        <a:rPr sz="800" b="0" i="0">
                          <a:solidFill>
                            <a:srgbClr val="414141"/>
                          </a:solidFill>
                          <a:latin typeface="Arial"/>
                        </a:rPr>
                        <a:t>22 %</a:t>
                      </a:r>
                    </a:p>
                  </a:txBody>
                  <a:tcPr marL="54864" marR="54864" marT="18288" marB="18288" anchor="ctr">
                    <a:lnL w="9525">
                      <a:noFill/>
                    </a:lnL>
                    <a:lnR w="9525">
                      <a:noFill/>
                    </a:lnR>
                    <a:lnT w="9525">
                      <a:noFill/>
                    </a:lnT>
                    <a:lnB w="9525">
                      <a:solidFill>
                        <a:srgbClr val="D9D9D9"/>
                      </a:solidFill>
                    </a:lnB>
                    <a:solidFill>
                      <a:srgbClr val="B4CAE3"/>
                    </a:solidFill>
                  </a:tcPr>
                </a:tc>
                <a:tc>
                  <a:txBody>
                    <a:bodyPr wrap="square"/>
                    <a:lstStyle/>
                    <a:p>
                      <a:pPr algn="ctr" marL="0" indent="0">
                        <a:spcBef>
                          <a:spcPts val="0"/>
                        </a:spcBef>
                        <a:spcAft>
                          <a:spcPts val="0"/>
                        </a:spcAft>
                        <a:buNone/>
                      </a:pPr>
                      <a:r>
                        <a:rPr sz="1200" b="1" i="0">
                          <a:solidFill>
                            <a:srgbClr val="414141"/>
                          </a:solidFill>
                          <a:latin typeface="Arial"/>
                        </a:rPr>
                        <a:t>35</a:t>
                      </a:r>
                    </a:p>
                    <a:p>
                      <a:pPr algn="ctr" marL="0" indent="0">
                        <a:spcBef>
                          <a:spcPts val="0"/>
                        </a:spcBef>
                        <a:spcAft>
                          <a:spcPts val="0"/>
                        </a:spcAft>
                        <a:buNone/>
                      </a:pPr>
                      <a:r>
                        <a:rPr sz="800" b="0" i="0">
                          <a:solidFill>
                            <a:srgbClr val="414141"/>
                          </a:solidFill>
                          <a:latin typeface="Arial"/>
                        </a:rPr>
                        <a:t>35 %</a:t>
                      </a:r>
                    </a:p>
                  </a:txBody>
                  <a:tcPr marL="54864" marR="54864" marT="18288" marB="18288" anchor="ctr">
                    <a:lnL w="9525">
                      <a:noFill/>
                    </a:lnL>
                    <a:lnR w="9525">
                      <a:noFill/>
                    </a:lnR>
                    <a:lnT w="9525">
                      <a:noFill/>
                    </a:lnT>
                    <a:lnB w="9525">
                      <a:solidFill>
                        <a:srgbClr val="D9D9D9"/>
                      </a:solidFill>
                    </a:lnB>
                    <a:solidFill>
                      <a:srgbClr val="9AB8D9"/>
                    </a:solidFill>
                  </a:tcPr>
                </a:tc>
              </a:tr>
              <a:tr h="502920">
                <a:tc>
                  <a:txBody>
                    <a:bodyPr wrap="square"/>
                    <a:lstStyle/>
                    <a:p>
                      <a:pPr algn="ctr" marL="0" indent="0">
                        <a:spcBef>
                          <a:spcPts val="0"/>
                        </a:spcBef>
                        <a:spcAft>
                          <a:spcPts val="0"/>
                        </a:spcAft>
                        <a:buNone/>
                      </a:pPr>
                      <a:r>
                        <a:rPr sz="900" b="0" i="0">
                          <a:solidFill>
                            <a:srgbClr val="8C8C8C"/>
                          </a:solidFill>
                          <a:latin typeface="Arial"/>
                        </a:rPr>
                        <a:t>Pos.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4</a:t>
                      </a:r>
                    </a:p>
                    <a:p>
                      <a:pPr algn="ctr" marL="0" indent="0">
                        <a:spcBef>
                          <a:spcPts val="0"/>
                        </a:spcBef>
                        <a:spcAft>
                          <a:spcPts val="0"/>
                        </a:spcAft>
                        <a:buNone/>
                      </a:pPr>
                      <a:r>
                        <a:rPr sz="800" b="0" i="0">
                          <a:solidFill>
                            <a:srgbClr val="414141"/>
                          </a:solidFill>
                          <a:latin typeface="Arial"/>
                        </a:rPr>
                        <a:t>12 %</a:t>
                      </a:r>
                    </a:p>
                  </a:txBody>
                  <a:tcPr marL="54864" marR="54864" marT="18288" marB="18288" anchor="ctr">
                    <a:lnL w="9525">
                      <a:noFill/>
                    </a:lnL>
                    <a:lnR w="9525">
                      <a:noFill/>
                    </a:lnR>
                    <a:lnT w="9525">
                      <a:noFill/>
                    </a:lnT>
                    <a:lnB w="9525">
                      <a:solidFill>
                        <a:srgbClr val="D9D9D9"/>
                      </a:solidFill>
                    </a:lnB>
                    <a:solidFill>
                      <a:srgbClr val="C8D8EA"/>
                    </a:solidFill>
                  </a:tcPr>
                </a:tc>
                <a:tc>
                  <a:txBody>
                    <a:bodyPr wrap="square"/>
                    <a:lstStyle/>
                    <a:p>
                      <a:pPr algn="ctr" marL="0" indent="0">
                        <a:spcBef>
                          <a:spcPts val="0"/>
                        </a:spcBef>
                        <a:spcAft>
                          <a:spcPts val="0"/>
                        </a:spcAft>
                        <a:buNone/>
                      </a:pPr>
                      <a:r>
                        <a:rPr sz="1200" b="1" i="0">
                          <a:solidFill>
                            <a:srgbClr val="414141"/>
                          </a:solidFill>
                          <a:latin typeface="Arial"/>
                        </a:rPr>
                        <a:t>13</a:t>
                      </a:r>
                    </a:p>
                    <a:p>
                      <a:pPr algn="ctr" marL="0" indent="0">
                        <a:spcBef>
                          <a:spcPts val="0"/>
                        </a:spcBef>
                        <a:spcAft>
                          <a:spcPts val="0"/>
                        </a:spcAft>
                        <a:buNone/>
                      </a:pPr>
                      <a:r>
                        <a:rPr sz="800" b="0" i="0">
                          <a:solidFill>
                            <a:srgbClr val="414141"/>
                          </a:solidFill>
                          <a:latin typeface="Arial"/>
                        </a:rPr>
                        <a:t>41 %</a:t>
                      </a:r>
                    </a:p>
                  </a:txBody>
                  <a:tcPr marL="54864" marR="54864" marT="18288" marB="18288" anchor="ctr">
                    <a:lnL w="9525">
                      <a:noFill/>
                    </a:lnL>
                    <a:lnR w="9525">
                      <a:noFill/>
                    </a:lnR>
                    <a:lnT w="9525">
                      <a:noFill/>
                    </a:lnT>
                    <a:lnB w="9525">
                      <a:solidFill>
                        <a:srgbClr val="D9D9D9"/>
                      </a:solidFill>
                    </a:lnB>
                    <a:solidFill>
                      <a:srgbClr val="90B1D5"/>
                    </a:solidFill>
                  </a:tcPr>
                </a:tc>
                <a:tc>
                  <a:txBody>
                    <a:bodyPr wrap="square"/>
                    <a:lstStyle/>
                    <a:p>
                      <a:pPr algn="ctr" marL="0" indent="0">
                        <a:spcBef>
                          <a:spcPts val="0"/>
                        </a:spcBef>
                        <a:spcAft>
                          <a:spcPts val="0"/>
                        </a:spcAft>
                        <a:buNone/>
                      </a:pPr>
                      <a:r>
                        <a:rPr sz="1200" b="1" i="0">
                          <a:solidFill>
                            <a:srgbClr val="414141"/>
                          </a:solidFill>
                          <a:latin typeface="Arial"/>
                        </a:rPr>
                        <a:t>15</a:t>
                      </a:r>
                    </a:p>
                    <a:p>
                      <a:pPr algn="ctr" marL="0" indent="0">
                        <a:spcBef>
                          <a:spcPts val="0"/>
                        </a:spcBef>
                        <a:spcAft>
                          <a:spcPts val="0"/>
                        </a:spcAft>
                        <a:buNone/>
                      </a:pPr>
                      <a:r>
                        <a:rPr sz="800" b="0" i="0">
                          <a:solidFill>
                            <a:srgbClr val="414141"/>
                          </a:solidFill>
                          <a:latin typeface="Arial"/>
                        </a:rPr>
                        <a:t>47 %</a:t>
                      </a:r>
                    </a:p>
                  </a:txBody>
                  <a:tcPr marL="54864" marR="54864" marT="18288" marB="18288" anchor="ctr">
                    <a:lnL w="9525">
                      <a:noFill/>
                    </a:lnL>
                    <a:lnR w="9525">
                      <a:noFill/>
                    </a:lnR>
                    <a:lnT w="9525">
                      <a:noFill/>
                    </a:lnT>
                    <a:lnB w="9525">
                      <a:solidFill>
                        <a:srgbClr val="D9D9D9"/>
                      </a:solidFill>
                    </a:lnB>
                    <a:solidFill>
                      <a:srgbClr val="83A8D1"/>
                    </a:solidFill>
                  </a:tcPr>
                </a:tc>
              </a:tr>
              <a:tr h="502920">
                <a:tc>
                  <a:txBody>
                    <a:bodyPr wrap="square"/>
                    <a:lstStyle/>
                    <a:p>
                      <a:pPr algn="ctr" marL="0" indent="0">
                        <a:spcBef>
                          <a:spcPts val="0"/>
                        </a:spcBef>
                        <a:spcAft>
                          <a:spcPts val="0"/>
                        </a:spcAft>
                        <a:buNone/>
                      </a:pPr>
                      <a:r>
                        <a:rPr sz="900" b="0" i="0">
                          <a:solidFill>
                            <a:srgbClr val="8C8C8C"/>
                          </a:solidFill>
                          <a:latin typeface="Arial"/>
                        </a:rPr>
                        <a:t>Sur.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5</a:t>
                      </a:r>
                    </a:p>
                    <a:p>
                      <a:pPr algn="ctr" marL="0" indent="0">
                        <a:spcBef>
                          <a:spcPts val="0"/>
                        </a:spcBef>
                        <a:spcAft>
                          <a:spcPts val="0"/>
                        </a:spcAft>
                        <a:buNone/>
                      </a:pPr>
                      <a:r>
                        <a:rPr sz="800" b="0" i="0">
                          <a:solidFill>
                            <a:srgbClr val="414141"/>
                          </a:solidFill>
                          <a:latin typeface="Arial"/>
                        </a:rPr>
                        <a:t>20 %</a:t>
                      </a:r>
                    </a:p>
                  </a:txBody>
                  <a:tcPr marL="54864" marR="54864" marT="18288" marB="18288" anchor="ctr">
                    <a:lnL w="9525">
                      <a:noFill/>
                    </a:lnL>
                    <a:lnR w="9525">
                      <a:noFill/>
                    </a:lnR>
                    <a:lnT w="9525">
                      <a:noFill/>
                    </a:lnT>
                    <a:lnB w="9525">
                      <a:solidFill>
                        <a:srgbClr val="D9D9D9"/>
                      </a:solidFill>
                    </a:lnB>
                    <a:solidFill>
                      <a:srgbClr val="B9CEE5"/>
                    </a:solidFill>
                  </a:tcPr>
                </a:tc>
                <a:tc>
                  <a:txBody>
                    <a:bodyPr wrap="square"/>
                    <a:lstStyle/>
                    <a:p>
                      <a:pPr algn="ctr" marL="0" indent="0">
                        <a:spcBef>
                          <a:spcPts val="0"/>
                        </a:spcBef>
                        <a:spcAft>
                          <a:spcPts val="0"/>
                        </a:spcAft>
                        <a:buNone/>
                      </a:pPr>
                      <a:r>
                        <a:rPr sz="1200" b="1" i="0">
                          <a:solidFill>
                            <a:srgbClr val="414141"/>
                          </a:solidFill>
                          <a:latin typeface="Arial"/>
                        </a:rPr>
                        <a:t>3</a:t>
                      </a:r>
                    </a:p>
                    <a:p>
                      <a:pPr algn="ctr" marL="0" indent="0">
                        <a:spcBef>
                          <a:spcPts val="0"/>
                        </a:spcBef>
                        <a:spcAft>
                          <a:spcPts val="0"/>
                        </a:spcAft>
                        <a:buNone/>
                      </a:pPr>
                      <a:r>
                        <a:rPr sz="800" b="0" i="0">
                          <a:solidFill>
                            <a:srgbClr val="414141"/>
                          </a:solidFill>
                          <a:latin typeface="Arial"/>
                        </a:rPr>
                        <a:t>12 %</a:t>
                      </a:r>
                    </a:p>
                  </a:txBody>
                  <a:tcPr marL="54864" marR="54864" marT="18288" marB="18288" anchor="ctr">
                    <a:lnL w="9525">
                      <a:noFill/>
                    </a:lnL>
                    <a:lnR w="9525">
                      <a:noFill/>
                    </a:lnR>
                    <a:lnT w="9525">
                      <a:noFill/>
                    </a:lnT>
                    <a:lnB w="9525">
                      <a:solidFill>
                        <a:srgbClr val="D9D9D9"/>
                      </a:solidFill>
                    </a:lnB>
                    <a:solidFill>
                      <a:srgbClr val="C9D9EB"/>
                    </a:solidFill>
                  </a:tcPr>
                </a:tc>
                <a:tc>
                  <a:txBody>
                    <a:bodyPr wrap="square"/>
                    <a:lstStyle/>
                    <a:p>
                      <a:pPr algn="ctr" marL="0" indent="0">
                        <a:spcBef>
                          <a:spcPts val="0"/>
                        </a:spcBef>
                        <a:spcAft>
                          <a:spcPts val="0"/>
                        </a:spcAft>
                        <a:buNone/>
                      </a:pPr>
                      <a:r>
                        <a:rPr sz="1200" b="1" i="0">
                          <a:solidFill>
                            <a:srgbClr val="FFFFFF"/>
                          </a:solidFill>
                          <a:latin typeface="Arial"/>
                        </a:rPr>
                        <a:t>17</a:t>
                      </a:r>
                    </a:p>
                    <a:p>
                      <a:pPr algn="ctr" marL="0" indent="0">
                        <a:spcBef>
                          <a:spcPts val="0"/>
                        </a:spcBef>
                        <a:spcAft>
                          <a:spcPts val="0"/>
                        </a:spcAft>
                        <a:buNone/>
                      </a:pPr>
                      <a:r>
                        <a:rPr sz="800" b="0" i="0">
                          <a:solidFill>
                            <a:srgbClr val="FFFFFF"/>
                          </a:solidFill>
                          <a:latin typeface="Arial"/>
                        </a:rPr>
                        <a:t>68 %</a:t>
                      </a:r>
                    </a:p>
                  </a:txBody>
                  <a:tcPr marL="54864" marR="54864" marT="18288" marB="18288" anchor="ctr">
                    <a:lnL w="9525">
                      <a:noFill/>
                    </a:lnL>
                    <a:lnR w="9525">
                      <a:noFill/>
                    </a:lnR>
                    <a:lnT w="9525">
                      <a:noFill/>
                    </a:lnT>
                    <a:lnB w="9525">
                      <a:solidFill>
                        <a:srgbClr val="D9D9D9"/>
                      </a:solidFill>
                    </a:lnB>
                    <a:solidFill>
                      <a:srgbClr val="598BC1"/>
                    </a:solidFill>
                  </a:tcPr>
                </a:tc>
              </a:tr>
            </a:tbl>
          </a:graphicData>
        </a:graphic>
      </p:graphicFrame>
      <p:sp>
        <p:nvSpPr>
          <p:cNvPr id="924" name="TextBox 923"/>
          <p:cNvSpPr txBox="1"/>
          <p:nvPr/>
        </p:nvSpPr>
        <p:spPr>
          <a:xfrm>
            <a:off x="685800" y="4160520"/>
            <a:ext cx="2514600" cy="274320"/>
          </a:xfrm>
          <a:prstGeom prst="rect">
            <a:avLst/>
          </a:prstGeom>
          <a:noFill/>
        </p:spPr>
        <p:txBody>
          <a:bodyPr wrap="square" lIns="45720" rIns="45720" tIns="27432" bIns="27432" anchor="t"/>
          <a:lstStyle/>
          <a:p>
            <a:pPr algn="l" marL="0" indent="0">
              <a:spcBef>
                <a:spcPts val="0"/>
              </a:spcBef>
              <a:spcAft>
                <a:spcPts val="300"/>
              </a:spcAft>
              <a:buNone/>
            </a:pPr>
            <a:r>
              <a:rPr sz="1000" b="0" i="1">
                <a:solidFill>
                  <a:srgbClr val="004CA0"/>
                </a:solidFill>
                <a:latin typeface="Arial"/>
              </a:rPr>
              <a:t>Over-predicts the minority classes</a:t>
            </a:r>
          </a:p>
        </p:txBody>
      </p:sp>
      <p:sp>
        <p:nvSpPr>
          <p:cNvPr id="925" name="TextBox 924"/>
          <p:cNvSpPr txBox="1"/>
          <p:nvPr/>
        </p:nvSpPr>
        <p:spPr>
          <a:xfrm>
            <a:off x="3406140" y="1783080"/>
            <a:ext cx="2514600" cy="292608"/>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C8: all four components</a:t>
            </a:r>
          </a:p>
        </p:txBody>
      </p:sp>
      <p:graphicFrame>
        <p:nvGraphicFramePr>
          <p:cNvPr id="926" name="Table 925"/>
          <p:cNvGraphicFramePr>
            <a:graphicFrameLocks noGrp="1"/>
          </p:cNvGraphicFramePr>
          <p:nvPr/>
        </p:nvGraphicFramePr>
        <p:xfrm>
          <a:off x="3406140" y="2103120"/>
          <a:ext cx="2514600" cy="2011680"/>
        </p:xfrm>
        <a:graphic>
          <a:graphicData uri="http://schemas.openxmlformats.org/drawingml/2006/table">
            <a:tbl>
              <a:tblPr firstRow="0" bandRow="0">
                <a:tableStyleId>{2D5ABB26-0587-4C30-8999-92F81FD0307C}</a:tableStyleId>
              </a:tblPr>
              <a:tblGrid>
                <a:gridCol w="594360"/>
                <a:gridCol w="640080"/>
                <a:gridCol w="640080"/>
                <a:gridCol w="640080"/>
              </a:tblGrid>
              <a:tr h="502920">
                <a:tc>
                  <a:txBody>
                    <a:bodyPr wrap="square"/>
                    <a:lstStyle/>
                    <a:p>
                      <a:pPr algn="ctr" marL="0" indent="0">
                        <a:spcBef>
                          <a:spcPts val="0"/>
                        </a:spcBef>
                        <a:spcAft>
                          <a:spcPts val="0"/>
                        </a:spcAft>
                        <a:buNone/>
                      </a:pPr>
                      <a:r>
                        <a:rPr sz="700" b="0" i="0">
                          <a:solidFill>
                            <a:srgbClr val="8C8C8C"/>
                          </a:solidFill>
                          <a:latin typeface="Arial"/>
                        </a:rPr>
                        <a:t>true\pred.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Neg.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Pos.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Sur.</a:t>
                      </a:r>
                    </a:p>
                  </a:txBody>
                  <a:tcPr marL="54864" marR="54864" marT="18288" marB="18288" anchor="ctr">
                    <a:lnL w="9525">
                      <a:noFill/>
                    </a:lnL>
                    <a:lnR w="9525">
                      <a:noFill/>
                    </a:lnR>
                    <a:lnT w="9525">
                      <a:noFill/>
                    </a:lnT>
                    <a:lnB w="9525">
                      <a:solidFill>
                        <a:srgbClr val="D9D9D9"/>
                      </a:solidFill>
                    </a:lnB>
                    <a:solidFill>
                      <a:srgbClr val="FFFFFF"/>
                    </a:solidFill>
                  </a:tcPr>
                </a:tc>
              </a:tr>
              <a:tr h="502920">
                <a:tc>
                  <a:txBody>
                    <a:bodyPr wrap="square"/>
                    <a:lstStyle/>
                    <a:p>
                      <a:pPr algn="ctr" marL="0" indent="0">
                        <a:spcBef>
                          <a:spcPts val="0"/>
                        </a:spcBef>
                        <a:spcAft>
                          <a:spcPts val="0"/>
                        </a:spcAft>
                        <a:buNone/>
                      </a:pPr>
                      <a:r>
                        <a:rPr sz="900" b="0" i="0">
                          <a:solidFill>
                            <a:srgbClr val="8C8C8C"/>
                          </a:solidFill>
                          <a:latin typeface="Arial"/>
                        </a:rPr>
                        <a:t>Neg.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FFFFFF"/>
                          </a:solidFill>
                          <a:latin typeface="Arial"/>
                        </a:rPr>
                        <a:t>85</a:t>
                      </a:r>
                    </a:p>
                    <a:p>
                      <a:pPr algn="ctr" marL="0" indent="0">
                        <a:spcBef>
                          <a:spcPts val="0"/>
                        </a:spcBef>
                        <a:spcAft>
                          <a:spcPts val="0"/>
                        </a:spcAft>
                        <a:buNone/>
                      </a:pPr>
                      <a:r>
                        <a:rPr sz="800" b="0" i="0">
                          <a:solidFill>
                            <a:srgbClr val="FFFFFF"/>
                          </a:solidFill>
                          <a:latin typeface="Arial"/>
                        </a:rPr>
                        <a:t>86 %</a:t>
                      </a:r>
                    </a:p>
                  </a:txBody>
                  <a:tcPr marL="54864" marR="54864" marT="18288" marB="18288" anchor="ctr">
                    <a:lnL w="9525">
                      <a:noFill/>
                    </a:lnL>
                    <a:lnR w="9525">
                      <a:noFill/>
                    </a:lnR>
                    <a:lnT w="9525">
                      <a:noFill/>
                    </a:lnT>
                    <a:lnB w="9525">
                      <a:solidFill>
                        <a:srgbClr val="D9D9D9"/>
                      </a:solidFill>
                    </a:lnB>
                    <a:solidFill>
                      <a:srgbClr val="3672B4"/>
                    </a:solidFill>
                  </a:tcPr>
                </a:tc>
                <a:tc>
                  <a:txBody>
                    <a:bodyPr wrap="square"/>
                    <a:lstStyle/>
                    <a:p>
                      <a:pPr algn="ctr" marL="0" indent="0">
                        <a:spcBef>
                          <a:spcPts val="0"/>
                        </a:spcBef>
                        <a:spcAft>
                          <a:spcPts val="0"/>
                        </a:spcAft>
                        <a:buNone/>
                      </a:pPr>
                      <a:r>
                        <a:rPr sz="1200" b="1" i="0">
                          <a:solidFill>
                            <a:srgbClr val="414141"/>
                          </a:solidFill>
                          <a:latin typeface="Arial"/>
                        </a:rPr>
                        <a:t>3</a:t>
                      </a:r>
                    </a:p>
                    <a:p>
                      <a:pPr algn="ctr" marL="0" indent="0">
                        <a:spcBef>
                          <a:spcPts val="0"/>
                        </a:spcBef>
                        <a:spcAft>
                          <a:spcPts val="0"/>
                        </a:spcAft>
                        <a:buNone/>
                      </a:pPr>
                      <a:r>
                        <a:rPr sz="800" b="0" i="0">
                          <a:solidFill>
                            <a:srgbClr val="414141"/>
                          </a:solidFill>
                          <a:latin typeface="Arial"/>
                        </a:rPr>
                        <a:t>3 %</a:t>
                      </a:r>
                    </a:p>
                  </a:txBody>
                  <a:tcPr marL="54864" marR="54864" marT="18288" marB="18288" anchor="ctr">
                    <a:lnL w="9525">
                      <a:noFill/>
                    </a:lnL>
                    <a:lnR w="9525">
                      <a:noFill/>
                    </a:lnR>
                    <a:lnT w="9525">
                      <a:noFill/>
                    </a:lnT>
                    <a:lnB w="9525">
                      <a:solidFill>
                        <a:srgbClr val="D9D9D9"/>
                      </a:solidFill>
                    </a:lnB>
                    <a:solidFill>
                      <a:srgbClr val="DAE5F1"/>
                    </a:solidFill>
                  </a:tcPr>
                </a:tc>
                <a:tc>
                  <a:txBody>
                    <a:bodyPr wrap="square"/>
                    <a:lstStyle/>
                    <a:p>
                      <a:pPr algn="ctr" marL="0" indent="0">
                        <a:spcBef>
                          <a:spcPts val="0"/>
                        </a:spcBef>
                        <a:spcAft>
                          <a:spcPts val="0"/>
                        </a:spcAft>
                        <a:buNone/>
                      </a:pPr>
                      <a:r>
                        <a:rPr sz="1200" b="1" i="0">
                          <a:solidFill>
                            <a:srgbClr val="414141"/>
                          </a:solidFill>
                          <a:latin typeface="Arial"/>
                        </a:rPr>
                        <a:t>11</a:t>
                      </a:r>
                    </a:p>
                    <a:p>
                      <a:pPr algn="ctr" marL="0" indent="0">
                        <a:spcBef>
                          <a:spcPts val="0"/>
                        </a:spcBef>
                        <a:spcAft>
                          <a:spcPts val="0"/>
                        </a:spcAft>
                        <a:buNone/>
                      </a:pPr>
                      <a:r>
                        <a:rPr sz="800" b="0" i="0">
                          <a:solidFill>
                            <a:srgbClr val="414141"/>
                          </a:solidFill>
                          <a:latin typeface="Arial"/>
                        </a:rPr>
                        <a:t>11 %</a:t>
                      </a:r>
                    </a:p>
                  </a:txBody>
                  <a:tcPr marL="54864" marR="54864" marT="18288" marB="18288" anchor="ctr">
                    <a:lnL w="9525">
                      <a:noFill/>
                    </a:lnL>
                    <a:lnR w="9525">
                      <a:noFill/>
                    </a:lnR>
                    <a:lnT w="9525">
                      <a:noFill/>
                    </a:lnT>
                    <a:lnB w="9525">
                      <a:solidFill>
                        <a:srgbClr val="D9D9D9"/>
                      </a:solidFill>
                    </a:lnB>
                    <a:solidFill>
                      <a:srgbClr val="CADAEB"/>
                    </a:solidFill>
                  </a:tcPr>
                </a:tc>
              </a:tr>
              <a:tr h="502920">
                <a:tc>
                  <a:txBody>
                    <a:bodyPr wrap="square"/>
                    <a:lstStyle/>
                    <a:p>
                      <a:pPr algn="ctr" marL="0" indent="0">
                        <a:spcBef>
                          <a:spcPts val="0"/>
                        </a:spcBef>
                        <a:spcAft>
                          <a:spcPts val="0"/>
                        </a:spcAft>
                        <a:buNone/>
                      </a:pPr>
                      <a:r>
                        <a:rPr sz="900" b="0" i="0">
                          <a:solidFill>
                            <a:srgbClr val="8C8C8C"/>
                          </a:solidFill>
                          <a:latin typeface="Arial"/>
                        </a:rPr>
                        <a:t>Pos.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13</a:t>
                      </a:r>
                    </a:p>
                    <a:p>
                      <a:pPr algn="ctr" marL="0" indent="0">
                        <a:spcBef>
                          <a:spcPts val="0"/>
                        </a:spcBef>
                        <a:spcAft>
                          <a:spcPts val="0"/>
                        </a:spcAft>
                        <a:buNone/>
                      </a:pPr>
                      <a:r>
                        <a:rPr sz="800" b="0" i="0">
                          <a:solidFill>
                            <a:srgbClr val="414141"/>
                          </a:solidFill>
                          <a:latin typeface="Arial"/>
                        </a:rPr>
                        <a:t>41 %</a:t>
                      </a:r>
                    </a:p>
                  </a:txBody>
                  <a:tcPr marL="54864" marR="54864" marT="18288" marB="18288" anchor="ctr">
                    <a:lnL w="9525">
                      <a:noFill/>
                    </a:lnL>
                    <a:lnR w="9525">
                      <a:noFill/>
                    </a:lnR>
                    <a:lnT w="9525">
                      <a:noFill/>
                    </a:lnT>
                    <a:lnB w="9525">
                      <a:solidFill>
                        <a:srgbClr val="D9D9D9"/>
                      </a:solidFill>
                    </a:lnB>
                    <a:solidFill>
                      <a:srgbClr val="90B1D5"/>
                    </a:solidFill>
                  </a:tcPr>
                </a:tc>
                <a:tc>
                  <a:txBody>
                    <a:bodyPr wrap="square"/>
                    <a:lstStyle/>
                    <a:p>
                      <a:pPr algn="ctr" marL="0" indent="0">
                        <a:spcBef>
                          <a:spcPts val="0"/>
                        </a:spcBef>
                        <a:spcAft>
                          <a:spcPts val="0"/>
                        </a:spcAft>
                        <a:buNone/>
                      </a:pPr>
                      <a:r>
                        <a:rPr sz="1200" b="1" i="0">
                          <a:solidFill>
                            <a:srgbClr val="414141"/>
                          </a:solidFill>
                          <a:latin typeface="Arial"/>
                        </a:rPr>
                        <a:t>15</a:t>
                      </a:r>
                    </a:p>
                    <a:p>
                      <a:pPr algn="ctr" marL="0" indent="0">
                        <a:spcBef>
                          <a:spcPts val="0"/>
                        </a:spcBef>
                        <a:spcAft>
                          <a:spcPts val="0"/>
                        </a:spcAft>
                        <a:buNone/>
                      </a:pPr>
                      <a:r>
                        <a:rPr sz="800" b="0" i="0">
                          <a:solidFill>
                            <a:srgbClr val="414141"/>
                          </a:solidFill>
                          <a:latin typeface="Arial"/>
                        </a:rPr>
                        <a:t>47 %</a:t>
                      </a:r>
                    </a:p>
                  </a:txBody>
                  <a:tcPr marL="54864" marR="54864" marT="18288" marB="18288" anchor="ctr">
                    <a:lnL w="9525">
                      <a:noFill/>
                    </a:lnL>
                    <a:lnR w="9525">
                      <a:noFill/>
                    </a:lnR>
                    <a:lnT w="9525">
                      <a:noFill/>
                    </a:lnT>
                    <a:lnB w="9525">
                      <a:solidFill>
                        <a:srgbClr val="D9D9D9"/>
                      </a:solidFill>
                    </a:lnB>
                    <a:solidFill>
                      <a:srgbClr val="83A8D1"/>
                    </a:solidFill>
                  </a:tcPr>
                </a:tc>
                <a:tc>
                  <a:txBody>
                    <a:bodyPr wrap="square"/>
                    <a:lstStyle/>
                    <a:p>
                      <a:pPr algn="ctr" marL="0" indent="0">
                        <a:spcBef>
                          <a:spcPts val="0"/>
                        </a:spcBef>
                        <a:spcAft>
                          <a:spcPts val="0"/>
                        </a:spcAft>
                        <a:buNone/>
                      </a:pPr>
                      <a:r>
                        <a:rPr sz="1200" b="1" i="0">
                          <a:solidFill>
                            <a:srgbClr val="414141"/>
                          </a:solidFill>
                          <a:latin typeface="Arial"/>
                        </a:rPr>
                        <a:t>4</a:t>
                      </a:r>
                    </a:p>
                    <a:p>
                      <a:pPr algn="ctr" marL="0" indent="0">
                        <a:spcBef>
                          <a:spcPts val="0"/>
                        </a:spcBef>
                        <a:spcAft>
                          <a:spcPts val="0"/>
                        </a:spcAft>
                        <a:buNone/>
                      </a:pPr>
                      <a:r>
                        <a:rPr sz="800" b="0" i="0">
                          <a:solidFill>
                            <a:srgbClr val="414141"/>
                          </a:solidFill>
                          <a:latin typeface="Arial"/>
                        </a:rPr>
                        <a:t>12 %</a:t>
                      </a:r>
                    </a:p>
                  </a:txBody>
                  <a:tcPr marL="54864" marR="54864" marT="18288" marB="18288" anchor="ctr">
                    <a:lnL w="9525">
                      <a:noFill/>
                    </a:lnL>
                    <a:lnR w="9525">
                      <a:noFill/>
                    </a:lnR>
                    <a:lnT w="9525">
                      <a:noFill/>
                    </a:lnT>
                    <a:lnB w="9525">
                      <a:solidFill>
                        <a:srgbClr val="D9D9D9"/>
                      </a:solidFill>
                    </a:lnB>
                    <a:solidFill>
                      <a:srgbClr val="C8D8EA"/>
                    </a:solidFill>
                  </a:tcPr>
                </a:tc>
              </a:tr>
              <a:tr h="502920">
                <a:tc>
                  <a:txBody>
                    <a:bodyPr wrap="square"/>
                    <a:lstStyle/>
                    <a:p>
                      <a:pPr algn="ctr" marL="0" indent="0">
                        <a:spcBef>
                          <a:spcPts val="0"/>
                        </a:spcBef>
                        <a:spcAft>
                          <a:spcPts val="0"/>
                        </a:spcAft>
                        <a:buNone/>
                      </a:pPr>
                      <a:r>
                        <a:rPr sz="900" b="0" i="0">
                          <a:solidFill>
                            <a:srgbClr val="8C8C8C"/>
                          </a:solidFill>
                          <a:latin typeface="Arial"/>
                        </a:rPr>
                        <a:t>Sur.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4</a:t>
                      </a:r>
                    </a:p>
                    <a:p>
                      <a:pPr algn="ctr" marL="0" indent="0">
                        <a:spcBef>
                          <a:spcPts val="0"/>
                        </a:spcBef>
                        <a:spcAft>
                          <a:spcPts val="0"/>
                        </a:spcAft>
                        <a:buNone/>
                      </a:pPr>
                      <a:r>
                        <a:rPr sz="800" b="0" i="0">
                          <a:solidFill>
                            <a:srgbClr val="414141"/>
                          </a:solidFill>
                          <a:latin typeface="Arial"/>
                        </a:rPr>
                        <a:t>16 %</a:t>
                      </a:r>
                    </a:p>
                  </a:txBody>
                  <a:tcPr marL="54864" marR="54864" marT="18288" marB="18288" anchor="ctr">
                    <a:lnL w="9525">
                      <a:noFill/>
                    </a:lnL>
                    <a:lnR w="9525">
                      <a:noFill/>
                    </a:lnR>
                    <a:lnT w="9525">
                      <a:noFill/>
                    </a:lnT>
                    <a:lnB w="9525">
                      <a:solidFill>
                        <a:srgbClr val="D9D9D9"/>
                      </a:solidFill>
                    </a:lnB>
                    <a:solidFill>
                      <a:srgbClr val="C1D3E8"/>
                    </a:solidFill>
                  </a:tcPr>
                </a:tc>
                <a:tc>
                  <a:txBody>
                    <a:bodyPr wrap="square"/>
                    <a:lstStyle/>
                    <a:p>
                      <a:pPr algn="ctr" marL="0" indent="0">
                        <a:spcBef>
                          <a:spcPts val="0"/>
                        </a:spcBef>
                        <a:spcAft>
                          <a:spcPts val="0"/>
                        </a:spcAft>
                        <a:buNone/>
                      </a:pPr>
                      <a:r>
                        <a:rPr sz="1200" b="1" i="0">
                          <a:solidFill>
                            <a:srgbClr val="414141"/>
                          </a:solidFill>
                          <a:latin typeface="Arial"/>
                        </a:rPr>
                        <a:t>4</a:t>
                      </a:r>
                    </a:p>
                    <a:p>
                      <a:pPr algn="ctr" marL="0" indent="0">
                        <a:spcBef>
                          <a:spcPts val="0"/>
                        </a:spcBef>
                        <a:spcAft>
                          <a:spcPts val="0"/>
                        </a:spcAft>
                        <a:buNone/>
                      </a:pPr>
                      <a:r>
                        <a:rPr sz="800" b="0" i="0">
                          <a:solidFill>
                            <a:srgbClr val="414141"/>
                          </a:solidFill>
                          <a:latin typeface="Arial"/>
                        </a:rPr>
                        <a:t>16 %</a:t>
                      </a:r>
                    </a:p>
                  </a:txBody>
                  <a:tcPr marL="54864" marR="54864" marT="18288" marB="18288" anchor="ctr">
                    <a:lnL w="9525">
                      <a:noFill/>
                    </a:lnL>
                    <a:lnR w="9525">
                      <a:noFill/>
                    </a:lnR>
                    <a:lnT w="9525">
                      <a:noFill/>
                    </a:lnT>
                    <a:lnB w="9525">
                      <a:solidFill>
                        <a:srgbClr val="D9D9D9"/>
                      </a:solidFill>
                    </a:lnB>
                    <a:solidFill>
                      <a:srgbClr val="C1D3E8"/>
                    </a:solidFill>
                  </a:tcPr>
                </a:tc>
                <a:tc>
                  <a:txBody>
                    <a:bodyPr wrap="square"/>
                    <a:lstStyle/>
                    <a:p>
                      <a:pPr algn="ctr" marL="0" indent="0">
                        <a:spcBef>
                          <a:spcPts val="0"/>
                        </a:spcBef>
                        <a:spcAft>
                          <a:spcPts val="0"/>
                        </a:spcAft>
                        <a:buNone/>
                      </a:pPr>
                      <a:r>
                        <a:rPr sz="1200" b="1" i="0">
                          <a:solidFill>
                            <a:srgbClr val="FFFFFF"/>
                          </a:solidFill>
                          <a:latin typeface="Arial"/>
                        </a:rPr>
                        <a:t>17</a:t>
                      </a:r>
                    </a:p>
                    <a:p>
                      <a:pPr algn="ctr" marL="0" indent="0">
                        <a:spcBef>
                          <a:spcPts val="0"/>
                        </a:spcBef>
                        <a:spcAft>
                          <a:spcPts val="0"/>
                        </a:spcAft>
                        <a:buNone/>
                      </a:pPr>
                      <a:r>
                        <a:rPr sz="800" b="0" i="0">
                          <a:solidFill>
                            <a:srgbClr val="FFFFFF"/>
                          </a:solidFill>
                          <a:latin typeface="Arial"/>
                        </a:rPr>
                        <a:t>68 %</a:t>
                      </a:r>
                    </a:p>
                  </a:txBody>
                  <a:tcPr marL="54864" marR="54864" marT="18288" marB="18288" anchor="ctr">
                    <a:lnL w="9525">
                      <a:noFill/>
                    </a:lnL>
                    <a:lnR w="9525">
                      <a:noFill/>
                    </a:lnR>
                    <a:lnT w="9525">
                      <a:noFill/>
                    </a:lnT>
                    <a:lnB w="9525">
                      <a:solidFill>
                        <a:srgbClr val="D9D9D9"/>
                      </a:solidFill>
                    </a:lnB>
                    <a:solidFill>
                      <a:srgbClr val="598BC1"/>
                    </a:solidFill>
                  </a:tcPr>
                </a:tc>
              </a:tr>
            </a:tbl>
          </a:graphicData>
        </a:graphic>
      </p:graphicFrame>
      <p:sp>
        <p:nvSpPr>
          <p:cNvPr id="927" name="TextBox 926"/>
          <p:cNvSpPr txBox="1"/>
          <p:nvPr/>
        </p:nvSpPr>
        <p:spPr>
          <a:xfrm>
            <a:off x="3406140" y="4160520"/>
            <a:ext cx="2514600" cy="274320"/>
          </a:xfrm>
          <a:prstGeom prst="rect">
            <a:avLst/>
          </a:prstGeom>
          <a:noFill/>
        </p:spPr>
        <p:txBody>
          <a:bodyPr wrap="square" lIns="45720" rIns="45720" tIns="27432" bIns="27432" anchor="t"/>
          <a:lstStyle/>
          <a:p>
            <a:pPr algn="l" marL="0" indent="0">
              <a:spcBef>
                <a:spcPts val="0"/>
              </a:spcBef>
              <a:spcAft>
                <a:spcPts val="300"/>
              </a:spcAft>
              <a:buNone/>
            </a:pPr>
            <a:r>
              <a:rPr sz="1000" b="0" i="1">
                <a:solidFill>
                  <a:srgbClr val="004CA0"/>
                </a:solidFill>
                <a:latin typeface="Arial"/>
              </a:rPr>
              <a:t>Shifted towards the majority class</a:t>
            </a:r>
          </a:p>
        </p:txBody>
      </p:sp>
      <p:sp>
        <p:nvSpPr>
          <p:cNvPr id="928" name="TextBox 927"/>
          <p:cNvSpPr txBox="1"/>
          <p:nvPr/>
        </p:nvSpPr>
        <p:spPr>
          <a:xfrm>
            <a:off x="6126480" y="1783080"/>
            <a:ext cx="2514600" cy="292608"/>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C2: transformer only (best)</a:t>
            </a:r>
          </a:p>
        </p:txBody>
      </p:sp>
      <p:graphicFrame>
        <p:nvGraphicFramePr>
          <p:cNvPr id="929" name="Table 928"/>
          <p:cNvGraphicFramePr>
            <a:graphicFrameLocks noGrp="1"/>
          </p:cNvGraphicFramePr>
          <p:nvPr/>
        </p:nvGraphicFramePr>
        <p:xfrm>
          <a:off x="6126480" y="2103120"/>
          <a:ext cx="2514600" cy="2011680"/>
        </p:xfrm>
        <a:graphic>
          <a:graphicData uri="http://schemas.openxmlformats.org/drawingml/2006/table">
            <a:tbl>
              <a:tblPr firstRow="0" bandRow="0">
                <a:tableStyleId>{2D5ABB26-0587-4C30-8999-92F81FD0307C}</a:tableStyleId>
              </a:tblPr>
              <a:tblGrid>
                <a:gridCol w="594360"/>
                <a:gridCol w="640080"/>
                <a:gridCol w="640080"/>
                <a:gridCol w="640080"/>
              </a:tblGrid>
              <a:tr h="502920">
                <a:tc>
                  <a:txBody>
                    <a:bodyPr wrap="square"/>
                    <a:lstStyle/>
                    <a:p>
                      <a:pPr algn="ctr" marL="0" indent="0">
                        <a:spcBef>
                          <a:spcPts val="0"/>
                        </a:spcBef>
                        <a:spcAft>
                          <a:spcPts val="0"/>
                        </a:spcAft>
                        <a:buNone/>
                      </a:pPr>
                      <a:r>
                        <a:rPr sz="700" b="0" i="0">
                          <a:solidFill>
                            <a:srgbClr val="8C8C8C"/>
                          </a:solidFill>
                          <a:latin typeface="Arial"/>
                        </a:rPr>
                        <a:t>true\pred.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Neg.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Pos.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Sur.</a:t>
                      </a:r>
                    </a:p>
                  </a:txBody>
                  <a:tcPr marL="54864" marR="54864" marT="18288" marB="18288" anchor="ctr">
                    <a:lnL w="9525">
                      <a:noFill/>
                    </a:lnL>
                    <a:lnR w="9525">
                      <a:noFill/>
                    </a:lnR>
                    <a:lnT w="9525">
                      <a:noFill/>
                    </a:lnT>
                    <a:lnB w="9525">
                      <a:solidFill>
                        <a:srgbClr val="D9D9D9"/>
                      </a:solidFill>
                    </a:lnB>
                    <a:solidFill>
                      <a:srgbClr val="FFFFFF"/>
                    </a:solidFill>
                  </a:tcPr>
                </a:tc>
              </a:tr>
              <a:tr h="502920">
                <a:tc>
                  <a:txBody>
                    <a:bodyPr wrap="square"/>
                    <a:lstStyle/>
                    <a:p>
                      <a:pPr algn="ctr" marL="0" indent="0">
                        <a:spcBef>
                          <a:spcPts val="0"/>
                        </a:spcBef>
                        <a:spcAft>
                          <a:spcPts val="0"/>
                        </a:spcAft>
                        <a:buNone/>
                      </a:pPr>
                      <a:r>
                        <a:rPr sz="900" b="0" i="0">
                          <a:solidFill>
                            <a:srgbClr val="8C8C8C"/>
                          </a:solidFill>
                          <a:latin typeface="Arial"/>
                        </a:rPr>
                        <a:t>Neg.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FFFFFF"/>
                          </a:solidFill>
                          <a:latin typeface="Arial"/>
                        </a:rPr>
                        <a:t>71</a:t>
                      </a:r>
                    </a:p>
                    <a:p>
                      <a:pPr algn="ctr" marL="0" indent="0">
                        <a:spcBef>
                          <a:spcPts val="0"/>
                        </a:spcBef>
                        <a:spcAft>
                          <a:spcPts val="0"/>
                        </a:spcAft>
                        <a:buNone/>
                      </a:pPr>
                      <a:r>
                        <a:rPr sz="800" b="0" i="0">
                          <a:solidFill>
                            <a:srgbClr val="FFFFFF"/>
                          </a:solidFill>
                          <a:latin typeface="Arial"/>
                        </a:rPr>
                        <a:t>72 %</a:t>
                      </a:r>
                    </a:p>
                  </a:txBody>
                  <a:tcPr marL="54864" marR="54864" marT="18288" marB="18288" anchor="ctr">
                    <a:lnL w="9525">
                      <a:noFill/>
                    </a:lnL>
                    <a:lnR w="9525">
                      <a:noFill/>
                    </a:lnR>
                    <a:lnT w="9525">
                      <a:noFill/>
                    </a:lnT>
                    <a:lnB w="9525">
                      <a:solidFill>
                        <a:srgbClr val="D9D9D9"/>
                      </a:solidFill>
                    </a:lnB>
                    <a:solidFill>
                      <a:srgbClr val="5285BE"/>
                    </a:solidFill>
                  </a:tcPr>
                </a:tc>
                <a:tc>
                  <a:txBody>
                    <a:bodyPr wrap="square"/>
                    <a:lstStyle/>
                    <a:p>
                      <a:pPr algn="ctr" marL="0" indent="0">
                        <a:spcBef>
                          <a:spcPts val="0"/>
                        </a:spcBef>
                        <a:spcAft>
                          <a:spcPts val="0"/>
                        </a:spcAft>
                        <a:buNone/>
                      </a:pPr>
                      <a:r>
                        <a:rPr sz="1200" b="1" i="0">
                          <a:solidFill>
                            <a:srgbClr val="414141"/>
                          </a:solidFill>
                          <a:latin typeface="Arial"/>
                        </a:rPr>
                        <a:t>20</a:t>
                      </a:r>
                    </a:p>
                    <a:p>
                      <a:pPr algn="ctr" marL="0" indent="0">
                        <a:spcBef>
                          <a:spcPts val="0"/>
                        </a:spcBef>
                        <a:spcAft>
                          <a:spcPts val="0"/>
                        </a:spcAft>
                        <a:buNone/>
                      </a:pPr>
                      <a:r>
                        <a:rPr sz="800" b="0" i="0">
                          <a:solidFill>
                            <a:srgbClr val="414141"/>
                          </a:solidFill>
                          <a:latin typeface="Arial"/>
                        </a:rPr>
                        <a:t>20 %</a:t>
                      </a:r>
                    </a:p>
                  </a:txBody>
                  <a:tcPr marL="54864" marR="54864" marT="18288" marB="18288" anchor="ctr">
                    <a:lnL w="9525">
                      <a:noFill/>
                    </a:lnL>
                    <a:lnR w="9525">
                      <a:noFill/>
                    </a:lnR>
                    <a:lnT w="9525">
                      <a:noFill/>
                    </a:lnT>
                    <a:lnB w="9525">
                      <a:solidFill>
                        <a:srgbClr val="D9D9D9"/>
                      </a:solidFill>
                    </a:lnB>
                    <a:solidFill>
                      <a:srgbClr val="B8CDE5"/>
                    </a:solidFill>
                  </a:tcPr>
                </a:tc>
                <a:tc>
                  <a:txBody>
                    <a:bodyPr wrap="square"/>
                    <a:lstStyle/>
                    <a:p>
                      <a:pPr algn="ctr" marL="0" indent="0">
                        <a:spcBef>
                          <a:spcPts val="0"/>
                        </a:spcBef>
                        <a:spcAft>
                          <a:spcPts val="0"/>
                        </a:spcAft>
                        <a:buNone/>
                      </a:pPr>
                      <a:r>
                        <a:rPr sz="1200" b="1" i="0">
                          <a:solidFill>
                            <a:srgbClr val="414141"/>
                          </a:solidFill>
                          <a:latin typeface="Arial"/>
                        </a:rPr>
                        <a:t>8</a:t>
                      </a:r>
                    </a:p>
                    <a:p>
                      <a:pPr algn="ctr" marL="0" indent="0">
                        <a:spcBef>
                          <a:spcPts val="0"/>
                        </a:spcBef>
                        <a:spcAft>
                          <a:spcPts val="0"/>
                        </a:spcAft>
                        <a:buNone/>
                      </a:pPr>
                      <a:r>
                        <a:rPr sz="800" b="0" i="0">
                          <a:solidFill>
                            <a:srgbClr val="414141"/>
                          </a:solidFill>
                          <a:latin typeface="Arial"/>
                        </a:rPr>
                        <a:t>8 %</a:t>
                      </a:r>
                    </a:p>
                  </a:txBody>
                  <a:tcPr marL="54864" marR="54864" marT="18288" marB="18288" anchor="ctr">
                    <a:lnL w="9525">
                      <a:noFill/>
                    </a:lnL>
                    <a:lnR w="9525">
                      <a:noFill/>
                    </a:lnR>
                    <a:lnT w="9525">
                      <a:noFill/>
                    </a:lnT>
                    <a:lnB w="9525">
                      <a:solidFill>
                        <a:srgbClr val="D9D9D9"/>
                      </a:solidFill>
                    </a:lnB>
                    <a:solidFill>
                      <a:srgbClr val="D0DEEE"/>
                    </a:solidFill>
                  </a:tcPr>
                </a:tc>
              </a:tr>
              <a:tr h="502920">
                <a:tc>
                  <a:txBody>
                    <a:bodyPr wrap="square"/>
                    <a:lstStyle/>
                    <a:p>
                      <a:pPr algn="ctr" marL="0" indent="0">
                        <a:spcBef>
                          <a:spcPts val="0"/>
                        </a:spcBef>
                        <a:spcAft>
                          <a:spcPts val="0"/>
                        </a:spcAft>
                        <a:buNone/>
                      </a:pPr>
                      <a:r>
                        <a:rPr sz="900" b="0" i="0">
                          <a:solidFill>
                            <a:srgbClr val="8C8C8C"/>
                          </a:solidFill>
                          <a:latin typeface="Arial"/>
                        </a:rPr>
                        <a:t>Pos.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3</a:t>
                      </a:r>
                    </a:p>
                    <a:p>
                      <a:pPr algn="ctr" marL="0" indent="0">
                        <a:spcBef>
                          <a:spcPts val="0"/>
                        </a:spcBef>
                        <a:spcAft>
                          <a:spcPts val="0"/>
                        </a:spcAft>
                        <a:buNone/>
                      </a:pPr>
                      <a:r>
                        <a:rPr sz="800" b="0" i="0">
                          <a:solidFill>
                            <a:srgbClr val="414141"/>
                          </a:solidFill>
                          <a:latin typeface="Arial"/>
                        </a:rPr>
                        <a:t>9 %</a:t>
                      </a:r>
                    </a:p>
                  </a:txBody>
                  <a:tcPr marL="54864" marR="54864" marT="18288" marB="18288" anchor="ctr">
                    <a:lnL w="9525">
                      <a:noFill/>
                    </a:lnL>
                    <a:lnR w="9525">
                      <a:noFill/>
                    </a:lnR>
                    <a:lnT w="9525">
                      <a:noFill/>
                    </a:lnT>
                    <a:lnB w="9525">
                      <a:solidFill>
                        <a:srgbClr val="D9D9D9"/>
                      </a:solidFill>
                    </a:lnB>
                    <a:solidFill>
                      <a:srgbClr val="CEDCED"/>
                    </a:solidFill>
                  </a:tcPr>
                </a:tc>
                <a:tc>
                  <a:txBody>
                    <a:bodyPr wrap="square"/>
                    <a:lstStyle/>
                    <a:p>
                      <a:pPr algn="ctr" marL="0" indent="0">
                        <a:spcBef>
                          <a:spcPts val="0"/>
                        </a:spcBef>
                        <a:spcAft>
                          <a:spcPts val="0"/>
                        </a:spcAft>
                        <a:buNone/>
                      </a:pPr>
                      <a:r>
                        <a:rPr sz="1200" b="1" i="0">
                          <a:solidFill>
                            <a:srgbClr val="FFFFFF"/>
                          </a:solidFill>
                          <a:latin typeface="Arial"/>
                        </a:rPr>
                        <a:t>27</a:t>
                      </a:r>
                    </a:p>
                    <a:p>
                      <a:pPr algn="ctr" marL="0" indent="0">
                        <a:spcBef>
                          <a:spcPts val="0"/>
                        </a:spcBef>
                        <a:spcAft>
                          <a:spcPts val="0"/>
                        </a:spcAft>
                        <a:buNone/>
                      </a:pPr>
                      <a:r>
                        <a:rPr sz="800" b="0" i="0">
                          <a:solidFill>
                            <a:srgbClr val="FFFFFF"/>
                          </a:solidFill>
                          <a:latin typeface="Arial"/>
                        </a:rPr>
                        <a:t>84 %</a:t>
                      </a:r>
                    </a:p>
                  </a:txBody>
                  <a:tcPr marL="54864" marR="54864" marT="18288" marB="18288" anchor="ctr">
                    <a:lnL w="9525">
                      <a:noFill/>
                    </a:lnL>
                    <a:lnR w="9525">
                      <a:noFill/>
                    </a:lnR>
                    <a:lnT w="9525">
                      <a:noFill/>
                    </a:lnT>
                    <a:lnB w="9525">
                      <a:solidFill>
                        <a:srgbClr val="D9D9D9"/>
                      </a:solidFill>
                    </a:lnB>
                    <a:solidFill>
                      <a:srgbClr val="3974B5"/>
                    </a:solidFill>
                  </a:tcPr>
                </a:tc>
                <a:tc>
                  <a:txBody>
                    <a:bodyPr wrap="square"/>
                    <a:lstStyle/>
                    <a:p>
                      <a:pPr algn="ctr" marL="0" indent="0">
                        <a:spcBef>
                          <a:spcPts val="0"/>
                        </a:spcBef>
                        <a:spcAft>
                          <a:spcPts val="0"/>
                        </a:spcAft>
                        <a:buNone/>
                      </a:pPr>
                      <a:r>
                        <a:rPr sz="1200" b="1" i="0">
                          <a:solidFill>
                            <a:srgbClr val="414141"/>
                          </a:solidFill>
                          <a:latin typeface="Arial"/>
                        </a:rPr>
                        <a:t>2</a:t>
                      </a:r>
                    </a:p>
                    <a:p>
                      <a:pPr algn="ctr" marL="0" indent="0">
                        <a:spcBef>
                          <a:spcPts val="0"/>
                        </a:spcBef>
                        <a:spcAft>
                          <a:spcPts val="0"/>
                        </a:spcAft>
                        <a:buNone/>
                      </a:pPr>
                      <a:r>
                        <a:rPr sz="800" b="0" i="0">
                          <a:solidFill>
                            <a:srgbClr val="414141"/>
                          </a:solidFill>
                          <a:latin typeface="Arial"/>
                        </a:rPr>
                        <a:t>6 %</a:t>
                      </a:r>
                    </a:p>
                  </a:txBody>
                  <a:tcPr marL="54864" marR="54864" marT="18288" marB="18288" anchor="ctr">
                    <a:lnL w="9525">
                      <a:noFill/>
                    </a:lnL>
                    <a:lnR w="9525">
                      <a:noFill/>
                    </a:lnR>
                    <a:lnT w="9525">
                      <a:noFill/>
                    </a:lnT>
                    <a:lnB w="9525">
                      <a:solidFill>
                        <a:srgbClr val="D9D9D9"/>
                      </a:solidFill>
                    </a:lnB>
                    <a:solidFill>
                      <a:srgbClr val="D4E1EF"/>
                    </a:solidFill>
                  </a:tcPr>
                </a:tc>
              </a:tr>
              <a:tr h="502920">
                <a:tc>
                  <a:txBody>
                    <a:bodyPr wrap="square"/>
                    <a:lstStyle/>
                    <a:p>
                      <a:pPr algn="ctr" marL="0" indent="0">
                        <a:spcBef>
                          <a:spcPts val="0"/>
                        </a:spcBef>
                        <a:spcAft>
                          <a:spcPts val="0"/>
                        </a:spcAft>
                        <a:buNone/>
                      </a:pPr>
                      <a:r>
                        <a:rPr sz="900" b="0" i="0">
                          <a:solidFill>
                            <a:srgbClr val="8C8C8C"/>
                          </a:solidFill>
                          <a:latin typeface="Arial"/>
                        </a:rPr>
                        <a:t>Sur.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200" b="1" i="0">
                          <a:solidFill>
                            <a:srgbClr val="414141"/>
                          </a:solidFill>
                          <a:latin typeface="Arial"/>
                        </a:rPr>
                        <a:t>3</a:t>
                      </a:r>
                    </a:p>
                    <a:p>
                      <a:pPr algn="ctr" marL="0" indent="0">
                        <a:spcBef>
                          <a:spcPts val="0"/>
                        </a:spcBef>
                        <a:spcAft>
                          <a:spcPts val="0"/>
                        </a:spcAft>
                        <a:buNone/>
                      </a:pPr>
                      <a:r>
                        <a:rPr sz="800" b="0" i="0">
                          <a:solidFill>
                            <a:srgbClr val="414141"/>
                          </a:solidFill>
                          <a:latin typeface="Arial"/>
                        </a:rPr>
                        <a:t>12 %</a:t>
                      </a:r>
                    </a:p>
                  </a:txBody>
                  <a:tcPr marL="54864" marR="54864" marT="18288" marB="18288" anchor="ctr">
                    <a:lnL w="9525">
                      <a:noFill/>
                    </a:lnL>
                    <a:lnR w="9525">
                      <a:noFill/>
                    </a:lnR>
                    <a:lnT w="9525">
                      <a:noFill/>
                    </a:lnT>
                    <a:lnB w="9525">
                      <a:solidFill>
                        <a:srgbClr val="D9D9D9"/>
                      </a:solidFill>
                    </a:lnB>
                    <a:solidFill>
                      <a:srgbClr val="C9D9EB"/>
                    </a:solidFill>
                  </a:tcPr>
                </a:tc>
                <a:tc>
                  <a:txBody>
                    <a:bodyPr wrap="square"/>
                    <a:lstStyle/>
                    <a:p>
                      <a:pPr algn="ctr" marL="0" indent="0">
                        <a:spcBef>
                          <a:spcPts val="0"/>
                        </a:spcBef>
                        <a:spcAft>
                          <a:spcPts val="0"/>
                        </a:spcAft>
                        <a:buNone/>
                      </a:pPr>
                      <a:r>
                        <a:rPr sz="1200" b="1" i="0">
                          <a:solidFill>
                            <a:srgbClr val="414141"/>
                          </a:solidFill>
                          <a:latin typeface="Arial"/>
                        </a:rPr>
                        <a:t>4</a:t>
                      </a:r>
                    </a:p>
                    <a:p>
                      <a:pPr algn="ctr" marL="0" indent="0">
                        <a:spcBef>
                          <a:spcPts val="0"/>
                        </a:spcBef>
                        <a:spcAft>
                          <a:spcPts val="0"/>
                        </a:spcAft>
                        <a:buNone/>
                      </a:pPr>
                      <a:r>
                        <a:rPr sz="800" b="0" i="0">
                          <a:solidFill>
                            <a:srgbClr val="414141"/>
                          </a:solidFill>
                          <a:latin typeface="Arial"/>
                        </a:rPr>
                        <a:t>16 %</a:t>
                      </a:r>
                    </a:p>
                  </a:txBody>
                  <a:tcPr marL="54864" marR="54864" marT="18288" marB="18288" anchor="ctr">
                    <a:lnL w="9525">
                      <a:noFill/>
                    </a:lnL>
                    <a:lnR w="9525">
                      <a:noFill/>
                    </a:lnR>
                    <a:lnT w="9525">
                      <a:noFill/>
                    </a:lnT>
                    <a:lnB w="9525">
                      <a:solidFill>
                        <a:srgbClr val="D9D9D9"/>
                      </a:solidFill>
                    </a:lnB>
                    <a:solidFill>
                      <a:srgbClr val="C1D3E8"/>
                    </a:solidFill>
                  </a:tcPr>
                </a:tc>
                <a:tc>
                  <a:txBody>
                    <a:bodyPr wrap="square"/>
                    <a:lstStyle/>
                    <a:p>
                      <a:pPr algn="ctr" marL="0" indent="0">
                        <a:spcBef>
                          <a:spcPts val="0"/>
                        </a:spcBef>
                        <a:spcAft>
                          <a:spcPts val="0"/>
                        </a:spcAft>
                        <a:buNone/>
                      </a:pPr>
                      <a:r>
                        <a:rPr sz="1200" b="1" i="0">
                          <a:solidFill>
                            <a:srgbClr val="FFFFFF"/>
                          </a:solidFill>
                          <a:latin typeface="Arial"/>
                        </a:rPr>
                        <a:t>18</a:t>
                      </a:r>
                    </a:p>
                    <a:p>
                      <a:pPr algn="ctr" marL="0" indent="0">
                        <a:spcBef>
                          <a:spcPts val="0"/>
                        </a:spcBef>
                        <a:spcAft>
                          <a:spcPts val="0"/>
                        </a:spcAft>
                        <a:buNone/>
                      </a:pPr>
                      <a:r>
                        <a:rPr sz="800" b="0" i="0">
                          <a:solidFill>
                            <a:srgbClr val="FFFFFF"/>
                          </a:solidFill>
                          <a:latin typeface="Arial"/>
                        </a:rPr>
                        <a:t>72 %</a:t>
                      </a:r>
                    </a:p>
                  </a:txBody>
                  <a:tcPr marL="54864" marR="54864" marT="18288" marB="18288" anchor="ctr">
                    <a:lnL w="9525">
                      <a:noFill/>
                    </a:lnL>
                    <a:lnR w="9525">
                      <a:noFill/>
                    </a:lnR>
                    <a:lnT w="9525">
                      <a:noFill/>
                    </a:lnT>
                    <a:lnB w="9525">
                      <a:solidFill>
                        <a:srgbClr val="D9D9D9"/>
                      </a:solidFill>
                    </a:lnB>
                    <a:solidFill>
                      <a:srgbClr val="5185BE"/>
                    </a:solidFill>
                  </a:tcPr>
                </a:tc>
              </a:tr>
            </a:tbl>
          </a:graphicData>
        </a:graphic>
      </p:graphicFrame>
      <p:sp>
        <p:nvSpPr>
          <p:cNvPr id="930" name="TextBox 929"/>
          <p:cNvSpPr txBox="1"/>
          <p:nvPr/>
        </p:nvSpPr>
        <p:spPr>
          <a:xfrm>
            <a:off x="6126480" y="4160520"/>
            <a:ext cx="2514600" cy="274320"/>
          </a:xfrm>
          <a:prstGeom prst="rect">
            <a:avLst/>
          </a:prstGeom>
          <a:noFill/>
        </p:spPr>
        <p:txBody>
          <a:bodyPr wrap="square" lIns="45720" rIns="45720" tIns="27432" bIns="27432" anchor="t"/>
          <a:lstStyle/>
          <a:p>
            <a:pPr algn="l" marL="0" indent="0">
              <a:spcBef>
                <a:spcPts val="0"/>
              </a:spcBef>
              <a:spcAft>
                <a:spcPts val="300"/>
              </a:spcAft>
              <a:buNone/>
            </a:pPr>
            <a:r>
              <a:rPr sz="1000" b="0" i="1">
                <a:solidFill>
                  <a:srgbClr val="004CA0"/>
                </a:solidFill>
                <a:latin typeface="Arial"/>
              </a:rPr>
              <a:t>Similar recall on all three classes</a:t>
            </a:r>
          </a:p>
        </p:txBody>
      </p:sp>
      <p:sp>
        <p:nvSpPr>
          <p:cNvPr id="931" name="TextBox 930"/>
          <p:cNvSpPr txBox="1"/>
          <p:nvPr/>
        </p:nvSpPr>
        <p:spPr>
          <a:xfrm>
            <a:off x="685800" y="4462272"/>
            <a:ext cx="7955279" cy="32004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How to read: rows are the true classes, columns the predicted classes; the diagonal holds the correct answers. Each cell gives the clip count and the share of its row. Counts are summed over all 25 tests.</a:t>
            </a:r>
          </a:p>
        </p:txBody>
      </p:sp>
      <p:sp>
        <p:nvSpPr>
          <p:cNvPr id="932" name="TextBox 931"/>
          <p:cNvSpPr txBox="1"/>
          <p:nvPr/>
        </p:nvSpPr>
        <p:spPr>
          <a:xfrm>
            <a:off x="685800" y="4846320"/>
            <a:ext cx="7955279" cy="1097280"/>
          </a:xfrm>
          <a:prstGeom prst="rect">
            <a:avLst/>
          </a:prstGeom>
          <a:noFill/>
        </p:spPr>
        <p:txBody>
          <a:bodyPr wrap="square" lIns="45720" rIns="45720" tIns="27432" bIns="27432" anchor="t"/>
          <a:lstStyle/>
          <a:p>
            <a:pPr algn="l" marL="155448" indent="-155448">
              <a:spcBef>
                <a:spcPts val="0"/>
              </a:spcBef>
              <a:spcAft>
                <a:spcPts val="300"/>
              </a:spcAft>
              <a:buClr>
                <a:srgbClr val="A8CC2F"/>
              </a:buClr>
              <a:buFont typeface="Arial"/>
              <a:buChar char="•"/>
            </a:pPr>
            <a:r>
              <a:rPr sz="1050" b="0" i="0">
                <a:solidFill>
                  <a:srgbClr val="414141"/>
                </a:solidFill>
                <a:latin typeface="Arial"/>
              </a:rPr>
              <a:t>Without the transformer, most Negative clips are misclassified: in C1, 35 of 99 are predicted as Surprise and 22 as Positive</a:t>
            </a:r>
          </a:p>
          <a:p>
            <a:pPr algn="l" marL="155448" indent="-155448">
              <a:spcBef>
                <a:spcPts val="0"/>
              </a:spcBef>
              <a:spcAft>
                <a:spcPts val="300"/>
              </a:spcAft>
              <a:buClr>
                <a:srgbClr val="A8CC2F"/>
              </a:buClr>
              <a:buFont typeface="Arial"/>
              <a:buChar char="•"/>
            </a:pPr>
            <a:r>
              <a:rPr sz="1050" b="0" i="0">
                <a:solidFill>
                  <a:srgbClr val="414141"/>
                </a:solidFill>
                <a:latin typeface="Arial"/>
              </a:rPr>
              <a:t>With the stem and the transformer, predictions move towards Negative: in C8, 13 of 32 Positive clips are predicted as Negative</a:t>
            </a:r>
          </a:p>
          <a:p>
            <a:pPr algn="l" marL="155448" indent="-155448">
              <a:spcBef>
                <a:spcPts val="0"/>
              </a:spcBef>
              <a:spcAft>
                <a:spcPts val="300"/>
              </a:spcAft>
              <a:buClr>
                <a:srgbClr val="A8CC2F"/>
              </a:buClr>
              <a:buFont typeface="Arial"/>
              <a:buChar char="•"/>
            </a:pPr>
            <a:r>
              <a:rPr sz="1050" b="0" i="0">
                <a:solidFill>
                  <a:srgbClr val="414141"/>
                </a:solidFill>
                <a:latin typeface="Arial"/>
              </a:rPr>
              <a:t>C2 reaches a recall of 0.72, 0.84 and 0.72; its main error is predicting Positive for 20 Negative clips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WHY DID THE PARTS BEHAVE THIS WAY?</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04 · RESULTS</a:t>
            </a:r>
          </a:p>
        </p:txBody>
      </p:sp>
      <p:sp>
        <p:nvSpPr>
          <p:cNvPr id="922"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22</a:t>
            </a:fld>
          </a:p>
        </p:txBody>
      </p:sp>
      <p:sp>
        <p:nvSpPr>
          <p:cNvPr id="923" name="Rectangle 922"/>
          <p:cNvSpPr/>
          <p:nvPr/>
        </p:nvSpPr>
        <p:spPr>
          <a:xfrm>
            <a:off x="685800" y="1783080"/>
            <a:ext cx="1883892" cy="3520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TextBox 923"/>
          <p:cNvSpPr txBox="1"/>
          <p:nvPr/>
        </p:nvSpPr>
        <p:spPr>
          <a:xfrm>
            <a:off x="777240" y="1856231"/>
            <a:ext cx="1701012" cy="3383280"/>
          </a:xfrm>
          <a:prstGeom prst="rect">
            <a:avLst/>
          </a:prstGeom>
          <a:noFill/>
        </p:spPr>
        <p:txBody>
          <a:bodyPr wrap="square" lIns="45720" rIns="45720" tIns="27432" bIns="27432" anchor="t"/>
          <a:lstStyle/>
          <a:p>
            <a:pPr algn="l" marL="0" indent="0">
              <a:spcBef>
                <a:spcPts val="0"/>
              </a:spcBef>
              <a:spcAft>
                <a:spcPts val="200"/>
              </a:spcAft>
              <a:buNone/>
            </a:pPr>
            <a:r>
              <a:rPr sz="1150" b="1" i="0">
                <a:solidFill>
                  <a:srgbClr val="004CA0"/>
                </a:solidFill>
                <a:latin typeface="Arial"/>
              </a:rPr>
              <a:t>Temporal transformer</a:t>
            </a:r>
          </a:p>
          <a:p>
            <a:pPr algn="l" marL="0" indent="0">
              <a:spcBef>
                <a:spcPts val="0"/>
              </a:spcBef>
              <a:spcAft>
                <a:spcPts val="600"/>
              </a:spcAft>
              <a:buNone/>
            </a:pPr>
            <a:r>
              <a:rPr sz="1800" b="1" i="0">
                <a:solidFill>
                  <a:srgbClr val="004CA0"/>
                </a:solidFill>
                <a:latin typeface="Arial"/>
              </a:rPr>
              <a:t>+0.2173</a:t>
            </a:r>
          </a:p>
          <a:p>
            <a:pPr algn="l" marL="155448" indent="-155448">
              <a:spcBef>
                <a:spcPts val="0"/>
              </a:spcBef>
              <a:spcAft>
                <a:spcPts val="400"/>
              </a:spcAft>
              <a:buClr>
                <a:srgbClr val="A8CC2F"/>
              </a:buClr>
              <a:buFont typeface="Arial"/>
              <a:buChar char="•"/>
            </a:pPr>
            <a:r>
              <a:rPr sz="1000" b="0" i="0">
                <a:solidFill>
                  <a:srgbClr val="414141"/>
                </a:solidFill>
                <a:latin typeface="Arial"/>
              </a:rPr>
              <a:t>Its replacement averages over time, so the rising and falling phases partly cancel and their order is lost</a:t>
            </a:r>
          </a:p>
          <a:p>
            <a:pPr algn="l" marL="155448" indent="-155448">
              <a:spcBef>
                <a:spcPts val="0"/>
              </a:spcBef>
              <a:spcAft>
                <a:spcPts val="400"/>
              </a:spcAft>
              <a:buClr>
                <a:srgbClr val="A8CC2F"/>
              </a:buClr>
              <a:buFont typeface="Arial"/>
              <a:buChar char="•"/>
            </a:pPr>
            <a:r>
              <a:rPr sz="1000" b="0" i="0">
                <a:solidFill>
                  <a:srgbClr val="414141"/>
                </a:solidFill>
                <a:latin typeface="Arial"/>
              </a:rPr>
              <a:t>Positional encoding and self-attention can relate onset, apex and offset</a:t>
            </a:r>
          </a:p>
          <a:p>
            <a:pPr algn="l" marL="155448" indent="-155448">
              <a:spcBef>
                <a:spcPts val="0"/>
              </a:spcBef>
              <a:spcAft>
                <a:spcPts val="400"/>
              </a:spcAft>
              <a:buClr>
                <a:srgbClr val="A8CC2F"/>
              </a:buClr>
              <a:buFont typeface="Arial"/>
              <a:buChar char="•"/>
            </a:pPr>
            <a:r>
              <a:rPr sz="1000" b="0" i="0">
                <a:solidFill>
                  <a:srgbClr val="414141"/>
                </a:solidFill>
                <a:latin typeface="Arial"/>
              </a:rPr>
              <a:t>It also adds about 349,000 parameters, so order and capacity cannot be separated</a:t>
            </a:r>
          </a:p>
        </p:txBody>
      </p:sp>
      <p:sp>
        <p:nvSpPr>
          <p:cNvPr id="925" name="Rectangle 924"/>
          <p:cNvSpPr/>
          <p:nvPr/>
        </p:nvSpPr>
        <p:spPr>
          <a:xfrm>
            <a:off x="2709595" y="1783080"/>
            <a:ext cx="1883892" cy="3520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TextBox 925"/>
          <p:cNvSpPr txBox="1"/>
          <p:nvPr/>
        </p:nvSpPr>
        <p:spPr>
          <a:xfrm>
            <a:off x="2801035" y="1856231"/>
            <a:ext cx="1701012" cy="3383280"/>
          </a:xfrm>
          <a:prstGeom prst="rect">
            <a:avLst/>
          </a:prstGeom>
          <a:noFill/>
        </p:spPr>
        <p:txBody>
          <a:bodyPr wrap="square" lIns="45720" rIns="45720" tIns="27432" bIns="27432" anchor="t"/>
          <a:lstStyle/>
          <a:p>
            <a:pPr algn="l" marL="0" indent="0">
              <a:spcBef>
                <a:spcPts val="0"/>
              </a:spcBef>
              <a:spcAft>
                <a:spcPts val="200"/>
              </a:spcAft>
              <a:buNone/>
            </a:pPr>
            <a:r>
              <a:rPr sz="1150" b="1" i="0">
                <a:solidFill>
                  <a:srgbClr val="004CA0"/>
                </a:solidFill>
                <a:latin typeface="Arial"/>
              </a:rPr>
              <a:t>Magnification</a:t>
            </a:r>
          </a:p>
          <a:p>
            <a:pPr algn="l" marL="0" indent="0">
              <a:spcBef>
                <a:spcPts val="0"/>
              </a:spcBef>
              <a:spcAft>
                <a:spcPts val="600"/>
              </a:spcAft>
              <a:buNone/>
            </a:pPr>
            <a:r>
              <a:rPr sz="1800" b="1" i="0">
                <a:solidFill>
                  <a:srgbClr val="8C8C8C"/>
                </a:solidFill>
                <a:latin typeface="Arial"/>
              </a:rPr>
              <a:t>+0.0152</a:t>
            </a:r>
          </a:p>
          <a:p>
            <a:pPr algn="l" marL="155448" indent="-155448">
              <a:spcBef>
                <a:spcPts val="0"/>
              </a:spcBef>
              <a:spcAft>
                <a:spcPts val="400"/>
              </a:spcAft>
              <a:buClr>
                <a:srgbClr val="A8CC2F"/>
              </a:buClr>
              <a:buFont typeface="Arial"/>
              <a:buChar char="•"/>
            </a:pPr>
            <a:r>
              <a:rPr sz="1000" b="0" i="0">
                <a:solidFill>
                  <a:srgbClr val="414141"/>
                </a:solidFill>
                <a:latin typeface="Arial"/>
              </a:rPr>
              <a:t>Optical flow already recovers faint motion, and per-channel normalisation removes amplitude differences</a:t>
            </a:r>
          </a:p>
          <a:p>
            <a:pPr algn="l" marL="155448" indent="-155448">
              <a:spcBef>
                <a:spcPts val="0"/>
              </a:spcBef>
              <a:spcAft>
                <a:spcPts val="400"/>
              </a:spcAft>
              <a:buClr>
                <a:srgbClr val="A8CC2F"/>
              </a:buClr>
              <a:buFont typeface="Arial"/>
              <a:buChar char="•"/>
            </a:pPr>
            <a:r>
              <a:rPr sz="1000" b="0" i="0">
                <a:solidFill>
                  <a:srgbClr val="414141"/>
                </a:solidFill>
                <a:latin typeface="Arial"/>
              </a:rPr>
              <a:t>Without alignment, head movement and noise are amplified too</a:t>
            </a:r>
          </a:p>
          <a:p>
            <a:pPr algn="l" marL="155448" indent="-155448">
              <a:spcBef>
                <a:spcPts val="0"/>
              </a:spcBef>
              <a:spcAft>
                <a:spcPts val="400"/>
              </a:spcAft>
              <a:buClr>
                <a:srgbClr val="A8CC2F"/>
              </a:buClr>
              <a:buFont typeface="Arial"/>
              <a:buChar char="•"/>
            </a:pPr>
            <a:r>
              <a:rPr sz="1000" b="0" i="0">
                <a:solidFill>
                  <a:srgbClr val="414141"/>
                </a:solidFill>
                <a:latin typeface="Arial"/>
              </a:rPr>
              <a:t>α = 10 was not tuned for a motion representation</a:t>
            </a:r>
          </a:p>
        </p:txBody>
      </p:sp>
      <p:sp>
        <p:nvSpPr>
          <p:cNvPr id="927" name="Rectangle 926"/>
          <p:cNvSpPr/>
          <p:nvPr/>
        </p:nvSpPr>
        <p:spPr>
          <a:xfrm>
            <a:off x="4733391" y="1783080"/>
            <a:ext cx="1883892" cy="3520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TextBox 927"/>
          <p:cNvSpPr txBox="1"/>
          <p:nvPr/>
        </p:nvSpPr>
        <p:spPr>
          <a:xfrm>
            <a:off x="4824831" y="1856231"/>
            <a:ext cx="1701012" cy="3383280"/>
          </a:xfrm>
          <a:prstGeom prst="rect">
            <a:avLst/>
          </a:prstGeom>
          <a:noFill/>
        </p:spPr>
        <p:txBody>
          <a:bodyPr wrap="square" lIns="45720" rIns="45720" tIns="27432" bIns="27432" anchor="t"/>
          <a:lstStyle/>
          <a:p>
            <a:pPr algn="l" marL="0" indent="0">
              <a:spcBef>
                <a:spcPts val="0"/>
              </a:spcBef>
              <a:spcAft>
                <a:spcPts val="200"/>
              </a:spcAft>
              <a:buNone/>
            </a:pPr>
            <a:r>
              <a:rPr sz="1150" b="1" i="0">
                <a:solidFill>
                  <a:srgbClr val="004CA0"/>
                </a:solidFill>
                <a:latin typeface="Arial"/>
              </a:rPr>
              <a:t>SimAM attention</a:t>
            </a:r>
          </a:p>
          <a:p>
            <a:pPr algn="l" marL="0" indent="0">
              <a:spcBef>
                <a:spcPts val="0"/>
              </a:spcBef>
              <a:spcAft>
                <a:spcPts val="600"/>
              </a:spcAft>
              <a:buNone/>
            </a:pPr>
            <a:r>
              <a:rPr sz="1800" b="1" i="0">
                <a:solidFill>
                  <a:srgbClr val="8C8C8C"/>
                </a:solidFill>
                <a:latin typeface="Arial"/>
              </a:rPr>
              <a:t>+0.0034</a:t>
            </a:r>
          </a:p>
          <a:p>
            <a:pPr algn="l" marL="155448" indent="-155448">
              <a:spcBef>
                <a:spcPts val="0"/>
              </a:spcBef>
              <a:spcAft>
                <a:spcPts val="400"/>
              </a:spcAft>
              <a:buClr>
                <a:srgbClr val="A8CC2F"/>
              </a:buClr>
              <a:buFont typeface="Arial"/>
              <a:buChar char="•"/>
            </a:pPr>
            <a:r>
              <a:rPr sz="1000" b="0" i="0">
                <a:solidFill>
                  <a:srgbClr val="414141"/>
                </a:solidFill>
                <a:latin typeface="Arial"/>
              </a:rPr>
              <a:t>Its weight lies only between about 0.62 and 1</a:t>
            </a:r>
          </a:p>
          <a:p>
            <a:pPr algn="l" marL="155448" indent="-155448">
              <a:spcBef>
                <a:spcPts val="0"/>
              </a:spcBef>
              <a:spcAft>
                <a:spcPts val="400"/>
              </a:spcAft>
              <a:buClr>
                <a:srgbClr val="A8CC2F"/>
              </a:buClr>
              <a:buFont typeface="Arial"/>
              <a:buChar char="•"/>
            </a:pPr>
            <a:r>
              <a:rPr sz="1000" b="0" i="0">
                <a:solidFill>
                  <a:srgbClr val="414141"/>
                </a:solidFill>
                <a:latin typeface="Arial"/>
              </a:rPr>
              <a:t>The output is then averaged over the whole frame</a:t>
            </a:r>
          </a:p>
          <a:p>
            <a:pPr algn="l" marL="155448" indent="-155448">
              <a:spcBef>
                <a:spcPts val="0"/>
              </a:spcBef>
              <a:spcAft>
                <a:spcPts val="400"/>
              </a:spcAft>
              <a:buClr>
                <a:srgbClr val="A8CC2F"/>
              </a:buClr>
              <a:buFont typeface="Arial"/>
              <a:buChar char="•"/>
            </a:pPr>
            <a:r>
              <a:rPr sz="1000" b="0" i="0">
                <a:solidFill>
                  <a:srgbClr val="414141"/>
                </a:solidFill>
                <a:latin typeface="Arial"/>
              </a:rPr>
              <a:t>Statistics are computed per clip; λ was not tuned</a:t>
            </a:r>
          </a:p>
        </p:txBody>
      </p:sp>
      <p:sp>
        <p:nvSpPr>
          <p:cNvPr id="929" name="Rectangle 928"/>
          <p:cNvSpPr/>
          <p:nvPr/>
        </p:nvSpPr>
        <p:spPr>
          <a:xfrm>
            <a:off x="6757187" y="1783080"/>
            <a:ext cx="1883892" cy="3520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TextBox 929"/>
          <p:cNvSpPr txBox="1"/>
          <p:nvPr/>
        </p:nvSpPr>
        <p:spPr>
          <a:xfrm>
            <a:off x="6848627" y="1856231"/>
            <a:ext cx="1701012" cy="3383280"/>
          </a:xfrm>
          <a:prstGeom prst="rect">
            <a:avLst/>
          </a:prstGeom>
          <a:noFill/>
        </p:spPr>
        <p:txBody>
          <a:bodyPr wrap="square" lIns="45720" rIns="45720" tIns="27432" bIns="27432" anchor="t"/>
          <a:lstStyle/>
          <a:p>
            <a:pPr algn="l" marL="0" indent="0">
              <a:spcBef>
                <a:spcPts val="0"/>
              </a:spcBef>
              <a:spcAft>
                <a:spcPts val="200"/>
              </a:spcAft>
              <a:buNone/>
            </a:pPr>
            <a:r>
              <a:rPr sz="1150" b="1" i="0">
                <a:solidFill>
                  <a:srgbClr val="004CA0"/>
                </a:solidFill>
                <a:latin typeface="Arial"/>
              </a:rPr>
              <a:t>Convolutional stem</a:t>
            </a:r>
          </a:p>
          <a:p>
            <a:pPr algn="l" marL="0" indent="0">
              <a:spcBef>
                <a:spcPts val="0"/>
              </a:spcBef>
              <a:spcAft>
                <a:spcPts val="600"/>
              </a:spcAft>
              <a:buNone/>
            </a:pPr>
            <a:r>
              <a:rPr sz="1800" b="1" i="0">
                <a:solidFill>
                  <a:srgbClr val="D2007E"/>
                </a:solidFill>
                <a:latin typeface="Arial"/>
              </a:rPr>
              <a:t>−0.0310</a:t>
            </a:r>
          </a:p>
          <a:p>
            <a:pPr algn="l" marL="155448" indent="-155448">
              <a:spcBef>
                <a:spcPts val="0"/>
              </a:spcBef>
              <a:spcAft>
                <a:spcPts val="400"/>
              </a:spcAft>
              <a:buClr>
                <a:srgbClr val="A8CC2F"/>
              </a:buClr>
              <a:buFont typeface="Arial"/>
              <a:buChar char="•"/>
            </a:pPr>
            <a:r>
              <a:rPr sz="1000" b="0" i="0">
                <a:solidFill>
                  <a:srgbClr val="414141"/>
                </a:solidFill>
                <a:latin typeface="Arial"/>
              </a:rPr>
              <a:t>Its output is averaged over the whole frame, discarding location; the replacement keeps a 4 × 4 grid</a:t>
            </a:r>
          </a:p>
          <a:p>
            <a:pPr algn="l" marL="155448" indent="-155448">
              <a:spcBef>
                <a:spcPts val="0"/>
              </a:spcBef>
              <a:spcAft>
                <a:spcPts val="400"/>
              </a:spcAft>
              <a:buClr>
                <a:srgbClr val="A8CC2F"/>
              </a:buClr>
              <a:buFont typeface="Arial"/>
              <a:buChar char="•"/>
            </a:pPr>
            <a:r>
              <a:rPr sz="1000" b="0" i="0">
                <a:solidFill>
                  <a:srgbClr val="414141"/>
                </a:solidFill>
                <a:latin typeface="Arial"/>
              </a:rPr>
              <a:t>Flow and strain already make motion explicit</a:t>
            </a:r>
          </a:p>
          <a:p>
            <a:pPr algn="l" marL="155448" indent="-155448">
              <a:spcBef>
                <a:spcPts val="0"/>
              </a:spcBef>
              <a:spcAft>
                <a:spcPts val="400"/>
              </a:spcAft>
              <a:buClr>
                <a:srgbClr val="A8CC2F"/>
              </a:buClr>
              <a:buFont typeface="Arial"/>
              <a:buChar char="•"/>
            </a:pPr>
            <a:r>
              <a:rPr sz="1000" b="0" i="0">
                <a:solidFill>
                  <a:srgbClr val="414141"/>
                </a:solidFill>
                <a:latin typeface="Arial"/>
              </a:rPr>
              <a:t>224 × 224 input and only 156 clips</a:t>
            </a:r>
          </a:p>
        </p:txBody>
      </p:sp>
      <p:sp>
        <p:nvSpPr>
          <p:cNvPr id="931" name="Rectangle 930"/>
          <p:cNvSpPr/>
          <p:nvPr/>
        </p:nvSpPr>
        <p:spPr>
          <a:xfrm>
            <a:off x="685800" y="5440680"/>
            <a:ext cx="7955279" cy="50292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TextBox 931"/>
          <p:cNvSpPr txBox="1"/>
          <p:nvPr/>
        </p:nvSpPr>
        <p:spPr>
          <a:xfrm>
            <a:off x="822960" y="5495544"/>
            <a:ext cx="7680959" cy="393192"/>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FFFFFF"/>
                </a:solidFill>
                <a:latin typeface="Arial"/>
              </a:rPr>
              <a:t>These are the most plausible accounts of the observed results. None was isolated experimentally.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COMPARISON WITH PUBLISHED RESULTS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04 · RESULTS</a:t>
            </a:r>
          </a:p>
        </p:txBody>
      </p:sp>
      <p:sp>
        <p:nvSpPr>
          <p:cNvPr id="923"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23</a:t>
            </a:fld>
          </a:p>
        </p:txBody>
      </p:sp>
      <p:graphicFrame>
        <p:nvGraphicFramePr>
          <p:cNvPr id="924" name="Chart 923"/>
          <p:cNvGraphicFramePr>
            <a:graphicFrameLocks noGrp="1"/>
          </p:cNvGraphicFramePr>
          <p:nvPr/>
        </p:nvGraphicFramePr>
        <p:xfrm>
          <a:off x="594360" y="1691640"/>
          <a:ext cx="4480560" cy="3931920"/>
        </p:xfrm>
        <a:graphic>
          <a:graphicData uri="http://schemas.openxmlformats.org/drawingml/2006/chart">
            <c:chart xmlns:c="http://schemas.openxmlformats.org/drawingml/2006/chart" r:id="rId3"/>
          </a:graphicData>
        </a:graphic>
      </p:graphicFrame>
      <p:sp>
        <p:nvSpPr>
          <p:cNvPr id="925" name="TextBox 924"/>
          <p:cNvSpPr txBox="1"/>
          <p:nvPr/>
        </p:nvSpPr>
        <p:spPr>
          <a:xfrm>
            <a:off x="685800" y="5623560"/>
            <a:ext cx="4389120" cy="274320"/>
          </a:xfrm>
          <a:prstGeom prst="rect">
            <a:avLst/>
          </a:prstGeom>
          <a:noFill/>
        </p:spPr>
        <p:txBody>
          <a:bodyPr wrap="square" lIns="45720" rIns="45720" tIns="27432" bIns="27432" anchor="t"/>
          <a:lstStyle/>
          <a:p>
            <a:pPr algn="ctr" marL="0" indent="0">
              <a:spcBef>
                <a:spcPts val="0"/>
              </a:spcBef>
              <a:spcAft>
                <a:spcPts val="300"/>
              </a:spcAft>
              <a:buNone/>
            </a:pPr>
            <a:r>
              <a:rPr sz="850" b="0" i="1">
                <a:solidFill>
                  <a:srgbClr val="8C8C8C"/>
                </a:solidFill>
                <a:latin typeface="Arial"/>
              </a:rPr>
              <a:t>UF1 on the CASME II subset, MEGC 2019 (See et al., 2019)</a:t>
            </a:r>
          </a:p>
        </p:txBody>
      </p:sp>
      <p:sp>
        <p:nvSpPr>
          <p:cNvPr id="926" name="TextBox 925"/>
          <p:cNvSpPr txBox="1"/>
          <p:nvPr/>
        </p:nvSpPr>
        <p:spPr>
          <a:xfrm>
            <a:off x="5212080" y="1783080"/>
            <a:ext cx="3429000" cy="320040"/>
          </a:xfrm>
          <a:prstGeom prst="rect">
            <a:avLst/>
          </a:prstGeom>
          <a:noFill/>
        </p:spPr>
        <p:txBody>
          <a:bodyPr wrap="square" lIns="45720" rIns="45720" tIns="27432" bIns="27432" anchor="t"/>
          <a:lstStyle/>
          <a:p>
            <a:pPr algn="l" marL="0" indent="0">
              <a:spcBef>
                <a:spcPts val="0"/>
              </a:spcBef>
              <a:spcAft>
                <a:spcPts val="300"/>
              </a:spcAft>
              <a:buNone/>
            </a:pPr>
            <a:r>
              <a:rPr sz="1300" b="1" i="0">
                <a:solidFill>
                  <a:srgbClr val="004CA0"/>
                </a:solidFill>
                <a:latin typeface="Arial"/>
              </a:rPr>
              <a:t>Not a like-for-like comparison</a:t>
            </a:r>
          </a:p>
        </p:txBody>
      </p:sp>
      <p:sp>
        <p:nvSpPr>
          <p:cNvPr id="927" name="Rectangle 926"/>
          <p:cNvSpPr/>
          <p:nvPr/>
        </p:nvSpPr>
        <p:spPr>
          <a:xfrm>
            <a:off x="5212080" y="2194560"/>
            <a:ext cx="342900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TextBox 927"/>
          <p:cNvSpPr txBox="1"/>
          <p:nvPr/>
        </p:nvSpPr>
        <p:spPr>
          <a:xfrm>
            <a:off x="5303520" y="2258568"/>
            <a:ext cx="3246120" cy="832104"/>
          </a:xfrm>
          <a:prstGeom prst="rect">
            <a:avLst/>
          </a:prstGeom>
          <a:noFill/>
        </p:spPr>
        <p:txBody>
          <a:bodyPr wrap="square" lIns="45720" rIns="45720" tIns="27432" bIns="27432" anchor="t"/>
          <a:lstStyle/>
          <a:p>
            <a:pPr algn="l" marL="0" indent="0">
              <a:spcBef>
                <a:spcPts val="0"/>
              </a:spcBef>
              <a:spcAft>
                <a:spcPts val="200"/>
              </a:spcAft>
              <a:buNone/>
            </a:pPr>
            <a:r>
              <a:rPr sz="1100" b="1" i="0">
                <a:solidFill>
                  <a:srgbClr val="004CA0"/>
                </a:solidFill>
                <a:latin typeface="Arial"/>
              </a:rPr>
              <a:t>Training data</a:t>
            </a:r>
          </a:p>
          <a:p>
            <a:pPr algn="l" marL="0" indent="0">
              <a:spcBef>
                <a:spcPts val="0"/>
              </a:spcBef>
              <a:spcAft>
                <a:spcPts val="300"/>
              </a:spcAft>
              <a:buNone/>
            </a:pPr>
            <a:r>
              <a:rPr sz="1000" b="0" i="0">
                <a:solidFill>
                  <a:srgbClr val="414141"/>
                </a:solidFill>
                <a:latin typeface="Arial"/>
              </a:rPr>
              <a:t>Published entries are trained on the composite dataset of 442 samples from 68 subjects; this study uses 156 clips from 25 subjects.</a:t>
            </a:r>
          </a:p>
        </p:txBody>
      </p:sp>
      <p:sp>
        <p:nvSpPr>
          <p:cNvPr id="929" name="Rectangle 928"/>
          <p:cNvSpPr/>
          <p:nvPr/>
        </p:nvSpPr>
        <p:spPr>
          <a:xfrm>
            <a:off x="5212080" y="3246120"/>
            <a:ext cx="342900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TextBox 929"/>
          <p:cNvSpPr txBox="1"/>
          <p:nvPr/>
        </p:nvSpPr>
        <p:spPr>
          <a:xfrm>
            <a:off x="5303520" y="3310128"/>
            <a:ext cx="3246120" cy="832104"/>
          </a:xfrm>
          <a:prstGeom prst="rect">
            <a:avLst/>
          </a:prstGeom>
          <a:noFill/>
        </p:spPr>
        <p:txBody>
          <a:bodyPr wrap="square" lIns="45720" rIns="45720" tIns="27432" bIns="27432" anchor="t"/>
          <a:lstStyle/>
          <a:p>
            <a:pPr algn="l" marL="0" indent="0">
              <a:spcBef>
                <a:spcPts val="0"/>
              </a:spcBef>
              <a:spcAft>
                <a:spcPts val="200"/>
              </a:spcAft>
              <a:buNone/>
            </a:pPr>
            <a:r>
              <a:rPr sz="1100" b="1" i="0">
                <a:solidFill>
                  <a:srgbClr val="004CA0"/>
                </a:solidFill>
                <a:latin typeface="Arial"/>
              </a:rPr>
              <a:t>Evaluation data</a:t>
            </a:r>
          </a:p>
          <a:p>
            <a:pPr algn="l" marL="0" indent="0">
              <a:spcBef>
                <a:spcPts val="0"/>
              </a:spcBef>
              <a:spcAft>
                <a:spcPts val="300"/>
              </a:spcAft>
              <a:buNone/>
            </a:pPr>
            <a:r>
              <a:rPr sz="1000" b="0" i="0">
                <a:solidFill>
                  <a:srgbClr val="414141"/>
                </a:solidFill>
                <a:latin typeface="Arial"/>
              </a:rPr>
              <a:t>The MEGC subset has 145 clips; this study uses 156, because sadness and fear are included in Negative.</a:t>
            </a:r>
          </a:p>
        </p:txBody>
      </p:sp>
      <p:sp>
        <p:nvSpPr>
          <p:cNvPr id="931" name="Rectangle 930"/>
          <p:cNvSpPr/>
          <p:nvPr/>
        </p:nvSpPr>
        <p:spPr>
          <a:xfrm>
            <a:off x="5212080" y="4297679"/>
            <a:ext cx="342900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TextBox 931"/>
          <p:cNvSpPr txBox="1"/>
          <p:nvPr/>
        </p:nvSpPr>
        <p:spPr>
          <a:xfrm>
            <a:off x="5303520" y="4361687"/>
            <a:ext cx="3246120" cy="832104"/>
          </a:xfrm>
          <a:prstGeom prst="rect">
            <a:avLst/>
          </a:prstGeom>
          <a:noFill/>
        </p:spPr>
        <p:txBody>
          <a:bodyPr wrap="square" lIns="45720" rIns="45720" tIns="27432" bIns="27432" anchor="t"/>
          <a:lstStyle/>
          <a:p>
            <a:pPr algn="l" marL="0" indent="0">
              <a:spcBef>
                <a:spcPts val="0"/>
              </a:spcBef>
              <a:spcAft>
                <a:spcPts val="200"/>
              </a:spcAft>
              <a:buNone/>
            </a:pPr>
            <a:r>
              <a:rPr sz="1100" b="1" i="0">
                <a:solidFill>
                  <a:srgbClr val="004CA0"/>
                </a:solidFill>
                <a:latin typeface="Arial"/>
              </a:rPr>
              <a:t>Checkpoint selection</a:t>
            </a:r>
          </a:p>
          <a:p>
            <a:pPr algn="l" marL="0" indent="0">
              <a:spcBef>
                <a:spcPts val="0"/>
              </a:spcBef>
              <a:spcAft>
                <a:spcPts val="300"/>
              </a:spcAft>
              <a:buNone/>
            </a:pPr>
            <a:r>
              <a:rPr sz="1000" b="0" i="0">
                <a:solidFill>
                  <a:srgbClr val="414141"/>
                </a:solidFill>
                <a:latin typeface="Arial"/>
              </a:rPr>
              <a:t>This study selects the epoch on the held-out subject, which can only raise its scores.</a:t>
            </a:r>
          </a:p>
        </p:txBody>
      </p:sp>
      <p:sp>
        <p:nvSpPr>
          <p:cNvPr id="933" name="TextBox 932"/>
          <p:cNvSpPr txBox="1"/>
          <p:nvPr/>
        </p:nvSpPr>
        <p:spPr>
          <a:xfrm>
            <a:off x="5212080" y="5394960"/>
            <a:ext cx="3429000" cy="548640"/>
          </a:xfrm>
          <a:prstGeom prst="rect">
            <a:avLst/>
          </a:prstGeom>
          <a:noFill/>
        </p:spPr>
        <p:txBody>
          <a:bodyPr wrap="square" lIns="45720" rIns="45720" tIns="27432" bIns="27432" anchor="t"/>
          <a:lstStyle/>
          <a:p>
            <a:pPr algn="l" marL="0" indent="0">
              <a:spcBef>
                <a:spcPts val="0"/>
              </a:spcBef>
              <a:spcAft>
                <a:spcPts val="300"/>
              </a:spcAft>
              <a:buNone/>
            </a:pPr>
            <a:r>
              <a:rPr sz="1050" b="0" i="1">
                <a:solidFill>
                  <a:srgbClr val="004CA0"/>
                </a:solidFill>
                <a:latin typeface="Arial"/>
              </a:rPr>
              <a:t>The comparison locates the results; it does not establish state-of-the-art performance.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ANSWERS TO THE RESEARCH QUESTIONS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05 · CONCLUSION</a:t>
            </a:r>
          </a:p>
        </p:txBody>
      </p:sp>
      <p:sp>
        <p:nvSpPr>
          <p:cNvPr id="924"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24</a:t>
            </a:fld>
          </a:p>
        </p:txBody>
      </p:sp>
      <p:sp>
        <p:nvSpPr>
          <p:cNvPr id="925" name="Rectangle 924"/>
          <p:cNvSpPr/>
          <p:nvPr/>
        </p:nvSpPr>
        <p:spPr>
          <a:xfrm>
            <a:off x="685800" y="1783080"/>
            <a:ext cx="7955279"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822960" y="2025395"/>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1</a:t>
            </a:r>
          </a:p>
        </p:txBody>
      </p:sp>
      <p:sp>
        <p:nvSpPr>
          <p:cNvPr id="927" name="TextBox 926"/>
          <p:cNvSpPr txBox="1"/>
          <p:nvPr/>
        </p:nvSpPr>
        <p:spPr>
          <a:xfrm>
            <a:off x="1325880" y="1783080"/>
            <a:ext cx="2103120" cy="868680"/>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Temporal modelling</a:t>
            </a:r>
          </a:p>
        </p:txBody>
      </p:sp>
      <p:sp>
        <p:nvSpPr>
          <p:cNvPr id="928" name="TextBox 927"/>
          <p:cNvSpPr txBox="1"/>
          <p:nvPr/>
        </p:nvSpPr>
        <p:spPr>
          <a:xfrm>
            <a:off x="3474720" y="1783080"/>
            <a:ext cx="5074920" cy="868680"/>
          </a:xfrm>
          <a:prstGeom prst="rect">
            <a:avLst/>
          </a:prstGeom>
          <a:noFill/>
        </p:spPr>
        <p:txBody>
          <a:bodyPr wrap="square" lIns="45720" rIns="45720" tIns="27432" bIns="27432" anchor="ctr"/>
          <a:lstStyle/>
          <a:p>
            <a:pPr algn="l" marL="0" indent="0">
              <a:spcBef>
                <a:spcPts val="0"/>
              </a:spcBef>
              <a:spcAft>
                <a:spcPts val="0"/>
              </a:spcAft>
              <a:buNone/>
            </a:pPr>
            <a:r>
              <a:rPr sz="1100" b="0" i="0">
                <a:solidFill>
                  <a:srgbClr val="414141"/>
                </a:solidFill>
                <a:latin typeface="Arial"/>
              </a:rPr>
              <a:t>Largest improvement by far: +0.2173 on average, and all six pairs improve. The best configuration contains the transformer alone (0.7122).</a:t>
            </a:r>
          </a:p>
        </p:txBody>
      </p:sp>
      <p:sp>
        <p:nvSpPr>
          <p:cNvPr id="929" name="Rectangle 928"/>
          <p:cNvSpPr/>
          <p:nvPr/>
        </p:nvSpPr>
        <p:spPr>
          <a:xfrm>
            <a:off x="685800" y="2743200"/>
            <a:ext cx="7955279"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822960" y="2985516"/>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2</a:t>
            </a:r>
          </a:p>
        </p:txBody>
      </p:sp>
      <p:sp>
        <p:nvSpPr>
          <p:cNvPr id="931" name="TextBox 930"/>
          <p:cNvSpPr txBox="1"/>
          <p:nvPr/>
        </p:nvSpPr>
        <p:spPr>
          <a:xfrm>
            <a:off x="1325880" y="2743200"/>
            <a:ext cx="2103120" cy="868680"/>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Motion magnification</a:t>
            </a:r>
          </a:p>
        </p:txBody>
      </p:sp>
      <p:sp>
        <p:nvSpPr>
          <p:cNvPr id="932" name="TextBox 931"/>
          <p:cNvSpPr txBox="1"/>
          <p:nvPr/>
        </p:nvSpPr>
        <p:spPr>
          <a:xfrm>
            <a:off x="3474720" y="2743200"/>
            <a:ext cx="5074920" cy="868680"/>
          </a:xfrm>
          <a:prstGeom prst="rect">
            <a:avLst/>
          </a:prstGeom>
          <a:noFill/>
        </p:spPr>
        <p:txBody>
          <a:bodyPr wrap="square" lIns="45720" rIns="45720" tIns="27432" bIns="27432" anchor="ctr"/>
          <a:lstStyle/>
          <a:p>
            <a:pPr algn="l" marL="0" indent="0">
              <a:spcBef>
                <a:spcPts val="0"/>
              </a:spcBef>
              <a:spcAft>
                <a:spcPts val="0"/>
              </a:spcAft>
              <a:buNone/>
            </a:pPr>
            <a:r>
              <a:rPr sz="1100" b="0" i="0">
                <a:solidFill>
                  <a:srgbClr val="414141"/>
                </a:solidFill>
                <a:latin typeface="Arial"/>
              </a:rPr>
              <a:t>No reliable improvement: +0.0152 on average, four of six pairs improve, and adding it to the best configuration loses 0.0541.</a:t>
            </a:r>
          </a:p>
        </p:txBody>
      </p:sp>
      <p:sp>
        <p:nvSpPr>
          <p:cNvPr id="933" name="Rectangle 932"/>
          <p:cNvSpPr/>
          <p:nvPr/>
        </p:nvSpPr>
        <p:spPr>
          <a:xfrm>
            <a:off x="685800" y="3703320"/>
            <a:ext cx="7955279"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822960" y="3945635"/>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3</a:t>
            </a:r>
          </a:p>
        </p:txBody>
      </p:sp>
      <p:sp>
        <p:nvSpPr>
          <p:cNvPr id="935" name="TextBox 934"/>
          <p:cNvSpPr txBox="1"/>
          <p:nvPr/>
        </p:nvSpPr>
        <p:spPr>
          <a:xfrm>
            <a:off x="1325880" y="3703320"/>
            <a:ext cx="2103120" cy="868680"/>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Learned spatial features</a:t>
            </a:r>
          </a:p>
        </p:txBody>
      </p:sp>
      <p:sp>
        <p:nvSpPr>
          <p:cNvPr id="936" name="TextBox 935"/>
          <p:cNvSpPr txBox="1"/>
          <p:nvPr/>
        </p:nvSpPr>
        <p:spPr>
          <a:xfrm>
            <a:off x="3474720" y="3703320"/>
            <a:ext cx="5074920" cy="868680"/>
          </a:xfrm>
          <a:prstGeom prst="rect">
            <a:avLst/>
          </a:prstGeom>
          <a:noFill/>
        </p:spPr>
        <p:txBody>
          <a:bodyPr wrap="square" lIns="45720" rIns="45720" tIns="27432" bIns="27432" anchor="ctr"/>
          <a:lstStyle/>
          <a:p>
            <a:pPr algn="l" marL="0" indent="0">
              <a:spcBef>
                <a:spcPts val="0"/>
              </a:spcBef>
              <a:spcAft>
                <a:spcPts val="0"/>
              </a:spcAft>
              <a:buNone/>
            </a:pPr>
            <a:r>
              <a:rPr sz="1100" b="0" i="0">
                <a:solidFill>
                  <a:srgbClr val="414141"/>
                </a:solidFill>
                <a:latin typeface="Arial"/>
              </a:rPr>
              <a:t>Neither adds to the motion representation: the stem has a mean effect of −0.0310, and SimAM (+0.0034) cannot be distinguished from zero.</a:t>
            </a:r>
          </a:p>
        </p:txBody>
      </p:sp>
      <p:sp>
        <p:nvSpPr>
          <p:cNvPr id="937" name="Rectangle 936"/>
          <p:cNvSpPr/>
          <p:nvPr/>
        </p:nvSpPr>
        <p:spPr>
          <a:xfrm>
            <a:off x="685800" y="4709160"/>
            <a:ext cx="7955279" cy="118872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TextBox 937"/>
          <p:cNvSpPr txBox="1"/>
          <p:nvPr/>
        </p:nvSpPr>
        <p:spPr>
          <a:xfrm>
            <a:off x="822960" y="4764024"/>
            <a:ext cx="7680959" cy="1078992"/>
          </a:xfrm>
          <a:prstGeom prst="rect">
            <a:avLst/>
          </a:prstGeom>
          <a:noFill/>
        </p:spPr>
        <p:txBody>
          <a:bodyPr wrap="square" lIns="45720" rIns="45720" tIns="27432" bIns="27432" anchor="ctr"/>
          <a:lstStyle/>
          <a:p>
            <a:pPr algn="l" marL="0" indent="0">
              <a:spcBef>
                <a:spcPts val="0"/>
              </a:spcBef>
              <a:spcAft>
                <a:spcPts val="300"/>
              </a:spcAft>
              <a:buNone/>
            </a:pPr>
            <a:r>
              <a:rPr sz="1150" b="1" i="0">
                <a:solidFill>
                  <a:srgbClr val="A8CC2F"/>
                </a:solidFill>
                <a:latin typeface="Arial"/>
              </a:rPr>
              <a:t>Central research question</a:t>
            </a:r>
          </a:p>
          <a:p>
            <a:pPr algn="l" marL="0" indent="0">
              <a:spcBef>
                <a:spcPts val="0"/>
              </a:spcBef>
              <a:spcAft>
                <a:spcPts val="300"/>
              </a:spcAft>
              <a:buNone/>
            </a:pPr>
            <a:r>
              <a:rPr sz="1150" b="0" i="0">
                <a:solidFill>
                  <a:srgbClr val="FFFFFF"/>
                </a:solidFill>
                <a:latin typeface="Arial"/>
              </a:rPr>
              <a:t>For a small dataset, the improvement comes from modelling the temporal evolution of an analytically computed motion representation, not from additional preprocessing or learned spatial processing. Robustness to noise was not measured separately.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LIMITATIONS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05 · CONCLUSION</a:t>
            </a:r>
          </a:p>
        </p:txBody>
      </p:sp>
      <p:sp>
        <p:nvSpPr>
          <p:cNvPr id="925"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25</a:t>
            </a:fld>
          </a:p>
        </p:txBody>
      </p:sp>
      <p:sp>
        <p:nvSpPr>
          <p:cNvPr id="926" name="Rectangle 925"/>
          <p:cNvSpPr/>
          <p:nvPr/>
        </p:nvSpPr>
        <p:spPr>
          <a:xfrm>
            <a:off x="685800" y="1783080"/>
            <a:ext cx="3886200" cy="1965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822960" y="192024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1</a:t>
            </a:r>
          </a:p>
        </p:txBody>
      </p:sp>
      <p:sp>
        <p:nvSpPr>
          <p:cNvPr id="928" name="TextBox 927"/>
          <p:cNvSpPr txBox="1"/>
          <p:nvPr/>
        </p:nvSpPr>
        <p:spPr>
          <a:xfrm>
            <a:off x="1325880" y="1892807"/>
            <a:ext cx="3154680" cy="438912"/>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Evaluation protocol</a:t>
            </a:r>
          </a:p>
        </p:txBody>
      </p:sp>
      <p:sp>
        <p:nvSpPr>
          <p:cNvPr id="929" name="TextBox 928"/>
          <p:cNvSpPr txBox="1"/>
          <p:nvPr/>
        </p:nvSpPr>
        <p:spPr>
          <a:xfrm>
            <a:off x="822960" y="2441448"/>
            <a:ext cx="3611880" cy="128016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100" b="0" i="0">
                <a:solidFill>
                  <a:srgbClr val="414141"/>
                </a:solidFill>
                <a:latin typeface="Arial"/>
              </a:rPr>
              <a:t>One random seed, so no confidence intervals</a:t>
            </a:r>
          </a:p>
          <a:p>
            <a:pPr algn="l" marL="155448" indent="-155448">
              <a:spcBef>
                <a:spcPts val="0"/>
              </a:spcBef>
              <a:spcAft>
                <a:spcPts val="400"/>
              </a:spcAft>
              <a:buClr>
                <a:srgbClr val="A8CC2F"/>
              </a:buClr>
              <a:buFont typeface="Arial"/>
              <a:buChar char="•"/>
            </a:pPr>
            <a:r>
              <a:rPr sz="1100" b="0" i="0">
                <a:solidFill>
                  <a:srgbClr val="414141"/>
                </a:solidFill>
                <a:latin typeface="Arial"/>
              </a:rPr>
              <a:t>Epoch selected on the held-out subject, which biases scores upwards</a:t>
            </a:r>
          </a:p>
          <a:p>
            <a:pPr algn="l" marL="155448" indent="-155448">
              <a:spcBef>
                <a:spcPts val="0"/>
              </a:spcBef>
              <a:spcAft>
                <a:spcPts val="400"/>
              </a:spcAft>
              <a:buClr>
                <a:srgbClr val="A8CC2F"/>
              </a:buClr>
              <a:buFont typeface="Arial"/>
              <a:buChar char="•"/>
            </a:pPr>
            <a:r>
              <a:rPr sz="1100" b="0" i="0">
                <a:solidFill>
                  <a:srgbClr val="414141"/>
                </a:solidFill>
                <a:latin typeface="Arial"/>
              </a:rPr>
              <a:t>Per-clip predictions not retained, so no paired significance test</a:t>
            </a:r>
          </a:p>
        </p:txBody>
      </p:sp>
      <p:sp>
        <p:nvSpPr>
          <p:cNvPr id="930" name="Rectangle 929"/>
          <p:cNvSpPr/>
          <p:nvPr/>
        </p:nvSpPr>
        <p:spPr>
          <a:xfrm>
            <a:off x="4754880" y="1783080"/>
            <a:ext cx="3886200" cy="1965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4892040" y="192024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2</a:t>
            </a:r>
          </a:p>
        </p:txBody>
      </p:sp>
      <p:sp>
        <p:nvSpPr>
          <p:cNvPr id="932" name="TextBox 931"/>
          <p:cNvSpPr txBox="1"/>
          <p:nvPr/>
        </p:nvSpPr>
        <p:spPr>
          <a:xfrm>
            <a:off x="5394960" y="1892807"/>
            <a:ext cx="3154680" cy="438912"/>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Fixed settings</a:t>
            </a:r>
          </a:p>
        </p:txBody>
      </p:sp>
      <p:sp>
        <p:nvSpPr>
          <p:cNvPr id="933" name="TextBox 932"/>
          <p:cNvSpPr txBox="1"/>
          <p:nvPr/>
        </p:nvSpPr>
        <p:spPr>
          <a:xfrm>
            <a:off x="4892040" y="2441448"/>
            <a:ext cx="3611880" cy="128016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100" b="0" i="0">
                <a:solidFill>
                  <a:srgbClr val="414141"/>
                </a:solidFill>
                <a:latin typeface="Arial"/>
              </a:rPr>
              <a:t>α = 10, T = 32, λ = 10</a:t>
            </a:r>
            <a:r>
              <a:rPr sz="1100" b="0" i="0" baseline="30000">
                <a:solidFill>
                  <a:srgbClr val="414141"/>
                </a:solidFill>
                <a:latin typeface="Arial"/>
              </a:rPr>
              <a:t>−4</a:t>
            </a:r>
            <a:r>
              <a:rPr sz="1100" b="0" i="0">
                <a:solidFill>
                  <a:srgbClr val="414141"/>
                </a:solidFill>
                <a:latin typeface="Arial"/>
              </a:rPr>
              <a:t> and γ = 2 taken from the literature</a:t>
            </a:r>
          </a:p>
          <a:p>
            <a:pPr algn="l" marL="155448" indent="-155448">
              <a:spcBef>
                <a:spcPts val="0"/>
              </a:spcBef>
              <a:spcAft>
                <a:spcPts val="400"/>
              </a:spcAft>
              <a:buClr>
                <a:srgbClr val="A8CC2F"/>
              </a:buClr>
              <a:buFont typeface="Arial"/>
              <a:buChar char="•"/>
            </a:pPr>
            <a:r>
              <a:rPr sz="1100" b="0" i="0">
                <a:solidFill>
                  <a:srgbClr val="414141"/>
                </a:solidFill>
                <a:latin typeface="Arial"/>
              </a:rPr>
              <a:t>No hyperparameter search</a:t>
            </a:r>
          </a:p>
          <a:p>
            <a:pPr algn="l" marL="155448" indent="-155448">
              <a:spcBef>
                <a:spcPts val="0"/>
              </a:spcBef>
              <a:spcAft>
                <a:spcPts val="400"/>
              </a:spcAft>
              <a:buClr>
                <a:srgbClr val="A8CC2F"/>
              </a:buClr>
              <a:buFont typeface="Arial"/>
              <a:buChar char="•"/>
            </a:pPr>
            <a:r>
              <a:rPr sz="1100" b="0" i="0">
                <a:solidFill>
                  <a:srgbClr val="414141"/>
                </a:solidFill>
                <a:latin typeface="Arial"/>
              </a:rPr>
              <a:t>Each component varied only as present or absent</a:t>
            </a:r>
          </a:p>
        </p:txBody>
      </p:sp>
      <p:sp>
        <p:nvSpPr>
          <p:cNvPr id="934" name="Rectangle 933"/>
          <p:cNvSpPr/>
          <p:nvPr/>
        </p:nvSpPr>
        <p:spPr>
          <a:xfrm>
            <a:off x="685800" y="3886200"/>
            <a:ext cx="3886200" cy="1965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822960" y="402336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3</a:t>
            </a:r>
          </a:p>
        </p:txBody>
      </p:sp>
      <p:sp>
        <p:nvSpPr>
          <p:cNvPr id="936" name="TextBox 935"/>
          <p:cNvSpPr txBox="1"/>
          <p:nvPr/>
        </p:nvSpPr>
        <p:spPr>
          <a:xfrm>
            <a:off x="1325880" y="3995928"/>
            <a:ext cx="3154680" cy="438912"/>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Departures from reviewed methods</a:t>
            </a:r>
          </a:p>
        </p:txBody>
      </p:sp>
      <p:sp>
        <p:nvSpPr>
          <p:cNvPr id="937" name="TextBox 936"/>
          <p:cNvSpPr txBox="1"/>
          <p:nvPr/>
        </p:nvSpPr>
        <p:spPr>
          <a:xfrm>
            <a:off x="822960" y="4544568"/>
            <a:ext cx="3611880" cy="128016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100" b="0" i="0">
                <a:solidFill>
                  <a:srgbClr val="414141"/>
                </a:solidFill>
                <a:latin typeface="Arial"/>
              </a:rPr>
              <a:t>Twelve declared divergences</a:t>
            </a:r>
          </a:p>
          <a:p>
            <a:pPr algn="l" marL="155448" indent="-155448">
              <a:spcBef>
                <a:spcPts val="0"/>
              </a:spcBef>
              <a:spcAft>
                <a:spcPts val="400"/>
              </a:spcAft>
              <a:buClr>
                <a:srgbClr val="A8CC2F"/>
              </a:buClr>
              <a:buFont typeface="Arial"/>
              <a:buChar char="•"/>
            </a:pPr>
            <a:r>
              <a:rPr sz="1100" b="0" i="0">
                <a:solidFill>
                  <a:srgbClr val="414141"/>
                </a:solidFill>
                <a:latin typeface="Arial"/>
              </a:rPr>
              <a:t>Stem has no temporal kernels and operates at 224 × 224</a:t>
            </a:r>
          </a:p>
          <a:p>
            <a:pPr algn="l" marL="155448" indent="-155448">
              <a:spcBef>
                <a:spcPts val="0"/>
              </a:spcBef>
              <a:spcAft>
                <a:spcPts val="400"/>
              </a:spcAft>
              <a:buClr>
                <a:srgbClr val="A8CC2F"/>
              </a:buClr>
              <a:buFont typeface="Arial"/>
              <a:buChar char="•"/>
            </a:pPr>
            <a:r>
              <a:rPr sz="1100" b="0" i="0">
                <a:solidFill>
                  <a:srgbClr val="414141"/>
                </a:solidFill>
                <a:latin typeface="Arial"/>
              </a:rPr>
              <a:t>Magnification is applied after the clips are subsampled</a:t>
            </a:r>
          </a:p>
        </p:txBody>
      </p:sp>
      <p:sp>
        <p:nvSpPr>
          <p:cNvPr id="938" name="Rectangle 937"/>
          <p:cNvSpPr/>
          <p:nvPr/>
        </p:nvSpPr>
        <p:spPr>
          <a:xfrm>
            <a:off x="4754880" y="3886200"/>
            <a:ext cx="3886200" cy="1965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4892040" y="402336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4</a:t>
            </a:r>
          </a:p>
        </p:txBody>
      </p:sp>
      <p:sp>
        <p:nvSpPr>
          <p:cNvPr id="940" name="TextBox 939"/>
          <p:cNvSpPr txBox="1"/>
          <p:nvPr/>
        </p:nvSpPr>
        <p:spPr>
          <a:xfrm>
            <a:off x="5394960" y="3995928"/>
            <a:ext cx="3154680" cy="438912"/>
          </a:xfrm>
          <a:prstGeom prst="rect">
            <a:avLst/>
          </a:prstGeom>
          <a:noFill/>
        </p:spPr>
        <p:txBody>
          <a:bodyPr wrap="square" lIns="45720" rIns="45720" tIns="27432" bIns="27432" anchor="ctr"/>
          <a:lstStyle/>
          <a:p>
            <a:pPr algn="l" marL="0" indent="0">
              <a:spcBef>
                <a:spcPts val="0"/>
              </a:spcBef>
              <a:spcAft>
                <a:spcPts val="0"/>
              </a:spcAft>
              <a:buNone/>
            </a:pPr>
            <a:r>
              <a:rPr sz="1250" b="1" i="0">
                <a:solidFill>
                  <a:srgbClr val="004CA0"/>
                </a:solidFill>
                <a:latin typeface="Arial"/>
              </a:rPr>
              <a:t>Single dataset</a:t>
            </a:r>
          </a:p>
        </p:txBody>
      </p:sp>
      <p:sp>
        <p:nvSpPr>
          <p:cNvPr id="941" name="TextBox 940"/>
          <p:cNvSpPr txBox="1"/>
          <p:nvPr/>
        </p:nvSpPr>
        <p:spPr>
          <a:xfrm>
            <a:off x="4892040" y="4544568"/>
            <a:ext cx="3611880" cy="128016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100" b="0" i="0">
                <a:solidFill>
                  <a:srgbClr val="414141"/>
                </a:solidFill>
                <a:latin typeface="Arial"/>
              </a:rPr>
              <a:t>156 clips from 25 subjects of CASME II</a:t>
            </a:r>
          </a:p>
          <a:p>
            <a:pPr algn="l" marL="155448" indent="-155448">
              <a:spcBef>
                <a:spcPts val="0"/>
              </a:spcBef>
              <a:spcAft>
                <a:spcPts val="400"/>
              </a:spcAft>
              <a:buClr>
                <a:srgbClr val="A8CC2F"/>
              </a:buClr>
              <a:buFont typeface="Arial"/>
              <a:buChar char="•"/>
            </a:pPr>
            <a:r>
              <a:rPr sz="1100" b="0" i="0">
                <a:solidFill>
                  <a:srgbClr val="414141"/>
                </a:solidFill>
                <a:latin typeface="Arial"/>
              </a:rPr>
              <a:t>One ethnicity, narrow age range, laboratory recording</a:t>
            </a:r>
          </a:p>
          <a:p>
            <a:pPr algn="l" marL="155448" indent="-155448">
              <a:spcBef>
                <a:spcPts val="0"/>
              </a:spcBef>
              <a:spcAft>
                <a:spcPts val="400"/>
              </a:spcAft>
              <a:buClr>
                <a:srgbClr val="A8CC2F"/>
              </a:buClr>
              <a:buFont typeface="Arial"/>
              <a:buChar char="•"/>
            </a:pPr>
            <a:r>
              <a:rPr sz="1100" b="0" i="0">
                <a:solidFill>
                  <a:srgbClr val="414141"/>
                </a:solidFill>
                <a:latin typeface="Arial"/>
              </a:rPr>
              <a:t>No claim extends to other populations or datasets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FUTURE WORK</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05 · CONCLUSION</a:t>
            </a:r>
          </a:p>
        </p:txBody>
      </p:sp>
      <p:sp>
        <p:nvSpPr>
          <p:cNvPr id="926"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26</a:t>
            </a:fld>
          </a:p>
        </p:txBody>
      </p:sp>
      <p:sp>
        <p:nvSpPr>
          <p:cNvPr id="927" name="Rectangle 926"/>
          <p:cNvSpPr/>
          <p:nvPr/>
        </p:nvSpPr>
        <p:spPr>
          <a:xfrm>
            <a:off x="685800" y="1783080"/>
            <a:ext cx="7955279"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822960" y="1956816"/>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1</a:t>
            </a:r>
          </a:p>
        </p:txBody>
      </p:sp>
      <p:sp>
        <p:nvSpPr>
          <p:cNvPr id="929" name="TextBox 928"/>
          <p:cNvSpPr txBox="1"/>
          <p:nvPr/>
        </p:nvSpPr>
        <p:spPr>
          <a:xfrm>
            <a:off x="1325880" y="1783080"/>
            <a:ext cx="1828800" cy="731520"/>
          </a:xfrm>
          <a:prstGeom prst="rect">
            <a:avLst/>
          </a:prstGeom>
          <a:noFill/>
        </p:spPr>
        <p:txBody>
          <a:bodyPr wrap="square" lIns="45720" rIns="45720" tIns="27432" bIns="27432" anchor="ctr"/>
          <a:lstStyle/>
          <a:p>
            <a:pPr algn="l" marL="0" indent="0">
              <a:spcBef>
                <a:spcPts val="0"/>
              </a:spcBef>
              <a:spcAft>
                <a:spcPts val="0"/>
              </a:spcAft>
              <a:buNone/>
            </a:pPr>
            <a:r>
              <a:rPr sz="1200" b="1" i="0">
                <a:solidFill>
                  <a:srgbClr val="004CA0"/>
                </a:solidFill>
                <a:latin typeface="Arial"/>
              </a:rPr>
              <a:t>Evaluation</a:t>
            </a:r>
          </a:p>
        </p:txBody>
      </p:sp>
      <p:sp>
        <p:nvSpPr>
          <p:cNvPr id="930" name="TextBox 929"/>
          <p:cNvSpPr txBox="1"/>
          <p:nvPr/>
        </p:nvSpPr>
        <p:spPr>
          <a:xfrm>
            <a:off x="3200400" y="1783080"/>
            <a:ext cx="5349240" cy="731520"/>
          </a:xfrm>
          <a:prstGeom prst="rect">
            <a:avLst/>
          </a:prstGeom>
          <a:noFill/>
        </p:spPr>
        <p:txBody>
          <a:bodyPr wrap="square" lIns="45720" rIns="45720" tIns="27432" bIns="27432" anchor="ctr"/>
          <a:lstStyle/>
          <a:p>
            <a:pPr algn="l" marL="0" indent="0">
              <a:spcBef>
                <a:spcPts val="0"/>
              </a:spcBef>
              <a:spcAft>
                <a:spcPts val="0"/>
              </a:spcAft>
              <a:buNone/>
            </a:pPr>
            <a:r>
              <a:rPr sz="1050" b="0" i="0">
                <a:solidFill>
                  <a:srgbClr val="414141"/>
                </a:solidFill>
                <a:latin typeface="Arial"/>
              </a:rPr>
              <a:t>Select the epoch on withheld training subjects, retain per-clip predictions for McNemar's test, and repeat with several seeds.</a:t>
            </a:r>
          </a:p>
        </p:txBody>
      </p:sp>
      <p:sp>
        <p:nvSpPr>
          <p:cNvPr id="931" name="Rectangle 930"/>
          <p:cNvSpPr/>
          <p:nvPr/>
        </p:nvSpPr>
        <p:spPr>
          <a:xfrm>
            <a:off x="685800" y="2606040"/>
            <a:ext cx="7955279"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822960" y="2779776"/>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2</a:t>
            </a:r>
          </a:p>
        </p:txBody>
      </p:sp>
      <p:sp>
        <p:nvSpPr>
          <p:cNvPr id="933" name="TextBox 932"/>
          <p:cNvSpPr txBox="1"/>
          <p:nvPr/>
        </p:nvSpPr>
        <p:spPr>
          <a:xfrm>
            <a:off x="1325880" y="2606040"/>
            <a:ext cx="1828800" cy="731520"/>
          </a:xfrm>
          <a:prstGeom prst="rect">
            <a:avLst/>
          </a:prstGeom>
          <a:noFill/>
        </p:spPr>
        <p:txBody>
          <a:bodyPr wrap="square" lIns="45720" rIns="45720" tIns="27432" bIns="27432" anchor="ctr"/>
          <a:lstStyle/>
          <a:p>
            <a:pPr algn="l" marL="0" indent="0">
              <a:spcBef>
                <a:spcPts val="0"/>
              </a:spcBef>
              <a:spcAft>
                <a:spcPts val="0"/>
              </a:spcAft>
              <a:buNone/>
            </a:pPr>
            <a:r>
              <a:rPr sz="1200" b="1" i="0">
                <a:solidFill>
                  <a:srgbClr val="004CA0"/>
                </a:solidFill>
                <a:latin typeface="Arial"/>
              </a:rPr>
              <a:t>Convolutional stem</a:t>
            </a:r>
          </a:p>
        </p:txBody>
      </p:sp>
      <p:sp>
        <p:nvSpPr>
          <p:cNvPr id="934" name="TextBox 933"/>
          <p:cNvSpPr txBox="1"/>
          <p:nvPr/>
        </p:nvSpPr>
        <p:spPr>
          <a:xfrm>
            <a:off x="3200400" y="2606040"/>
            <a:ext cx="5349240" cy="731520"/>
          </a:xfrm>
          <a:prstGeom prst="rect">
            <a:avLst/>
          </a:prstGeom>
          <a:noFill/>
        </p:spPr>
        <p:txBody>
          <a:bodyPr wrap="square" lIns="45720" rIns="45720" tIns="27432" bIns="27432" anchor="ctr"/>
          <a:lstStyle/>
          <a:p>
            <a:pPr algn="l" marL="0" indent="0">
              <a:spcBef>
                <a:spcPts val="0"/>
              </a:spcBef>
              <a:spcAft>
                <a:spcPts val="0"/>
              </a:spcAft>
              <a:buNone/>
            </a:pPr>
            <a:r>
              <a:rPr sz="1050" b="0" i="0">
                <a:solidFill>
                  <a:srgbClr val="414141"/>
                </a:solidFill>
                <a:latin typeface="Arial"/>
              </a:rPr>
              <a:t>Retrain at lower resolutions such as 28 × 28 and 56 × 56, and keep the spatial layout of its features.</a:t>
            </a:r>
          </a:p>
        </p:txBody>
      </p:sp>
      <p:sp>
        <p:nvSpPr>
          <p:cNvPr id="935" name="Rectangle 934"/>
          <p:cNvSpPr/>
          <p:nvPr/>
        </p:nvSpPr>
        <p:spPr>
          <a:xfrm>
            <a:off x="685800" y="3429000"/>
            <a:ext cx="7955279"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822960" y="3602736"/>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3</a:t>
            </a:r>
          </a:p>
        </p:txBody>
      </p:sp>
      <p:sp>
        <p:nvSpPr>
          <p:cNvPr id="937" name="TextBox 936"/>
          <p:cNvSpPr txBox="1"/>
          <p:nvPr/>
        </p:nvSpPr>
        <p:spPr>
          <a:xfrm>
            <a:off x="1325880" y="3429000"/>
            <a:ext cx="1828800" cy="731520"/>
          </a:xfrm>
          <a:prstGeom prst="rect">
            <a:avLst/>
          </a:prstGeom>
          <a:noFill/>
        </p:spPr>
        <p:txBody>
          <a:bodyPr wrap="square" lIns="45720" rIns="45720" tIns="27432" bIns="27432" anchor="ctr"/>
          <a:lstStyle/>
          <a:p>
            <a:pPr algn="l" marL="0" indent="0">
              <a:spcBef>
                <a:spcPts val="0"/>
              </a:spcBef>
              <a:spcAft>
                <a:spcPts val="0"/>
              </a:spcAft>
              <a:buNone/>
            </a:pPr>
            <a:r>
              <a:rPr sz="1200" b="1" i="0">
                <a:solidFill>
                  <a:srgbClr val="004CA0"/>
                </a:solidFill>
                <a:latin typeface="Arial"/>
              </a:rPr>
              <a:t>Motion representation</a:t>
            </a:r>
          </a:p>
        </p:txBody>
      </p:sp>
      <p:sp>
        <p:nvSpPr>
          <p:cNvPr id="938" name="TextBox 937"/>
          <p:cNvSpPr txBox="1"/>
          <p:nvPr/>
        </p:nvSpPr>
        <p:spPr>
          <a:xfrm>
            <a:off x="3200400" y="3429000"/>
            <a:ext cx="5349240" cy="731520"/>
          </a:xfrm>
          <a:prstGeom prst="rect">
            <a:avLst/>
          </a:prstGeom>
          <a:noFill/>
        </p:spPr>
        <p:txBody>
          <a:bodyPr wrap="square" lIns="45720" rIns="45720" tIns="27432" bIns="27432" anchor="ctr"/>
          <a:lstStyle/>
          <a:p>
            <a:pPr algn="l" marL="0" indent="0">
              <a:spcBef>
                <a:spcPts val="0"/>
              </a:spcBef>
              <a:spcAft>
                <a:spcPts val="0"/>
              </a:spcAft>
              <a:buNone/>
            </a:pPr>
            <a:r>
              <a:rPr sz="1050" b="0" i="0">
                <a:solidFill>
                  <a:srgbClr val="414141"/>
                </a:solidFill>
                <a:latin typeface="Arial"/>
              </a:rPr>
              <a:t>Magnify before subsampling, vary the amplification factor, compare Farnebäck with TV-L1, and add a configuration without strain.</a:t>
            </a:r>
          </a:p>
        </p:txBody>
      </p:sp>
      <p:sp>
        <p:nvSpPr>
          <p:cNvPr id="939" name="Rectangle 938"/>
          <p:cNvSpPr/>
          <p:nvPr/>
        </p:nvSpPr>
        <p:spPr>
          <a:xfrm>
            <a:off x="685800" y="4251960"/>
            <a:ext cx="7955279"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822960" y="4425696"/>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4</a:t>
            </a:r>
          </a:p>
        </p:txBody>
      </p:sp>
      <p:sp>
        <p:nvSpPr>
          <p:cNvPr id="941" name="TextBox 940"/>
          <p:cNvSpPr txBox="1"/>
          <p:nvPr/>
        </p:nvSpPr>
        <p:spPr>
          <a:xfrm>
            <a:off x="1325880" y="4251960"/>
            <a:ext cx="1828800" cy="731520"/>
          </a:xfrm>
          <a:prstGeom prst="rect">
            <a:avLst/>
          </a:prstGeom>
          <a:noFill/>
        </p:spPr>
        <p:txBody>
          <a:bodyPr wrap="square" lIns="45720" rIns="45720" tIns="27432" bIns="27432" anchor="ctr"/>
          <a:lstStyle/>
          <a:p>
            <a:pPr algn="l" marL="0" indent="0">
              <a:spcBef>
                <a:spcPts val="0"/>
              </a:spcBef>
              <a:spcAft>
                <a:spcPts val="0"/>
              </a:spcAft>
              <a:buNone/>
            </a:pPr>
            <a:r>
              <a:rPr sz="1200" b="1" i="0">
                <a:solidFill>
                  <a:srgbClr val="004CA0"/>
                </a:solidFill>
                <a:latin typeface="Arial"/>
              </a:rPr>
              <a:t>Temporal modelling</a:t>
            </a:r>
          </a:p>
        </p:txBody>
      </p:sp>
      <p:sp>
        <p:nvSpPr>
          <p:cNvPr id="942" name="TextBox 941"/>
          <p:cNvSpPr txBox="1"/>
          <p:nvPr/>
        </p:nvSpPr>
        <p:spPr>
          <a:xfrm>
            <a:off x="3200400" y="4251960"/>
            <a:ext cx="5349240" cy="731520"/>
          </a:xfrm>
          <a:prstGeom prst="rect">
            <a:avLst/>
          </a:prstGeom>
          <a:noFill/>
        </p:spPr>
        <p:txBody>
          <a:bodyPr wrap="square" lIns="45720" rIns="45720" tIns="27432" bIns="27432" anchor="ctr"/>
          <a:lstStyle/>
          <a:p>
            <a:pPr algn="l" marL="0" indent="0">
              <a:spcBef>
                <a:spcPts val="0"/>
              </a:spcBef>
              <a:spcAft>
                <a:spcPts val="0"/>
              </a:spcAft>
              <a:buNone/>
            </a:pPr>
            <a:r>
              <a:rPr sz="1050" b="0" i="0">
                <a:solidFill>
                  <a:srgbClr val="414141"/>
                </a:solidFill>
                <a:latin typeface="Arial"/>
              </a:rPr>
              <a:t>LSTM aggregator, onset-referenced flow, learned positions, and a control with comparable parameters but no temporal modelling.</a:t>
            </a:r>
          </a:p>
        </p:txBody>
      </p:sp>
      <p:sp>
        <p:nvSpPr>
          <p:cNvPr id="943" name="Rectangle 942"/>
          <p:cNvSpPr/>
          <p:nvPr/>
        </p:nvSpPr>
        <p:spPr>
          <a:xfrm>
            <a:off x="685800" y="5074920"/>
            <a:ext cx="7955279"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822960" y="5248656"/>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5</a:t>
            </a:r>
          </a:p>
        </p:txBody>
      </p:sp>
      <p:sp>
        <p:nvSpPr>
          <p:cNvPr id="945" name="TextBox 944"/>
          <p:cNvSpPr txBox="1"/>
          <p:nvPr/>
        </p:nvSpPr>
        <p:spPr>
          <a:xfrm>
            <a:off x="1325880" y="5074920"/>
            <a:ext cx="1828800" cy="731520"/>
          </a:xfrm>
          <a:prstGeom prst="rect">
            <a:avLst/>
          </a:prstGeom>
          <a:noFill/>
        </p:spPr>
        <p:txBody>
          <a:bodyPr wrap="square" lIns="45720" rIns="45720" tIns="27432" bIns="27432" anchor="ctr"/>
          <a:lstStyle/>
          <a:p>
            <a:pPr algn="l" marL="0" indent="0">
              <a:spcBef>
                <a:spcPts val="0"/>
              </a:spcBef>
              <a:spcAft>
                <a:spcPts val="0"/>
              </a:spcAft>
              <a:buNone/>
            </a:pPr>
            <a:r>
              <a:rPr sz="1200" b="1" i="0">
                <a:solidFill>
                  <a:srgbClr val="004CA0"/>
                </a:solidFill>
                <a:latin typeface="Arial"/>
              </a:rPr>
              <a:t>Data</a:t>
            </a:r>
          </a:p>
        </p:txBody>
      </p:sp>
      <p:sp>
        <p:nvSpPr>
          <p:cNvPr id="946" name="TextBox 945"/>
          <p:cNvSpPr txBox="1"/>
          <p:nvPr/>
        </p:nvSpPr>
        <p:spPr>
          <a:xfrm>
            <a:off x="3200400" y="5074920"/>
            <a:ext cx="5349240" cy="731520"/>
          </a:xfrm>
          <a:prstGeom prst="rect">
            <a:avLst/>
          </a:prstGeom>
          <a:noFill/>
        </p:spPr>
        <p:txBody>
          <a:bodyPr wrap="square" lIns="45720" rIns="45720" tIns="27432" bIns="27432" anchor="ctr"/>
          <a:lstStyle/>
          <a:p>
            <a:pPr algn="l" marL="0" indent="0">
              <a:spcBef>
                <a:spcPts val="0"/>
              </a:spcBef>
              <a:spcAft>
                <a:spcPts val="0"/>
              </a:spcAft>
              <a:buNone/>
            </a:pPr>
            <a:r>
              <a:rPr sz="1050" b="0" i="0">
                <a:solidFill>
                  <a:srgbClr val="414141"/>
                </a:solidFill>
                <a:latin typeface="Arial"/>
              </a:rPr>
              <a:t>Evaluate on a composite dataset and on SAMM, CAS(ME)</a:t>
            </a:r>
            <a:r>
              <a:rPr sz="1050" b="0" i="0" baseline="30000">
                <a:solidFill>
                  <a:srgbClr val="414141"/>
                </a:solidFill>
                <a:latin typeface="Arial"/>
              </a:rPr>
              <a:t>3</a:t>
            </a:r>
            <a:r>
              <a:rPr sz="1050" b="0" i="0">
                <a:solidFill>
                  <a:srgbClr val="414141"/>
                </a:solidFill>
                <a:latin typeface="Arial"/>
              </a:rPr>
              <a:t> and DFME to test whether the effects hold beyond CASME II.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CONTRIBUTIONS AND CONCLUSION</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05 · CONCLUSION</a:t>
            </a:r>
          </a:p>
        </p:txBody>
      </p:sp>
      <p:sp>
        <p:nvSpPr>
          <p:cNvPr id="927"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27</a:t>
            </a:fld>
          </a:p>
        </p:txBody>
      </p:sp>
      <p:sp>
        <p:nvSpPr>
          <p:cNvPr id="928" name="Rectangle 927"/>
          <p:cNvSpPr/>
          <p:nvPr/>
        </p:nvSpPr>
        <p:spPr>
          <a:xfrm>
            <a:off x="685800" y="1783080"/>
            <a:ext cx="2529839" cy="2697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813816" y="192024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1</a:t>
            </a:r>
          </a:p>
        </p:txBody>
      </p:sp>
      <p:sp>
        <p:nvSpPr>
          <p:cNvPr id="930" name="TextBox 929"/>
          <p:cNvSpPr txBox="1"/>
          <p:nvPr/>
        </p:nvSpPr>
        <p:spPr>
          <a:xfrm>
            <a:off x="777240" y="2404872"/>
            <a:ext cx="2346959" cy="2011680"/>
          </a:xfrm>
          <a:prstGeom prst="rect">
            <a:avLst/>
          </a:prstGeom>
          <a:noFill/>
        </p:spPr>
        <p:txBody>
          <a:bodyPr wrap="square" lIns="45720" rIns="45720" tIns="27432" bIns="27432" anchor="t"/>
          <a:lstStyle/>
          <a:p>
            <a:pPr algn="l" marL="0" indent="0">
              <a:spcBef>
                <a:spcPts val="0"/>
              </a:spcBef>
              <a:spcAft>
                <a:spcPts val="600"/>
              </a:spcAft>
              <a:buNone/>
            </a:pPr>
            <a:r>
              <a:rPr sz="1200" b="1" i="0">
                <a:solidFill>
                  <a:srgbClr val="004CA0"/>
                </a:solidFill>
                <a:latin typeface="Arial"/>
              </a:rPr>
              <a:t>A factorial evaluation of a standard pipeline</a:t>
            </a:r>
          </a:p>
          <a:p>
            <a:pPr algn="l" marL="0" indent="0">
              <a:spcBef>
                <a:spcPts val="0"/>
              </a:spcBef>
              <a:spcAft>
                <a:spcPts val="300"/>
              </a:spcAft>
              <a:buNone/>
            </a:pPr>
            <a:r>
              <a:rPr sz="1050" b="0" i="0">
                <a:solidFill>
                  <a:srgbClr val="414141"/>
                </a:solidFill>
                <a:latin typeface="Arial"/>
              </a:rPr>
              <a:t>All twelve valid combinations of four components under one leave-one-subject-out protocol, so each contribution is measured against an otherwise identical pipeline.</a:t>
            </a:r>
          </a:p>
        </p:txBody>
      </p:sp>
      <p:sp>
        <p:nvSpPr>
          <p:cNvPr id="931" name="Rectangle 930"/>
          <p:cNvSpPr/>
          <p:nvPr/>
        </p:nvSpPr>
        <p:spPr>
          <a:xfrm>
            <a:off x="3398519" y="1783080"/>
            <a:ext cx="2529839" cy="2697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3526536" y="192024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2</a:t>
            </a:r>
          </a:p>
        </p:txBody>
      </p:sp>
      <p:sp>
        <p:nvSpPr>
          <p:cNvPr id="933" name="TextBox 932"/>
          <p:cNvSpPr txBox="1"/>
          <p:nvPr/>
        </p:nvSpPr>
        <p:spPr>
          <a:xfrm>
            <a:off x="3489960" y="2404872"/>
            <a:ext cx="2346959" cy="2011680"/>
          </a:xfrm>
          <a:prstGeom prst="rect">
            <a:avLst/>
          </a:prstGeom>
          <a:noFill/>
        </p:spPr>
        <p:txBody>
          <a:bodyPr wrap="square" lIns="45720" rIns="45720" tIns="27432" bIns="27432" anchor="t"/>
          <a:lstStyle/>
          <a:p>
            <a:pPr algn="l" marL="0" indent="0">
              <a:spcBef>
                <a:spcPts val="0"/>
              </a:spcBef>
              <a:spcAft>
                <a:spcPts val="600"/>
              </a:spcAft>
              <a:buNone/>
            </a:pPr>
            <a:r>
              <a:rPr sz="1200" b="1" i="0">
                <a:solidFill>
                  <a:srgbClr val="004CA0"/>
                </a:solidFill>
                <a:latin typeface="Arial"/>
              </a:rPr>
              <a:t>A measured account of temporal and motion modelling</a:t>
            </a:r>
          </a:p>
          <a:p>
            <a:pPr algn="l" marL="0" indent="0">
              <a:spcBef>
                <a:spcPts val="0"/>
              </a:spcBef>
              <a:spcAft>
                <a:spcPts val="300"/>
              </a:spcAft>
              <a:buNone/>
            </a:pPr>
            <a:r>
              <a:rPr sz="1050" b="0" i="0">
                <a:solidFill>
                  <a:srgbClr val="414141"/>
                </a:solidFill>
                <a:latin typeface="Arial"/>
              </a:rPr>
              <a:t>The transformer carries almost all of the effect (+0.2173); magnification and SimAM are small or indistinguishable from noise; the stem is negative on average.</a:t>
            </a:r>
          </a:p>
        </p:txBody>
      </p:sp>
      <p:sp>
        <p:nvSpPr>
          <p:cNvPr id="934" name="Rectangle 933"/>
          <p:cNvSpPr/>
          <p:nvPr/>
        </p:nvSpPr>
        <p:spPr>
          <a:xfrm>
            <a:off x="6111239" y="1783080"/>
            <a:ext cx="2529839" cy="2697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6239255" y="1920240"/>
            <a:ext cx="384048" cy="384048"/>
          </a:xfrm>
          <a:prstGeom prst="ellipse">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Bef>
                <a:spcPts val="0"/>
              </a:spcBef>
              <a:spcAft>
                <a:spcPts val="0"/>
              </a:spcAft>
              <a:buNone/>
            </a:pPr>
            <a:r>
              <a:rPr sz="1200" b="1" i="0">
                <a:solidFill>
                  <a:srgbClr val="FFFFFF"/>
                </a:solidFill>
                <a:latin typeface="Arial"/>
              </a:rPr>
              <a:t>3</a:t>
            </a:r>
          </a:p>
        </p:txBody>
      </p:sp>
      <p:sp>
        <p:nvSpPr>
          <p:cNvPr id="936" name="TextBox 935"/>
          <p:cNvSpPr txBox="1"/>
          <p:nvPr/>
        </p:nvSpPr>
        <p:spPr>
          <a:xfrm>
            <a:off x="6202679" y="2404872"/>
            <a:ext cx="2346959" cy="2011680"/>
          </a:xfrm>
          <a:prstGeom prst="rect">
            <a:avLst/>
          </a:prstGeom>
          <a:noFill/>
        </p:spPr>
        <p:txBody>
          <a:bodyPr wrap="square" lIns="45720" rIns="45720" tIns="27432" bIns="27432" anchor="t"/>
          <a:lstStyle/>
          <a:p>
            <a:pPr algn="l" marL="0" indent="0">
              <a:spcBef>
                <a:spcPts val="0"/>
              </a:spcBef>
              <a:spcAft>
                <a:spcPts val="600"/>
              </a:spcAft>
              <a:buNone/>
            </a:pPr>
            <a:r>
              <a:rPr sz="1200" b="1" i="0">
                <a:solidFill>
                  <a:srgbClr val="004CA0"/>
                </a:solidFill>
                <a:latin typeface="Arial"/>
              </a:rPr>
              <a:t>The full pipeline is not the best configuration</a:t>
            </a:r>
          </a:p>
          <a:p>
            <a:pPr algn="l" marL="0" indent="0">
              <a:spcBef>
                <a:spcPts val="0"/>
              </a:spcBef>
              <a:spcAft>
                <a:spcPts val="300"/>
              </a:spcAft>
              <a:buNone/>
            </a:pPr>
            <a:r>
              <a:rPr sz="1050" b="0" i="0">
                <a:solidFill>
                  <a:srgbClr val="414141"/>
                </a:solidFill>
                <a:latin typeface="Arial"/>
              </a:rPr>
              <a:t>The transformer alone reaches 0.7122 against 0.6659 for all four components. An evaluation of the complete system alone could not have revealed this.</a:t>
            </a:r>
          </a:p>
        </p:txBody>
      </p:sp>
      <p:sp>
        <p:nvSpPr>
          <p:cNvPr id="937" name="Rectangle 936"/>
          <p:cNvSpPr/>
          <p:nvPr/>
        </p:nvSpPr>
        <p:spPr>
          <a:xfrm>
            <a:off x="685800" y="4663440"/>
            <a:ext cx="7955279" cy="123444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TextBox 937"/>
          <p:cNvSpPr txBox="1"/>
          <p:nvPr/>
        </p:nvSpPr>
        <p:spPr>
          <a:xfrm>
            <a:off x="822960" y="4718303"/>
            <a:ext cx="7680959" cy="1124712"/>
          </a:xfrm>
          <a:prstGeom prst="rect">
            <a:avLst/>
          </a:prstGeom>
          <a:noFill/>
        </p:spPr>
        <p:txBody>
          <a:bodyPr wrap="square" lIns="45720" rIns="45720" tIns="27432" bIns="27432" anchor="ctr"/>
          <a:lstStyle/>
          <a:p>
            <a:pPr algn="l" marL="0" indent="0">
              <a:spcBef>
                <a:spcPts val="0"/>
              </a:spcBef>
              <a:spcAft>
                <a:spcPts val="300"/>
              </a:spcAft>
              <a:buNone/>
            </a:pPr>
            <a:r>
              <a:rPr sz="1150" b="1" i="0">
                <a:solidFill>
                  <a:srgbClr val="A8CC2F"/>
                </a:solidFill>
                <a:latin typeface="Arial"/>
              </a:rPr>
              <a:t>Conclusion</a:t>
            </a:r>
          </a:p>
          <a:p>
            <a:pPr algn="l" marL="0" indent="0">
              <a:spcBef>
                <a:spcPts val="0"/>
              </a:spcBef>
              <a:spcAft>
                <a:spcPts val="300"/>
              </a:spcAft>
              <a:buNone/>
            </a:pPr>
            <a:r>
              <a:rPr sz="1200" b="0" i="0">
                <a:solidFill>
                  <a:srgbClr val="FFFFFF"/>
                </a:solidFill>
                <a:latin typeface="Arial"/>
              </a:rPr>
              <a:t>Within one dataset, one training protocol and one setting of the preprocessing parameters, modelling the temporal evolution of facial motion matters more for micro-expression recognition than adding further preprocessing or spatial processing.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66720" y="2286000"/>
            <a:ext cx="4419720" cy="3581280"/>
          </a:xfrm>
        </p:spPr>
        <p:txBody>
          <a:bodyPr anchor="ctr" wrap="square"/>
          <a:lstStyle/>
          <a:p>
            <a:pPr algn="l" marL="0" indent="0">
              <a:spcBef>
                <a:spcPts val="0"/>
              </a:spcBef>
              <a:spcAft>
                <a:spcPts val="400"/>
              </a:spcAft>
              <a:buNone/>
            </a:pPr>
            <a:r>
              <a:rPr sz="2200" b="1" i="0">
                <a:solidFill>
                  <a:srgbClr val="414141"/>
                </a:solidFill>
                <a:latin typeface="Arial"/>
              </a:rPr>
              <a:t>THANK YOU</a:t>
            </a:r>
          </a:p>
          <a:p>
            <a:pPr algn="l" marL="0" indent="0">
              <a:spcBef>
                <a:spcPts val="0"/>
              </a:spcBef>
              <a:spcAft>
                <a:spcPts val="1600"/>
              </a:spcAft>
              <a:buNone/>
            </a:pPr>
            <a:r>
              <a:rPr sz="1600" b="0" i="0">
                <a:solidFill>
                  <a:srgbClr val="414141"/>
                </a:solidFill>
                <a:latin typeface="Arial"/>
              </a:rPr>
              <a:t>QUESTIONS AND DISCUSSION</a:t>
            </a:r>
          </a:p>
          <a:p>
            <a:pPr algn="l" marL="0" indent="0">
              <a:spcBef>
                <a:spcPts val="0"/>
              </a:spcBef>
              <a:spcAft>
                <a:spcPts val="300"/>
              </a:spcAft>
              <a:buNone/>
            </a:pPr>
            <a:r>
              <a:rPr sz="1100" b="0" i="0">
                <a:solidFill>
                  <a:srgbClr val="414141"/>
                </a:solidFill>
                <a:latin typeface="Arial"/>
              </a:rPr>
              <a:t>Best configuration: transformer only, pooled macro F1 0.7122</a:t>
            </a:r>
          </a:p>
          <a:p>
            <a:pPr algn="l" marL="0" indent="0">
              <a:spcBef>
                <a:spcPts val="0"/>
              </a:spcBef>
              <a:spcAft>
                <a:spcPts val="1000"/>
              </a:spcAft>
              <a:buNone/>
            </a:pPr>
            <a:r>
              <a:rPr sz="1100" b="0" i="0">
                <a:solidFill>
                  <a:srgbClr val="414141"/>
                </a:solidFill>
                <a:latin typeface="Arial"/>
              </a:rPr>
              <a:t>Transformer mean effect: +0.2173 over six matched pairs</a:t>
            </a:r>
          </a:p>
          <a:p>
            <a:pPr algn="l" marL="0" indent="0">
              <a:spcBef>
                <a:spcPts val="0"/>
              </a:spcBef>
              <a:spcAft>
                <a:spcPts val="0"/>
              </a:spcAft>
              <a:buNone/>
            </a:pPr>
            <a:r>
              <a:rPr sz="1050" b="0" i="1">
                <a:solidFill>
                  <a:srgbClr val="8C8C8C"/>
                </a:solidFill>
                <a:latin typeface="Arial"/>
              </a:rPr>
              <a:t>Backup slides with more detail follow.</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05 · CONCLUSION</a:t>
            </a:r>
          </a:p>
        </p:txBody>
      </p:sp>
      <p:sp>
        <p:nvSpPr>
          <p:cNvPr id="928"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28</a:t>
            </a:fld>
          </a:p>
        </p:txBody>
      </p:sp>
      <p:pic>
        <p:nvPicPr>
          <p:cNvPr id="929" name="Picture 928" descr="swoosh.jpeg"/>
          <p:cNvPicPr>
            <a:picLocks noChangeAspect="1"/>
          </p:cNvPicPr>
          <p:nvPr/>
        </p:nvPicPr>
        <p:blipFill>
          <a:blip r:embed="rId3"/>
          <a:stretch>
            <a:fillRect/>
          </a:stretch>
        </p:blipFill>
        <p:spPr>
          <a:xfrm>
            <a:off x="0" y="2361960"/>
            <a:ext cx="4038480" cy="338796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66720" y="2286000"/>
            <a:ext cx="4419720" cy="3581280"/>
          </a:xfrm>
        </p:spPr>
        <p:txBody>
          <a:bodyPr anchor="ctr" wrap="square"/>
          <a:lstStyle/>
          <a:p>
            <a:pPr algn="l" marL="0" indent="0">
              <a:spcBef>
                <a:spcPts val="0"/>
              </a:spcBef>
              <a:spcAft>
                <a:spcPts val="200"/>
              </a:spcAft>
              <a:buNone/>
            </a:pPr>
            <a:r>
              <a:rPr sz="2000" b="0" i="0">
                <a:solidFill>
                  <a:srgbClr val="A8CC2F"/>
                </a:solidFill>
                <a:latin typeface="Arial"/>
              </a:rPr>
              <a:t>06</a:t>
            </a:r>
          </a:p>
          <a:p>
            <a:pPr algn="l" marL="0" indent="0">
              <a:spcBef>
                <a:spcPts val="0"/>
              </a:spcBef>
              <a:spcAft>
                <a:spcPts val="200"/>
              </a:spcAft>
              <a:buNone/>
            </a:pPr>
            <a:r>
              <a:rPr sz="2000" b="1" i="0">
                <a:solidFill>
                  <a:srgbClr val="A8CC2F"/>
                </a:solidFill>
                <a:latin typeface="Arial"/>
              </a:rPr>
              <a:t>BACKUP SLIDES</a:t>
            </a:r>
          </a:p>
          <a:p>
            <a:pPr algn="l" marL="0" indent="0">
              <a:spcBef>
                <a:spcPts val="0"/>
              </a:spcBef>
              <a:spcAft>
                <a:spcPts val="1400"/>
              </a:spcAft>
              <a:buNone/>
            </a:pPr>
            <a:r>
              <a:rPr sz="1600" b="0" i="0">
                <a:solidFill>
                  <a:srgbClr val="A8CC2F"/>
                </a:solidFill>
                <a:latin typeface="Arial"/>
              </a:rPr>
              <a:t>ADDITIONAL DETAIL FROM THE THESIS, FOR THE DISCUSSION</a:t>
            </a:r>
          </a:p>
          <a:p>
            <a:pPr algn="l" marL="0" indent="0">
              <a:spcBef>
                <a:spcPts val="0"/>
              </a:spcBef>
              <a:spcAft>
                <a:spcPts val="0"/>
              </a:spcAft>
              <a:buNone/>
            </a:pPr>
            <a:r>
              <a:rPr sz="1050" b="0" i="0">
                <a:solidFill>
                  <a:srgbClr val="8C8C8C"/>
                </a:solidFill>
                <a:latin typeface="Arial"/>
              </a:rPr>
              <a:t>Matched pairs · Per-class F1 · Model size · Datasets · Preprocessing · Model · Training and metrics · Literature evidence · Full results · Divergences and research gaps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29"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ALL TWENTY MATCHED PAIRS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0"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30</a:t>
            </a:fld>
          </a:p>
        </p:txBody>
      </p:sp>
      <p:sp>
        <p:nvSpPr>
          <p:cNvPr id="931" name="TextBox 930"/>
          <p:cNvSpPr txBox="1"/>
          <p:nvPr/>
        </p:nvSpPr>
        <p:spPr>
          <a:xfrm>
            <a:off x="685800" y="1783080"/>
            <a:ext cx="3886200" cy="274320"/>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Transformer   </a:t>
            </a:r>
          </a:p>
        </p:txBody>
      </p:sp>
      <p:sp>
        <p:nvSpPr>
          <p:cNvPr id="932" name="TextBox 931"/>
          <p:cNvSpPr txBox="1"/>
          <p:nvPr/>
        </p:nvSpPr>
        <p:spPr>
          <a:xfrm>
            <a:off x="2697480" y="1783080"/>
            <a:ext cx="1874519" cy="274320"/>
          </a:xfrm>
          <a:prstGeom prst="rect">
            <a:avLst/>
          </a:prstGeom>
          <a:noFill/>
        </p:spPr>
        <p:txBody>
          <a:bodyPr wrap="square" lIns="45720" rIns="45720" tIns="27432" bIns="27432" anchor="ctr"/>
          <a:lstStyle/>
          <a:p>
            <a:pPr algn="r" marL="0" indent="0">
              <a:spcBef>
                <a:spcPts val="0"/>
              </a:spcBef>
              <a:spcAft>
                <a:spcPts val="300"/>
              </a:spcAft>
              <a:buNone/>
            </a:pPr>
            <a:r>
              <a:rPr sz="1000" b="0" i="0">
                <a:solidFill>
                  <a:srgbClr val="8C8C8C"/>
                </a:solidFill>
                <a:latin typeface="Arial"/>
              </a:rPr>
              <a:t>mean +0.2173</a:t>
            </a:r>
          </a:p>
        </p:txBody>
      </p:sp>
      <p:graphicFrame>
        <p:nvGraphicFramePr>
          <p:cNvPr id="933" name="Chart 932"/>
          <p:cNvGraphicFramePr>
            <a:graphicFrameLocks noGrp="1"/>
          </p:cNvGraphicFramePr>
          <p:nvPr/>
        </p:nvGraphicFramePr>
        <p:xfrm>
          <a:off x="640080" y="2039112"/>
          <a:ext cx="3931920" cy="1691640"/>
        </p:xfrm>
        <a:graphic>
          <a:graphicData uri="http://schemas.openxmlformats.org/drawingml/2006/chart">
            <c:chart xmlns:c="http://schemas.openxmlformats.org/drawingml/2006/chart" r:id="rId3"/>
          </a:graphicData>
        </a:graphic>
      </p:graphicFrame>
      <p:sp>
        <p:nvSpPr>
          <p:cNvPr id="934" name="TextBox 933"/>
          <p:cNvSpPr txBox="1"/>
          <p:nvPr/>
        </p:nvSpPr>
        <p:spPr>
          <a:xfrm>
            <a:off x="4754880" y="1783080"/>
            <a:ext cx="3886200" cy="274320"/>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Magnification   </a:t>
            </a:r>
          </a:p>
        </p:txBody>
      </p:sp>
      <p:sp>
        <p:nvSpPr>
          <p:cNvPr id="935" name="TextBox 934"/>
          <p:cNvSpPr txBox="1"/>
          <p:nvPr/>
        </p:nvSpPr>
        <p:spPr>
          <a:xfrm>
            <a:off x="6766560" y="1783080"/>
            <a:ext cx="1874519" cy="274320"/>
          </a:xfrm>
          <a:prstGeom prst="rect">
            <a:avLst/>
          </a:prstGeom>
          <a:noFill/>
        </p:spPr>
        <p:txBody>
          <a:bodyPr wrap="square" lIns="45720" rIns="45720" tIns="27432" bIns="27432" anchor="ctr"/>
          <a:lstStyle/>
          <a:p>
            <a:pPr algn="r" marL="0" indent="0">
              <a:spcBef>
                <a:spcPts val="0"/>
              </a:spcBef>
              <a:spcAft>
                <a:spcPts val="300"/>
              </a:spcAft>
              <a:buNone/>
            </a:pPr>
            <a:r>
              <a:rPr sz="1000" b="0" i="0">
                <a:solidFill>
                  <a:srgbClr val="8C8C8C"/>
                </a:solidFill>
                <a:latin typeface="Arial"/>
              </a:rPr>
              <a:t>mean +0.0152</a:t>
            </a:r>
          </a:p>
        </p:txBody>
      </p:sp>
      <p:graphicFrame>
        <p:nvGraphicFramePr>
          <p:cNvPr id="936" name="Chart 935"/>
          <p:cNvGraphicFramePr>
            <a:graphicFrameLocks noGrp="1"/>
          </p:cNvGraphicFramePr>
          <p:nvPr/>
        </p:nvGraphicFramePr>
        <p:xfrm>
          <a:off x="4709160" y="2039112"/>
          <a:ext cx="3931920" cy="1691640"/>
        </p:xfrm>
        <a:graphic>
          <a:graphicData uri="http://schemas.openxmlformats.org/drawingml/2006/chart">
            <c:chart xmlns:c="http://schemas.openxmlformats.org/drawingml/2006/chart" r:id="rId4"/>
          </a:graphicData>
        </a:graphic>
      </p:graphicFrame>
      <p:sp>
        <p:nvSpPr>
          <p:cNvPr id="937" name="TextBox 936"/>
          <p:cNvSpPr txBox="1"/>
          <p:nvPr/>
        </p:nvSpPr>
        <p:spPr>
          <a:xfrm>
            <a:off x="685800" y="3794760"/>
            <a:ext cx="3886200" cy="274320"/>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SimAM   </a:t>
            </a:r>
          </a:p>
        </p:txBody>
      </p:sp>
      <p:sp>
        <p:nvSpPr>
          <p:cNvPr id="938" name="TextBox 937"/>
          <p:cNvSpPr txBox="1"/>
          <p:nvPr/>
        </p:nvSpPr>
        <p:spPr>
          <a:xfrm>
            <a:off x="2697480" y="3794760"/>
            <a:ext cx="1874519" cy="274320"/>
          </a:xfrm>
          <a:prstGeom prst="rect">
            <a:avLst/>
          </a:prstGeom>
          <a:noFill/>
        </p:spPr>
        <p:txBody>
          <a:bodyPr wrap="square" lIns="45720" rIns="45720" tIns="27432" bIns="27432" anchor="ctr"/>
          <a:lstStyle/>
          <a:p>
            <a:pPr algn="r" marL="0" indent="0">
              <a:spcBef>
                <a:spcPts val="0"/>
              </a:spcBef>
              <a:spcAft>
                <a:spcPts val="300"/>
              </a:spcAft>
              <a:buNone/>
            </a:pPr>
            <a:r>
              <a:rPr sz="1000" b="0" i="0">
                <a:solidFill>
                  <a:srgbClr val="8C8C8C"/>
                </a:solidFill>
                <a:latin typeface="Arial"/>
              </a:rPr>
              <a:t>mean +0.0034</a:t>
            </a:r>
          </a:p>
        </p:txBody>
      </p:sp>
      <p:graphicFrame>
        <p:nvGraphicFramePr>
          <p:cNvPr id="939" name="Chart 938"/>
          <p:cNvGraphicFramePr>
            <a:graphicFrameLocks noGrp="1"/>
          </p:cNvGraphicFramePr>
          <p:nvPr/>
        </p:nvGraphicFramePr>
        <p:xfrm>
          <a:off x="640080" y="4050792"/>
          <a:ext cx="3931920" cy="1691640"/>
        </p:xfrm>
        <a:graphic>
          <a:graphicData uri="http://schemas.openxmlformats.org/drawingml/2006/chart">
            <c:chart xmlns:c="http://schemas.openxmlformats.org/drawingml/2006/chart" r:id="rId5"/>
          </a:graphicData>
        </a:graphic>
      </p:graphicFrame>
      <p:sp>
        <p:nvSpPr>
          <p:cNvPr id="940" name="TextBox 939"/>
          <p:cNvSpPr txBox="1"/>
          <p:nvPr/>
        </p:nvSpPr>
        <p:spPr>
          <a:xfrm>
            <a:off x="4754880" y="3794760"/>
            <a:ext cx="3886200" cy="274320"/>
          </a:xfrm>
          <a:prstGeom prst="rect">
            <a:avLst/>
          </a:prstGeom>
          <a:noFill/>
        </p:spPr>
        <p:txBody>
          <a:bodyPr wrap="square" lIns="45720" rIns="45720" tIns="27432" bIns="27432" anchor="ctr"/>
          <a:lstStyle/>
          <a:p>
            <a:pPr algn="l" marL="0" indent="0">
              <a:spcBef>
                <a:spcPts val="0"/>
              </a:spcBef>
              <a:spcAft>
                <a:spcPts val="300"/>
              </a:spcAft>
              <a:buNone/>
            </a:pPr>
            <a:r>
              <a:rPr sz="1100" b="1" i="0">
                <a:solidFill>
                  <a:srgbClr val="004CA0"/>
                </a:solidFill>
                <a:latin typeface="Arial"/>
              </a:rPr>
              <a:t>Convolutional stem   </a:t>
            </a:r>
          </a:p>
        </p:txBody>
      </p:sp>
      <p:sp>
        <p:nvSpPr>
          <p:cNvPr id="941" name="TextBox 940"/>
          <p:cNvSpPr txBox="1"/>
          <p:nvPr/>
        </p:nvSpPr>
        <p:spPr>
          <a:xfrm>
            <a:off x="6766560" y="3794760"/>
            <a:ext cx="1874519" cy="274320"/>
          </a:xfrm>
          <a:prstGeom prst="rect">
            <a:avLst/>
          </a:prstGeom>
          <a:noFill/>
        </p:spPr>
        <p:txBody>
          <a:bodyPr wrap="square" lIns="45720" rIns="45720" tIns="27432" bIns="27432" anchor="ctr"/>
          <a:lstStyle/>
          <a:p>
            <a:pPr algn="r" marL="0" indent="0">
              <a:spcBef>
                <a:spcPts val="0"/>
              </a:spcBef>
              <a:spcAft>
                <a:spcPts val="300"/>
              </a:spcAft>
              <a:buNone/>
            </a:pPr>
            <a:r>
              <a:rPr sz="1000" b="0" i="0">
                <a:solidFill>
                  <a:srgbClr val="8C8C8C"/>
                </a:solidFill>
                <a:latin typeface="Arial"/>
              </a:rPr>
              <a:t>mean −0.0310</a:t>
            </a:r>
          </a:p>
        </p:txBody>
      </p:sp>
      <p:graphicFrame>
        <p:nvGraphicFramePr>
          <p:cNvPr id="942" name="Chart 941"/>
          <p:cNvGraphicFramePr>
            <a:graphicFrameLocks noGrp="1"/>
          </p:cNvGraphicFramePr>
          <p:nvPr/>
        </p:nvGraphicFramePr>
        <p:xfrm>
          <a:off x="4709160" y="4050792"/>
          <a:ext cx="3931920" cy="1691640"/>
        </p:xfrm>
        <a:graphic>
          <a:graphicData uri="http://schemas.openxmlformats.org/drawingml/2006/chart">
            <c:chart xmlns:c="http://schemas.openxmlformats.org/drawingml/2006/chart" r:id="rId6"/>
          </a:graphicData>
        </a:graphic>
      </p:graphicFrame>
      <p:sp>
        <p:nvSpPr>
          <p:cNvPr id="943" name="TextBox 942"/>
          <p:cNvSpPr txBox="1"/>
          <p:nvPr/>
        </p:nvSpPr>
        <p:spPr>
          <a:xfrm>
            <a:off x="685800" y="5806440"/>
            <a:ext cx="7955279" cy="36576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8C8C8C"/>
                </a:solidFill>
                <a:latin typeface="Arial"/>
              </a:rPr>
              <a:t>Each bar is one pair of configurations (off → on) that differ in exactly one component. All four panels share the same vertical scale: change in pooled macro F1.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PER-CLASS F1: MINORITY CLASSES DECIDE THE RANKING</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1"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31</a:t>
            </a:fld>
          </a:p>
        </p:txBody>
      </p:sp>
      <p:graphicFrame>
        <p:nvGraphicFramePr>
          <p:cNvPr id="932" name="Chart 931"/>
          <p:cNvGraphicFramePr>
            <a:graphicFrameLocks noGrp="1"/>
          </p:cNvGraphicFramePr>
          <p:nvPr/>
        </p:nvGraphicFramePr>
        <p:xfrm>
          <a:off x="594360" y="1691640"/>
          <a:ext cx="5715000" cy="4297680"/>
        </p:xfrm>
        <a:graphic>
          <a:graphicData uri="http://schemas.openxmlformats.org/drawingml/2006/chart">
            <c:chart xmlns:c="http://schemas.openxmlformats.org/drawingml/2006/chart" r:id="rId3"/>
          </a:graphicData>
        </a:graphic>
      </p:graphicFrame>
      <p:sp>
        <p:nvSpPr>
          <p:cNvPr id="933" name="TextBox 932"/>
          <p:cNvSpPr txBox="1"/>
          <p:nvPr/>
        </p:nvSpPr>
        <p:spPr>
          <a:xfrm>
            <a:off x="6446520" y="1783080"/>
            <a:ext cx="2194560" cy="411480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050" b="0" i="0">
                <a:solidFill>
                  <a:srgbClr val="414141"/>
                </a:solidFill>
                <a:latin typeface="Arial"/>
              </a:rPr>
              <a:t>Every configuration achieves a nonzero F1 on all three classes</a:t>
            </a:r>
          </a:p>
          <a:p>
            <a:pPr algn="l" marL="155448" indent="-155448">
              <a:spcBef>
                <a:spcPts val="0"/>
              </a:spcBef>
              <a:spcAft>
                <a:spcPts val="600"/>
              </a:spcAft>
              <a:buClr>
                <a:srgbClr val="A8CC2F"/>
              </a:buClr>
              <a:buFont typeface="Arial"/>
              <a:buChar char="•"/>
            </a:pPr>
            <a:r>
              <a:rPr sz="1050" b="0" i="0">
                <a:solidFill>
                  <a:srgbClr val="414141"/>
                </a:solidFill>
                <a:latin typeface="Arial"/>
              </a:rPr>
              <a:t>C2 has the highest Positive and Surprise F1 (0.6506 and 0.6792)</a:t>
            </a:r>
          </a:p>
          <a:p>
            <a:pPr algn="l" marL="155448" indent="-155448">
              <a:spcBef>
                <a:spcPts val="0"/>
              </a:spcBef>
              <a:spcAft>
                <a:spcPts val="600"/>
              </a:spcAft>
              <a:buClr>
                <a:srgbClr val="A8CC2F"/>
              </a:buClr>
              <a:buFont typeface="Arial"/>
              <a:buChar char="•"/>
            </a:pPr>
            <a:r>
              <a:rPr sz="1050" b="0" i="0">
                <a:solidFill>
                  <a:srgbClr val="414141"/>
                </a:solidFill>
                <a:latin typeface="Arial"/>
              </a:rPr>
              <a:t>C9 has the highest Negative F1 (0.8491) but a Surprise F1 of only 0.3000, with an accuracy of 0.7308</a:t>
            </a:r>
          </a:p>
          <a:p>
            <a:pPr algn="l" marL="155448" indent="-155448">
              <a:spcBef>
                <a:spcPts val="0"/>
              </a:spcBef>
              <a:spcAft>
                <a:spcPts val="600"/>
              </a:spcAft>
              <a:buClr>
                <a:srgbClr val="A8CC2F"/>
              </a:buClr>
              <a:buFont typeface="Arial"/>
              <a:buChar char="•"/>
            </a:pPr>
            <a:r>
              <a:rPr sz="1050" b="0" i="0">
                <a:solidFill>
                  <a:srgbClr val="414141"/>
                </a:solidFill>
                <a:latin typeface="Arial"/>
              </a:rPr>
              <a:t>Negative F1 separates the groups: 0.75 to 0.85 with the transformer, 0.35 to 0.56 without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STAGE 2: ONE MODEL WITH FOUR SWITCHES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2"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32</a:t>
            </a:fld>
          </a:p>
        </p:txBody>
      </p:sp>
      <p:sp>
        <p:nvSpPr>
          <p:cNvPr id="933" name="Rectangle 932"/>
          <p:cNvSpPr/>
          <p:nvPr/>
        </p:nvSpPr>
        <p:spPr>
          <a:xfrm>
            <a:off x="685800" y="1783080"/>
            <a:ext cx="1170432"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TextBox 933"/>
          <p:cNvSpPr txBox="1"/>
          <p:nvPr/>
        </p:nvSpPr>
        <p:spPr>
          <a:xfrm>
            <a:off x="722376" y="1783080"/>
            <a:ext cx="1097280" cy="91440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Motion tensor</a:t>
            </a:r>
          </a:p>
          <a:p>
            <a:pPr algn="ctr" marL="0" indent="0">
              <a:spcBef>
                <a:spcPts val="0"/>
              </a:spcBef>
              <a:spcAft>
                <a:spcPts val="0"/>
              </a:spcAft>
              <a:buNone/>
            </a:pPr>
            <a:r>
              <a:rPr sz="900" b="0" i="0">
                <a:solidFill>
                  <a:srgbClr val="414141"/>
                </a:solidFill>
                <a:latin typeface="Arial"/>
              </a:rPr>
              <a:t>3 × 32 × 224 × 224</a:t>
            </a:r>
          </a:p>
        </p:txBody>
      </p:sp>
      <p:cxnSp>
        <p:nvCxnSpPr>
          <p:cNvPr id="935" name="Connector 934"/>
          <p:cNvCxnSpPr/>
          <p:nvPr/>
        </p:nvCxnSpPr>
        <p:spPr>
          <a:xfrm>
            <a:off x="1892808" y="2240280"/>
            <a:ext cx="113385"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36" name="Rectangle 935"/>
          <p:cNvSpPr/>
          <p:nvPr/>
        </p:nvSpPr>
        <p:spPr>
          <a:xfrm>
            <a:off x="2042769" y="1783080"/>
            <a:ext cx="1170432" cy="91440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TextBox 936"/>
          <p:cNvSpPr txBox="1"/>
          <p:nvPr/>
        </p:nvSpPr>
        <p:spPr>
          <a:xfrm>
            <a:off x="2079345" y="1783080"/>
            <a:ext cx="1097280" cy="91440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Convolutional stem</a:t>
            </a:r>
          </a:p>
          <a:p>
            <a:pPr algn="ctr" marL="0" indent="0">
              <a:spcBef>
                <a:spcPts val="0"/>
              </a:spcBef>
              <a:spcAft>
                <a:spcPts val="0"/>
              </a:spcAft>
              <a:buNone/>
            </a:pPr>
            <a:r>
              <a:rPr sz="900" b="0" i="0">
                <a:solidFill>
                  <a:srgbClr val="414141"/>
                </a:solidFill>
                <a:latin typeface="Arial"/>
              </a:rPr>
              <a:t>three streams</a:t>
            </a:r>
          </a:p>
        </p:txBody>
      </p:sp>
      <p:cxnSp>
        <p:nvCxnSpPr>
          <p:cNvPr id="938" name="Connector 937"/>
          <p:cNvCxnSpPr/>
          <p:nvPr/>
        </p:nvCxnSpPr>
        <p:spPr>
          <a:xfrm>
            <a:off x="3249777" y="2240280"/>
            <a:ext cx="113386"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39" name="Rectangle 938"/>
          <p:cNvSpPr/>
          <p:nvPr/>
        </p:nvSpPr>
        <p:spPr>
          <a:xfrm>
            <a:off x="3399739" y="1783080"/>
            <a:ext cx="1170432" cy="91440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TextBox 939"/>
          <p:cNvSpPr txBox="1"/>
          <p:nvPr/>
        </p:nvSpPr>
        <p:spPr>
          <a:xfrm>
            <a:off x="3436315" y="1783080"/>
            <a:ext cx="1097280" cy="91440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SimAM</a:t>
            </a:r>
          </a:p>
          <a:p>
            <a:pPr algn="ctr" marL="0" indent="0">
              <a:spcBef>
                <a:spcPts val="0"/>
              </a:spcBef>
              <a:spcAft>
                <a:spcPts val="0"/>
              </a:spcAft>
              <a:buNone/>
            </a:pPr>
            <a:r>
              <a:rPr sz="900" b="0" i="0">
                <a:solidFill>
                  <a:srgbClr val="414141"/>
                </a:solidFill>
                <a:latin typeface="Arial"/>
              </a:rPr>
              <a:t>parameter-free gate</a:t>
            </a:r>
          </a:p>
        </p:txBody>
      </p:sp>
      <p:cxnSp>
        <p:nvCxnSpPr>
          <p:cNvPr id="941" name="Connector 940"/>
          <p:cNvCxnSpPr/>
          <p:nvPr/>
        </p:nvCxnSpPr>
        <p:spPr>
          <a:xfrm>
            <a:off x="4606747" y="2240280"/>
            <a:ext cx="113385"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42" name="Rectangle 941"/>
          <p:cNvSpPr/>
          <p:nvPr/>
        </p:nvSpPr>
        <p:spPr>
          <a:xfrm>
            <a:off x="4756708" y="1783080"/>
            <a:ext cx="1170432"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TextBox 942"/>
          <p:cNvSpPr txBox="1"/>
          <p:nvPr/>
        </p:nvSpPr>
        <p:spPr>
          <a:xfrm>
            <a:off x="4793284" y="1783080"/>
            <a:ext cx="1097280" cy="91440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Spatial pooling</a:t>
            </a:r>
          </a:p>
          <a:p>
            <a:pPr algn="ctr" marL="0" indent="0">
              <a:spcBef>
                <a:spcPts val="0"/>
              </a:spcBef>
              <a:spcAft>
                <a:spcPts val="0"/>
              </a:spcAft>
              <a:buNone/>
            </a:pPr>
            <a:r>
              <a:rPr sz="900" b="0" i="0">
                <a:solidFill>
                  <a:srgbClr val="414141"/>
                </a:solidFill>
                <a:latin typeface="Arial"/>
              </a:rPr>
              <a:t>sequence of 32 × 96</a:t>
            </a:r>
          </a:p>
        </p:txBody>
      </p:sp>
      <p:cxnSp>
        <p:nvCxnSpPr>
          <p:cNvPr id="944" name="Connector 943"/>
          <p:cNvCxnSpPr/>
          <p:nvPr/>
        </p:nvCxnSpPr>
        <p:spPr>
          <a:xfrm>
            <a:off x="5963716" y="2240280"/>
            <a:ext cx="113386"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45" name="Rectangle 944"/>
          <p:cNvSpPr/>
          <p:nvPr/>
        </p:nvSpPr>
        <p:spPr>
          <a:xfrm>
            <a:off x="6113678" y="1783080"/>
            <a:ext cx="1170432" cy="914400"/>
          </a:xfrm>
          <a:prstGeom prst="rect">
            <a:avLst/>
          </a:prstGeom>
          <a:solidFill>
            <a:srgbClr val="F2F2F2"/>
          </a:solidFill>
          <a:ln w="19050">
            <a:solidFill>
              <a:srgbClr val="D200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TextBox 945"/>
          <p:cNvSpPr txBox="1"/>
          <p:nvPr/>
        </p:nvSpPr>
        <p:spPr>
          <a:xfrm>
            <a:off x="6150254" y="1783080"/>
            <a:ext cx="1097280" cy="91440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Transformer</a:t>
            </a:r>
          </a:p>
          <a:p>
            <a:pPr algn="ctr" marL="0" indent="0">
              <a:spcBef>
                <a:spcPts val="0"/>
              </a:spcBef>
              <a:spcAft>
                <a:spcPts val="0"/>
              </a:spcAft>
              <a:buNone/>
            </a:pPr>
            <a:r>
              <a:rPr sz="900" b="0" i="0">
                <a:solidFill>
                  <a:srgbClr val="414141"/>
                </a:solidFill>
                <a:latin typeface="Arial"/>
              </a:rPr>
              <a:t>4 layers, 8 heads</a:t>
            </a:r>
          </a:p>
        </p:txBody>
      </p:sp>
      <p:cxnSp>
        <p:nvCxnSpPr>
          <p:cNvPr id="947" name="Connector 946"/>
          <p:cNvCxnSpPr/>
          <p:nvPr/>
        </p:nvCxnSpPr>
        <p:spPr>
          <a:xfrm>
            <a:off x="7320686" y="2240280"/>
            <a:ext cx="113386"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948" name="Rectangle 947"/>
          <p:cNvSpPr/>
          <p:nvPr/>
        </p:nvSpPr>
        <p:spPr>
          <a:xfrm>
            <a:off x="7470648" y="1783080"/>
            <a:ext cx="1170432"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TextBox 948"/>
          <p:cNvSpPr txBox="1"/>
          <p:nvPr/>
        </p:nvSpPr>
        <p:spPr>
          <a:xfrm>
            <a:off x="7507223" y="1783080"/>
            <a:ext cx="1097280" cy="914400"/>
          </a:xfrm>
          <a:prstGeom prst="rect">
            <a:avLst/>
          </a:prstGeom>
          <a:noFill/>
        </p:spPr>
        <p:txBody>
          <a:bodyPr wrap="square" lIns="18288" rIns="18288" tIns="27432" bIns="27432" anchor="ctr"/>
          <a:lstStyle/>
          <a:p>
            <a:pPr algn="ctr" marL="0" indent="0">
              <a:spcBef>
                <a:spcPts val="0"/>
              </a:spcBef>
              <a:spcAft>
                <a:spcPts val="200"/>
              </a:spcAft>
              <a:buNone/>
            </a:pPr>
            <a:r>
              <a:rPr sz="1000" b="1" i="0">
                <a:solidFill>
                  <a:srgbClr val="004CA0"/>
                </a:solidFill>
                <a:latin typeface="Arial"/>
              </a:rPr>
              <a:t>Classifier head</a:t>
            </a:r>
          </a:p>
          <a:p>
            <a:pPr algn="ctr" marL="0" indent="0">
              <a:spcBef>
                <a:spcPts val="0"/>
              </a:spcBef>
              <a:spcAft>
                <a:spcPts val="0"/>
              </a:spcAft>
              <a:buNone/>
            </a:pPr>
            <a:r>
              <a:rPr sz="900" b="0" i="0">
                <a:solidFill>
                  <a:srgbClr val="414141"/>
                </a:solidFill>
                <a:latin typeface="Arial"/>
              </a:rPr>
              <a:t>three class logits</a:t>
            </a:r>
          </a:p>
        </p:txBody>
      </p:sp>
      <p:sp>
        <p:nvSpPr>
          <p:cNvPr id="950" name="TextBox 949"/>
          <p:cNvSpPr txBox="1"/>
          <p:nvPr/>
        </p:nvSpPr>
        <p:spPr>
          <a:xfrm>
            <a:off x="685800" y="2743200"/>
            <a:ext cx="7955279" cy="27432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D2007E"/>
                </a:solidFill>
                <a:latin typeface="Arial"/>
              </a:rPr>
              <a:t>Dashed boxes: ablated components. Each is replaced by a defined operation when disabled.</a:t>
            </a:r>
          </a:p>
        </p:txBody>
      </p:sp>
      <p:graphicFrame>
        <p:nvGraphicFramePr>
          <p:cNvPr id="951" name="Table 950"/>
          <p:cNvGraphicFramePr>
            <a:graphicFrameLocks noGrp="1"/>
          </p:cNvGraphicFramePr>
          <p:nvPr/>
        </p:nvGraphicFramePr>
        <p:xfrm>
          <a:off x="685800" y="3154680"/>
          <a:ext cx="3840480" cy="1755648"/>
        </p:xfrm>
        <a:graphic>
          <a:graphicData uri="http://schemas.openxmlformats.org/drawingml/2006/table">
            <a:tbl>
              <a:tblPr firstRow="0" bandRow="0">
                <a:tableStyleId>{2D5ABB26-0587-4C30-8999-92F81FD0307C}</a:tableStyleId>
              </a:tblPr>
              <a:tblGrid>
                <a:gridCol w="2743200"/>
                <a:gridCol w="1097280"/>
              </a:tblGrid>
              <a:tr h="292608">
                <a:tc>
                  <a:txBody>
                    <a:bodyPr wrap="square"/>
                    <a:lstStyle/>
                    <a:p>
                      <a:pPr algn="l" marL="0" indent="0">
                        <a:spcBef>
                          <a:spcPts val="0"/>
                        </a:spcBef>
                        <a:spcAft>
                          <a:spcPts val="0"/>
                        </a:spcAft>
                        <a:buNone/>
                      </a:pPr>
                      <a:r>
                        <a:rPr sz="1050" b="1" i="0">
                          <a:solidFill>
                            <a:srgbClr val="FFFFFF"/>
                          </a:solidFill>
                          <a:latin typeface="Arial"/>
                        </a:rPr>
                        <a:t>Component</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r" marL="0" indent="0">
                        <a:spcBef>
                          <a:spcPts val="0"/>
                        </a:spcBef>
                        <a:spcAft>
                          <a:spcPts val="0"/>
                        </a:spcAft>
                        <a:buNone/>
                      </a:pPr>
                      <a:r>
                        <a:rPr sz="1050" b="1" i="0">
                          <a:solidFill>
                            <a:srgbClr val="FFFFFF"/>
                          </a:solidFill>
                          <a:latin typeface="Arial"/>
                        </a:rPr>
                        <a:t>Parameters</a:t>
                      </a:r>
                    </a:p>
                  </a:txBody>
                  <a:tcPr marL="54864" marR="54864" marT="18288" marB="18288" anchor="ctr">
                    <a:lnL w="9525">
                      <a:noFill/>
                    </a:lnL>
                    <a:lnR w="9525">
                      <a:noFill/>
                    </a:lnR>
                    <a:lnT w="9525">
                      <a:noFill/>
                    </a:lnT>
                    <a:lnB w="9525">
                      <a:solidFill>
                        <a:srgbClr val="D9D9D9"/>
                      </a:solidFill>
                    </a:lnB>
                    <a:solidFill>
                      <a:srgbClr val="004CA0"/>
                    </a:solidFill>
                  </a:tcPr>
                </a:tc>
              </a:tr>
              <a:tr h="292608">
                <a:tc>
                  <a:txBody>
                    <a:bodyPr wrap="square"/>
                    <a:lstStyle/>
                    <a:p>
                      <a:pPr algn="l" marL="0" indent="0">
                        <a:spcBef>
                          <a:spcPts val="0"/>
                        </a:spcBef>
                        <a:spcAft>
                          <a:spcPts val="0"/>
                        </a:spcAft>
                        <a:buNone/>
                      </a:pPr>
                      <a:r>
                        <a:rPr sz="1050" b="0" i="0">
                          <a:solidFill>
                            <a:srgbClr val="414141"/>
                          </a:solidFill>
                          <a:latin typeface="Arial"/>
                        </a:rPr>
                        <a:t>Convolutional stem (3 streams)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r" marL="0" indent="0">
                        <a:spcBef>
                          <a:spcPts val="0"/>
                        </a:spcBef>
                        <a:spcAft>
                          <a:spcPts val="0"/>
                        </a:spcAft>
                        <a:buNone/>
                      </a:pPr>
                      <a:r>
                        <a:rPr sz="1050" b="0" i="0">
                          <a:solidFill>
                            <a:srgbClr val="414141"/>
                          </a:solidFill>
                          <a:latin typeface="Arial"/>
                        </a:rPr>
                        <a:t>14,544</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l" marL="0" indent="0">
                        <a:spcBef>
                          <a:spcPts val="0"/>
                        </a:spcBef>
                        <a:spcAft>
                          <a:spcPts val="0"/>
                        </a:spcAft>
                        <a:buNone/>
                      </a:pPr>
                      <a:r>
                        <a:rPr sz="1050" b="0" i="0">
                          <a:solidFill>
                            <a:srgbClr val="414141"/>
                          </a:solidFill>
                          <a:latin typeface="Arial"/>
                        </a:rPr>
                        <a:t>Temporal transformer</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r" marL="0" indent="0">
                        <a:spcBef>
                          <a:spcPts val="0"/>
                        </a:spcBef>
                        <a:spcAft>
                          <a:spcPts val="0"/>
                        </a:spcAft>
                        <a:buNone/>
                      </a:pPr>
                      <a:r>
                        <a:rPr sz="1050" b="0" i="0">
                          <a:solidFill>
                            <a:srgbClr val="414141"/>
                          </a:solidFill>
                          <a:latin typeface="Arial"/>
                        </a:rPr>
                        <a:t>348,736</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l" marL="0" indent="0">
                        <a:spcBef>
                          <a:spcPts val="0"/>
                        </a:spcBef>
                        <a:spcAft>
                          <a:spcPts val="0"/>
                        </a:spcAft>
                        <a:buNone/>
                      </a:pPr>
                      <a:r>
                        <a:rPr sz="1050" b="0" i="0">
                          <a:solidFill>
                            <a:srgbClr val="414141"/>
                          </a:solidFill>
                          <a:latin typeface="Arial"/>
                        </a:rPr>
                        <a:t>Replacement projection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r" marL="0" indent="0">
                        <a:spcBef>
                          <a:spcPts val="0"/>
                        </a:spcBef>
                        <a:spcAft>
                          <a:spcPts val="0"/>
                        </a:spcAft>
                        <a:buNone/>
                      </a:pPr>
                      <a:r>
                        <a:rPr sz="1050" b="0" i="0">
                          <a:solidFill>
                            <a:srgbClr val="414141"/>
                          </a:solidFill>
                          <a:latin typeface="Arial"/>
                        </a:rPr>
                        <a:t>4,704</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l" marL="0" indent="0">
                        <a:spcBef>
                          <a:spcPts val="0"/>
                        </a:spcBef>
                        <a:spcAft>
                          <a:spcPts val="0"/>
                        </a:spcAft>
                        <a:buNone/>
                      </a:pPr>
                      <a:r>
                        <a:rPr sz="1050" b="0" i="0">
                          <a:solidFill>
                            <a:srgbClr val="414141"/>
                          </a:solidFill>
                          <a:latin typeface="Arial"/>
                        </a:rPr>
                        <a:t>Classifier head</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r" marL="0" indent="0">
                        <a:spcBef>
                          <a:spcPts val="0"/>
                        </a:spcBef>
                        <a:spcAft>
                          <a:spcPts val="0"/>
                        </a:spcAft>
                        <a:buNone/>
                      </a:pPr>
                      <a:r>
                        <a:rPr sz="1050" b="0" i="0">
                          <a:solidFill>
                            <a:srgbClr val="414141"/>
                          </a:solidFill>
                          <a:latin typeface="Arial"/>
                        </a:rPr>
                        <a:t>483</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l" marL="0" indent="0">
                        <a:spcBef>
                          <a:spcPts val="0"/>
                        </a:spcBef>
                        <a:spcAft>
                          <a:spcPts val="0"/>
                        </a:spcAft>
                        <a:buNone/>
                      </a:pPr>
                      <a:r>
                        <a:rPr sz="1050" b="0" i="0">
                          <a:solidFill>
                            <a:srgbClr val="414141"/>
                          </a:solidFill>
                          <a:latin typeface="Arial"/>
                        </a:rPr>
                        <a:t>SimAM, magnification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r" marL="0" indent="0">
                        <a:spcBef>
                          <a:spcPts val="0"/>
                        </a:spcBef>
                        <a:spcAft>
                          <a:spcPts val="0"/>
                        </a:spcAft>
                        <a:buNone/>
                      </a:pPr>
                      <a:r>
                        <a:rPr sz="1050" b="0" i="0">
                          <a:solidFill>
                            <a:srgbClr val="414141"/>
                          </a:solidFill>
                          <a:latin typeface="Arial"/>
                        </a:rPr>
                        <a:t>0</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graphicFrame>
        <p:nvGraphicFramePr>
          <p:cNvPr id="952" name="Table 951"/>
          <p:cNvGraphicFramePr>
            <a:graphicFrameLocks noGrp="1"/>
          </p:cNvGraphicFramePr>
          <p:nvPr/>
        </p:nvGraphicFramePr>
        <p:xfrm>
          <a:off x="4800600" y="3154680"/>
          <a:ext cx="3840480" cy="1463040"/>
        </p:xfrm>
        <a:graphic>
          <a:graphicData uri="http://schemas.openxmlformats.org/drawingml/2006/table">
            <a:tbl>
              <a:tblPr firstRow="0" bandRow="0">
                <a:tableStyleId>{2D5ABB26-0587-4C30-8999-92F81FD0307C}</a:tableStyleId>
              </a:tblPr>
              <a:tblGrid>
                <a:gridCol w="2651760"/>
                <a:gridCol w="1188720"/>
              </a:tblGrid>
              <a:tr h="292608">
                <a:tc>
                  <a:txBody>
                    <a:bodyPr wrap="square"/>
                    <a:lstStyle/>
                    <a:p>
                      <a:pPr algn="l" marL="0" indent="0">
                        <a:spcBef>
                          <a:spcPts val="0"/>
                        </a:spcBef>
                        <a:spcAft>
                          <a:spcPts val="0"/>
                        </a:spcAft>
                        <a:buNone/>
                      </a:pPr>
                      <a:r>
                        <a:rPr sz="1050" b="1" i="0">
                          <a:solidFill>
                            <a:srgbClr val="FFFFFF"/>
                          </a:solidFill>
                          <a:latin typeface="Arial"/>
                        </a:rPr>
                        <a:t>Combination</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r" marL="0" indent="0">
                        <a:spcBef>
                          <a:spcPts val="0"/>
                        </a:spcBef>
                        <a:spcAft>
                          <a:spcPts val="0"/>
                        </a:spcAft>
                        <a:buNone/>
                      </a:pPr>
                      <a:r>
                        <a:rPr sz="1050" b="1" i="0">
                          <a:solidFill>
                            <a:srgbClr val="FFFFFF"/>
                          </a:solidFill>
                          <a:latin typeface="Arial"/>
                        </a:rPr>
                        <a:t>Total</a:t>
                      </a:r>
                    </a:p>
                  </a:txBody>
                  <a:tcPr marL="54864" marR="54864" marT="18288" marB="18288" anchor="ctr">
                    <a:lnL w="9525">
                      <a:noFill/>
                    </a:lnL>
                    <a:lnR w="9525">
                      <a:noFill/>
                    </a:lnR>
                    <a:lnT w="9525">
                      <a:noFill/>
                    </a:lnT>
                    <a:lnB w="9525">
                      <a:solidFill>
                        <a:srgbClr val="D9D9D9"/>
                      </a:solidFill>
                    </a:lnB>
                    <a:solidFill>
                      <a:srgbClr val="004CA0"/>
                    </a:solidFill>
                  </a:tcPr>
                </a:tc>
              </a:tr>
              <a:tr h="292608">
                <a:tc>
                  <a:txBody>
                    <a:bodyPr wrap="square"/>
                    <a:lstStyle/>
                    <a:p>
                      <a:pPr algn="l" marL="0" indent="0">
                        <a:spcBef>
                          <a:spcPts val="0"/>
                        </a:spcBef>
                        <a:spcAft>
                          <a:spcPts val="0"/>
                        </a:spcAft>
                        <a:buNone/>
                      </a:pPr>
                      <a:r>
                        <a:rPr sz="1050" b="0" i="0">
                          <a:solidFill>
                            <a:srgbClr val="414141"/>
                          </a:solidFill>
                          <a:latin typeface="Arial"/>
                        </a:rPr>
                        <a:t>No stem, no transformer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r" marL="0" indent="0">
                        <a:spcBef>
                          <a:spcPts val="0"/>
                        </a:spcBef>
                        <a:spcAft>
                          <a:spcPts val="0"/>
                        </a:spcAft>
                        <a:buNone/>
                      </a:pPr>
                      <a:r>
                        <a:rPr sz="1050" b="0" i="0">
                          <a:solidFill>
                            <a:srgbClr val="414141"/>
                          </a:solidFill>
                          <a:latin typeface="Arial"/>
                        </a:rPr>
                        <a:t>5,187</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l" marL="0" indent="0">
                        <a:spcBef>
                          <a:spcPts val="0"/>
                        </a:spcBef>
                        <a:spcAft>
                          <a:spcPts val="0"/>
                        </a:spcAft>
                        <a:buNone/>
                      </a:pPr>
                      <a:r>
                        <a:rPr sz="1050" b="0" i="0">
                          <a:solidFill>
                            <a:srgbClr val="414141"/>
                          </a:solidFill>
                          <a:latin typeface="Arial"/>
                        </a:rPr>
                        <a:t>Stem only</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r" marL="0" indent="0">
                        <a:spcBef>
                          <a:spcPts val="0"/>
                        </a:spcBef>
                        <a:spcAft>
                          <a:spcPts val="0"/>
                        </a:spcAft>
                        <a:buNone/>
                      </a:pPr>
                      <a:r>
                        <a:rPr sz="1050" b="0" i="0">
                          <a:solidFill>
                            <a:srgbClr val="414141"/>
                          </a:solidFill>
                          <a:latin typeface="Arial"/>
                        </a:rPr>
                        <a:t>15,027</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l" marL="0" indent="0">
                        <a:spcBef>
                          <a:spcPts val="0"/>
                        </a:spcBef>
                        <a:spcAft>
                          <a:spcPts val="0"/>
                        </a:spcAft>
                        <a:buNone/>
                      </a:pPr>
                      <a:r>
                        <a:rPr sz="1050" b="0" i="0">
                          <a:solidFill>
                            <a:srgbClr val="414141"/>
                          </a:solidFill>
                          <a:latin typeface="Arial"/>
                        </a:rPr>
                        <a:t>Transformer only</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r" marL="0" indent="0">
                        <a:spcBef>
                          <a:spcPts val="0"/>
                        </a:spcBef>
                        <a:spcAft>
                          <a:spcPts val="0"/>
                        </a:spcAft>
                        <a:buNone/>
                      </a:pPr>
                      <a:r>
                        <a:rPr sz="1050" b="1" i="0">
                          <a:solidFill>
                            <a:srgbClr val="414141"/>
                          </a:solidFill>
                          <a:latin typeface="Arial"/>
                        </a:rPr>
                        <a:t>353,923</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l" marL="0" indent="0">
                        <a:spcBef>
                          <a:spcPts val="0"/>
                        </a:spcBef>
                        <a:spcAft>
                          <a:spcPts val="0"/>
                        </a:spcAft>
                        <a:buNone/>
                      </a:pPr>
                      <a:r>
                        <a:rPr sz="1050" b="0" i="0">
                          <a:solidFill>
                            <a:srgbClr val="414141"/>
                          </a:solidFill>
                          <a:latin typeface="Arial"/>
                        </a:rPr>
                        <a:t>Stem and transformer</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r" marL="0" indent="0">
                        <a:spcBef>
                          <a:spcPts val="0"/>
                        </a:spcBef>
                        <a:spcAft>
                          <a:spcPts val="0"/>
                        </a:spcAft>
                        <a:buNone/>
                      </a:pPr>
                      <a:r>
                        <a:rPr sz="1050" b="0" i="0">
                          <a:solidFill>
                            <a:srgbClr val="414141"/>
                          </a:solidFill>
                          <a:latin typeface="Arial"/>
                        </a:rPr>
                        <a:t>363,763</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53" name="TextBox 952"/>
          <p:cNvSpPr txBox="1"/>
          <p:nvPr/>
        </p:nvSpPr>
        <p:spPr>
          <a:xfrm>
            <a:off x="4800600" y="4754880"/>
            <a:ext cx="3840480" cy="1005840"/>
          </a:xfrm>
          <a:prstGeom prst="rect">
            <a:avLst/>
          </a:prstGeom>
          <a:noFill/>
        </p:spPr>
        <p:txBody>
          <a:bodyPr wrap="square" lIns="45720" rIns="45720" tIns="27432" bIns="27432" anchor="t"/>
          <a:lstStyle/>
          <a:p>
            <a:pPr algn="l" marL="0" indent="0">
              <a:spcBef>
                <a:spcPts val="0"/>
              </a:spcBef>
              <a:spcAft>
                <a:spcPts val="300"/>
              </a:spcAft>
              <a:buNone/>
            </a:pPr>
            <a:r>
              <a:rPr sz="1050" b="0" i="0">
                <a:solidFill>
                  <a:srgbClr val="414141"/>
                </a:solidFill>
                <a:latin typeface="Arial"/>
              </a:rPr>
              <a:t>The transformer holds about 96 % of the parameters of the complete model. All configurations share the same implementation, initialisation and layer order.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SPONTANEOUS MICRO-EXPRESSION DATASETS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3"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33</a:t>
            </a:fld>
          </a:p>
        </p:txBody>
      </p:sp>
      <p:graphicFrame>
        <p:nvGraphicFramePr>
          <p:cNvPr id="934" name="Table 933"/>
          <p:cNvGraphicFramePr>
            <a:graphicFrameLocks noGrp="1"/>
          </p:cNvGraphicFramePr>
          <p:nvPr/>
        </p:nvGraphicFramePr>
        <p:xfrm>
          <a:off x="685800" y="1783080"/>
          <a:ext cx="7955280" cy="2487168"/>
        </p:xfrm>
        <a:graphic>
          <a:graphicData uri="http://schemas.openxmlformats.org/drawingml/2006/table">
            <a:tbl>
              <a:tblPr firstRow="0" bandRow="0">
                <a:tableStyleId>{2D5ABB26-0587-4C30-8999-92F81FD0307C}</a:tableStyleId>
              </a:tblPr>
              <a:tblGrid>
                <a:gridCol w="1280160"/>
                <a:gridCol w="914400"/>
                <a:gridCol w="1645920"/>
                <a:gridCol w="1325880"/>
                <a:gridCol w="685800"/>
                <a:gridCol w="2103120"/>
              </a:tblGrid>
              <a:tr h="310896">
                <a:tc>
                  <a:txBody>
                    <a:bodyPr wrap="square"/>
                    <a:lstStyle/>
                    <a:p>
                      <a:pPr algn="l" marL="0" indent="0">
                        <a:spcBef>
                          <a:spcPts val="0"/>
                        </a:spcBef>
                        <a:spcAft>
                          <a:spcPts val="0"/>
                        </a:spcAft>
                        <a:buNone/>
                      </a:pPr>
                      <a:r>
                        <a:rPr sz="1000" b="1" i="0">
                          <a:solidFill>
                            <a:srgbClr val="FFFFFF"/>
                          </a:solidFill>
                          <a:latin typeface="Arial"/>
                        </a:rPr>
                        <a:t>Dataset</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Subjects</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Micro samples</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Frame rate (fps)</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FACS</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Ethnicities / mean age</a:t>
                      </a:r>
                    </a:p>
                  </a:txBody>
                  <a:tcPr marL="54864" marR="54864" marT="18288" marB="18288" anchor="ctr">
                    <a:lnL w="9525">
                      <a:noFill/>
                    </a:lnL>
                    <a:lnR w="9525">
                      <a:noFill/>
                    </a:lnR>
                    <a:lnT w="9525">
                      <a:noFill/>
                    </a:lnT>
                    <a:lnB w="9525">
                      <a:solidFill>
                        <a:srgbClr val="D9D9D9"/>
                      </a:solidFill>
                    </a:lnB>
                    <a:solidFill>
                      <a:srgbClr val="004CA0"/>
                    </a:solidFill>
                  </a:tcPr>
                </a:tc>
              </a:tr>
              <a:tr h="310896">
                <a:tc>
                  <a:txBody>
                    <a:bodyPr wrap="square"/>
                    <a:lstStyle/>
                    <a:p>
                      <a:pPr algn="l" marL="0" indent="0">
                        <a:spcBef>
                          <a:spcPts val="0"/>
                        </a:spcBef>
                        <a:spcAft>
                          <a:spcPts val="0"/>
                        </a:spcAft>
                        <a:buNone/>
                      </a:pPr>
                      <a:r>
                        <a:rPr sz="1000" b="0" i="0">
                          <a:solidFill>
                            <a:srgbClr val="414141"/>
                          </a:solidFill>
                          <a:latin typeface="Arial"/>
                        </a:rPr>
                        <a:t>CASME</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195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60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Yes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 / 22.03</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1000" b="0" i="0">
                          <a:solidFill>
                            <a:srgbClr val="414141"/>
                          </a:solidFill>
                          <a:latin typeface="Arial"/>
                        </a:rPr>
                        <a:t>SMIC (HS)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164</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100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No</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2 / 28.1</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1000" b="1" i="0">
                          <a:solidFill>
                            <a:srgbClr val="414141"/>
                          </a:solidFill>
                          <a:latin typeface="Arial"/>
                        </a:rPr>
                        <a:t>CASME II</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414141"/>
                          </a:solidFill>
                          <a:latin typeface="Arial"/>
                        </a:rPr>
                        <a:t>26</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414141"/>
                          </a:solidFill>
                          <a:latin typeface="Arial"/>
                        </a:rPr>
                        <a:t>247 / 255</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414141"/>
                          </a:solidFill>
                          <a:latin typeface="Arial"/>
                        </a:rPr>
                        <a:t>200</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414141"/>
                          </a:solidFill>
                          <a:latin typeface="Arial"/>
                        </a:rPr>
                        <a:t>Yes</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1000" b="1" i="0">
                          <a:solidFill>
                            <a:srgbClr val="414141"/>
                          </a:solidFill>
                          <a:latin typeface="Arial"/>
                        </a:rPr>
                        <a:t>1 / 22.03</a:t>
                      </a:r>
                    </a:p>
                  </a:txBody>
                  <a:tcPr marL="54864" marR="54864" marT="18288" marB="18288" anchor="ctr">
                    <a:lnL w="9525">
                      <a:noFill/>
                    </a:lnL>
                    <a:lnR w="9525">
                      <a:noFill/>
                    </a:lnR>
                    <a:lnT w="9525">
                      <a:noFill/>
                    </a:lnT>
                    <a:lnB w="9525">
                      <a:solidFill>
                        <a:srgbClr val="D9D9D9"/>
                      </a:solidFill>
                    </a:lnB>
                    <a:solidFill>
                      <a:srgbClr val="E6EDF6"/>
                    </a:solidFill>
                  </a:tcPr>
                </a:tc>
              </a:tr>
              <a:tr h="310896">
                <a:tc>
                  <a:txBody>
                    <a:bodyPr wrap="square"/>
                    <a:lstStyle/>
                    <a:p>
                      <a:pPr algn="l" marL="0" indent="0">
                        <a:spcBef>
                          <a:spcPts val="0"/>
                        </a:spcBef>
                        <a:spcAft>
                          <a:spcPts val="0"/>
                        </a:spcAft>
                        <a:buNone/>
                      </a:pPr>
                      <a:r>
                        <a:rPr sz="1000" b="0" i="0">
                          <a:solidFill>
                            <a:srgbClr val="414141"/>
                          </a:solidFill>
                          <a:latin typeface="Arial"/>
                        </a:rPr>
                        <a:t>SAMM</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32</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159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200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Yes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13 / 33.24</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1000" b="0" i="0">
                          <a:solidFill>
                            <a:srgbClr val="414141"/>
                          </a:solidFill>
                          <a:latin typeface="Arial"/>
                        </a:rPr>
                        <a:t>CAS(ME)</a:t>
                      </a:r>
                      <a:r>
                        <a:rPr sz="1000" b="0" i="0" baseline="30000">
                          <a:solidFill>
                            <a:srgbClr val="414141"/>
                          </a:solidFill>
                          <a:latin typeface="Arial"/>
                        </a:rPr>
                        <a:t>2</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22</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53 (+250 macro)</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30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Yes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 / 22.59</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1000" b="0" i="0">
                          <a:solidFill>
                            <a:srgbClr val="414141"/>
                          </a:solidFill>
                          <a:latin typeface="Arial"/>
                        </a:rPr>
                        <a:t>MMEW</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36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300 (+900 macro)</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90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Yes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1 / 22.35</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1000" b="0" i="0">
                          <a:solidFill>
                            <a:srgbClr val="414141"/>
                          </a:solidFill>
                          <a:latin typeface="Arial"/>
                        </a:rPr>
                        <a:t>DFME</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671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7,526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200, 300, 500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Yes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not reported</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sp>
        <p:nvSpPr>
          <p:cNvPr id="935" name="TextBox 934"/>
          <p:cNvSpPr txBox="1"/>
          <p:nvPr/>
        </p:nvSpPr>
        <p:spPr>
          <a:xfrm>
            <a:off x="685800" y="4434840"/>
            <a:ext cx="7955279" cy="146304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100" b="0" i="0">
                <a:solidFill>
                  <a:srgbClr val="414141"/>
                </a:solidFill>
                <a:latin typeface="Arial"/>
              </a:rPr>
              <a:t>CASME II has the highest temporal resolution among the spontaneous datasets of comparable size</a:t>
            </a:r>
          </a:p>
          <a:p>
            <a:pPr algn="l" marL="155448" indent="-155448">
              <a:spcBef>
                <a:spcPts val="0"/>
              </a:spcBef>
              <a:spcAft>
                <a:spcPts val="400"/>
              </a:spcAft>
              <a:buClr>
                <a:srgbClr val="A8CC2F"/>
              </a:buClr>
              <a:buFont typeface="Arial"/>
              <a:buChar char="•"/>
            </a:pPr>
            <a:r>
              <a:rPr sz="1100" b="0" i="0">
                <a:solidFill>
                  <a:srgbClr val="414141"/>
                </a:solidFill>
                <a:latin typeface="Arial"/>
              </a:rPr>
              <a:t>Its onset, apex and offset annotation makes temporal normalisation well defined</a:t>
            </a:r>
          </a:p>
          <a:p>
            <a:pPr algn="l" marL="155448" indent="-155448">
              <a:spcBef>
                <a:spcPts val="0"/>
              </a:spcBef>
              <a:spcAft>
                <a:spcPts val="400"/>
              </a:spcAft>
              <a:buClr>
                <a:srgbClr val="A8CC2F"/>
              </a:buClr>
              <a:buFont typeface="Arial"/>
              <a:buChar char="•"/>
            </a:pPr>
            <a:r>
              <a:rPr sz="1100" b="0" i="0">
                <a:solidFill>
                  <a:srgbClr val="414141"/>
                </a:solidFill>
                <a:latin typeface="Arial"/>
              </a:rPr>
              <a:t>It remains the most widely reported single-dataset benchmark</a:t>
            </a:r>
          </a:p>
          <a:p>
            <a:pPr algn="l" marL="155448" indent="-155448">
              <a:spcBef>
                <a:spcPts val="0"/>
              </a:spcBef>
              <a:spcAft>
                <a:spcPts val="400"/>
              </a:spcAft>
              <a:buClr>
                <a:srgbClr val="A8CC2F"/>
              </a:buClr>
              <a:buFont typeface="Arial"/>
              <a:buChar char="•"/>
            </a:pPr>
            <a:r>
              <a:rPr sz="1100" b="0" i="0">
                <a:solidFill>
                  <a:srgbClr val="414141"/>
                </a:solidFill>
                <a:latin typeface="Arial"/>
              </a:rPr>
              <a:t>CAS(ME)</a:t>
            </a:r>
            <a:r>
              <a:rPr sz="1100" b="0" i="0" baseline="30000">
                <a:solidFill>
                  <a:srgbClr val="414141"/>
                </a:solidFill>
                <a:latin typeface="Arial"/>
              </a:rPr>
              <a:t>3</a:t>
            </a:r>
            <a:r>
              <a:rPr sz="1100" b="0" i="0">
                <a:solidFill>
                  <a:srgbClr val="414141"/>
                </a:solidFill>
                <a:latin typeface="Arial"/>
              </a:rPr>
              <a:t> adds depth information; DFME is reported by its authors as the largest dataset at the time of publication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CASME II LABELS AND THE THREE SAMPLE COUNTS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4"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34</a:t>
            </a:fld>
          </a:p>
        </p:txBody>
      </p:sp>
      <p:graphicFrame>
        <p:nvGraphicFramePr>
          <p:cNvPr id="935" name="Chart 934"/>
          <p:cNvGraphicFramePr>
            <a:graphicFrameLocks noGrp="1"/>
          </p:cNvGraphicFramePr>
          <p:nvPr/>
        </p:nvGraphicFramePr>
        <p:xfrm>
          <a:off x="594360" y="1691640"/>
          <a:ext cx="4709160" cy="3749039"/>
        </p:xfrm>
        <a:graphic>
          <a:graphicData uri="http://schemas.openxmlformats.org/drawingml/2006/chart">
            <c:chart xmlns:c="http://schemas.openxmlformats.org/drawingml/2006/chart" r:id="rId3"/>
          </a:graphicData>
        </a:graphic>
      </p:graphicFrame>
      <p:sp>
        <p:nvSpPr>
          <p:cNvPr id="936" name="TextBox 935"/>
          <p:cNvSpPr txBox="1"/>
          <p:nvPr/>
        </p:nvSpPr>
        <p:spPr>
          <a:xfrm>
            <a:off x="685800" y="5440680"/>
            <a:ext cx="4572000" cy="457200"/>
          </a:xfrm>
          <a:prstGeom prst="rect">
            <a:avLst/>
          </a:prstGeom>
          <a:noFill/>
        </p:spPr>
        <p:txBody>
          <a:bodyPr wrap="square" lIns="45720" rIns="45720" tIns="27432" bIns="27432" anchor="t"/>
          <a:lstStyle/>
          <a:p>
            <a:pPr algn="ctr" marL="0" indent="0">
              <a:spcBef>
                <a:spcPts val="0"/>
              </a:spcBef>
              <a:spcAft>
                <a:spcPts val="300"/>
              </a:spcAft>
              <a:buNone/>
            </a:pPr>
            <a:r>
              <a:rPr sz="850" b="0" i="1">
                <a:solidFill>
                  <a:srgbClr val="8C8C8C"/>
                </a:solidFill>
                <a:latin typeface="Arial"/>
              </a:rPr>
              <a:t>Released coding (255 clips). Blue: Negative (99); lime: Positive (32); cyan: Surprise (25); grey: excluded.</a:t>
            </a:r>
          </a:p>
        </p:txBody>
      </p:sp>
      <p:sp>
        <p:nvSpPr>
          <p:cNvPr id="937" name="Rectangle 936"/>
          <p:cNvSpPr/>
          <p:nvPr/>
        </p:nvSpPr>
        <p:spPr>
          <a:xfrm>
            <a:off x="5440680" y="1783080"/>
            <a:ext cx="320040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TextBox 937"/>
          <p:cNvSpPr txBox="1"/>
          <p:nvPr/>
        </p:nvSpPr>
        <p:spPr>
          <a:xfrm>
            <a:off x="5486400" y="1783080"/>
            <a:ext cx="960120" cy="914400"/>
          </a:xfrm>
          <a:prstGeom prst="rect">
            <a:avLst/>
          </a:prstGeom>
          <a:noFill/>
        </p:spPr>
        <p:txBody>
          <a:bodyPr wrap="square" lIns="45720" rIns="45720" tIns="27432" bIns="27432" anchor="ctr"/>
          <a:lstStyle/>
          <a:p>
            <a:pPr algn="ctr" marL="0" indent="0">
              <a:spcBef>
                <a:spcPts val="0"/>
              </a:spcBef>
              <a:spcAft>
                <a:spcPts val="0"/>
              </a:spcAft>
              <a:buNone/>
            </a:pPr>
            <a:r>
              <a:rPr sz="2400" b="1" i="0">
                <a:solidFill>
                  <a:srgbClr val="004CA0"/>
                </a:solidFill>
                <a:latin typeface="Arial"/>
              </a:rPr>
              <a:t>247</a:t>
            </a:r>
          </a:p>
        </p:txBody>
      </p:sp>
      <p:sp>
        <p:nvSpPr>
          <p:cNvPr id="939" name="TextBox 938"/>
          <p:cNvSpPr txBox="1"/>
          <p:nvPr/>
        </p:nvSpPr>
        <p:spPr>
          <a:xfrm>
            <a:off x="6492240" y="1783080"/>
            <a:ext cx="2103120" cy="914400"/>
          </a:xfrm>
          <a:prstGeom prst="rect">
            <a:avLst/>
          </a:prstGeom>
          <a:noFill/>
        </p:spPr>
        <p:txBody>
          <a:bodyPr wrap="square" lIns="45720" rIns="45720" tIns="27432" bIns="27432" anchor="ctr"/>
          <a:lstStyle/>
          <a:p>
            <a:pPr algn="l" marL="0" indent="0">
              <a:spcBef>
                <a:spcPts val="0"/>
              </a:spcBef>
              <a:spcAft>
                <a:spcPts val="200"/>
              </a:spcAft>
              <a:buNone/>
            </a:pPr>
            <a:r>
              <a:rPr sz="1100" b="1" i="0">
                <a:solidFill>
                  <a:srgbClr val="004CA0"/>
                </a:solidFill>
                <a:latin typeface="Arial"/>
              </a:rPr>
              <a:t>Published paper</a:t>
            </a:r>
          </a:p>
          <a:p>
            <a:pPr algn="l" marL="0" indent="0">
              <a:spcBef>
                <a:spcPts val="0"/>
              </a:spcBef>
              <a:spcAft>
                <a:spcPts val="300"/>
              </a:spcAft>
              <a:buNone/>
            </a:pPr>
            <a:r>
              <a:rPr sz="950" b="0" i="0">
                <a:solidFill>
                  <a:srgbClr val="414141"/>
                </a:solidFill>
                <a:latin typeface="Arial"/>
              </a:rPr>
              <a:t>Micro-expressions reported by Yan et al. (2014)</a:t>
            </a:r>
          </a:p>
        </p:txBody>
      </p:sp>
      <p:sp>
        <p:nvSpPr>
          <p:cNvPr id="940" name="Rectangle 939"/>
          <p:cNvSpPr/>
          <p:nvPr/>
        </p:nvSpPr>
        <p:spPr>
          <a:xfrm>
            <a:off x="5440680" y="2816352"/>
            <a:ext cx="320040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TextBox 940"/>
          <p:cNvSpPr txBox="1"/>
          <p:nvPr/>
        </p:nvSpPr>
        <p:spPr>
          <a:xfrm>
            <a:off x="5486400" y="2816352"/>
            <a:ext cx="960120" cy="914400"/>
          </a:xfrm>
          <a:prstGeom prst="rect">
            <a:avLst/>
          </a:prstGeom>
          <a:noFill/>
        </p:spPr>
        <p:txBody>
          <a:bodyPr wrap="square" lIns="45720" rIns="45720" tIns="27432" bIns="27432" anchor="ctr"/>
          <a:lstStyle/>
          <a:p>
            <a:pPr algn="ctr" marL="0" indent="0">
              <a:spcBef>
                <a:spcPts val="0"/>
              </a:spcBef>
              <a:spcAft>
                <a:spcPts val="0"/>
              </a:spcAft>
              <a:buNone/>
            </a:pPr>
            <a:r>
              <a:rPr sz="2400" b="1" i="0">
                <a:solidFill>
                  <a:srgbClr val="004CA0"/>
                </a:solidFill>
                <a:latin typeface="Arial"/>
              </a:rPr>
              <a:t>255</a:t>
            </a:r>
          </a:p>
        </p:txBody>
      </p:sp>
      <p:sp>
        <p:nvSpPr>
          <p:cNvPr id="942" name="TextBox 941"/>
          <p:cNvSpPr txBox="1"/>
          <p:nvPr/>
        </p:nvSpPr>
        <p:spPr>
          <a:xfrm>
            <a:off x="6492240" y="2816352"/>
            <a:ext cx="2103120" cy="914400"/>
          </a:xfrm>
          <a:prstGeom prst="rect">
            <a:avLst/>
          </a:prstGeom>
          <a:noFill/>
        </p:spPr>
        <p:txBody>
          <a:bodyPr wrap="square" lIns="45720" rIns="45720" tIns="27432" bIns="27432" anchor="ctr"/>
          <a:lstStyle/>
          <a:p>
            <a:pPr algn="l" marL="0" indent="0">
              <a:spcBef>
                <a:spcPts val="0"/>
              </a:spcBef>
              <a:spcAft>
                <a:spcPts val="200"/>
              </a:spcAft>
              <a:buNone/>
            </a:pPr>
            <a:r>
              <a:rPr sz="1100" b="1" i="0">
                <a:solidFill>
                  <a:srgbClr val="004CA0"/>
                </a:solidFill>
                <a:latin typeface="Arial"/>
              </a:rPr>
              <a:t>Released coding</a:t>
            </a:r>
          </a:p>
          <a:p>
            <a:pPr algn="l" marL="0" indent="0">
              <a:spcBef>
                <a:spcPts val="0"/>
              </a:spcBef>
              <a:spcAft>
                <a:spcPts val="300"/>
              </a:spcAft>
              <a:buNone/>
            </a:pPr>
            <a:r>
              <a:rPr sz="950" b="0" i="0">
                <a:solidFill>
                  <a:srgbClr val="414141"/>
                </a:solidFill>
                <a:latin typeface="Arial"/>
              </a:rPr>
              <a:t>Clips in the distributed coding file; used in this thesis</a:t>
            </a:r>
          </a:p>
        </p:txBody>
      </p:sp>
      <p:sp>
        <p:nvSpPr>
          <p:cNvPr id="943" name="Rectangle 942"/>
          <p:cNvSpPr/>
          <p:nvPr/>
        </p:nvSpPr>
        <p:spPr>
          <a:xfrm>
            <a:off x="5440680" y="3849624"/>
            <a:ext cx="320040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TextBox 943"/>
          <p:cNvSpPr txBox="1"/>
          <p:nvPr/>
        </p:nvSpPr>
        <p:spPr>
          <a:xfrm>
            <a:off x="5486400" y="3849624"/>
            <a:ext cx="960120" cy="914400"/>
          </a:xfrm>
          <a:prstGeom prst="rect">
            <a:avLst/>
          </a:prstGeom>
          <a:noFill/>
        </p:spPr>
        <p:txBody>
          <a:bodyPr wrap="square" lIns="45720" rIns="45720" tIns="27432" bIns="27432" anchor="ctr"/>
          <a:lstStyle/>
          <a:p>
            <a:pPr algn="ctr" marL="0" indent="0">
              <a:spcBef>
                <a:spcPts val="0"/>
              </a:spcBef>
              <a:spcAft>
                <a:spcPts val="0"/>
              </a:spcAft>
              <a:buNone/>
            </a:pPr>
            <a:r>
              <a:rPr sz="2400" b="1" i="0">
                <a:solidFill>
                  <a:srgbClr val="004CA0"/>
                </a:solidFill>
                <a:latin typeface="Arial"/>
              </a:rPr>
              <a:t>145</a:t>
            </a:r>
          </a:p>
        </p:txBody>
      </p:sp>
      <p:sp>
        <p:nvSpPr>
          <p:cNvPr id="945" name="TextBox 944"/>
          <p:cNvSpPr txBox="1"/>
          <p:nvPr/>
        </p:nvSpPr>
        <p:spPr>
          <a:xfrm>
            <a:off x="6492240" y="3849624"/>
            <a:ext cx="2103120" cy="914400"/>
          </a:xfrm>
          <a:prstGeom prst="rect">
            <a:avLst/>
          </a:prstGeom>
          <a:noFill/>
        </p:spPr>
        <p:txBody>
          <a:bodyPr wrap="square" lIns="45720" rIns="45720" tIns="27432" bIns="27432" anchor="ctr"/>
          <a:lstStyle/>
          <a:p>
            <a:pPr algn="l" marL="0" indent="0">
              <a:spcBef>
                <a:spcPts val="0"/>
              </a:spcBef>
              <a:spcAft>
                <a:spcPts val="200"/>
              </a:spcAft>
              <a:buNone/>
            </a:pPr>
            <a:r>
              <a:rPr sz="1100" b="1" i="0">
                <a:solidFill>
                  <a:srgbClr val="004CA0"/>
                </a:solidFill>
                <a:latin typeface="Arial"/>
              </a:rPr>
              <a:t>MEGC 2019 subset</a:t>
            </a:r>
          </a:p>
          <a:p>
            <a:pPr algn="l" marL="0" indent="0">
              <a:spcBef>
                <a:spcPts val="0"/>
              </a:spcBef>
              <a:spcAft>
                <a:spcPts val="300"/>
              </a:spcAft>
              <a:buNone/>
            </a:pPr>
            <a:r>
              <a:rPr sz="950" b="0" i="0">
                <a:solidFill>
                  <a:srgbClr val="414141"/>
                </a:solidFill>
                <a:latin typeface="Arial"/>
              </a:rPr>
              <a:t>Five-category release: Negative = disgust and repression (88)</a:t>
            </a:r>
          </a:p>
        </p:txBody>
      </p:sp>
      <p:sp>
        <p:nvSpPr>
          <p:cNvPr id="946" name="Rectangle 945"/>
          <p:cNvSpPr/>
          <p:nvPr/>
        </p:nvSpPr>
        <p:spPr>
          <a:xfrm>
            <a:off x="5440680" y="4882896"/>
            <a:ext cx="3200400" cy="9144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TextBox 946"/>
          <p:cNvSpPr txBox="1"/>
          <p:nvPr/>
        </p:nvSpPr>
        <p:spPr>
          <a:xfrm>
            <a:off x="5486400" y="4882896"/>
            <a:ext cx="960120" cy="914400"/>
          </a:xfrm>
          <a:prstGeom prst="rect">
            <a:avLst/>
          </a:prstGeom>
          <a:noFill/>
        </p:spPr>
        <p:txBody>
          <a:bodyPr wrap="square" lIns="45720" rIns="45720" tIns="27432" bIns="27432" anchor="ctr"/>
          <a:lstStyle/>
          <a:p>
            <a:pPr algn="ctr" marL="0" indent="0">
              <a:spcBef>
                <a:spcPts val="0"/>
              </a:spcBef>
              <a:spcAft>
                <a:spcPts val="0"/>
              </a:spcAft>
              <a:buNone/>
            </a:pPr>
            <a:r>
              <a:rPr sz="2400" b="1" i="0">
                <a:solidFill>
                  <a:srgbClr val="A8CC2F"/>
                </a:solidFill>
                <a:latin typeface="Arial"/>
              </a:rPr>
              <a:t>156</a:t>
            </a:r>
          </a:p>
        </p:txBody>
      </p:sp>
      <p:sp>
        <p:nvSpPr>
          <p:cNvPr id="948" name="TextBox 947"/>
          <p:cNvSpPr txBox="1"/>
          <p:nvPr/>
        </p:nvSpPr>
        <p:spPr>
          <a:xfrm>
            <a:off x="6492240" y="4882896"/>
            <a:ext cx="2103120" cy="914400"/>
          </a:xfrm>
          <a:prstGeom prst="rect">
            <a:avLst/>
          </a:prstGeom>
          <a:noFill/>
        </p:spPr>
        <p:txBody>
          <a:bodyPr wrap="square" lIns="45720" rIns="45720" tIns="27432" bIns="27432" anchor="ctr"/>
          <a:lstStyle/>
          <a:p>
            <a:pPr algn="l" marL="0" indent="0">
              <a:spcBef>
                <a:spcPts val="0"/>
              </a:spcBef>
              <a:spcAft>
                <a:spcPts val="200"/>
              </a:spcAft>
              <a:buNone/>
            </a:pPr>
            <a:r>
              <a:rPr sz="1100" b="1" i="0">
                <a:solidFill>
                  <a:srgbClr val="FFFFFF"/>
                </a:solidFill>
                <a:latin typeface="Arial"/>
              </a:rPr>
              <a:t>This thesis</a:t>
            </a:r>
          </a:p>
          <a:p>
            <a:pPr algn="l" marL="0" indent="0">
              <a:spcBef>
                <a:spcPts val="0"/>
              </a:spcBef>
              <a:spcAft>
                <a:spcPts val="300"/>
              </a:spcAft>
              <a:buNone/>
            </a:pPr>
            <a:r>
              <a:rPr sz="950" b="0" i="0">
                <a:solidFill>
                  <a:srgbClr val="FFFFFF"/>
                </a:solidFill>
                <a:latin typeface="Arial"/>
              </a:rPr>
              <a:t>Seven-label coding: sadness and fear added to Negative (99)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FOLD COMPOSITION AND THE MEAN-OF-FOLDS CEILING</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5"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35</a:t>
            </a:fld>
          </a:p>
        </p:txBody>
      </p:sp>
      <p:pic>
        <p:nvPicPr>
          <p:cNvPr id="936" name="Picture 935" descr="fold.png"/>
          <p:cNvPicPr>
            <a:picLocks noChangeAspect="1"/>
          </p:cNvPicPr>
          <p:nvPr/>
        </p:nvPicPr>
        <p:blipFill>
          <a:blip r:embed="rId3"/>
          <a:stretch>
            <a:fillRect/>
          </a:stretch>
        </p:blipFill>
        <p:spPr>
          <a:xfrm>
            <a:off x="685800" y="1783080"/>
            <a:ext cx="4846320" cy="3058636"/>
          </a:xfrm>
          <a:prstGeom prst="rect">
            <a:avLst/>
          </a:prstGeom>
        </p:spPr>
      </p:pic>
      <p:sp>
        <p:nvSpPr>
          <p:cNvPr id="937" name="TextBox 936"/>
          <p:cNvSpPr txBox="1"/>
          <p:nvPr/>
        </p:nvSpPr>
        <p:spPr>
          <a:xfrm>
            <a:off x="685800" y="4873752"/>
            <a:ext cx="4846320" cy="27432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Class composition of the 25 leave-one-subject-out folds (thesis figure).</a:t>
            </a:r>
          </a:p>
        </p:txBody>
      </p:sp>
      <p:sp>
        <p:nvSpPr>
          <p:cNvPr id="938" name="TextBox 937"/>
          <p:cNvSpPr txBox="1"/>
          <p:nvPr/>
        </p:nvSpPr>
        <p:spPr>
          <a:xfrm>
            <a:off x="5715000" y="1783080"/>
            <a:ext cx="2926080" cy="2286000"/>
          </a:xfrm>
          <a:prstGeom prst="rect">
            <a:avLst/>
          </a:prstGeom>
          <a:noFill/>
        </p:spPr>
        <p:txBody>
          <a:bodyPr wrap="square" lIns="45720" rIns="45720" tIns="27432" bIns="27432" anchor="t"/>
          <a:lstStyle/>
          <a:p>
            <a:pPr algn="l" marL="155448" indent="-155448">
              <a:spcBef>
                <a:spcPts val="0"/>
              </a:spcBef>
              <a:spcAft>
                <a:spcPts val="500"/>
              </a:spcAft>
              <a:buClr>
                <a:srgbClr val="A8CC2F"/>
              </a:buClr>
              <a:buFont typeface="Arial"/>
              <a:buChar char="•"/>
            </a:pPr>
            <a:r>
              <a:rPr sz="1050" b="0" i="0">
                <a:solidFill>
                  <a:srgbClr val="414141"/>
                </a:solidFill>
                <a:latin typeface="Arial"/>
              </a:rPr>
              <a:t>Subject 17 alone contributes 33 clips, 21 % of the working set</a:t>
            </a:r>
          </a:p>
          <a:p>
            <a:pPr algn="l" marL="155448" indent="-155448">
              <a:spcBef>
                <a:spcPts val="0"/>
              </a:spcBef>
              <a:spcAft>
                <a:spcPts val="500"/>
              </a:spcAft>
              <a:buClr>
                <a:srgbClr val="A8CC2F"/>
              </a:buClr>
              <a:buFont typeface="Arial"/>
              <a:buChar char="•"/>
            </a:pPr>
            <a:r>
              <a:rPr sz="1050" b="0" i="0">
                <a:solidFill>
                  <a:srgbClr val="414141"/>
                </a:solidFill>
                <a:latin typeface="Arial"/>
              </a:rPr>
              <a:t>Three subjects contribute one clip each, so fold sizes vary by a factor of 33</a:t>
            </a:r>
          </a:p>
          <a:p>
            <a:pPr algn="l" marL="155448" indent="-155448">
              <a:spcBef>
                <a:spcPts val="0"/>
              </a:spcBef>
              <a:spcAft>
                <a:spcPts val="500"/>
              </a:spcAft>
              <a:buClr>
                <a:srgbClr val="A8CC2F"/>
              </a:buClr>
              <a:buFont typeface="Arial"/>
              <a:buChar char="•"/>
            </a:pPr>
            <a:r>
              <a:rPr sz="1050" b="0" i="0">
                <a:solidFill>
                  <a:srgbClr val="414141"/>
                </a:solidFill>
                <a:latin typeface="Arial"/>
              </a:rPr>
              <a:t>10 folds contain one class, 8 contain two, 7 contain all three</a:t>
            </a:r>
          </a:p>
          <a:p>
            <a:pPr algn="l" marL="155448" indent="-155448">
              <a:spcBef>
                <a:spcPts val="0"/>
              </a:spcBef>
              <a:spcAft>
                <a:spcPts val="500"/>
              </a:spcAft>
              <a:buClr>
                <a:srgbClr val="A8CC2F"/>
              </a:buClr>
              <a:buFont typeface="Arial"/>
              <a:buChar char="•"/>
            </a:pPr>
            <a:r>
              <a:rPr sz="1050" b="0" i="0">
                <a:solidFill>
                  <a:srgbClr val="414141"/>
                </a:solidFill>
                <a:latin typeface="Arial"/>
              </a:rPr>
              <a:t>A class absent from a fold contributes an F1 of zero to that fold</a:t>
            </a:r>
          </a:p>
        </p:txBody>
      </p:sp>
      <p:sp>
        <p:nvSpPr>
          <p:cNvPr id="939" name="Rectangle 938"/>
          <p:cNvSpPr/>
          <p:nvPr/>
        </p:nvSpPr>
        <p:spPr>
          <a:xfrm>
            <a:off x="5715000" y="4114800"/>
            <a:ext cx="2926080" cy="178308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TextBox 939"/>
          <p:cNvSpPr txBox="1"/>
          <p:nvPr/>
        </p:nvSpPr>
        <p:spPr>
          <a:xfrm>
            <a:off x="5852160" y="4169663"/>
            <a:ext cx="2651760" cy="1673352"/>
          </a:xfrm>
          <a:prstGeom prst="rect">
            <a:avLst/>
          </a:prstGeom>
          <a:noFill/>
        </p:spPr>
        <p:txBody>
          <a:bodyPr wrap="square" lIns="45720" rIns="45720" tIns="27432" bIns="27432" anchor="ctr"/>
          <a:lstStyle/>
          <a:p>
            <a:pPr algn="l" marL="0" indent="0">
              <a:spcBef>
                <a:spcPts val="0"/>
              </a:spcBef>
              <a:spcAft>
                <a:spcPts val="300"/>
              </a:spcAft>
              <a:buNone/>
            </a:pPr>
            <a:r>
              <a:rPr sz="1050" b="1" i="0">
                <a:solidFill>
                  <a:srgbClr val="A8CC2F"/>
                </a:solidFill>
                <a:latin typeface="Arial"/>
              </a:rPr>
              <a:t>Ceiling of the mean-of-folds macro F1</a:t>
            </a:r>
          </a:p>
          <a:p>
            <a:pPr algn="l" marL="0" indent="0">
              <a:spcBef>
                <a:spcPts val="0"/>
              </a:spcBef>
              <a:spcAft>
                <a:spcPts val="400"/>
              </a:spcAft>
              <a:buNone/>
            </a:pPr>
            <a:r>
              <a:rPr sz="1200" b="1" i="0">
                <a:solidFill>
                  <a:srgbClr val="FFFFFF"/>
                </a:solidFill>
                <a:latin typeface="Arial"/>
              </a:rPr>
              <a:t>(10 · ⅓ + 8 · ⅔ + 7 · 1) / 25 ≈ 0.627</a:t>
            </a:r>
          </a:p>
          <a:p>
            <a:pPr algn="l" marL="0" indent="0">
              <a:spcBef>
                <a:spcPts val="0"/>
              </a:spcBef>
              <a:spcAft>
                <a:spcPts val="300"/>
              </a:spcAft>
              <a:buNone/>
            </a:pPr>
            <a:r>
              <a:rPr sz="950" b="0" i="0">
                <a:solidFill>
                  <a:srgbClr val="FFFFFF"/>
                </a:solidFill>
                <a:latin typeface="Arial"/>
              </a:rPr>
              <a:t>Pooling the confusion matrices avoids this ceiling. For C8, mean-of-folds accuracy exceeds pooled accuracy by 6.3 points.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EULERIAN VIDEO MAGNIFICATION IN DETAIL</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6"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36</a:t>
            </a:fld>
          </a:p>
        </p:txBody>
      </p:sp>
      <p:sp>
        <p:nvSpPr>
          <p:cNvPr id="937" name="Rectangle 936"/>
          <p:cNvSpPr/>
          <p:nvPr/>
        </p:nvSpPr>
        <p:spPr>
          <a:xfrm>
            <a:off x="685800" y="1783080"/>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TextBox 937"/>
          <p:cNvSpPr txBox="1"/>
          <p:nvPr/>
        </p:nvSpPr>
        <p:spPr>
          <a:xfrm>
            <a:off x="758952" y="1783080"/>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Small-motion model</a:t>
            </a:r>
          </a:p>
        </p:txBody>
      </p:sp>
      <p:sp>
        <p:nvSpPr>
          <p:cNvPr id="939" name="TextBox 938"/>
          <p:cNvSpPr txBox="1"/>
          <p:nvPr/>
        </p:nvSpPr>
        <p:spPr>
          <a:xfrm>
            <a:off x="2423160" y="1783080"/>
            <a:ext cx="6144768" cy="457200"/>
          </a:xfrm>
          <a:prstGeom prst="rect">
            <a:avLst/>
          </a:prstGeom>
          <a:noFill/>
        </p:spPr>
        <p:txBody>
          <a:bodyPr wrap="square" lIns="45720" rIns="45720" tIns="27432" bIns="27432" anchor="ctr"/>
          <a:lstStyle/>
          <a:p>
            <a:pPr algn="l" marL="0" indent="0">
              <a:spcBef>
                <a:spcPts val="0"/>
              </a:spcBef>
              <a:spcAft>
                <a:spcPts val="0"/>
              </a:spcAft>
              <a:buNone/>
            </a:pPr>
            <a:r>
              <a:rPr sz="1300" b="0" i="1">
                <a:solidFill>
                  <a:srgbClr val="414141"/>
                </a:solidFill>
                <a:latin typeface="Arial"/>
              </a:rPr>
              <a:t>I(x, t) = f(x + δ(t)) ≈ f(x) + δ(t) · ∂f/∂x</a:t>
            </a:r>
          </a:p>
        </p:txBody>
      </p:sp>
      <p:sp>
        <p:nvSpPr>
          <p:cNvPr id="940" name="Rectangle 939"/>
          <p:cNvSpPr/>
          <p:nvPr/>
        </p:nvSpPr>
        <p:spPr>
          <a:xfrm>
            <a:off x="685800" y="2331720"/>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TextBox 940"/>
          <p:cNvSpPr txBox="1"/>
          <p:nvPr/>
        </p:nvSpPr>
        <p:spPr>
          <a:xfrm>
            <a:off x="758952" y="2331720"/>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After magnification</a:t>
            </a:r>
          </a:p>
        </p:txBody>
      </p:sp>
      <p:sp>
        <p:nvSpPr>
          <p:cNvPr id="942" name="TextBox 941"/>
          <p:cNvSpPr txBox="1"/>
          <p:nvPr/>
        </p:nvSpPr>
        <p:spPr>
          <a:xfrm>
            <a:off x="2423160" y="2331720"/>
            <a:ext cx="6144768" cy="457200"/>
          </a:xfrm>
          <a:prstGeom prst="rect">
            <a:avLst/>
          </a:prstGeom>
          <a:noFill/>
        </p:spPr>
        <p:txBody>
          <a:bodyPr wrap="square" lIns="45720" rIns="45720" tIns="27432" bIns="27432" anchor="ctr"/>
          <a:lstStyle/>
          <a:p>
            <a:pPr algn="l" marL="0" indent="0">
              <a:spcBef>
                <a:spcPts val="0"/>
              </a:spcBef>
              <a:spcAft>
                <a:spcPts val="0"/>
              </a:spcAft>
              <a:buNone/>
            </a:pPr>
            <a:r>
              <a:rPr sz="1300" b="0" i="1">
                <a:solidFill>
                  <a:srgbClr val="414141"/>
                </a:solidFill>
                <a:latin typeface="Arial"/>
              </a:rPr>
              <a:t>Ĩ(x, t) ≈ f(x) + (1 + α) · δ(t) · ∂f/∂x</a:t>
            </a:r>
          </a:p>
        </p:txBody>
      </p:sp>
      <p:graphicFrame>
        <p:nvGraphicFramePr>
          <p:cNvPr id="943" name="Table 942"/>
          <p:cNvGraphicFramePr>
            <a:graphicFrameLocks noGrp="1"/>
          </p:cNvGraphicFramePr>
          <p:nvPr/>
        </p:nvGraphicFramePr>
        <p:xfrm>
          <a:off x="685800" y="2926080"/>
          <a:ext cx="7955280" cy="2084832"/>
        </p:xfrm>
        <a:graphic>
          <a:graphicData uri="http://schemas.openxmlformats.org/drawingml/2006/table">
            <a:tbl>
              <a:tblPr firstRow="0" bandRow="0">
                <a:tableStyleId>{2D5ABB26-0587-4C30-8999-92F81FD0307C}</a:tableStyleId>
              </a:tblPr>
              <a:tblGrid>
                <a:gridCol w="1600200"/>
                <a:gridCol w="6355080"/>
              </a:tblGrid>
              <a:tr h="347472">
                <a:tc>
                  <a:txBody>
                    <a:bodyPr wrap="square"/>
                    <a:lstStyle/>
                    <a:p>
                      <a:pPr algn="l" marL="0" indent="0">
                        <a:spcBef>
                          <a:spcPts val="0"/>
                        </a:spcBef>
                        <a:spcAft>
                          <a:spcPts val="0"/>
                        </a:spcAft>
                        <a:buNone/>
                      </a:pPr>
                      <a:r>
                        <a:rPr sz="950" b="1" i="0">
                          <a:solidFill>
                            <a:srgbClr val="FFFFFF"/>
                          </a:solidFill>
                          <a:latin typeface="Arial"/>
                        </a:rPr>
                        <a:t>Property</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50" b="1" i="0">
                          <a:solidFill>
                            <a:srgbClr val="FFFFFF"/>
                          </a:solidFill>
                          <a:latin typeface="Arial"/>
                        </a:rPr>
                        <a:t>Implemented behaviour and consequence</a:t>
                      </a:r>
                    </a:p>
                  </a:txBody>
                  <a:tcPr marL="54864" marR="54864" marT="18288" marB="18288" anchor="ctr">
                    <a:lnL w="9525">
                      <a:noFill/>
                    </a:lnL>
                    <a:lnR w="9525">
                      <a:noFill/>
                    </a:lnR>
                    <a:lnT w="9525">
                      <a:noFill/>
                    </a:lnT>
                    <a:lnB w="9525">
                      <a:solidFill>
                        <a:srgbClr val="D9D9D9"/>
                      </a:solidFill>
                    </a:lnB>
                    <a:solidFill>
                      <a:srgbClr val="004CA0"/>
                    </a:solidFill>
                  </a:tcPr>
                </a:tc>
              </a:tr>
              <a:tr h="347472">
                <a:tc>
                  <a:txBody>
                    <a:bodyPr wrap="square"/>
                    <a:lstStyle/>
                    <a:p>
                      <a:pPr algn="l" marL="0" indent="0">
                        <a:spcBef>
                          <a:spcPts val="0"/>
                        </a:spcBef>
                        <a:spcAft>
                          <a:spcPts val="0"/>
                        </a:spcAft>
                        <a:buNone/>
                      </a:pPr>
                      <a:r>
                        <a:rPr sz="950" b="1" i="0">
                          <a:solidFill>
                            <a:srgbClr val="414141"/>
                          </a:solidFill>
                          <a:latin typeface="Arial"/>
                        </a:rPr>
                        <a:t>Temporal band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5–25 Hz, matching the duration of micro-expressions; Bai et al. narrowed it to 15–25 Hz to reduce noise</a:t>
                      </a:r>
                    </a:p>
                  </a:txBody>
                  <a:tcPr marL="54864" marR="54864" marT="18288" marB="18288" anchor="ctr">
                    <a:lnL w="9525">
                      <a:noFill/>
                    </a:lnL>
                    <a:lnR w="9525">
                      <a:noFill/>
                    </a:lnR>
                    <a:lnT w="9525">
                      <a:noFill/>
                    </a:lnT>
                    <a:lnB w="9525">
                      <a:solidFill>
                        <a:srgbClr val="D9D9D9"/>
                      </a:solidFill>
                    </a:lnB>
                    <a:solidFill>
                      <a:srgbClr val="FFFFFF"/>
                    </a:solidFill>
                  </a:tcPr>
                </a:tc>
              </a:tr>
              <a:tr h="347472">
                <a:tc>
                  <a:txBody>
                    <a:bodyPr wrap="square"/>
                    <a:lstStyle/>
                    <a:p>
                      <a:pPr algn="l" marL="0" indent="0">
                        <a:spcBef>
                          <a:spcPts val="0"/>
                        </a:spcBef>
                        <a:spcAft>
                          <a:spcPts val="0"/>
                        </a:spcAft>
                        <a:buNone/>
                      </a:pPr>
                      <a:r>
                        <a:rPr sz="950" b="1" i="0">
                          <a:solidFill>
                            <a:srgbClr val="414141"/>
                          </a:solidFill>
                          <a:latin typeface="Arial"/>
                        </a:rPr>
                        <a:t>Temporal filter</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Hard Fourier mask instead of a Butterworth filter; the pass-band has no smooth roll-off</a:t>
                      </a:r>
                    </a:p>
                  </a:txBody>
                  <a:tcPr marL="54864" marR="54864" marT="18288" marB="18288" anchor="ctr">
                    <a:lnL w="9525">
                      <a:noFill/>
                    </a:lnL>
                    <a:lnR w="9525">
                      <a:noFill/>
                    </a:lnR>
                    <a:lnT w="9525">
                      <a:noFill/>
                    </a:lnT>
                    <a:lnB w="9525">
                      <a:solidFill>
                        <a:srgbClr val="D9D9D9"/>
                      </a:solidFill>
                    </a:lnB>
                    <a:solidFill>
                      <a:srgbClr val="F2F2F2"/>
                    </a:solidFill>
                  </a:tcPr>
                </a:tc>
              </a:tr>
              <a:tr h="347472">
                <a:tc>
                  <a:txBody>
                    <a:bodyPr wrap="square"/>
                    <a:lstStyle/>
                    <a:p>
                      <a:pPr algn="l" marL="0" indent="0">
                        <a:spcBef>
                          <a:spcPts val="0"/>
                        </a:spcBef>
                        <a:spcAft>
                          <a:spcPts val="0"/>
                        </a:spcAft>
                        <a:buNone/>
                      </a:pPr>
                      <a:r>
                        <a:rPr sz="950" b="1" i="0">
                          <a:solidFill>
                            <a:srgbClr val="414141"/>
                          </a:solidFill>
                          <a:latin typeface="Arial"/>
                        </a:rPr>
                        <a:t>Spatial amplification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The same α = 10 for every level of the four-level Laplacian pyramid; the Gaussian residual is not amplified</a:t>
                      </a:r>
                    </a:p>
                  </a:txBody>
                  <a:tcPr marL="54864" marR="54864" marT="18288" marB="18288" anchor="ctr">
                    <a:lnL w="9525">
                      <a:noFill/>
                    </a:lnL>
                    <a:lnR w="9525">
                      <a:noFill/>
                    </a:lnR>
                    <a:lnT w="9525">
                      <a:noFill/>
                    </a:lnT>
                    <a:lnB w="9525">
                      <a:solidFill>
                        <a:srgbClr val="D9D9D9"/>
                      </a:solidFill>
                    </a:lnB>
                    <a:solidFill>
                      <a:srgbClr val="FFFFFF"/>
                    </a:solidFill>
                  </a:tcPr>
                </a:tc>
              </a:tr>
              <a:tr h="347472">
                <a:tc>
                  <a:txBody>
                    <a:bodyPr wrap="square"/>
                    <a:lstStyle/>
                    <a:p>
                      <a:pPr algn="l" marL="0" indent="0">
                        <a:spcBef>
                          <a:spcPts val="0"/>
                        </a:spcBef>
                        <a:spcAft>
                          <a:spcPts val="0"/>
                        </a:spcAft>
                        <a:buNone/>
                      </a:pPr>
                      <a:r>
                        <a:rPr sz="950" b="1" i="0">
                          <a:solidFill>
                            <a:srgbClr val="414141"/>
                          </a:solidFill>
                          <a:latin typeface="Arial"/>
                        </a:rPr>
                        <a:t>Colour</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Greyscale intensity only, with no separate chromatic attenuation</a:t>
                      </a:r>
                    </a:p>
                  </a:txBody>
                  <a:tcPr marL="54864" marR="54864" marT="18288" marB="18288" anchor="ctr">
                    <a:lnL w="9525">
                      <a:noFill/>
                    </a:lnL>
                    <a:lnR w="9525">
                      <a:noFill/>
                    </a:lnR>
                    <a:lnT w="9525">
                      <a:noFill/>
                    </a:lnT>
                    <a:lnB w="9525">
                      <a:solidFill>
                        <a:srgbClr val="D9D9D9"/>
                      </a:solidFill>
                    </a:lnB>
                    <a:solidFill>
                      <a:srgbClr val="F2F2F2"/>
                    </a:solidFill>
                  </a:tcPr>
                </a:tc>
              </a:tr>
              <a:tr h="347472">
                <a:tc>
                  <a:txBody>
                    <a:bodyPr wrap="square"/>
                    <a:lstStyle/>
                    <a:p>
                      <a:pPr algn="l" marL="0" indent="0">
                        <a:spcBef>
                          <a:spcPts val="0"/>
                        </a:spcBef>
                        <a:spcAft>
                          <a:spcPts val="0"/>
                        </a:spcAft>
                        <a:buNone/>
                      </a:pPr>
                      <a:r>
                        <a:rPr sz="950" b="1" i="0">
                          <a:solidFill>
                            <a:srgbClr val="414141"/>
                          </a:solidFill>
                          <a:latin typeface="Arial"/>
                        </a:rPr>
                        <a:t>Ordering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Applied after sampling to 33 frames at a nominal 200 fps, so the physical pass-band is clip-dependent (about 2.5–12.5 Hz at the median length)</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sp>
        <p:nvSpPr>
          <p:cNvPr id="944" name="TextBox 943"/>
          <p:cNvSpPr txBox="1"/>
          <p:nvPr/>
        </p:nvSpPr>
        <p:spPr>
          <a:xfrm>
            <a:off x="685800" y="5303520"/>
            <a:ext cx="7955279" cy="594360"/>
          </a:xfrm>
          <a:prstGeom prst="rect">
            <a:avLst/>
          </a:prstGeom>
          <a:noFill/>
        </p:spPr>
        <p:txBody>
          <a:bodyPr wrap="square" lIns="45720" rIns="45720" tIns="27432" bIns="27432" anchor="t"/>
          <a:lstStyle/>
          <a:p>
            <a:pPr algn="l" marL="0" indent="0">
              <a:spcBef>
                <a:spcPts val="0"/>
              </a:spcBef>
              <a:spcAft>
                <a:spcPts val="300"/>
              </a:spcAft>
              <a:buNone/>
            </a:pPr>
            <a:r>
              <a:rPr sz="1050" b="0" i="1">
                <a:solidFill>
                  <a:srgbClr val="004CA0"/>
                </a:solidFill>
                <a:latin typeface="Arial"/>
              </a:rPr>
              <a:t>The filter distinguishes frequencies, not causes: head movement, illumination variation and noise within the pass-band are amplified together with the facial movement.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OPTICAL FLOW AND OPTICAL STRAIN</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7"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37</a:t>
            </a:fld>
          </a:p>
        </p:txBody>
      </p:sp>
      <p:sp>
        <p:nvSpPr>
          <p:cNvPr id="938" name="TextBox 937"/>
          <p:cNvSpPr txBox="1"/>
          <p:nvPr/>
        </p:nvSpPr>
        <p:spPr>
          <a:xfrm>
            <a:off x="685800" y="1783080"/>
            <a:ext cx="3886200" cy="292608"/>
          </a:xfrm>
          <a:prstGeom prst="rect">
            <a:avLst/>
          </a:prstGeom>
          <a:noFill/>
        </p:spPr>
        <p:txBody>
          <a:bodyPr wrap="square" lIns="45720" rIns="45720" tIns="27432" bIns="27432" anchor="t"/>
          <a:lstStyle/>
          <a:p>
            <a:pPr algn="l" marL="0" indent="0">
              <a:spcBef>
                <a:spcPts val="0"/>
              </a:spcBef>
              <a:spcAft>
                <a:spcPts val="300"/>
              </a:spcAft>
              <a:buNone/>
            </a:pPr>
            <a:r>
              <a:rPr sz="1250" b="1" i="0">
                <a:solidFill>
                  <a:srgbClr val="004CA0"/>
                </a:solidFill>
                <a:latin typeface="Arial"/>
              </a:rPr>
              <a:t>Optical flow</a:t>
            </a:r>
          </a:p>
        </p:txBody>
      </p:sp>
      <p:sp>
        <p:nvSpPr>
          <p:cNvPr id="939" name="TextBox 938"/>
          <p:cNvSpPr txBox="1"/>
          <p:nvPr/>
        </p:nvSpPr>
        <p:spPr>
          <a:xfrm>
            <a:off x="4754880" y="1783080"/>
            <a:ext cx="3886200" cy="292608"/>
          </a:xfrm>
          <a:prstGeom prst="rect">
            <a:avLst/>
          </a:prstGeom>
          <a:noFill/>
        </p:spPr>
        <p:txBody>
          <a:bodyPr wrap="square" lIns="45720" rIns="45720" tIns="27432" bIns="27432" anchor="t"/>
          <a:lstStyle/>
          <a:p>
            <a:pPr algn="l" marL="0" indent="0">
              <a:spcBef>
                <a:spcPts val="0"/>
              </a:spcBef>
              <a:spcAft>
                <a:spcPts val="300"/>
              </a:spcAft>
              <a:buNone/>
            </a:pPr>
            <a:r>
              <a:rPr sz="1250" b="1" i="0">
                <a:solidFill>
                  <a:srgbClr val="004CA0"/>
                </a:solidFill>
                <a:latin typeface="Arial"/>
              </a:rPr>
              <a:t>Optical strain</a:t>
            </a:r>
          </a:p>
        </p:txBody>
      </p:sp>
      <p:sp>
        <p:nvSpPr>
          <p:cNvPr id="940" name="Rectangle 939"/>
          <p:cNvSpPr/>
          <p:nvPr/>
        </p:nvSpPr>
        <p:spPr>
          <a:xfrm>
            <a:off x="685800" y="2148840"/>
            <a:ext cx="38862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TextBox 940"/>
          <p:cNvSpPr txBox="1"/>
          <p:nvPr/>
        </p:nvSpPr>
        <p:spPr>
          <a:xfrm>
            <a:off x="758952" y="2148840"/>
            <a:ext cx="1188720" cy="457200"/>
          </a:xfrm>
          <a:prstGeom prst="rect">
            <a:avLst/>
          </a:prstGeom>
          <a:noFill/>
        </p:spPr>
        <p:txBody>
          <a:bodyPr wrap="square" lIns="45720" rIns="45720" tIns="27432" bIns="27432" anchor="ctr"/>
          <a:lstStyle/>
          <a:p>
            <a:pPr algn="l" marL="0" indent="0">
              <a:spcBef>
                <a:spcPts val="0"/>
              </a:spcBef>
              <a:spcAft>
                <a:spcPts val="0"/>
              </a:spcAft>
              <a:buNone/>
            </a:pPr>
            <a:r>
              <a:rPr sz="900" b="1" i="0">
                <a:solidFill>
                  <a:srgbClr val="004CA0"/>
                </a:solidFill>
                <a:latin typeface="Arial"/>
              </a:rPr>
              <a:t>Brightness constancy</a:t>
            </a:r>
          </a:p>
        </p:txBody>
      </p:sp>
      <p:sp>
        <p:nvSpPr>
          <p:cNvPr id="942" name="TextBox 941"/>
          <p:cNvSpPr txBox="1"/>
          <p:nvPr/>
        </p:nvSpPr>
        <p:spPr>
          <a:xfrm>
            <a:off x="1965960" y="2148840"/>
            <a:ext cx="2532888" cy="457200"/>
          </a:xfrm>
          <a:prstGeom prst="rect">
            <a:avLst/>
          </a:prstGeom>
          <a:noFill/>
        </p:spPr>
        <p:txBody>
          <a:bodyPr wrap="square" lIns="45720" rIns="45720" tIns="27432" bIns="27432" anchor="ctr"/>
          <a:lstStyle/>
          <a:p>
            <a:pPr algn="l" marL="0" indent="0">
              <a:spcBef>
                <a:spcPts val="0"/>
              </a:spcBef>
              <a:spcAft>
                <a:spcPts val="0"/>
              </a:spcAft>
              <a:buNone/>
            </a:pPr>
            <a:r>
              <a:rPr sz="1050" b="0" i="1">
                <a:solidFill>
                  <a:srgbClr val="414141"/>
                </a:solidFill>
                <a:latin typeface="Arial"/>
              </a:rPr>
              <a:t>I(x, y, t) = I(x + uΔt, y + vΔt, t + Δt)</a:t>
            </a:r>
          </a:p>
        </p:txBody>
      </p:sp>
      <p:sp>
        <p:nvSpPr>
          <p:cNvPr id="943" name="Rectangle 942"/>
          <p:cNvSpPr/>
          <p:nvPr/>
        </p:nvSpPr>
        <p:spPr>
          <a:xfrm>
            <a:off x="685800" y="2670048"/>
            <a:ext cx="38862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TextBox 943"/>
          <p:cNvSpPr txBox="1"/>
          <p:nvPr/>
        </p:nvSpPr>
        <p:spPr>
          <a:xfrm>
            <a:off x="758952" y="2670048"/>
            <a:ext cx="1188720" cy="457200"/>
          </a:xfrm>
          <a:prstGeom prst="rect">
            <a:avLst/>
          </a:prstGeom>
          <a:noFill/>
        </p:spPr>
        <p:txBody>
          <a:bodyPr wrap="square" lIns="45720" rIns="45720" tIns="27432" bIns="27432" anchor="ctr"/>
          <a:lstStyle/>
          <a:p>
            <a:pPr algn="l" marL="0" indent="0">
              <a:spcBef>
                <a:spcPts val="0"/>
              </a:spcBef>
              <a:spcAft>
                <a:spcPts val="0"/>
              </a:spcAft>
              <a:buNone/>
            </a:pPr>
            <a:r>
              <a:rPr sz="900" b="1" i="0">
                <a:solidFill>
                  <a:srgbClr val="004CA0"/>
                </a:solidFill>
                <a:latin typeface="Arial"/>
              </a:rPr>
              <a:t>Flow constraint</a:t>
            </a:r>
          </a:p>
        </p:txBody>
      </p:sp>
      <p:sp>
        <p:nvSpPr>
          <p:cNvPr id="945" name="TextBox 944"/>
          <p:cNvSpPr txBox="1"/>
          <p:nvPr/>
        </p:nvSpPr>
        <p:spPr>
          <a:xfrm>
            <a:off x="1965960" y="2670048"/>
            <a:ext cx="2532888" cy="457200"/>
          </a:xfrm>
          <a:prstGeom prst="rect">
            <a:avLst/>
          </a:prstGeom>
          <a:noFill/>
        </p:spPr>
        <p:txBody>
          <a:bodyPr wrap="square" lIns="45720" rIns="45720" tIns="27432" bIns="27432" anchor="ctr"/>
          <a:lstStyle/>
          <a:p>
            <a:pPr algn="l" marL="0" indent="0">
              <a:spcBef>
                <a:spcPts val="0"/>
              </a:spcBef>
              <a:spcAft>
                <a:spcPts val="0"/>
              </a:spcAft>
              <a:buNone/>
            </a:pPr>
            <a:r>
              <a:rPr sz="1150" b="0" i="1">
                <a:solidFill>
                  <a:srgbClr val="414141"/>
                </a:solidFill>
                <a:latin typeface="Arial"/>
              </a:rPr>
              <a:t>I</a:t>
            </a:r>
            <a:r>
              <a:rPr sz="1150" b="0" i="1" baseline="-25000">
                <a:solidFill>
                  <a:srgbClr val="414141"/>
                </a:solidFill>
                <a:latin typeface="Arial"/>
              </a:rPr>
              <a:t>x</a:t>
            </a:r>
            <a:r>
              <a:rPr sz="1150" b="0" i="1">
                <a:solidFill>
                  <a:srgbClr val="414141"/>
                </a:solidFill>
                <a:latin typeface="Arial"/>
              </a:rPr>
              <a:t> u + I</a:t>
            </a:r>
            <a:r>
              <a:rPr sz="1150" b="0" i="1" baseline="-25000">
                <a:solidFill>
                  <a:srgbClr val="414141"/>
                </a:solidFill>
                <a:latin typeface="Arial"/>
              </a:rPr>
              <a:t>y</a:t>
            </a:r>
            <a:r>
              <a:rPr sz="1150" b="0" i="1">
                <a:solidFill>
                  <a:srgbClr val="414141"/>
                </a:solidFill>
                <a:latin typeface="Arial"/>
              </a:rPr>
              <a:t> v + I</a:t>
            </a:r>
            <a:r>
              <a:rPr sz="1150" b="0" i="1" baseline="-25000">
                <a:solidFill>
                  <a:srgbClr val="414141"/>
                </a:solidFill>
                <a:latin typeface="Arial"/>
              </a:rPr>
              <a:t>t</a:t>
            </a:r>
            <a:r>
              <a:rPr sz="1150" b="0" i="1">
                <a:solidFill>
                  <a:srgbClr val="414141"/>
                </a:solidFill>
                <a:latin typeface="Arial"/>
              </a:rPr>
              <a:t> = 0</a:t>
            </a:r>
          </a:p>
        </p:txBody>
      </p:sp>
      <p:sp>
        <p:nvSpPr>
          <p:cNvPr id="946" name="Rectangle 945"/>
          <p:cNvSpPr/>
          <p:nvPr/>
        </p:nvSpPr>
        <p:spPr>
          <a:xfrm>
            <a:off x="4754880" y="2148840"/>
            <a:ext cx="38862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TextBox 946"/>
          <p:cNvSpPr txBox="1"/>
          <p:nvPr/>
        </p:nvSpPr>
        <p:spPr>
          <a:xfrm>
            <a:off x="4828032" y="2148840"/>
            <a:ext cx="1188720" cy="457200"/>
          </a:xfrm>
          <a:prstGeom prst="rect">
            <a:avLst/>
          </a:prstGeom>
          <a:noFill/>
        </p:spPr>
        <p:txBody>
          <a:bodyPr wrap="square" lIns="45720" rIns="45720" tIns="27432" bIns="27432" anchor="ctr"/>
          <a:lstStyle/>
          <a:p>
            <a:pPr algn="l" marL="0" indent="0">
              <a:spcBef>
                <a:spcPts val="0"/>
              </a:spcBef>
              <a:spcAft>
                <a:spcPts val="0"/>
              </a:spcAft>
              <a:buNone/>
            </a:pPr>
            <a:r>
              <a:rPr sz="900" b="1" i="0">
                <a:solidFill>
                  <a:srgbClr val="004CA0"/>
                </a:solidFill>
                <a:latin typeface="Arial"/>
              </a:rPr>
              <a:t>Strain tensor</a:t>
            </a:r>
          </a:p>
        </p:txBody>
      </p:sp>
      <p:sp>
        <p:nvSpPr>
          <p:cNvPr id="948" name="TextBox 947"/>
          <p:cNvSpPr txBox="1"/>
          <p:nvPr/>
        </p:nvSpPr>
        <p:spPr>
          <a:xfrm>
            <a:off x="6035040" y="2148840"/>
            <a:ext cx="2532888" cy="457200"/>
          </a:xfrm>
          <a:prstGeom prst="rect">
            <a:avLst/>
          </a:prstGeom>
          <a:noFill/>
        </p:spPr>
        <p:txBody>
          <a:bodyPr wrap="square" lIns="45720" rIns="45720" tIns="27432" bIns="27432" anchor="ctr"/>
          <a:lstStyle/>
          <a:p>
            <a:pPr algn="l" marL="0" indent="0">
              <a:spcBef>
                <a:spcPts val="0"/>
              </a:spcBef>
              <a:spcAft>
                <a:spcPts val="0"/>
              </a:spcAft>
              <a:buNone/>
            </a:pPr>
            <a:r>
              <a:rPr sz="1150" b="0" i="1">
                <a:solidFill>
                  <a:srgbClr val="414141"/>
                </a:solidFill>
                <a:latin typeface="Arial"/>
              </a:rPr>
              <a:t>ε = ½ (∇u + (∇u)</a:t>
            </a:r>
            <a:r>
              <a:rPr sz="1150" b="0" i="1" baseline="30000">
                <a:solidFill>
                  <a:srgbClr val="414141"/>
                </a:solidFill>
                <a:latin typeface="Arial"/>
              </a:rPr>
              <a:t>T</a:t>
            </a:r>
            <a:r>
              <a:rPr sz="1150" b="0" i="1">
                <a:solidFill>
                  <a:srgbClr val="414141"/>
                </a:solidFill>
                <a:latin typeface="Arial"/>
              </a:rPr>
              <a:t>)</a:t>
            </a:r>
          </a:p>
        </p:txBody>
      </p:sp>
      <p:sp>
        <p:nvSpPr>
          <p:cNvPr id="949" name="Rectangle 948"/>
          <p:cNvSpPr/>
          <p:nvPr/>
        </p:nvSpPr>
        <p:spPr>
          <a:xfrm>
            <a:off x="4754880" y="2670048"/>
            <a:ext cx="38862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TextBox 949"/>
          <p:cNvSpPr txBox="1"/>
          <p:nvPr/>
        </p:nvSpPr>
        <p:spPr>
          <a:xfrm>
            <a:off x="4828032" y="2670048"/>
            <a:ext cx="1188720" cy="457200"/>
          </a:xfrm>
          <a:prstGeom prst="rect">
            <a:avLst/>
          </a:prstGeom>
          <a:noFill/>
        </p:spPr>
        <p:txBody>
          <a:bodyPr wrap="square" lIns="45720" rIns="45720" tIns="27432" bIns="27432" anchor="ctr"/>
          <a:lstStyle/>
          <a:p>
            <a:pPr algn="l" marL="0" indent="0">
              <a:spcBef>
                <a:spcPts val="0"/>
              </a:spcBef>
              <a:spcAft>
                <a:spcPts val="0"/>
              </a:spcAft>
              <a:buNone/>
            </a:pPr>
            <a:r>
              <a:rPr sz="900" b="1" i="0">
                <a:solidFill>
                  <a:srgbClr val="004CA0"/>
                </a:solidFill>
                <a:latin typeface="Arial"/>
              </a:rPr>
              <a:t>Shear component</a:t>
            </a:r>
          </a:p>
        </p:txBody>
      </p:sp>
      <p:sp>
        <p:nvSpPr>
          <p:cNvPr id="951" name="TextBox 950"/>
          <p:cNvSpPr txBox="1"/>
          <p:nvPr/>
        </p:nvSpPr>
        <p:spPr>
          <a:xfrm>
            <a:off x="6035040" y="2670048"/>
            <a:ext cx="2532888" cy="457200"/>
          </a:xfrm>
          <a:prstGeom prst="rect">
            <a:avLst/>
          </a:prstGeom>
          <a:noFill/>
        </p:spPr>
        <p:txBody>
          <a:bodyPr wrap="square" lIns="45720" rIns="45720" tIns="27432" bIns="27432" anchor="ctr"/>
          <a:lstStyle/>
          <a:p>
            <a:pPr algn="l" marL="0" indent="0">
              <a:spcBef>
                <a:spcPts val="0"/>
              </a:spcBef>
              <a:spcAft>
                <a:spcPts val="0"/>
              </a:spcAft>
              <a:buNone/>
            </a:pPr>
            <a:r>
              <a:rPr sz="1150" b="0" i="1">
                <a:solidFill>
                  <a:srgbClr val="414141"/>
                </a:solidFill>
                <a:latin typeface="Arial"/>
              </a:rPr>
              <a:t>ε</a:t>
            </a:r>
            <a:r>
              <a:rPr sz="1150" b="0" i="1" baseline="-25000">
                <a:solidFill>
                  <a:srgbClr val="414141"/>
                </a:solidFill>
                <a:latin typeface="Arial"/>
              </a:rPr>
              <a:t>xy</a:t>
            </a:r>
            <a:r>
              <a:rPr sz="1150" b="0" i="1">
                <a:solidFill>
                  <a:srgbClr val="414141"/>
                </a:solidFill>
                <a:latin typeface="Arial"/>
              </a:rPr>
              <a:t> = ½ (∂u/∂y + ∂v/∂x)</a:t>
            </a:r>
          </a:p>
        </p:txBody>
      </p:sp>
      <p:sp>
        <p:nvSpPr>
          <p:cNvPr id="952" name="Rectangle 951"/>
          <p:cNvSpPr/>
          <p:nvPr/>
        </p:nvSpPr>
        <p:spPr>
          <a:xfrm>
            <a:off x="4754880" y="3191256"/>
            <a:ext cx="38862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TextBox 952"/>
          <p:cNvSpPr txBox="1"/>
          <p:nvPr/>
        </p:nvSpPr>
        <p:spPr>
          <a:xfrm>
            <a:off x="4828032" y="3191256"/>
            <a:ext cx="1188720" cy="457200"/>
          </a:xfrm>
          <a:prstGeom prst="rect">
            <a:avLst/>
          </a:prstGeom>
          <a:noFill/>
        </p:spPr>
        <p:txBody>
          <a:bodyPr wrap="square" lIns="45720" rIns="45720" tIns="27432" bIns="27432" anchor="ctr"/>
          <a:lstStyle/>
          <a:p>
            <a:pPr algn="l" marL="0" indent="0">
              <a:spcBef>
                <a:spcPts val="0"/>
              </a:spcBef>
              <a:spcAft>
                <a:spcPts val="0"/>
              </a:spcAft>
              <a:buNone/>
            </a:pPr>
            <a:r>
              <a:rPr sz="900" b="1" i="0">
                <a:solidFill>
                  <a:srgbClr val="004CA0"/>
                </a:solidFill>
                <a:latin typeface="Arial"/>
              </a:rPr>
              <a:t>Magnitude used</a:t>
            </a:r>
          </a:p>
        </p:txBody>
      </p:sp>
      <p:sp>
        <p:nvSpPr>
          <p:cNvPr id="954" name="TextBox 953"/>
          <p:cNvSpPr txBox="1"/>
          <p:nvPr/>
        </p:nvSpPr>
        <p:spPr>
          <a:xfrm>
            <a:off x="6035040" y="3191256"/>
            <a:ext cx="2532888" cy="457200"/>
          </a:xfrm>
          <a:prstGeom prst="rect">
            <a:avLst/>
          </a:prstGeom>
          <a:noFill/>
        </p:spPr>
        <p:txBody>
          <a:bodyPr wrap="square" lIns="45720" rIns="45720" tIns="27432" bIns="27432" anchor="ctr"/>
          <a:lstStyle/>
          <a:p>
            <a:pPr algn="l" marL="0" indent="0">
              <a:spcBef>
                <a:spcPts val="0"/>
              </a:spcBef>
              <a:spcAft>
                <a:spcPts val="0"/>
              </a:spcAft>
              <a:buNone/>
            </a:pPr>
            <a:r>
              <a:rPr sz="1150" b="0" i="1">
                <a:solidFill>
                  <a:srgbClr val="414141"/>
                </a:solidFill>
                <a:latin typeface="Arial"/>
              </a:rPr>
              <a:t>ε</a:t>
            </a:r>
            <a:r>
              <a:rPr sz="1150" b="0" i="1" baseline="-25000">
                <a:solidFill>
                  <a:srgbClr val="414141"/>
                </a:solidFill>
                <a:latin typeface="Arial"/>
              </a:rPr>
              <a:t>mag</a:t>
            </a:r>
            <a:r>
              <a:rPr sz="1150" b="0" i="1">
                <a:solidFill>
                  <a:srgbClr val="414141"/>
                </a:solidFill>
                <a:latin typeface="Arial"/>
              </a:rPr>
              <a:t> = √(ε</a:t>
            </a:r>
            <a:r>
              <a:rPr sz="1150" b="0" i="1" baseline="-25000">
                <a:solidFill>
                  <a:srgbClr val="414141"/>
                </a:solidFill>
                <a:latin typeface="Arial"/>
              </a:rPr>
              <a:t>xx</a:t>
            </a:r>
            <a:r>
              <a:rPr sz="1150" b="0" i="1" baseline="30000">
                <a:solidFill>
                  <a:srgbClr val="414141"/>
                </a:solidFill>
                <a:latin typeface="Arial"/>
              </a:rPr>
              <a:t>2</a:t>
            </a:r>
            <a:r>
              <a:rPr sz="1150" b="0" i="1">
                <a:solidFill>
                  <a:srgbClr val="414141"/>
                </a:solidFill>
                <a:latin typeface="Arial"/>
              </a:rPr>
              <a:t> + ε</a:t>
            </a:r>
            <a:r>
              <a:rPr sz="1150" b="0" i="1" baseline="-25000">
                <a:solidFill>
                  <a:srgbClr val="414141"/>
                </a:solidFill>
                <a:latin typeface="Arial"/>
              </a:rPr>
              <a:t>yy</a:t>
            </a:r>
            <a:r>
              <a:rPr sz="1150" b="0" i="1" baseline="30000">
                <a:solidFill>
                  <a:srgbClr val="414141"/>
                </a:solidFill>
                <a:latin typeface="Arial"/>
              </a:rPr>
              <a:t>2</a:t>
            </a:r>
            <a:r>
              <a:rPr sz="1150" b="0" i="1">
                <a:solidFill>
                  <a:srgbClr val="414141"/>
                </a:solidFill>
                <a:latin typeface="Arial"/>
              </a:rPr>
              <a:t> + ε</a:t>
            </a:r>
            <a:r>
              <a:rPr sz="1150" b="0" i="1" baseline="-25000">
                <a:solidFill>
                  <a:srgbClr val="414141"/>
                </a:solidFill>
                <a:latin typeface="Arial"/>
              </a:rPr>
              <a:t>xy</a:t>
            </a:r>
            <a:r>
              <a:rPr sz="1150" b="0" i="1" baseline="30000">
                <a:solidFill>
                  <a:srgbClr val="414141"/>
                </a:solidFill>
                <a:latin typeface="Arial"/>
              </a:rPr>
              <a:t>2</a:t>
            </a:r>
            <a:r>
              <a:rPr sz="1150" b="0" i="1">
                <a:solidFill>
                  <a:srgbClr val="414141"/>
                </a:solidFill>
                <a:latin typeface="Arial"/>
              </a:rPr>
              <a:t>)</a:t>
            </a:r>
          </a:p>
        </p:txBody>
      </p:sp>
      <p:sp>
        <p:nvSpPr>
          <p:cNvPr id="955" name="TextBox 954"/>
          <p:cNvSpPr txBox="1"/>
          <p:nvPr/>
        </p:nvSpPr>
        <p:spPr>
          <a:xfrm>
            <a:off x="685800" y="3291840"/>
            <a:ext cx="3886200" cy="201168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50" b="0" i="0">
                <a:solidFill>
                  <a:srgbClr val="414141"/>
                </a:solidFill>
                <a:latin typeface="Arial"/>
              </a:rPr>
              <a:t>One equation in two unknowns: the aperture problem</a:t>
            </a:r>
          </a:p>
          <a:p>
            <a:pPr algn="l" marL="155448" indent="-155448">
              <a:spcBef>
                <a:spcPts val="0"/>
              </a:spcBef>
              <a:spcAft>
                <a:spcPts val="400"/>
              </a:spcAft>
              <a:buClr>
                <a:srgbClr val="A8CC2F"/>
              </a:buClr>
              <a:buFont typeface="Arial"/>
              <a:buChar char="•"/>
            </a:pPr>
            <a:r>
              <a:rPr sz="1050" b="0" i="0">
                <a:solidFill>
                  <a:srgbClr val="414141"/>
                </a:solidFill>
                <a:latin typeface="Arial"/>
              </a:rPr>
              <a:t>Farnebäck estimator on the 32 adjacent frame pairs</a:t>
            </a:r>
          </a:p>
          <a:p>
            <a:pPr algn="l" marL="155448" indent="-155448">
              <a:spcBef>
                <a:spcPts val="0"/>
              </a:spcBef>
              <a:spcAft>
                <a:spcPts val="400"/>
              </a:spcAft>
              <a:buClr>
                <a:srgbClr val="A8CC2F"/>
              </a:buClr>
              <a:buFont typeface="Arial"/>
              <a:buChar char="•"/>
            </a:pPr>
            <a:r>
              <a:rPr sz="1050" b="0" i="0">
                <a:solidFill>
                  <a:srgbClr val="414141"/>
                </a:solidFill>
                <a:latin typeface="Arial"/>
              </a:rPr>
              <a:t>u and v are displacements in pixels between sampled frames</a:t>
            </a:r>
          </a:p>
          <a:p>
            <a:pPr algn="l" marL="155448" indent="-155448">
              <a:spcBef>
                <a:spcPts val="0"/>
              </a:spcBef>
              <a:spcAft>
                <a:spcPts val="400"/>
              </a:spcAft>
              <a:buClr>
                <a:srgbClr val="A8CC2F"/>
              </a:buClr>
              <a:buFont typeface="Arial"/>
              <a:buChar char="•"/>
            </a:pPr>
            <a:r>
              <a:rPr sz="1050" b="0" i="0">
                <a:solidFill>
                  <a:srgbClr val="414141"/>
                </a:solidFill>
                <a:latin typeface="Arial"/>
              </a:rPr>
              <a:t>No flow-based fine alignment is performed</a:t>
            </a:r>
          </a:p>
        </p:txBody>
      </p:sp>
      <p:sp>
        <p:nvSpPr>
          <p:cNvPr id="956" name="TextBox 955"/>
          <p:cNvSpPr txBox="1"/>
          <p:nvPr/>
        </p:nvSpPr>
        <p:spPr>
          <a:xfrm>
            <a:off x="4754880" y="3794760"/>
            <a:ext cx="3886200" cy="155448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50" b="0" i="0">
                <a:solidFill>
                  <a:srgbClr val="414141"/>
                </a:solidFill>
                <a:latin typeface="Arial"/>
              </a:rPr>
              <a:t>Normal components: ∂u/∂x (horizontal) and ∂v/∂y (vertical)</a:t>
            </a:r>
          </a:p>
          <a:p>
            <a:pPr algn="l" marL="155448" indent="-155448">
              <a:spcBef>
                <a:spcPts val="0"/>
              </a:spcBef>
              <a:spcAft>
                <a:spcPts val="400"/>
              </a:spcAft>
              <a:buClr>
                <a:srgbClr val="A8CC2F"/>
              </a:buClr>
              <a:buFont typeface="Arial"/>
              <a:buChar char="•"/>
            </a:pPr>
            <a:r>
              <a:rPr sz="1050" b="0" i="0">
                <a:solidFill>
                  <a:srgbClr val="414141"/>
                </a:solidFill>
                <a:latin typeface="Arial"/>
              </a:rPr>
              <a:t>A spatially uniform translation has zero strain</a:t>
            </a:r>
          </a:p>
          <a:p>
            <a:pPr algn="l" marL="155448" indent="-155448">
              <a:spcBef>
                <a:spcPts val="0"/>
              </a:spcBef>
              <a:spcAft>
                <a:spcPts val="400"/>
              </a:spcAft>
              <a:buClr>
                <a:srgbClr val="A8CC2F"/>
              </a:buClr>
              <a:buFont typeface="Arial"/>
              <a:buChar char="•"/>
            </a:pPr>
            <a:r>
              <a:rPr sz="1050" b="0" i="0">
                <a:solidFill>
                  <a:srgbClr val="414141"/>
                </a:solidFill>
                <a:latin typeface="Arial"/>
              </a:rPr>
              <a:t>Shear is counted once; the Frobenius norm of Liong et al. counts it twice</a:t>
            </a:r>
          </a:p>
          <a:p>
            <a:pPr algn="l" marL="155448" indent="-155448">
              <a:spcBef>
                <a:spcPts val="0"/>
              </a:spcBef>
              <a:spcAft>
                <a:spcPts val="400"/>
              </a:spcAft>
              <a:buClr>
                <a:srgbClr val="A8CC2F"/>
              </a:buClr>
              <a:buFont typeface="Arial"/>
              <a:buChar char="•"/>
            </a:pPr>
            <a:r>
              <a:rPr sz="1050" b="0" i="0">
                <a:solidFill>
                  <a:srgbClr val="414141"/>
                </a:solidFill>
                <a:latin typeface="Arial"/>
              </a:rPr>
              <a:t>No dedicated strain filter is applied</a:t>
            </a:r>
          </a:p>
        </p:txBody>
      </p:sp>
      <p:sp>
        <p:nvSpPr>
          <p:cNvPr id="957" name="Rectangle 956"/>
          <p:cNvSpPr/>
          <p:nvPr/>
        </p:nvSpPr>
        <p:spPr>
          <a:xfrm>
            <a:off x="685800" y="5394960"/>
            <a:ext cx="7955279" cy="50292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TextBox 957"/>
          <p:cNvSpPr txBox="1"/>
          <p:nvPr/>
        </p:nvSpPr>
        <p:spPr>
          <a:xfrm>
            <a:off x="822960" y="5449824"/>
            <a:ext cx="7680959" cy="393192"/>
          </a:xfrm>
          <a:prstGeom prst="rect">
            <a:avLst/>
          </a:prstGeom>
          <a:noFill/>
        </p:spPr>
        <p:txBody>
          <a:bodyPr wrap="square" lIns="45720" rIns="45720" tIns="27432" bIns="27432" anchor="ctr"/>
          <a:lstStyle/>
          <a:p>
            <a:pPr algn="l" marL="0" indent="0">
              <a:spcBef>
                <a:spcPts val="0"/>
              </a:spcBef>
              <a:spcAft>
                <a:spcPts val="300"/>
              </a:spcAft>
              <a:buNone/>
            </a:pPr>
            <a:r>
              <a:rPr sz="1050" b="1" i="0">
                <a:solidFill>
                  <a:srgbClr val="FFFFFF"/>
                </a:solidFill>
                <a:latin typeface="Arial"/>
              </a:rPr>
              <a:t>The two fields are stacked as [u, v, ε] and normalised per channel: min–max to [0, 1] per clip, then standardised when loaded.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TEMPORAL SAMPLING AND EFFECTIVE FRAME RATE</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8"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38</a:t>
            </a:fld>
          </a:p>
        </p:txBody>
      </p:sp>
      <p:sp>
        <p:nvSpPr>
          <p:cNvPr id="939" name="Rectangle 938"/>
          <p:cNvSpPr/>
          <p:nvPr/>
        </p:nvSpPr>
        <p:spPr>
          <a:xfrm>
            <a:off x="685800" y="1783080"/>
            <a:ext cx="1883892"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TextBox 939"/>
          <p:cNvSpPr txBox="1"/>
          <p:nvPr/>
        </p:nvSpPr>
        <p:spPr>
          <a:xfrm>
            <a:off x="777240" y="1837943"/>
            <a:ext cx="1701012" cy="1280160"/>
          </a:xfrm>
          <a:prstGeom prst="rect">
            <a:avLst/>
          </a:prstGeom>
          <a:noFill/>
        </p:spPr>
        <p:txBody>
          <a:bodyPr wrap="square" lIns="45720" rIns="45720" tIns="27432" bIns="27432" anchor="t"/>
          <a:lstStyle/>
          <a:p>
            <a:pPr algn="l" marL="0" indent="0">
              <a:spcBef>
                <a:spcPts val="0"/>
              </a:spcBef>
              <a:spcAft>
                <a:spcPts val="200"/>
              </a:spcAft>
              <a:buNone/>
            </a:pPr>
            <a:r>
              <a:rPr sz="2000" b="1" i="0">
                <a:solidFill>
                  <a:srgbClr val="004CA0"/>
                </a:solidFill>
                <a:latin typeface="Arial"/>
              </a:rPr>
              <a:t>31–126</a:t>
            </a:r>
          </a:p>
          <a:p>
            <a:pPr algn="l" marL="0" indent="0">
              <a:spcBef>
                <a:spcPts val="0"/>
              </a:spcBef>
              <a:spcAft>
                <a:spcPts val="200"/>
              </a:spcAft>
              <a:buNone/>
            </a:pPr>
            <a:r>
              <a:rPr sz="1100" b="1" i="0">
                <a:solidFill>
                  <a:srgbClr val="414141"/>
                </a:solidFill>
                <a:latin typeface="Arial"/>
              </a:rPr>
              <a:t>frames per clip</a:t>
            </a:r>
          </a:p>
          <a:p>
            <a:pPr algn="l" marL="0" indent="0">
              <a:spcBef>
                <a:spcPts val="0"/>
              </a:spcBef>
              <a:spcAft>
                <a:spcPts val="300"/>
              </a:spcAft>
              <a:buNone/>
            </a:pPr>
            <a:r>
              <a:rPr sz="950" b="0" i="0">
                <a:solidFill>
                  <a:srgbClr val="414141"/>
                </a:solidFill>
                <a:latin typeface="Arial"/>
              </a:rPr>
              <a:t>median 66; 0.155 to 0.63 s at 200 fps</a:t>
            </a:r>
          </a:p>
        </p:txBody>
      </p:sp>
      <p:sp>
        <p:nvSpPr>
          <p:cNvPr id="941" name="Rectangle 940"/>
          <p:cNvSpPr/>
          <p:nvPr/>
        </p:nvSpPr>
        <p:spPr>
          <a:xfrm>
            <a:off x="2709595" y="1783080"/>
            <a:ext cx="1883892"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TextBox 941"/>
          <p:cNvSpPr txBox="1"/>
          <p:nvPr/>
        </p:nvSpPr>
        <p:spPr>
          <a:xfrm>
            <a:off x="2801035" y="1837943"/>
            <a:ext cx="1701012" cy="1280160"/>
          </a:xfrm>
          <a:prstGeom prst="rect">
            <a:avLst/>
          </a:prstGeom>
          <a:noFill/>
        </p:spPr>
        <p:txBody>
          <a:bodyPr wrap="square" lIns="45720" rIns="45720" tIns="27432" bIns="27432" anchor="t"/>
          <a:lstStyle/>
          <a:p>
            <a:pPr algn="l" marL="0" indent="0">
              <a:spcBef>
                <a:spcPts val="0"/>
              </a:spcBef>
              <a:spcAft>
                <a:spcPts val="200"/>
              </a:spcAft>
              <a:buNone/>
            </a:pPr>
            <a:r>
              <a:rPr sz="2000" b="1" i="0">
                <a:solidFill>
                  <a:srgbClr val="004CA0"/>
                </a:solidFill>
                <a:latin typeface="Arial"/>
              </a:rPr>
              <a:t>33</a:t>
            </a:r>
          </a:p>
          <a:p>
            <a:pPr algn="l" marL="0" indent="0">
              <a:spcBef>
                <a:spcPts val="0"/>
              </a:spcBef>
              <a:spcAft>
                <a:spcPts val="200"/>
              </a:spcAft>
              <a:buNone/>
            </a:pPr>
            <a:r>
              <a:rPr sz="1100" b="1" i="0">
                <a:solidFill>
                  <a:srgbClr val="414141"/>
                </a:solidFill>
                <a:latin typeface="Arial"/>
              </a:rPr>
              <a:t>frames sampled</a:t>
            </a:r>
          </a:p>
          <a:p>
            <a:pPr algn="l" marL="0" indent="0">
              <a:spcBef>
                <a:spcPts val="0"/>
              </a:spcBef>
              <a:spcAft>
                <a:spcPts val="300"/>
              </a:spcAft>
              <a:buNone/>
            </a:pPr>
            <a:r>
              <a:rPr sz="950" b="0" i="0">
                <a:solidFill>
                  <a:srgbClr val="414141"/>
                </a:solidFill>
                <a:latin typeface="Arial"/>
              </a:rPr>
              <a:t>uniformly from onset to offset</a:t>
            </a:r>
          </a:p>
        </p:txBody>
      </p:sp>
      <p:sp>
        <p:nvSpPr>
          <p:cNvPr id="943" name="Rectangle 942"/>
          <p:cNvSpPr/>
          <p:nvPr/>
        </p:nvSpPr>
        <p:spPr>
          <a:xfrm>
            <a:off x="4733391" y="1783080"/>
            <a:ext cx="1883892" cy="13716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TextBox 943"/>
          <p:cNvSpPr txBox="1"/>
          <p:nvPr/>
        </p:nvSpPr>
        <p:spPr>
          <a:xfrm>
            <a:off x="4824831" y="1837943"/>
            <a:ext cx="1701012" cy="1280160"/>
          </a:xfrm>
          <a:prstGeom prst="rect">
            <a:avLst/>
          </a:prstGeom>
          <a:noFill/>
        </p:spPr>
        <p:txBody>
          <a:bodyPr wrap="square" lIns="45720" rIns="45720" tIns="27432" bIns="27432" anchor="t"/>
          <a:lstStyle/>
          <a:p>
            <a:pPr algn="l" marL="0" indent="0">
              <a:spcBef>
                <a:spcPts val="0"/>
              </a:spcBef>
              <a:spcAft>
                <a:spcPts val="200"/>
              </a:spcAft>
              <a:buNone/>
            </a:pPr>
            <a:r>
              <a:rPr sz="2000" b="1" i="0">
                <a:solidFill>
                  <a:srgbClr val="A8CC2F"/>
                </a:solidFill>
                <a:latin typeface="Arial"/>
              </a:rPr>
              <a:t>100 fps</a:t>
            </a:r>
          </a:p>
          <a:p>
            <a:pPr algn="l" marL="0" indent="0">
              <a:spcBef>
                <a:spcPts val="0"/>
              </a:spcBef>
              <a:spcAft>
                <a:spcPts val="200"/>
              </a:spcAft>
              <a:buNone/>
            </a:pPr>
            <a:r>
              <a:rPr sz="1100" b="1" i="0">
                <a:solidFill>
                  <a:srgbClr val="FFFFFF"/>
                </a:solidFill>
                <a:latin typeface="Arial"/>
              </a:rPr>
              <a:t>effective rate</a:t>
            </a:r>
          </a:p>
          <a:p>
            <a:pPr algn="l" marL="0" indent="0">
              <a:spcBef>
                <a:spcPts val="0"/>
              </a:spcBef>
              <a:spcAft>
                <a:spcPts val="300"/>
              </a:spcAft>
              <a:buNone/>
            </a:pPr>
            <a:r>
              <a:rPr sz="950" b="0" i="0">
                <a:solidFill>
                  <a:srgbClr val="FFFFFF"/>
                </a:solidFill>
                <a:latin typeface="Arial"/>
              </a:rPr>
              <a:t>at the median length; about 52 fps for the longest clip</a:t>
            </a:r>
          </a:p>
        </p:txBody>
      </p:sp>
      <p:sp>
        <p:nvSpPr>
          <p:cNvPr id="945" name="Rectangle 944"/>
          <p:cNvSpPr/>
          <p:nvPr/>
        </p:nvSpPr>
        <p:spPr>
          <a:xfrm>
            <a:off x="6757187" y="1783080"/>
            <a:ext cx="1883892"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TextBox 945"/>
          <p:cNvSpPr txBox="1"/>
          <p:nvPr/>
        </p:nvSpPr>
        <p:spPr>
          <a:xfrm>
            <a:off x="6848627" y="1837943"/>
            <a:ext cx="1701012" cy="1280160"/>
          </a:xfrm>
          <a:prstGeom prst="rect">
            <a:avLst/>
          </a:prstGeom>
          <a:noFill/>
        </p:spPr>
        <p:txBody>
          <a:bodyPr wrap="square" lIns="45720" rIns="45720" tIns="27432" bIns="27432" anchor="t"/>
          <a:lstStyle/>
          <a:p>
            <a:pPr algn="l" marL="0" indent="0">
              <a:spcBef>
                <a:spcPts val="0"/>
              </a:spcBef>
              <a:spcAft>
                <a:spcPts val="200"/>
              </a:spcAft>
              <a:buNone/>
            </a:pPr>
            <a:r>
              <a:rPr sz="2000" b="1" i="0">
                <a:solidFill>
                  <a:srgbClr val="004CA0"/>
                </a:solidFill>
                <a:latin typeface="Arial"/>
              </a:rPr>
              <a:t>81 / 156</a:t>
            </a:r>
          </a:p>
          <a:p>
            <a:pPr algn="l" marL="0" indent="0">
              <a:spcBef>
                <a:spcPts val="0"/>
              </a:spcBef>
              <a:spcAft>
                <a:spcPts val="200"/>
              </a:spcAft>
              <a:buNone/>
            </a:pPr>
            <a:r>
              <a:rPr sz="1100" b="1" i="0">
                <a:solidFill>
                  <a:srgbClr val="414141"/>
                </a:solidFill>
                <a:latin typeface="Arial"/>
              </a:rPr>
              <a:t>clips</a:t>
            </a:r>
          </a:p>
          <a:p>
            <a:pPr algn="l" marL="0" indent="0">
              <a:spcBef>
                <a:spcPts val="0"/>
              </a:spcBef>
              <a:spcAft>
                <a:spcPts val="300"/>
              </a:spcAft>
              <a:buNone/>
            </a:pPr>
            <a:r>
              <a:rPr sz="950" b="0" i="0">
                <a:solidFill>
                  <a:srgbClr val="414141"/>
                </a:solidFill>
                <a:latin typeface="Arial"/>
              </a:rPr>
              <a:t>downsampled by a factor of two or more</a:t>
            </a:r>
          </a:p>
        </p:txBody>
      </p:sp>
      <p:sp>
        <p:nvSpPr>
          <p:cNvPr id="947" name="TextBox 946"/>
          <p:cNvSpPr txBox="1"/>
          <p:nvPr/>
        </p:nvSpPr>
        <p:spPr>
          <a:xfrm>
            <a:off x="685800" y="3337560"/>
            <a:ext cx="3886200" cy="292608"/>
          </a:xfrm>
          <a:prstGeom prst="rect">
            <a:avLst/>
          </a:prstGeom>
          <a:noFill/>
        </p:spPr>
        <p:txBody>
          <a:bodyPr wrap="square" lIns="45720" rIns="45720" tIns="27432" bIns="27432" anchor="t"/>
          <a:lstStyle/>
          <a:p>
            <a:pPr algn="l" marL="0" indent="0">
              <a:spcBef>
                <a:spcPts val="0"/>
              </a:spcBef>
              <a:spcAft>
                <a:spcPts val="300"/>
              </a:spcAft>
              <a:buNone/>
            </a:pPr>
            <a:r>
              <a:rPr sz="1250" b="1" i="0">
                <a:solidFill>
                  <a:srgbClr val="004CA0"/>
                </a:solidFill>
                <a:latin typeface="Arial"/>
              </a:rPr>
              <a:t>In this thesis</a:t>
            </a:r>
          </a:p>
        </p:txBody>
      </p:sp>
      <p:sp>
        <p:nvSpPr>
          <p:cNvPr id="948" name="TextBox 947"/>
          <p:cNvSpPr txBox="1"/>
          <p:nvPr/>
        </p:nvSpPr>
        <p:spPr>
          <a:xfrm>
            <a:off x="685800" y="3657600"/>
            <a:ext cx="3886200" cy="224028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50" b="0" i="0">
                <a:solidFill>
                  <a:srgbClr val="414141"/>
                </a:solidFill>
                <a:latin typeface="Arial"/>
              </a:rPr>
              <a:t>Effective frame rate after sampling: 6600 / N for a clip of N frames</a:t>
            </a:r>
          </a:p>
          <a:p>
            <a:pPr algn="l" marL="155448" indent="-155448">
              <a:spcBef>
                <a:spcPts val="0"/>
              </a:spcBef>
              <a:spcAft>
                <a:spcPts val="400"/>
              </a:spcAft>
              <a:buClr>
                <a:srgbClr val="A8CC2F"/>
              </a:buClr>
              <a:buFont typeface="Arial"/>
              <a:buChar char="•"/>
            </a:pPr>
            <a:r>
              <a:rPr sz="1050" b="0" i="0">
                <a:solidFill>
                  <a:srgbClr val="414141"/>
                </a:solidFill>
                <a:latin typeface="Arial"/>
              </a:rPr>
              <a:t>Uniform index sampling of existing frames; no Temporal Interpolation Model</a:t>
            </a:r>
          </a:p>
          <a:p>
            <a:pPr algn="l" marL="155448" indent="-155448">
              <a:spcBef>
                <a:spcPts val="0"/>
              </a:spcBef>
              <a:spcAft>
                <a:spcPts val="400"/>
              </a:spcAft>
              <a:buClr>
                <a:srgbClr val="A8CC2F"/>
              </a:buClr>
              <a:buFont typeface="Arial"/>
              <a:buChar char="•"/>
            </a:pPr>
            <a:r>
              <a:rPr sz="1050" b="0" i="0">
                <a:solidFill>
                  <a:srgbClr val="414141"/>
                </a:solidFill>
                <a:latin typeface="Arial"/>
              </a:rPr>
              <a:t>Three clips have only 31 frames, so indices repeat and give near-zero flow</a:t>
            </a:r>
          </a:p>
          <a:p>
            <a:pPr algn="l" marL="155448" indent="-155448">
              <a:spcBef>
                <a:spcPts val="0"/>
              </a:spcBef>
              <a:spcAft>
                <a:spcPts val="400"/>
              </a:spcAft>
              <a:buClr>
                <a:srgbClr val="A8CC2F"/>
              </a:buClr>
              <a:buFont typeface="Arial"/>
              <a:buChar char="•"/>
            </a:pPr>
            <a:r>
              <a:rPr sz="1050" b="0" i="0">
                <a:solidFill>
                  <a:srgbClr val="414141"/>
                </a:solidFill>
                <a:latin typeface="Arial"/>
              </a:rPr>
              <a:t>The length of 33 frames is not varied</a:t>
            </a:r>
          </a:p>
        </p:txBody>
      </p:sp>
      <p:sp>
        <p:nvSpPr>
          <p:cNvPr id="949" name="TextBox 948"/>
          <p:cNvSpPr txBox="1"/>
          <p:nvPr/>
        </p:nvSpPr>
        <p:spPr>
          <a:xfrm>
            <a:off x="4754880" y="3337560"/>
            <a:ext cx="3886200" cy="292608"/>
          </a:xfrm>
          <a:prstGeom prst="rect">
            <a:avLst/>
          </a:prstGeom>
          <a:noFill/>
        </p:spPr>
        <p:txBody>
          <a:bodyPr wrap="square" lIns="45720" rIns="45720" tIns="27432" bIns="27432" anchor="t"/>
          <a:lstStyle/>
          <a:p>
            <a:pPr algn="l" marL="0" indent="0">
              <a:spcBef>
                <a:spcPts val="0"/>
              </a:spcBef>
              <a:spcAft>
                <a:spcPts val="300"/>
              </a:spcAft>
              <a:buNone/>
            </a:pPr>
            <a:r>
              <a:rPr sz="1250" b="1" i="0">
                <a:solidFill>
                  <a:srgbClr val="004CA0"/>
                </a:solidFill>
                <a:latin typeface="Arial"/>
              </a:rPr>
              <a:t>In the reviewed literature</a:t>
            </a:r>
          </a:p>
        </p:txBody>
      </p:sp>
      <p:sp>
        <p:nvSpPr>
          <p:cNvPr id="950" name="TextBox 949"/>
          <p:cNvSpPr txBox="1"/>
          <p:nvPr/>
        </p:nvSpPr>
        <p:spPr>
          <a:xfrm>
            <a:off x="4754880" y="3657600"/>
            <a:ext cx="3886200" cy="224028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50" b="0" i="0">
                <a:solidFill>
                  <a:srgbClr val="414141"/>
                </a:solidFill>
                <a:latin typeface="Arial"/>
              </a:rPr>
              <a:t>Ten frames is a convention, not a finding</a:t>
            </a:r>
          </a:p>
          <a:p>
            <a:pPr algn="l" marL="155448" indent="-155448">
              <a:spcBef>
                <a:spcPts val="0"/>
              </a:spcBef>
              <a:spcAft>
                <a:spcPts val="400"/>
              </a:spcAft>
              <a:buClr>
                <a:srgbClr val="A8CC2F"/>
              </a:buClr>
              <a:buFont typeface="Arial"/>
              <a:buChar char="•"/>
            </a:pPr>
            <a:r>
              <a:rPr sz="1050" b="0" i="0">
                <a:solidFill>
                  <a:srgbClr val="414141"/>
                </a:solidFill>
                <a:latin typeface="Arial"/>
              </a:rPr>
              <a:t>Li et al. report the best performance at 10 frames; Ben et al. at 60 frames</a:t>
            </a:r>
          </a:p>
          <a:p>
            <a:pPr algn="l" marL="155448" indent="-155448">
              <a:spcBef>
                <a:spcPts val="0"/>
              </a:spcBef>
              <a:spcAft>
                <a:spcPts val="400"/>
              </a:spcAft>
              <a:buClr>
                <a:srgbClr val="A8CC2F"/>
              </a:buClr>
              <a:buFont typeface="Arial"/>
              <a:buChar char="•"/>
            </a:pPr>
            <a:r>
              <a:rPr sz="1050" b="0" i="0">
                <a:solidFill>
                  <a:srgbClr val="414141"/>
                </a:solidFill>
                <a:latin typeface="Arial"/>
              </a:rPr>
              <a:t>Xu et al. prefer linear interpolation to TIM for motion features, without comparing them</a:t>
            </a:r>
          </a:p>
          <a:p>
            <a:pPr algn="l" marL="155448" indent="-155448">
              <a:spcBef>
                <a:spcPts val="0"/>
              </a:spcBef>
              <a:spcAft>
                <a:spcPts val="400"/>
              </a:spcAft>
              <a:buClr>
                <a:srgbClr val="A8CC2F"/>
              </a:buClr>
              <a:buFont typeface="Arial"/>
              <a:buChar char="•"/>
            </a:pPr>
            <a:r>
              <a:rPr sz="1050" b="0" i="0">
                <a:solidFill>
                  <a:srgbClr val="414141"/>
                </a:solidFill>
                <a:latin typeface="Arial"/>
              </a:rPr>
              <a:t>Frame synthesis conflicts with motion analysis: synthesised frames give synthesised displacements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CONVOLUTIONAL STREAM AND SIMAM IN DETAIL</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39"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39</a:t>
            </a:fld>
          </a:p>
        </p:txBody>
      </p:sp>
      <p:graphicFrame>
        <p:nvGraphicFramePr>
          <p:cNvPr id="940" name="Table 939"/>
          <p:cNvGraphicFramePr>
            <a:graphicFrameLocks noGrp="1"/>
          </p:cNvGraphicFramePr>
          <p:nvPr/>
        </p:nvGraphicFramePr>
        <p:xfrm>
          <a:off x="685800" y="1783080"/>
          <a:ext cx="7955280" cy="1700784"/>
        </p:xfrm>
        <a:graphic>
          <a:graphicData uri="http://schemas.openxmlformats.org/drawingml/2006/table">
            <a:tbl>
              <a:tblPr firstRow="0" bandRow="0">
                <a:tableStyleId>{2D5ABB26-0587-4C30-8999-92F81FD0307C}</a:tableStyleId>
              </a:tblPr>
              <a:tblGrid>
                <a:gridCol w="2011680"/>
                <a:gridCol w="3246120"/>
                <a:gridCol w="2697480"/>
              </a:tblGrid>
              <a:tr h="283464">
                <a:tc>
                  <a:txBody>
                    <a:bodyPr wrap="square"/>
                    <a:lstStyle/>
                    <a:p>
                      <a:pPr algn="l" marL="0" indent="0">
                        <a:spcBef>
                          <a:spcPts val="0"/>
                        </a:spcBef>
                        <a:spcAft>
                          <a:spcPts val="0"/>
                        </a:spcAft>
                        <a:buNone/>
                      </a:pPr>
                      <a:r>
                        <a:rPr sz="950" b="1" i="0">
                          <a:solidFill>
                            <a:srgbClr val="FFFFFF"/>
                          </a:solidFill>
                          <a:latin typeface="Arial"/>
                        </a:rPr>
                        <a:t>Layer of one stream</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50" b="1" i="0">
                          <a:solidFill>
                            <a:srgbClr val="FFFFFF"/>
                          </a:solidFill>
                          <a:latin typeface="Arial"/>
                        </a:rPr>
                        <a:t>Configuration</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50" b="1" i="0">
                          <a:solidFill>
                            <a:srgbClr val="FFFFFF"/>
                          </a:solidFill>
                          <a:latin typeface="Arial"/>
                        </a:rPr>
                        <a:t>Output (channels × time × height × width)</a:t>
                      </a:r>
                    </a:p>
                  </a:txBody>
                  <a:tcPr marL="54864" marR="54864" marT="18288" marB="18288" anchor="ctr">
                    <a:lnL w="9525">
                      <a:noFill/>
                    </a:lnL>
                    <a:lnR w="9525">
                      <a:noFill/>
                    </a:lnR>
                    <a:lnT w="9525">
                      <a:noFill/>
                    </a:lnT>
                    <a:lnB w="9525">
                      <a:solidFill>
                        <a:srgbClr val="D9D9D9"/>
                      </a:solidFill>
                    </a:lnB>
                    <a:solidFill>
                      <a:srgbClr val="004CA0"/>
                    </a:solidFill>
                  </a:tcPr>
                </a:tc>
              </a:tr>
              <a:tr h="283464">
                <a:tc>
                  <a:txBody>
                    <a:bodyPr wrap="square"/>
                    <a:lstStyle/>
                    <a:p>
                      <a:pPr algn="l" marL="0" indent="0">
                        <a:spcBef>
                          <a:spcPts val="0"/>
                        </a:spcBef>
                        <a:spcAft>
                          <a:spcPts val="0"/>
                        </a:spcAft>
                        <a:buNone/>
                      </a:pPr>
                      <a:r>
                        <a:rPr sz="950" b="0" i="0">
                          <a:solidFill>
                            <a:srgbClr val="414141"/>
                          </a:solidFill>
                          <a:latin typeface="Arial"/>
                        </a:rPr>
                        <a:t>3D convolution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16 filters, kernel (1, 3, 3), no bias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16 × 32 × 224 × 224</a:t>
                      </a:r>
                    </a:p>
                  </a:txBody>
                  <a:tcPr marL="54864" marR="54864" marT="18288" marB="18288" anchor="ctr">
                    <a:lnL w="9525">
                      <a:noFill/>
                    </a:lnL>
                    <a:lnR w="9525">
                      <a:noFill/>
                    </a:lnR>
                    <a:lnT w="9525">
                      <a:noFill/>
                    </a:lnT>
                    <a:lnB w="9525">
                      <a:solidFill>
                        <a:srgbClr val="D9D9D9"/>
                      </a:solidFill>
                    </a:lnB>
                    <a:solidFill>
                      <a:srgbClr val="FFFFFF"/>
                    </a:solidFill>
                  </a:tcPr>
                </a:tc>
              </a:tr>
              <a:tr h="283464">
                <a:tc>
                  <a:txBody>
                    <a:bodyPr wrap="square"/>
                    <a:lstStyle/>
                    <a:p>
                      <a:pPr algn="l" marL="0" indent="0">
                        <a:spcBef>
                          <a:spcPts val="0"/>
                        </a:spcBef>
                        <a:spcAft>
                          <a:spcPts val="0"/>
                        </a:spcAft>
                        <a:buNone/>
                      </a:pPr>
                      <a:r>
                        <a:rPr sz="950" b="0" i="0">
                          <a:solidFill>
                            <a:srgbClr val="414141"/>
                          </a:solidFill>
                          <a:latin typeface="Arial"/>
                        </a:rPr>
                        <a:t>Normalisation, activation</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batch norm, ReLU, 3D dropout (p = 0.3)</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16 × 32 × 224 × 224</a:t>
                      </a:r>
                    </a:p>
                  </a:txBody>
                  <a:tcPr marL="54864" marR="54864" marT="18288" marB="18288" anchor="ctr">
                    <a:lnL w="9525">
                      <a:noFill/>
                    </a:lnL>
                    <a:lnR w="9525">
                      <a:noFill/>
                    </a:lnR>
                    <a:lnT w="9525">
                      <a:noFill/>
                    </a:lnT>
                    <a:lnB w="9525">
                      <a:solidFill>
                        <a:srgbClr val="D9D9D9"/>
                      </a:solidFill>
                    </a:lnB>
                    <a:solidFill>
                      <a:srgbClr val="F2F2F2"/>
                    </a:solidFill>
                  </a:tcPr>
                </a:tc>
              </a:tr>
              <a:tr h="283464">
                <a:tc>
                  <a:txBody>
                    <a:bodyPr wrap="square"/>
                    <a:lstStyle/>
                    <a:p>
                      <a:pPr algn="l" marL="0" indent="0">
                        <a:spcBef>
                          <a:spcPts val="0"/>
                        </a:spcBef>
                        <a:spcAft>
                          <a:spcPts val="0"/>
                        </a:spcAft>
                        <a:buNone/>
                      </a:pPr>
                      <a:r>
                        <a:rPr sz="950" b="0" i="0">
                          <a:solidFill>
                            <a:srgbClr val="414141"/>
                          </a:solidFill>
                          <a:latin typeface="Arial"/>
                        </a:rPr>
                        <a:t>3D convolution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32 filters, kernel (1, 3, 3), no bias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32 × 32 × 224 × 224</a:t>
                      </a:r>
                    </a:p>
                  </a:txBody>
                  <a:tcPr marL="54864" marR="54864" marT="18288" marB="18288" anchor="ctr">
                    <a:lnL w="9525">
                      <a:noFill/>
                    </a:lnL>
                    <a:lnR w="9525">
                      <a:noFill/>
                    </a:lnR>
                    <a:lnT w="9525">
                      <a:noFill/>
                    </a:lnT>
                    <a:lnB w="9525">
                      <a:solidFill>
                        <a:srgbClr val="D9D9D9"/>
                      </a:solidFill>
                    </a:lnB>
                    <a:solidFill>
                      <a:srgbClr val="FFFFFF"/>
                    </a:solidFill>
                  </a:tcPr>
                </a:tc>
              </a:tr>
              <a:tr h="283464">
                <a:tc>
                  <a:txBody>
                    <a:bodyPr wrap="square"/>
                    <a:lstStyle/>
                    <a:p>
                      <a:pPr algn="l" marL="0" indent="0">
                        <a:spcBef>
                          <a:spcPts val="0"/>
                        </a:spcBef>
                        <a:spcAft>
                          <a:spcPts val="0"/>
                        </a:spcAft>
                        <a:buNone/>
                      </a:pPr>
                      <a:r>
                        <a:rPr sz="950" b="0" i="0">
                          <a:solidFill>
                            <a:srgbClr val="414141"/>
                          </a:solidFill>
                          <a:latin typeface="Arial"/>
                        </a:rPr>
                        <a:t>Normalisation, activation</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batch norm, ReLU, 3D dropout (p = 0.3)</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32 × 32 × 224 × 224</a:t>
                      </a:r>
                    </a:p>
                  </a:txBody>
                  <a:tcPr marL="54864" marR="54864" marT="18288" marB="18288" anchor="ctr">
                    <a:lnL w="9525">
                      <a:noFill/>
                    </a:lnL>
                    <a:lnR w="9525">
                      <a:noFill/>
                    </a:lnR>
                    <a:lnT w="9525">
                      <a:noFill/>
                    </a:lnT>
                    <a:lnB w="9525">
                      <a:solidFill>
                        <a:srgbClr val="D9D9D9"/>
                      </a:solidFill>
                    </a:lnB>
                    <a:solidFill>
                      <a:srgbClr val="F2F2F2"/>
                    </a:solidFill>
                  </a:tcPr>
                </a:tc>
              </a:tr>
              <a:tr h="283464">
                <a:tc>
                  <a:txBody>
                    <a:bodyPr wrap="square"/>
                    <a:lstStyle/>
                    <a:p>
                      <a:pPr algn="l" marL="0" indent="0">
                        <a:spcBef>
                          <a:spcPts val="0"/>
                        </a:spcBef>
                        <a:spcAft>
                          <a:spcPts val="0"/>
                        </a:spcAft>
                        <a:buNone/>
                      </a:pPr>
                      <a:r>
                        <a:rPr sz="950" b="0" i="0">
                          <a:solidFill>
                            <a:srgbClr val="414141"/>
                          </a:solidFill>
                          <a:latin typeface="Arial"/>
                        </a:rPr>
                        <a:t>3D max pooling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kernel and stride (1, 2, 2)</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32 × 32 × 112 × 112</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sp>
        <p:nvSpPr>
          <p:cNvPr id="941" name="TextBox 940"/>
          <p:cNvSpPr txBox="1"/>
          <p:nvPr/>
        </p:nvSpPr>
        <p:spPr>
          <a:xfrm>
            <a:off x="685800" y="3520440"/>
            <a:ext cx="7955279" cy="274320"/>
          </a:xfrm>
          <a:prstGeom prst="rect">
            <a:avLst/>
          </a:prstGeom>
          <a:noFill/>
        </p:spPr>
        <p:txBody>
          <a:bodyPr wrap="square" lIns="45720" rIns="45720" tIns="27432" bIns="27432" anchor="t"/>
          <a:lstStyle/>
          <a:p>
            <a:pPr algn="l" marL="0" indent="0">
              <a:spcBef>
                <a:spcPts val="0"/>
              </a:spcBef>
              <a:spcAft>
                <a:spcPts val="300"/>
              </a:spcAft>
              <a:buNone/>
            </a:pPr>
            <a:r>
              <a:rPr sz="950" b="0" i="1">
                <a:solidFill>
                  <a:srgbClr val="004CA0"/>
                </a:solidFill>
                <a:latin typeface="Arial"/>
              </a:rPr>
              <a:t>Three streams, one per channel, are concatenated to 96 × 32 × 112 × 112. No kernel spans the temporal axis.</a:t>
            </a:r>
          </a:p>
        </p:txBody>
      </p:sp>
      <p:sp>
        <p:nvSpPr>
          <p:cNvPr id="942" name="Rectangle 941"/>
          <p:cNvSpPr/>
          <p:nvPr/>
        </p:nvSpPr>
        <p:spPr>
          <a:xfrm>
            <a:off x="685800" y="3931920"/>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TextBox 942"/>
          <p:cNvSpPr txBox="1"/>
          <p:nvPr/>
        </p:nvSpPr>
        <p:spPr>
          <a:xfrm>
            <a:off x="758952" y="3931920"/>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SimAM statistics</a:t>
            </a:r>
          </a:p>
        </p:txBody>
      </p:sp>
      <p:sp>
        <p:nvSpPr>
          <p:cNvPr id="944" name="TextBox 943"/>
          <p:cNvSpPr txBox="1"/>
          <p:nvPr/>
        </p:nvSpPr>
        <p:spPr>
          <a:xfrm>
            <a:off x="2423160" y="3931920"/>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μ = (1/M) Σ x</a:t>
            </a:r>
            <a:r>
              <a:rPr sz="1200" b="0" i="1" baseline="-25000">
                <a:solidFill>
                  <a:srgbClr val="414141"/>
                </a:solidFill>
                <a:latin typeface="Arial"/>
              </a:rPr>
              <a:t>i</a:t>
            </a:r>
            <a:r>
              <a:rPr sz="1200" b="0" i="1">
                <a:solidFill>
                  <a:srgbClr val="414141"/>
                </a:solidFill>
                <a:latin typeface="Arial"/>
              </a:rPr>
              <a:t> ,     v = (1/(M − 1)) Σ (x</a:t>
            </a:r>
            <a:r>
              <a:rPr sz="1200" b="0" i="1" baseline="-25000">
                <a:solidFill>
                  <a:srgbClr val="414141"/>
                </a:solidFill>
                <a:latin typeface="Arial"/>
              </a:rPr>
              <a:t>i</a:t>
            </a:r>
            <a:r>
              <a:rPr sz="1200" b="0" i="1">
                <a:solidFill>
                  <a:srgbClr val="414141"/>
                </a:solidFill>
                <a:latin typeface="Arial"/>
              </a:rPr>
              <a:t> − μ)</a:t>
            </a:r>
            <a:r>
              <a:rPr sz="1200" b="0" i="1" baseline="30000">
                <a:solidFill>
                  <a:srgbClr val="414141"/>
                </a:solidFill>
                <a:latin typeface="Arial"/>
              </a:rPr>
              <a:t>2</a:t>
            </a:r>
          </a:p>
        </p:txBody>
      </p:sp>
      <p:sp>
        <p:nvSpPr>
          <p:cNvPr id="945" name="Rectangle 944"/>
          <p:cNvSpPr/>
          <p:nvPr/>
        </p:nvSpPr>
        <p:spPr>
          <a:xfrm>
            <a:off x="685800" y="4480560"/>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TextBox 945"/>
          <p:cNvSpPr txBox="1"/>
          <p:nvPr/>
        </p:nvSpPr>
        <p:spPr>
          <a:xfrm>
            <a:off x="758952" y="4480560"/>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SimAM weight</a:t>
            </a:r>
          </a:p>
        </p:txBody>
      </p:sp>
      <p:sp>
        <p:nvSpPr>
          <p:cNvPr id="947" name="TextBox 946"/>
          <p:cNvSpPr txBox="1"/>
          <p:nvPr/>
        </p:nvSpPr>
        <p:spPr>
          <a:xfrm>
            <a:off x="2423160" y="4480560"/>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E</a:t>
            </a:r>
            <a:r>
              <a:rPr sz="1200" b="0" i="1" baseline="-25000">
                <a:solidFill>
                  <a:srgbClr val="414141"/>
                </a:solidFill>
                <a:latin typeface="Arial"/>
              </a:rPr>
              <a:t>i</a:t>
            </a:r>
            <a:r>
              <a:rPr sz="1200" b="0" i="1" baseline="30000">
                <a:solidFill>
                  <a:srgbClr val="414141"/>
                </a:solidFill>
                <a:latin typeface="Arial"/>
              </a:rPr>
              <a:t>−1</a:t>
            </a:r>
            <a:r>
              <a:rPr sz="1200" b="0" i="1">
                <a:solidFill>
                  <a:srgbClr val="414141"/>
                </a:solidFill>
                <a:latin typeface="Arial"/>
              </a:rPr>
              <a:t> = (x</a:t>
            </a:r>
            <a:r>
              <a:rPr sz="1200" b="0" i="1" baseline="-25000">
                <a:solidFill>
                  <a:srgbClr val="414141"/>
                </a:solidFill>
                <a:latin typeface="Arial"/>
              </a:rPr>
              <a:t>i</a:t>
            </a:r>
            <a:r>
              <a:rPr sz="1200" b="0" i="1">
                <a:solidFill>
                  <a:srgbClr val="414141"/>
                </a:solidFill>
                <a:latin typeface="Arial"/>
              </a:rPr>
              <a:t> − μ)</a:t>
            </a:r>
            <a:r>
              <a:rPr sz="1200" b="0" i="1" baseline="30000">
                <a:solidFill>
                  <a:srgbClr val="414141"/>
                </a:solidFill>
                <a:latin typeface="Arial"/>
              </a:rPr>
              <a:t>2</a:t>
            </a:r>
            <a:r>
              <a:rPr sz="1200" b="0" i="1">
                <a:solidFill>
                  <a:srgbClr val="414141"/>
                </a:solidFill>
                <a:latin typeface="Arial"/>
              </a:rPr>
              <a:t> / (4 (v + λ)) + ½ ,     x̃</a:t>
            </a:r>
            <a:r>
              <a:rPr sz="1200" b="0" i="1" baseline="-25000">
                <a:solidFill>
                  <a:srgbClr val="414141"/>
                </a:solidFill>
                <a:latin typeface="Arial"/>
              </a:rPr>
              <a:t>i</a:t>
            </a:r>
            <a:r>
              <a:rPr sz="1200" b="0" i="1">
                <a:solidFill>
                  <a:srgbClr val="414141"/>
                </a:solidFill>
                <a:latin typeface="Arial"/>
              </a:rPr>
              <a:t> = x</a:t>
            </a:r>
            <a:r>
              <a:rPr sz="1200" b="0" i="1" baseline="-25000">
                <a:solidFill>
                  <a:srgbClr val="414141"/>
                </a:solidFill>
                <a:latin typeface="Arial"/>
              </a:rPr>
              <a:t>i</a:t>
            </a:r>
            <a:r>
              <a:rPr sz="1200" b="0" i="1">
                <a:solidFill>
                  <a:srgbClr val="414141"/>
                </a:solidFill>
                <a:latin typeface="Arial"/>
              </a:rPr>
              <a:t> · sigmoid(E</a:t>
            </a:r>
            <a:r>
              <a:rPr sz="1200" b="0" i="1" baseline="-25000">
                <a:solidFill>
                  <a:srgbClr val="414141"/>
                </a:solidFill>
                <a:latin typeface="Arial"/>
              </a:rPr>
              <a:t>i</a:t>
            </a:r>
            <a:r>
              <a:rPr sz="1200" b="0" i="1" baseline="30000">
                <a:solidFill>
                  <a:srgbClr val="414141"/>
                </a:solidFill>
                <a:latin typeface="Arial"/>
              </a:rPr>
              <a:t>−1</a:t>
            </a:r>
            <a:r>
              <a:rPr sz="1200" b="0" i="1">
                <a:solidFill>
                  <a:srgbClr val="414141"/>
                </a:solidFill>
                <a:latin typeface="Arial"/>
              </a:rPr>
              <a:t>)</a:t>
            </a:r>
          </a:p>
        </p:txBody>
      </p:sp>
      <p:sp>
        <p:nvSpPr>
          <p:cNvPr id="948" name="TextBox 947"/>
          <p:cNvSpPr txBox="1"/>
          <p:nvPr/>
        </p:nvSpPr>
        <p:spPr>
          <a:xfrm>
            <a:off x="685800" y="5074920"/>
            <a:ext cx="7955279" cy="731520"/>
          </a:xfrm>
          <a:prstGeom prst="rect">
            <a:avLst/>
          </a:prstGeom>
          <a:noFill/>
        </p:spPr>
        <p:txBody>
          <a:bodyPr wrap="square" lIns="45720" rIns="45720" tIns="27432" bIns="27432" anchor="t"/>
          <a:lstStyle/>
          <a:p>
            <a:pPr algn="l" marL="0" indent="0">
              <a:spcBef>
                <a:spcPts val="0"/>
              </a:spcBef>
              <a:spcAft>
                <a:spcPts val="300"/>
              </a:spcAft>
              <a:buNone/>
            </a:pPr>
            <a:r>
              <a:rPr sz="1050" b="0" i="0">
                <a:solidFill>
                  <a:srgbClr val="414141"/>
                </a:solidFill>
                <a:latin typeface="Arial"/>
              </a:rPr>
              <a:t>M = T · H · W positions per channel (whole clip), λ = 10</a:t>
            </a:r>
            <a:r>
              <a:rPr sz="1050" b="0" i="0" baseline="30000">
                <a:solidFill>
                  <a:srgbClr val="414141"/>
                </a:solidFill>
                <a:latin typeface="Arial"/>
              </a:rPr>
              <a:t>−4</a:t>
            </a:r>
            <a:r>
              <a:rPr sz="1050" b="0" i="0">
                <a:solidFill>
                  <a:srgbClr val="414141"/>
                </a:solidFill>
                <a:latin typeface="Arial"/>
              </a:rPr>
              <a:t>. The weight lies between about 0.62 and 1, and SimAM adds no learned parameters.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THE TEMPORAL ENCODER AND PUBLISHED SLSTT</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0"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40</a:t>
            </a:fld>
          </a:p>
        </p:txBody>
      </p:sp>
      <p:sp>
        <p:nvSpPr>
          <p:cNvPr id="941" name="Rectangle 940"/>
          <p:cNvSpPr/>
          <p:nvPr/>
        </p:nvSpPr>
        <p:spPr>
          <a:xfrm>
            <a:off x="685800" y="1783080"/>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TextBox 941"/>
          <p:cNvSpPr txBox="1"/>
          <p:nvPr/>
        </p:nvSpPr>
        <p:spPr>
          <a:xfrm>
            <a:off x="758952" y="1783080"/>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Self-attention</a:t>
            </a:r>
          </a:p>
        </p:txBody>
      </p:sp>
      <p:sp>
        <p:nvSpPr>
          <p:cNvPr id="943" name="TextBox 942"/>
          <p:cNvSpPr txBox="1"/>
          <p:nvPr/>
        </p:nvSpPr>
        <p:spPr>
          <a:xfrm>
            <a:off x="2423160" y="1783080"/>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Attention(Q, K, V) = softmax(Q K</a:t>
            </a:r>
            <a:r>
              <a:rPr sz="1200" b="0" i="1" baseline="30000">
                <a:solidFill>
                  <a:srgbClr val="414141"/>
                </a:solidFill>
                <a:latin typeface="Arial"/>
              </a:rPr>
              <a:t>T</a:t>
            </a:r>
            <a:r>
              <a:rPr sz="1200" b="0" i="1">
                <a:solidFill>
                  <a:srgbClr val="414141"/>
                </a:solidFill>
                <a:latin typeface="Arial"/>
              </a:rPr>
              <a:t> / √d</a:t>
            </a:r>
            <a:r>
              <a:rPr sz="1200" b="0" i="1" baseline="-25000">
                <a:solidFill>
                  <a:srgbClr val="414141"/>
                </a:solidFill>
                <a:latin typeface="Arial"/>
              </a:rPr>
              <a:t>k</a:t>
            </a:r>
            <a:r>
              <a:rPr sz="1200" b="0" i="1">
                <a:solidFill>
                  <a:srgbClr val="414141"/>
                </a:solidFill>
                <a:latin typeface="Arial"/>
              </a:rPr>
              <a:t>) V</a:t>
            </a:r>
          </a:p>
        </p:txBody>
      </p:sp>
      <p:sp>
        <p:nvSpPr>
          <p:cNvPr id="944" name="Rectangle 943"/>
          <p:cNvSpPr/>
          <p:nvPr/>
        </p:nvSpPr>
        <p:spPr>
          <a:xfrm>
            <a:off x="685800" y="2304288"/>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TextBox 944"/>
          <p:cNvSpPr txBox="1"/>
          <p:nvPr/>
        </p:nvSpPr>
        <p:spPr>
          <a:xfrm>
            <a:off x="758952" y="2304288"/>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Positional encoding</a:t>
            </a:r>
          </a:p>
        </p:txBody>
      </p:sp>
      <p:sp>
        <p:nvSpPr>
          <p:cNvPr id="946" name="TextBox 945"/>
          <p:cNvSpPr txBox="1"/>
          <p:nvPr/>
        </p:nvSpPr>
        <p:spPr>
          <a:xfrm>
            <a:off x="2423160" y="2304288"/>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PE(p, 2i) = sin(p / 10000</a:t>
            </a:r>
            <a:r>
              <a:rPr sz="1200" b="0" i="1" baseline="30000">
                <a:solidFill>
                  <a:srgbClr val="414141"/>
                </a:solidFill>
                <a:latin typeface="Arial"/>
              </a:rPr>
              <a:t>2i/96</a:t>
            </a:r>
            <a:r>
              <a:rPr sz="1200" b="0" i="1">
                <a:solidFill>
                  <a:srgbClr val="414141"/>
                </a:solidFill>
                <a:latin typeface="Arial"/>
              </a:rPr>
              <a:t>) ,     PE(p, 2i+1) = cos(p / 10000</a:t>
            </a:r>
            <a:r>
              <a:rPr sz="1200" b="0" i="1" baseline="30000">
                <a:solidFill>
                  <a:srgbClr val="414141"/>
                </a:solidFill>
                <a:latin typeface="Arial"/>
              </a:rPr>
              <a:t>2i/96</a:t>
            </a:r>
            <a:r>
              <a:rPr sz="1200" b="0" i="1">
                <a:solidFill>
                  <a:srgbClr val="414141"/>
                </a:solidFill>
                <a:latin typeface="Arial"/>
              </a:rPr>
              <a:t>)</a:t>
            </a:r>
          </a:p>
        </p:txBody>
      </p:sp>
      <p:graphicFrame>
        <p:nvGraphicFramePr>
          <p:cNvPr id="947" name="Table 946"/>
          <p:cNvGraphicFramePr>
            <a:graphicFrameLocks noGrp="1"/>
          </p:cNvGraphicFramePr>
          <p:nvPr/>
        </p:nvGraphicFramePr>
        <p:xfrm>
          <a:off x="685800" y="2880360"/>
          <a:ext cx="7955280" cy="2176272"/>
        </p:xfrm>
        <a:graphic>
          <a:graphicData uri="http://schemas.openxmlformats.org/drawingml/2006/table">
            <a:tbl>
              <a:tblPr firstRow="0" bandRow="0">
                <a:tableStyleId>{2D5ABB26-0587-4C30-8999-92F81FD0307C}</a:tableStyleId>
              </a:tblPr>
              <a:tblGrid>
                <a:gridCol w="1463040"/>
                <a:gridCol w="3246120"/>
                <a:gridCol w="3246120"/>
              </a:tblGrid>
              <a:tr h="310896">
                <a:tc>
                  <a:txBody>
                    <a:bodyPr wrap="square"/>
                    <a:lstStyle/>
                    <a:p>
                      <a:pPr algn="l" marL="0" indent="0">
                        <a:spcBef>
                          <a:spcPts val="0"/>
                        </a:spcBef>
                        <a:spcAft>
                          <a:spcPts val="0"/>
                        </a:spcAft>
                        <a:buNone/>
                      </a:pPr>
                      <a:r>
                        <a:rPr sz="950" b="1" i="0">
                          <a:solidFill>
                            <a:srgbClr val="FFFFFF"/>
                          </a:solidFill>
                          <a:latin typeface="Arial"/>
                        </a:rPr>
                        <a:t>Property</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50" b="1" i="0">
                          <a:solidFill>
                            <a:srgbClr val="FFFFFF"/>
                          </a:solidFill>
                          <a:latin typeface="Arial"/>
                        </a:rPr>
                        <a:t>Published SLSTT (Zhang et al., 2022)</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50" b="1" i="0">
                          <a:solidFill>
                            <a:srgbClr val="FFFFFF"/>
                          </a:solidFill>
                          <a:latin typeface="Arial"/>
                        </a:rPr>
                        <a:t>This thesis</a:t>
                      </a:r>
                    </a:p>
                  </a:txBody>
                  <a:tcPr marL="54864" marR="54864" marT="18288" marB="18288" anchor="ctr">
                    <a:lnL w="9525">
                      <a:noFill/>
                    </a:lnL>
                    <a:lnR w="9525">
                      <a:noFill/>
                    </a:lnR>
                    <a:lnT w="9525">
                      <a:noFill/>
                    </a:lnT>
                    <a:lnB w="9525">
                      <a:solidFill>
                        <a:srgbClr val="D9D9D9"/>
                      </a:solidFill>
                    </a:lnB>
                    <a:solidFill>
                      <a:srgbClr val="004CA0"/>
                    </a:solidFill>
                  </a:tcPr>
                </a:tc>
              </a:tr>
              <a:tr h="310896">
                <a:tc>
                  <a:txBody>
                    <a:bodyPr wrap="square"/>
                    <a:lstStyle/>
                    <a:p>
                      <a:pPr algn="l" marL="0" indent="0">
                        <a:spcBef>
                          <a:spcPts val="0"/>
                        </a:spcBef>
                        <a:spcAft>
                          <a:spcPts val="0"/>
                        </a:spcAft>
                        <a:buNone/>
                      </a:pPr>
                      <a:r>
                        <a:rPr sz="950" b="1" i="0">
                          <a:solidFill>
                            <a:srgbClr val="414141"/>
                          </a:solidFill>
                          <a:latin typeface="Arial"/>
                        </a:rPr>
                        <a:t>Attention axis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Spatial patches within a frame</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Temporal tokens within a clip</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950" b="1" i="0">
                          <a:solidFill>
                            <a:srgbClr val="414141"/>
                          </a:solidFill>
                          <a:latin typeface="Arial"/>
                        </a:rPr>
                        <a:t>Aggregation</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LSTM over spatially encoded frames</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Mean after temporal self-attention</a:t>
                      </a:r>
                    </a:p>
                  </a:txBody>
                  <a:tcPr marL="54864" marR="54864" marT="18288" marB="18288" anchor="ctr">
                    <a:lnL w="9525">
                      <a:noFill/>
                    </a:lnL>
                    <a:lnR w="9525">
                      <a:noFill/>
                    </a:lnR>
                    <a:lnT w="9525">
                      <a:noFill/>
                    </a:lnT>
                    <a:lnB w="9525">
                      <a:solidFill>
                        <a:srgbClr val="D9D9D9"/>
                      </a:solidFill>
                    </a:lnB>
                    <a:solidFill>
                      <a:srgbClr val="F2F2F2"/>
                    </a:solidFill>
                  </a:tcPr>
                </a:tc>
              </a:tr>
              <a:tr h="310896">
                <a:tc>
                  <a:txBody>
                    <a:bodyPr wrap="square"/>
                    <a:lstStyle/>
                    <a:p>
                      <a:pPr algn="l" marL="0" indent="0">
                        <a:spcBef>
                          <a:spcPts val="0"/>
                        </a:spcBef>
                        <a:spcAft>
                          <a:spcPts val="0"/>
                        </a:spcAft>
                        <a:buNone/>
                      </a:pPr>
                      <a:r>
                        <a:rPr sz="950" b="1" i="0">
                          <a:solidFill>
                            <a:srgbClr val="414141"/>
                          </a:solidFill>
                          <a:latin typeface="Arial"/>
                        </a:rPr>
                        <a:t>Initialisation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ImageNet-pre-trained ViT-B/16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Trained from scratch</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950" b="1" i="0">
                          <a:solidFill>
                            <a:srgbClr val="414141"/>
                          </a:solidFill>
                          <a:latin typeface="Arial"/>
                        </a:rPr>
                        <a:t>Capacity</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Twelve layers, width 768; 384 × 384 input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Four layers, width 96; 32 tokens</a:t>
                      </a:r>
                    </a:p>
                  </a:txBody>
                  <a:tcPr marL="54864" marR="54864" marT="18288" marB="18288" anchor="ctr">
                    <a:lnL w="9525">
                      <a:noFill/>
                    </a:lnL>
                    <a:lnR w="9525">
                      <a:noFill/>
                    </a:lnR>
                    <a:lnT w="9525">
                      <a:noFill/>
                    </a:lnT>
                    <a:lnB w="9525">
                      <a:solidFill>
                        <a:srgbClr val="D9D9D9"/>
                      </a:solidFill>
                    </a:lnB>
                    <a:solidFill>
                      <a:srgbClr val="F2F2F2"/>
                    </a:solidFill>
                  </a:tcPr>
                </a:tc>
              </a:tr>
              <a:tr h="310896">
                <a:tc>
                  <a:txBody>
                    <a:bodyPr wrap="square"/>
                    <a:lstStyle/>
                    <a:p>
                      <a:pPr algn="l" marL="0" indent="0">
                        <a:spcBef>
                          <a:spcPts val="0"/>
                        </a:spcBef>
                        <a:spcAft>
                          <a:spcPts val="0"/>
                        </a:spcAft>
                        <a:buNone/>
                      </a:pPr>
                      <a:r>
                        <a:rPr sz="950" b="1" i="0">
                          <a:solidFill>
                            <a:srgbClr val="414141"/>
                          </a:solidFill>
                          <a:latin typeface="Arial"/>
                        </a:rPr>
                        <a:t>Positions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Learned spatial embeddings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Fixed sinusoidal temporal encoding</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950" b="1" i="0">
                          <a:solidFill>
                            <a:srgbClr val="414141"/>
                          </a:solidFill>
                          <a:latin typeface="Arial"/>
                        </a:rPr>
                        <a:t>Input flow</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Relative to the onset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Relative to the preceding sampled frame</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48" name="TextBox 947"/>
          <p:cNvSpPr txBox="1"/>
          <p:nvPr/>
        </p:nvSpPr>
        <p:spPr>
          <a:xfrm>
            <a:off x="685800" y="5166360"/>
            <a:ext cx="7955279" cy="731520"/>
          </a:xfrm>
          <a:prstGeom prst="rect">
            <a:avLst/>
          </a:prstGeom>
          <a:noFill/>
        </p:spPr>
        <p:txBody>
          <a:bodyPr wrap="square" lIns="45720" rIns="45720" tIns="27432" bIns="27432" anchor="t"/>
          <a:lstStyle/>
          <a:p>
            <a:pPr algn="l" marL="0" indent="0">
              <a:spcBef>
                <a:spcPts val="0"/>
              </a:spcBef>
              <a:spcAft>
                <a:spcPts val="300"/>
              </a:spcAft>
              <a:buNone/>
            </a:pPr>
            <a:r>
              <a:rPr sz="1000" b="0" i="1">
                <a:solidFill>
                  <a:srgbClr val="004CA0"/>
                </a:solidFill>
                <a:latin typeface="Arial"/>
              </a:rPr>
              <a:t>The evaluated component is a small temporal transformer encoder, not a reproduction of SLSTT. Within SLSTT, UF1 on CASME II rises from 0.844 with mean aggregation to 0.901 with the LSTM.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TRAINING SETTINGS AND LOSS FUNCTIONS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1"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41</a:t>
            </a:fld>
          </a:p>
        </p:txBody>
      </p:sp>
      <p:graphicFrame>
        <p:nvGraphicFramePr>
          <p:cNvPr id="942" name="Table 941"/>
          <p:cNvGraphicFramePr>
            <a:graphicFrameLocks noGrp="1"/>
          </p:cNvGraphicFramePr>
          <p:nvPr/>
        </p:nvGraphicFramePr>
        <p:xfrm>
          <a:off x="685800" y="1783080"/>
          <a:ext cx="4663440" cy="3291840"/>
        </p:xfrm>
        <a:graphic>
          <a:graphicData uri="http://schemas.openxmlformats.org/drawingml/2006/table">
            <a:tbl>
              <a:tblPr firstRow="0" bandRow="0">
                <a:tableStyleId>{2D5ABB26-0587-4C30-8999-92F81FD0307C}</a:tableStyleId>
              </a:tblPr>
              <a:tblGrid>
                <a:gridCol w="1188720"/>
                <a:gridCol w="3474720"/>
              </a:tblGrid>
              <a:tr h="365760">
                <a:tc>
                  <a:txBody>
                    <a:bodyPr wrap="square"/>
                    <a:lstStyle/>
                    <a:p>
                      <a:pPr algn="l" marL="0" indent="0">
                        <a:spcBef>
                          <a:spcPts val="0"/>
                        </a:spcBef>
                        <a:spcAft>
                          <a:spcPts val="0"/>
                        </a:spcAft>
                        <a:buNone/>
                      </a:pPr>
                      <a:r>
                        <a:rPr sz="950" b="1" i="0">
                          <a:solidFill>
                            <a:srgbClr val="FFFFFF"/>
                          </a:solidFill>
                          <a:latin typeface="Arial"/>
                        </a:rPr>
                        <a:t>Setting</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50" b="1" i="0">
                          <a:solidFill>
                            <a:srgbClr val="FFFFFF"/>
                          </a:solidFill>
                          <a:latin typeface="Arial"/>
                        </a:rPr>
                        <a:t>Value</a:t>
                      </a:r>
                    </a:p>
                  </a:txBody>
                  <a:tcPr marL="54864" marR="54864" marT="18288" marB="18288" anchor="ctr">
                    <a:lnL w="9525">
                      <a:noFill/>
                    </a:lnL>
                    <a:lnR w="9525">
                      <a:noFill/>
                    </a:lnR>
                    <a:lnT w="9525">
                      <a:noFill/>
                    </a:lnT>
                    <a:lnB w="9525">
                      <a:solidFill>
                        <a:srgbClr val="D9D9D9"/>
                      </a:solidFill>
                    </a:lnB>
                    <a:solidFill>
                      <a:srgbClr val="004CA0"/>
                    </a:solidFill>
                  </a:tcPr>
                </a:tc>
              </a:tr>
              <a:tr h="365760">
                <a:tc>
                  <a:txBody>
                    <a:bodyPr wrap="square"/>
                    <a:lstStyle/>
                    <a:p>
                      <a:pPr algn="l" marL="0" indent="0">
                        <a:spcBef>
                          <a:spcPts val="0"/>
                        </a:spcBef>
                        <a:spcAft>
                          <a:spcPts val="0"/>
                        </a:spcAft>
                        <a:buNone/>
                      </a:pPr>
                      <a:r>
                        <a:rPr sz="950" b="1" i="0">
                          <a:solidFill>
                            <a:srgbClr val="414141"/>
                          </a:solidFill>
                          <a:latin typeface="Arial"/>
                        </a:rPr>
                        <a:t>Loss</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Focal loss with γ = 2 and label smoothing 0.05; no class weights</a:t>
                      </a:r>
                    </a:p>
                  </a:txBody>
                  <a:tcPr marL="54864" marR="54864" marT="18288" marB="18288" anchor="ctr">
                    <a:lnL w="9525">
                      <a:noFill/>
                    </a:lnL>
                    <a:lnR w="9525">
                      <a:noFill/>
                    </a:lnR>
                    <a:lnT w="9525">
                      <a:noFill/>
                    </a:lnT>
                    <a:lnB w="9525">
                      <a:solidFill>
                        <a:srgbClr val="D9D9D9"/>
                      </a:solidFill>
                    </a:lnB>
                    <a:solidFill>
                      <a:srgbClr val="FFFFFF"/>
                    </a:solidFill>
                  </a:tcPr>
                </a:tc>
              </a:tr>
              <a:tr h="365760">
                <a:tc>
                  <a:txBody>
                    <a:bodyPr wrap="square"/>
                    <a:lstStyle/>
                    <a:p>
                      <a:pPr algn="l" marL="0" indent="0">
                        <a:spcBef>
                          <a:spcPts val="0"/>
                        </a:spcBef>
                        <a:spcAft>
                          <a:spcPts val="0"/>
                        </a:spcAft>
                        <a:buNone/>
                      </a:pPr>
                      <a:r>
                        <a:rPr sz="950" b="1" i="0">
                          <a:solidFill>
                            <a:srgbClr val="414141"/>
                          </a:solidFill>
                          <a:latin typeface="Arial"/>
                        </a:rPr>
                        <a:t>Sampling</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Class-balanced: weight inversely proportional to class size, with replacement</a:t>
                      </a:r>
                    </a:p>
                  </a:txBody>
                  <a:tcPr marL="54864" marR="54864" marT="18288" marB="18288" anchor="ctr">
                    <a:lnL w="9525">
                      <a:noFill/>
                    </a:lnL>
                    <a:lnR w="9525">
                      <a:noFill/>
                    </a:lnR>
                    <a:lnT w="9525">
                      <a:noFill/>
                    </a:lnT>
                    <a:lnB w="9525">
                      <a:solidFill>
                        <a:srgbClr val="D9D9D9"/>
                      </a:solidFill>
                    </a:lnB>
                    <a:solidFill>
                      <a:srgbClr val="F2F2F2"/>
                    </a:solidFill>
                  </a:tcPr>
                </a:tc>
              </a:tr>
              <a:tr h="365760">
                <a:tc>
                  <a:txBody>
                    <a:bodyPr wrap="square"/>
                    <a:lstStyle/>
                    <a:p>
                      <a:pPr algn="l" marL="0" indent="0">
                        <a:spcBef>
                          <a:spcPts val="0"/>
                        </a:spcBef>
                        <a:spcAft>
                          <a:spcPts val="0"/>
                        </a:spcAft>
                        <a:buNone/>
                      </a:pPr>
                      <a:r>
                        <a:rPr sz="950" b="1" i="0">
                          <a:solidFill>
                            <a:srgbClr val="414141"/>
                          </a:solidFill>
                          <a:latin typeface="Arial"/>
                        </a:rPr>
                        <a:t>Augmentation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Random horizontal flip (p = 0.5), horizontal flow negated</a:t>
                      </a:r>
                    </a:p>
                  </a:txBody>
                  <a:tcPr marL="54864" marR="54864" marT="18288" marB="18288" anchor="ctr">
                    <a:lnL w="9525">
                      <a:noFill/>
                    </a:lnL>
                    <a:lnR w="9525">
                      <a:noFill/>
                    </a:lnR>
                    <a:lnT w="9525">
                      <a:noFill/>
                    </a:lnT>
                    <a:lnB w="9525">
                      <a:solidFill>
                        <a:srgbClr val="D9D9D9"/>
                      </a:solidFill>
                    </a:lnB>
                    <a:solidFill>
                      <a:srgbClr val="FFFFFF"/>
                    </a:solidFill>
                  </a:tcPr>
                </a:tc>
              </a:tr>
              <a:tr h="365760">
                <a:tc>
                  <a:txBody>
                    <a:bodyPr wrap="square"/>
                    <a:lstStyle/>
                    <a:p>
                      <a:pPr algn="l" marL="0" indent="0">
                        <a:spcBef>
                          <a:spcPts val="0"/>
                        </a:spcBef>
                        <a:spcAft>
                          <a:spcPts val="0"/>
                        </a:spcAft>
                        <a:buNone/>
                      </a:pPr>
                      <a:r>
                        <a:rPr sz="950" b="1" i="0">
                          <a:solidFill>
                            <a:srgbClr val="414141"/>
                          </a:solidFill>
                          <a:latin typeface="Arial"/>
                        </a:rPr>
                        <a:t>Optimiser</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AdamW, learning rate 10</a:t>
                      </a:r>
                      <a:r>
                        <a:rPr sz="950" b="0" i="0" baseline="30000">
                          <a:solidFill>
                            <a:srgbClr val="414141"/>
                          </a:solidFill>
                          <a:latin typeface="Arial"/>
                        </a:rPr>
                        <a:t>−4</a:t>
                      </a:r>
                      <a:r>
                        <a:rPr sz="950" b="0" i="0">
                          <a:solidFill>
                            <a:srgbClr val="414141"/>
                          </a:solidFill>
                          <a:latin typeface="Arial"/>
                        </a:rPr>
                        <a:t>, weight decay 10</a:t>
                      </a:r>
                      <a:r>
                        <a:rPr sz="950" b="0" i="0" baseline="30000">
                          <a:solidFill>
                            <a:srgbClr val="414141"/>
                          </a:solidFill>
                          <a:latin typeface="Arial"/>
                        </a:rPr>
                        <a:t>−4</a:t>
                      </a:r>
                    </a:p>
                  </a:txBody>
                  <a:tcPr marL="54864" marR="54864" marT="18288" marB="18288" anchor="ctr">
                    <a:lnL w="9525">
                      <a:noFill/>
                    </a:lnL>
                    <a:lnR w="9525">
                      <a:noFill/>
                    </a:lnR>
                    <a:lnT w="9525">
                      <a:noFill/>
                    </a:lnT>
                    <a:lnB w="9525">
                      <a:solidFill>
                        <a:srgbClr val="D9D9D9"/>
                      </a:solidFill>
                    </a:lnB>
                    <a:solidFill>
                      <a:srgbClr val="F2F2F2"/>
                    </a:solidFill>
                  </a:tcPr>
                </a:tc>
              </a:tr>
              <a:tr h="365760">
                <a:tc>
                  <a:txBody>
                    <a:bodyPr wrap="square"/>
                    <a:lstStyle/>
                    <a:p>
                      <a:pPr algn="l" marL="0" indent="0">
                        <a:spcBef>
                          <a:spcPts val="0"/>
                        </a:spcBef>
                        <a:spcAft>
                          <a:spcPts val="0"/>
                        </a:spcAft>
                        <a:buNone/>
                      </a:pPr>
                      <a:r>
                        <a:rPr sz="950" b="1" i="0">
                          <a:solidFill>
                            <a:srgbClr val="414141"/>
                          </a:solidFill>
                          <a:latin typeface="Arial"/>
                        </a:rPr>
                        <a:t>Learning rate</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Linear warmup over 5 epochs from 10</a:t>
                      </a:r>
                      <a:r>
                        <a:rPr sz="950" b="0" i="0" baseline="30000">
                          <a:solidFill>
                            <a:srgbClr val="414141"/>
                          </a:solidFill>
                          <a:latin typeface="Arial"/>
                        </a:rPr>
                        <a:t>−5</a:t>
                      </a:r>
                      <a:r>
                        <a:rPr sz="950" b="0" i="0">
                          <a:solidFill>
                            <a:srgbClr val="414141"/>
                          </a:solidFill>
                          <a:latin typeface="Arial"/>
                        </a:rPr>
                        <a:t>, then cosine annealing to 10</a:t>
                      </a:r>
                      <a:r>
                        <a:rPr sz="950" b="0" i="0" baseline="30000">
                          <a:solidFill>
                            <a:srgbClr val="414141"/>
                          </a:solidFill>
                          <a:latin typeface="Arial"/>
                        </a:rPr>
                        <a:t>−7</a:t>
                      </a:r>
                    </a:p>
                  </a:txBody>
                  <a:tcPr marL="54864" marR="54864" marT="18288" marB="18288" anchor="ctr">
                    <a:lnL w="9525">
                      <a:noFill/>
                    </a:lnL>
                    <a:lnR w="9525">
                      <a:noFill/>
                    </a:lnR>
                    <a:lnT w="9525">
                      <a:noFill/>
                    </a:lnT>
                    <a:lnB w="9525">
                      <a:solidFill>
                        <a:srgbClr val="D9D9D9"/>
                      </a:solidFill>
                    </a:lnB>
                    <a:solidFill>
                      <a:srgbClr val="FFFFFF"/>
                    </a:solidFill>
                  </a:tcPr>
                </a:tc>
              </a:tr>
              <a:tr h="365760">
                <a:tc>
                  <a:txBody>
                    <a:bodyPr wrap="square"/>
                    <a:lstStyle/>
                    <a:p>
                      <a:pPr algn="l" marL="0" indent="0">
                        <a:spcBef>
                          <a:spcPts val="0"/>
                        </a:spcBef>
                        <a:spcAft>
                          <a:spcPts val="0"/>
                        </a:spcAft>
                        <a:buNone/>
                      </a:pPr>
                      <a:r>
                        <a:rPr sz="950" b="1" i="0">
                          <a:solidFill>
                            <a:srgbClr val="414141"/>
                          </a:solidFill>
                          <a:latin typeface="Arial"/>
                        </a:rPr>
                        <a:t>Epochs, batch</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50 epochs without early stopping; batch size 8</a:t>
                      </a:r>
                    </a:p>
                  </a:txBody>
                  <a:tcPr marL="54864" marR="54864" marT="18288" marB="18288" anchor="ctr">
                    <a:lnL w="9525">
                      <a:noFill/>
                    </a:lnL>
                    <a:lnR w="9525">
                      <a:noFill/>
                    </a:lnR>
                    <a:lnT w="9525">
                      <a:noFill/>
                    </a:lnT>
                    <a:lnB w="9525">
                      <a:solidFill>
                        <a:srgbClr val="D9D9D9"/>
                      </a:solidFill>
                    </a:lnB>
                    <a:solidFill>
                      <a:srgbClr val="F2F2F2"/>
                    </a:solidFill>
                  </a:tcPr>
                </a:tc>
              </a:tr>
              <a:tr h="365760">
                <a:tc>
                  <a:txBody>
                    <a:bodyPr wrap="square"/>
                    <a:lstStyle/>
                    <a:p>
                      <a:pPr algn="l" marL="0" indent="0">
                        <a:spcBef>
                          <a:spcPts val="0"/>
                        </a:spcBef>
                        <a:spcAft>
                          <a:spcPts val="0"/>
                        </a:spcAft>
                        <a:buNone/>
                      </a:pPr>
                      <a:r>
                        <a:rPr sz="950" b="1" i="0">
                          <a:solidFill>
                            <a:srgbClr val="414141"/>
                          </a:solidFill>
                          <a:latin typeface="Arial"/>
                        </a:rPr>
                        <a:t>Stability</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50" b="0" i="0">
                          <a:solidFill>
                            <a:srgbClr val="414141"/>
                          </a:solidFill>
                          <a:latin typeface="Arial"/>
                        </a:rPr>
                        <a:t>Gradient clipping at global norm 1.0; mixed precision</a:t>
                      </a:r>
                    </a:p>
                  </a:txBody>
                  <a:tcPr marL="54864" marR="54864" marT="18288" marB="18288" anchor="ctr">
                    <a:lnL w="9525">
                      <a:noFill/>
                    </a:lnL>
                    <a:lnR w="9525">
                      <a:noFill/>
                    </a:lnR>
                    <a:lnT w="9525">
                      <a:noFill/>
                    </a:lnT>
                    <a:lnB w="9525">
                      <a:solidFill>
                        <a:srgbClr val="D9D9D9"/>
                      </a:solidFill>
                    </a:lnB>
                    <a:solidFill>
                      <a:srgbClr val="FFFFFF"/>
                    </a:solidFill>
                  </a:tcPr>
                </a:tc>
              </a:tr>
              <a:tr h="365760">
                <a:tc>
                  <a:txBody>
                    <a:bodyPr wrap="square"/>
                    <a:lstStyle/>
                    <a:p>
                      <a:pPr algn="l" marL="0" indent="0">
                        <a:spcBef>
                          <a:spcPts val="0"/>
                        </a:spcBef>
                        <a:spcAft>
                          <a:spcPts val="0"/>
                        </a:spcAft>
                        <a:buNone/>
                      </a:pPr>
                      <a:r>
                        <a:rPr sz="950" b="1" i="0">
                          <a:solidFill>
                            <a:srgbClr val="414141"/>
                          </a:solidFill>
                          <a:latin typeface="Arial"/>
                        </a:rPr>
                        <a:t>Random seed</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50" b="0" i="0">
                          <a:solidFill>
                            <a:srgbClr val="414141"/>
                          </a:solidFill>
                          <a:latin typeface="Arial"/>
                        </a:rPr>
                        <a:t>42, reset before every configuration and fold</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43" name="Rectangle 942"/>
          <p:cNvSpPr/>
          <p:nvPr/>
        </p:nvSpPr>
        <p:spPr>
          <a:xfrm>
            <a:off x="5532120" y="1783080"/>
            <a:ext cx="310896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TextBox 943"/>
          <p:cNvSpPr txBox="1"/>
          <p:nvPr/>
        </p:nvSpPr>
        <p:spPr>
          <a:xfrm>
            <a:off x="5605272" y="1783080"/>
            <a:ext cx="1005840" cy="457200"/>
          </a:xfrm>
          <a:prstGeom prst="rect">
            <a:avLst/>
          </a:prstGeom>
          <a:noFill/>
        </p:spPr>
        <p:txBody>
          <a:bodyPr wrap="square" lIns="45720" rIns="45720" tIns="27432" bIns="27432" anchor="ctr"/>
          <a:lstStyle/>
          <a:p>
            <a:pPr algn="l" marL="0" indent="0">
              <a:spcBef>
                <a:spcPts val="0"/>
              </a:spcBef>
              <a:spcAft>
                <a:spcPts val="0"/>
              </a:spcAft>
              <a:buNone/>
            </a:pPr>
            <a:r>
              <a:rPr sz="950" b="1" i="0">
                <a:solidFill>
                  <a:srgbClr val="004CA0"/>
                </a:solidFill>
                <a:latin typeface="Arial"/>
              </a:rPr>
              <a:t>Focal loss</a:t>
            </a:r>
          </a:p>
        </p:txBody>
      </p:sp>
      <p:sp>
        <p:nvSpPr>
          <p:cNvPr id="945" name="TextBox 944"/>
          <p:cNvSpPr txBox="1"/>
          <p:nvPr/>
        </p:nvSpPr>
        <p:spPr>
          <a:xfrm>
            <a:off x="6629400" y="1783080"/>
            <a:ext cx="1938527" cy="457200"/>
          </a:xfrm>
          <a:prstGeom prst="rect">
            <a:avLst/>
          </a:prstGeom>
          <a:noFill/>
        </p:spPr>
        <p:txBody>
          <a:bodyPr wrap="square" lIns="45720" rIns="45720" tIns="27432" bIns="27432" anchor="ctr"/>
          <a:lstStyle/>
          <a:p>
            <a:pPr algn="l" marL="0" indent="0">
              <a:spcBef>
                <a:spcPts val="0"/>
              </a:spcBef>
              <a:spcAft>
                <a:spcPts val="0"/>
              </a:spcAft>
              <a:buNone/>
            </a:pPr>
            <a:r>
              <a:rPr sz="1100" b="0" i="1">
                <a:solidFill>
                  <a:srgbClr val="414141"/>
                </a:solidFill>
                <a:latin typeface="Arial"/>
              </a:rPr>
              <a:t>FL = −α</a:t>
            </a:r>
            <a:r>
              <a:rPr sz="1100" b="0" i="1" baseline="-25000">
                <a:solidFill>
                  <a:srgbClr val="414141"/>
                </a:solidFill>
                <a:latin typeface="Arial"/>
              </a:rPr>
              <a:t>t</a:t>
            </a:r>
            <a:r>
              <a:rPr sz="1100" b="0" i="1">
                <a:solidFill>
                  <a:srgbClr val="414141"/>
                </a:solidFill>
                <a:latin typeface="Arial"/>
              </a:rPr>
              <a:t> (1 − p</a:t>
            </a:r>
            <a:r>
              <a:rPr sz="1100" b="0" i="1" baseline="-25000">
                <a:solidFill>
                  <a:srgbClr val="414141"/>
                </a:solidFill>
                <a:latin typeface="Arial"/>
              </a:rPr>
              <a:t>t</a:t>
            </a:r>
            <a:r>
              <a:rPr sz="1100" b="0" i="1">
                <a:solidFill>
                  <a:srgbClr val="414141"/>
                </a:solidFill>
                <a:latin typeface="Arial"/>
              </a:rPr>
              <a:t>)</a:t>
            </a:r>
            <a:r>
              <a:rPr sz="1100" b="0" i="1" baseline="30000">
                <a:solidFill>
                  <a:srgbClr val="414141"/>
                </a:solidFill>
                <a:latin typeface="Arial"/>
              </a:rPr>
              <a:t>γ</a:t>
            </a:r>
            <a:r>
              <a:rPr sz="1100" b="0" i="1">
                <a:solidFill>
                  <a:srgbClr val="414141"/>
                </a:solidFill>
                <a:latin typeface="Arial"/>
              </a:rPr>
              <a:t> log p</a:t>
            </a:r>
            <a:r>
              <a:rPr sz="1100" b="0" i="1" baseline="-25000">
                <a:solidFill>
                  <a:srgbClr val="414141"/>
                </a:solidFill>
                <a:latin typeface="Arial"/>
              </a:rPr>
              <a:t>t</a:t>
            </a:r>
          </a:p>
        </p:txBody>
      </p:sp>
      <p:sp>
        <p:nvSpPr>
          <p:cNvPr id="946" name="Rectangle 945"/>
          <p:cNvSpPr/>
          <p:nvPr/>
        </p:nvSpPr>
        <p:spPr>
          <a:xfrm>
            <a:off x="5532120" y="2304288"/>
            <a:ext cx="310896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TextBox 946"/>
          <p:cNvSpPr txBox="1"/>
          <p:nvPr/>
        </p:nvSpPr>
        <p:spPr>
          <a:xfrm>
            <a:off x="5605272" y="2304288"/>
            <a:ext cx="1005840" cy="457200"/>
          </a:xfrm>
          <a:prstGeom prst="rect">
            <a:avLst/>
          </a:prstGeom>
          <a:noFill/>
        </p:spPr>
        <p:txBody>
          <a:bodyPr wrap="square" lIns="45720" rIns="45720" tIns="27432" bIns="27432" anchor="ctr"/>
          <a:lstStyle/>
          <a:p>
            <a:pPr algn="l" marL="0" indent="0">
              <a:spcBef>
                <a:spcPts val="0"/>
              </a:spcBef>
              <a:spcAft>
                <a:spcPts val="0"/>
              </a:spcAft>
              <a:buNone/>
            </a:pPr>
            <a:r>
              <a:rPr sz="950" b="1" i="0">
                <a:solidFill>
                  <a:srgbClr val="004CA0"/>
                </a:solidFill>
                <a:latin typeface="Arial"/>
              </a:rPr>
              <a:t>Sampler weight</a:t>
            </a:r>
          </a:p>
        </p:txBody>
      </p:sp>
      <p:sp>
        <p:nvSpPr>
          <p:cNvPr id="948" name="TextBox 947"/>
          <p:cNvSpPr txBox="1"/>
          <p:nvPr/>
        </p:nvSpPr>
        <p:spPr>
          <a:xfrm>
            <a:off x="6629400" y="2304288"/>
            <a:ext cx="1938527" cy="457200"/>
          </a:xfrm>
          <a:prstGeom prst="rect">
            <a:avLst/>
          </a:prstGeom>
          <a:noFill/>
        </p:spPr>
        <p:txBody>
          <a:bodyPr wrap="square" lIns="45720" rIns="45720" tIns="27432" bIns="27432" anchor="ctr"/>
          <a:lstStyle/>
          <a:p>
            <a:pPr algn="l" marL="0" indent="0">
              <a:spcBef>
                <a:spcPts val="0"/>
              </a:spcBef>
              <a:spcAft>
                <a:spcPts val="0"/>
              </a:spcAft>
              <a:buNone/>
            </a:pPr>
            <a:r>
              <a:rPr sz="1100" b="0" i="1">
                <a:solidFill>
                  <a:srgbClr val="414141"/>
                </a:solidFill>
                <a:latin typeface="Arial"/>
              </a:rPr>
              <a:t>w</a:t>
            </a:r>
            <a:r>
              <a:rPr sz="1100" b="0" i="1" baseline="-25000">
                <a:solidFill>
                  <a:srgbClr val="414141"/>
                </a:solidFill>
                <a:latin typeface="Arial"/>
              </a:rPr>
              <a:t>i</a:t>
            </a:r>
            <a:r>
              <a:rPr sz="1100" b="0" i="1">
                <a:solidFill>
                  <a:srgbClr val="414141"/>
                </a:solidFill>
                <a:latin typeface="Arial"/>
              </a:rPr>
              <a:t> = 1 / n</a:t>
            </a:r>
            <a:r>
              <a:rPr sz="1100" b="0" i="1" baseline="-25000">
                <a:solidFill>
                  <a:srgbClr val="414141"/>
                </a:solidFill>
                <a:latin typeface="Arial"/>
              </a:rPr>
              <a:t>c</a:t>
            </a:r>
          </a:p>
        </p:txBody>
      </p:sp>
      <p:sp>
        <p:nvSpPr>
          <p:cNvPr id="949" name="Rectangle 948"/>
          <p:cNvSpPr/>
          <p:nvPr/>
        </p:nvSpPr>
        <p:spPr>
          <a:xfrm>
            <a:off x="5532120" y="2825496"/>
            <a:ext cx="310896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TextBox 949"/>
          <p:cNvSpPr txBox="1"/>
          <p:nvPr/>
        </p:nvSpPr>
        <p:spPr>
          <a:xfrm>
            <a:off x="5605272" y="2825496"/>
            <a:ext cx="1005840" cy="457200"/>
          </a:xfrm>
          <a:prstGeom prst="rect">
            <a:avLst/>
          </a:prstGeom>
          <a:noFill/>
        </p:spPr>
        <p:txBody>
          <a:bodyPr wrap="square" lIns="45720" rIns="45720" tIns="27432" bIns="27432" anchor="ctr"/>
          <a:lstStyle/>
          <a:p>
            <a:pPr algn="l" marL="0" indent="0">
              <a:spcBef>
                <a:spcPts val="0"/>
              </a:spcBef>
              <a:spcAft>
                <a:spcPts val="0"/>
              </a:spcAft>
              <a:buNone/>
            </a:pPr>
            <a:r>
              <a:rPr sz="950" b="1" i="0">
                <a:solidFill>
                  <a:srgbClr val="004CA0"/>
                </a:solidFill>
                <a:latin typeface="Arial"/>
              </a:rPr>
              <a:t>Smoothed target</a:t>
            </a:r>
          </a:p>
        </p:txBody>
      </p:sp>
      <p:sp>
        <p:nvSpPr>
          <p:cNvPr id="951" name="TextBox 950"/>
          <p:cNvSpPr txBox="1"/>
          <p:nvPr/>
        </p:nvSpPr>
        <p:spPr>
          <a:xfrm>
            <a:off x="6629400" y="2825496"/>
            <a:ext cx="1938527" cy="457200"/>
          </a:xfrm>
          <a:prstGeom prst="rect">
            <a:avLst/>
          </a:prstGeom>
          <a:noFill/>
        </p:spPr>
        <p:txBody>
          <a:bodyPr wrap="square" lIns="45720" rIns="45720" tIns="27432" bIns="27432" anchor="ctr"/>
          <a:lstStyle/>
          <a:p>
            <a:pPr algn="l" marL="0" indent="0">
              <a:spcBef>
                <a:spcPts val="0"/>
              </a:spcBef>
              <a:spcAft>
                <a:spcPts val="0"/>
              </a:spcAft>
              <a:buNone/>
            </a:pPr>
            <a:r>
              <a:rPr sz="1050" b="0" i="1">
                <a:solidFill>
                  <a:srgbClr val="414141"/>
                </a:solidFill>
                <a:latin typeface="Arial"/>
              </a:rPr>
              <a:t>q</a:t>
            </a:r>
            <a:r>
              <a:rPr sz="1050" b="0" i="1" baseline="-25000">
                <a:solidFill>
                  <a:srgbClr val="414141"/>
                </a:solidFill>
                <a:latin typeface="Arial"/>
              </a:rPr>
              <a:t>c</a:t>
            </a:r>
            <a:r>
              <a:rPr sz="1050" b="0" i="1">
                <a:solidFill>
                  <a:srgbClr val="414141"/>
                </a:solidFill>
                <a:latin typeface="Arial"/>
              </a:rPr>
              <a:t> = (1 − ε) · 1[c = t] + ε / C</a:t>
            </a:r>
          </a:p>
        </p:txBody>
      </p:sp>
      <p:sp>
        <p:nvSpPr>
          <p:cNvPr id="952" name="Rectangle 951"/>
          <p:cNvSpPr/>
          <p:nvPr/>
        </p:nvSpPr>
        <p:spPr>
          <a:xfrm>
            <a:off x="5532120" y="3429000"/>
            <a:ext cx="3108960" cy="182880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TextBox 952"/>
          <p:cNvSpPr txBox="1"/>
          <p:nvPr/>
        </p:nvSpPr>
        <p:spPr>
          <a:xfrm>
            <a:off x="5669280" y="3483864"/>
            <a:ext cx="2834640" cy="1719072"/>
          </a:xfrm>
          <a:prstGeom prst="rect">
            <a:avLst/>
          </a:prstGeom>
          <a:noFill/>
        </p:spPr>
        <p:txBody>
          <a:bodyPr wrap="square" lIns="45720" rIns="45720" tIns="27432" bIns="27432" anchor="ctr"/>
          <a:lstStyle/>
          <a:p>
            <a:pPr algn="l" marL="0" indent="0">
              <a:spcBef>
                <a:spcPts val="0"/>
              </a:spcBef>
              <a:spcAft>
                <a:spcPts val="300"/>
              </a:spcAft>
              <a:buNone/>
            </a:pPr>
            <a:r>
              <a:rPr sz="1050" b="1" i="0">
                <a:solidFill>
                  <a:srgbClr val="A8CC2F"/>
                </a:solidFill>
                <a:latin typeface="Arial"/>
              </a:rPr>
              <a:t>Class-weighting rule</a:t>
            </a:r>
          </a:p>
          <a:p>
            <a:pPr algn="l" marL="0" indent="0">
              <a:spcBef>
                <a:spcPts val="0"/>
              </a:spcBef>
              <a:spcAft>
                <a:spcPts val="300"/>
              </a:spcAft>
              <a:buNone/>
            </a:pPr>
            <a:r>
              <a:rPr sz="950" b="0" i="0">
                <a:solidFill>
                  <a:srgbClr val="FFFFFF"/>
                </a:solidFill>
                <a:latin typeface="Arial"/>
              </a:rPr>
              <a:t>Loss weights and the sampler correct the same imbalance, so only the sampler is used. In development, loss weights alone stopped predicting Positive; both together stopped predicting Negative. The causal effect of the rule is not isolated.</a:t>
            </a:r>
          </a:p>
        </p:txBody>
      </p:sp>
      <p:sp>
        <p:nvSpPr>
          <p:cNvPr id="954" name="TextBox 953"/>
          <p:cNvSpPr txBox="1"/>
          <p:nvPr/>
        </p:nvSpPr>
        <p:spPr>
          <a:xfrm>
            <a:off x="685800" y="5440680"/>
            <a:ext cx="7955279" cy="457200"/>
          </a:xfrm>
          <a:prstGeom prst="rect">
            <a:avLst/>
          </a:prstGeom>
          <a:noFill/>
        </p:spPr>
        <p:txBody>
          <a:bodyPr wrap="square" lIns="45720" rIns="45720" tIns="27432" bIns="27432" anchor="t"/>
          <a:lstStyle/>
          <a:p>
            <a:pPr algn="l" marL="0" indent="0">
              <a:spcBef>
                <a:spcPts val="0"/>
              </a:spcBef>
              <a:spcAft>
                <a:spcPts val="300"/>
              </a:spcAft>
              <a:buNone/>
            </a:pPr>
            <a:r>
              <a:rPr sz="1000" b="0" i="1">
                <a:solidFill>
                  <a:srgbClr val="004CA0"/>
                </a:solidFill>
                <a:latin typeface="Arial"/>
              </a:rPr>
              <a:t>All settings are fixed defaults, identical across the twelve configurations and the 25 folds. No hyperparameter search was performed.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EVALUATION METRICS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2"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42</a:t>
            </a:fld>
          </a:p>
        </p:txBody>
      </p:sp>
      <p:sp>
        <p:nvSpPr>
          <p:cNvPr id="943" name="Rectangle 942"/>
          <p:cNvSpPr/>
          <p:nvPr/>
        </p:nvSpPr>
        <p:spPr>
          <a:xfrm>
            <a:off x="685800" y="1783080"/>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TextBox 943"/>
          <p:cNvSpPr txBox="1"/>
          <p:nvPr/>
        </p:nvSpPr>
        <p:spPr>
          <a:xfrm>
            <a:off x="758952" y="1783080"/>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Precision and recall</a:t>
            </a:r>
          </a:p>
        </p:txBody>
      </p:sp>
      <p:sp>
        <p:nvSpPr>
          <p:cNvPr id="945" name="TextBox 944"/>
          <p:cNvSpPr txBox="1"/>
          <p:nvPr/>
        </p:nvSpPr>
        <p:spPr>
          <a:xfrm>
            <a:off x="2423160" y="1783080"/>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P</a:t>
            </a:r>
            <a:r>
              <a:rPr sz="1200" b="0" i="1" baseline="-25000">
                <a:solidFill>
                  <a:srgbClr val="414141"/>
                </a:solidFill>
                <a:latin typeface="Arial"/>
              </a:rPr>
              <a:t>c</a:t>
            </a:r>
            <a:r>
              <a:rPr sz="1200" b="0" i="1">
                <a:solidFill>
                  <a:srgbClr val="414141"/>
                </a:solidFill>
                <a:latin typeface="Arial"/>
              </a:rPr>
              <a:t> = TP</a:t>
            </a:r>
            <a:r>
              <a:rPr sz="1200" b="0" i="1" baseline="-25000">
                <a:solidFill>
                  <a:srgbClr val="414141"/>
                </a:solidFill>
                <a:latin typeface="Arial"/>
              </a:rPr>
              <a:t>c</a:t>
            </a:r>
            <a:r>
              <a:rPr sz="1200" b="0" i="1">
                <a:solidFill>
                  <a:srgbClr val="414141"/>
                </a:solidFill>
                <a:latin typeface="Arial"/>
              </a:rPr>
              <a:t> / (TP</a:t>
            </a:r>
            <a:r>
              <a:rPr sz="1200" b="0" i="1" baseline="-25000">
                <a:solidFill>
                  <a:srgbClr val="414141"/>
                </a:solidFill>
                <a:latin typeface="Arial"/>
              </a:rPr>
              <a:t>c</a:t>
            </a:r>
            <a:r>
              <a:rPr sz="1200" b="0" i="1">
                <a:solidFill>
                  <a:srgbClr val="414141"/>
                </a:solidFill>
                <a:latin typeface="Arial"/>
              </a:rPr>
              <a:t> + FP</a:t>
            </a:r>
            <a:r>
              <a:rPr sz="1200" b="0" i="1" baseline="-25000">
                <a:solidFill>
                  <a:srgbClr val="414141"/>
                </a:solidFill>
                <a:latin typeface="Arial"/>
              </a:rPr>
              <a:t>c</a:t>
            </a:r>
            <a:r>
              <a:rPr sz="1200" b="0" i="1">
                <a:solidFill>
                  <a:srgbClr val="414141"/>
                </a:solidFill>
                <a:latin typeface="Arial"/>
              </a:rPr>
              <a:t>) ,     R</a:t>
            </a:r>
            <a:r>
              <a:rPr sz="1200" b="0" i="1" baseline="-25000">
                <a:solidFill>
                  <a:srgbClr val="414141"/>
                </a:solidFill>
                <a:latin typeface="Arial"/>
              </a:rPr>
              <a:t>c</a:t>
            </a:r>
            <a:r>
              <a:rPr sz="1200" b="0" i="1">
                <a:solidFill>
                  <a:srgbClr val="414141"/>
                </a:solidFill>
                <a:latin typeface="Arial"/>
              </a:rPr>
              <a:t> = TP</a:t>
            </a:r>
            <a:r>
              <a:rPr sz="1200" b="0" i="1" baseline="-25000">
                <a:solidFill>
                  <a:srgbClr val="414141"/>
                </a:solidFill>
                <a:latin typeface="Arial"/>
              </a:rPr>
              <a:t>c</a:t>
            </a:r>
            <a:r>
              <a:rPr sz="1200" b="0" i="1">
                <a:solidFill>
                  <a:srgbClr val="414141"/>
                </a:solidFill>
                <a:latin typeface="Arial"/>
              </a:rPr>
              <a:t> / (TP</a:t>
            </a:r>
            <a:r>
              <a:rPr sz="1200" b="0" i="1" baseline="-25000">
                <a:solidFill>
                  <a:srgbClr val="414141"/>
                </a:solidFill>
                <a:latin typeface="Arial"/>
              </a:rPr>
              <a:t>c</a:t>
            </a:r>
            <a:r>
              <a:rPr sz="1200" b="0" i="1">
                <a:solidFill>
                  <a:srgbClr val="414141"/>
                </a:solidFill>
                <a:latin typeface="Arial"/>
              </a:rPr>
              <a:t> + FN</a:t>
            </a:r>
            <a:r>
              <a:rPr sz="1200" b="0" i="1" baseline="-25000">
                <a:solidFill>
                  <a:srgbClr val="414141"/>
                </a:solidFill>
                <a:latin typeface="Arial"/>
              </a:rPr>
              <a:t>c</a:t>
            </a:r>
            <a:r>
              <a:rPr sz="1200" b="0" i="1">
                <a:solidFill>
                  <a:srgbClr val="414141"/>
                </a:solidFill>
                <a:latin typeface="Arial"/>
              </a:rPr>
              <a:t>)</a:t>
            </a:r>
          </a:p>
        </p:txBody>
      </p:sp>
      <p:sp>
        <p:nvSpPr>
          <p:cNvPr id="946" name="Rectangle 945"/>
          <p:cNvSpPr/>
          <p:nvPr/>
        </p:nvSpPr>
        <p:spPr>
          <a:xfrm>
            <a:off x="685800" y="2304288"/>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TextBox 946"/>
          <p:cNvSpPr txBox="1"/>
          <p:nvPr/>
        </p:nvSpPr>
        <p:spPr>
          <a:xfrm>
            <a:off x="758952" y="2304288"/>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Class F1</a:t>
            </a:r>
          </a:p>
        </p:txBody>
      </p:sp>
      <p:sp>
        <p:nvSpPr>
          <p:cNvPr id="948" name="TextBox 947"/>
          <p:cNvSpPr txBox="1"/>
          <p:nvPr/>
        </p:nvSpPr>
        <p:spPr>
          <a:xfrm>
            <a:off x="2423160" y="2304288"/>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F1</a:t>
            </a:r>
            <a:r>
              <a:rPr sz="1200" b="0" i="1" baseline="-25000">
                <a:solidFill>
                  <a:srgbClr val="414141"/>
                </a:solidFill>
                <a:latin typeface="Arial"/>
              </a:rPr>
              <a:t>c</a:t>
            </a:r>
            <a:r>
              <a:rPr sz="1200" b="0" i="1">
                <a:solidFill>
                  <a:srgbClr val="414141"/>
                </a:solidFill>
                <a:latin typeface="Arial"/>
              </a:rPr>
              <a:t> = 2 TP</a:t>
            </a:r>
            <a:r>
              <a:rPr sz="1200" b="0" i="1" baseline="-25000">
                <a:solidFill>
                  <a:srgbClr val="414141"/>
                </a:solidFill>
                <a:latin typeface="Arial"/>
              </a:rPr>
              <a:t>c</a:t>
            </a:r>
            <a:r>
              <a:rPr sz="1200" b="0" i="1">
                <a:solidFill>
                  <a:srgbClr val="414141"/>
                </a:solidFill>
                <a:latin typeface="Arial"/>
              </a:rPr>
              <a:t> / (2 TP</a:t>
            </a:r>
            <a:r>
              <a:rPr sz="1200" b="0" i="1" baseline="-25000">
                <a:solidFill>
                  <a:srgbClr val="414141"/>
                </a:solidFill>
                <a:latin typeface="Arial"/>
              </a:rPr>
              <a:t>c</a:t>
            </a:r>
            <a:r>
              <a:rPr sz="1200" b="0" i="1">
                <a:solidFill>
                  <a:srgbClr val="414141"/>
                </a:solidFill>
                <a:latin typeface="Arial"/>
              </a:rPr>
              <a:t> + FP</a:t>
            </a:r>
            <a:r>
              <a:rPr sz="1200" b="0" i="1" baseline="-25000">
                <a:solidFill>
                  <a:srgbClr val="414141"/>
                </a:solidFill>
                <a:latin typeface="Arial"/>
              </a:rPr>
              <a:t>c</a:t>
            </a:r>
            <a:r>
              <a:rPr sz="1200" b="0" i="1">
                <a:solidFill>
                  <a:srgbClr val="414141"/>
                </a:solidFill>
                <a:latin typeface="Arial"/>
              </a:rPr>
              <a:t> + FN</a:t>
            </a:r>
            <a:r>
              <a:rPr sz="1200" b="0" i="1" baseline="-25000">
                <a:solidFill>
                  <a:srgbClr val="414141"/>
                </a:solidFill>
                <a:latin typeface="Arial"/>
              </a:rPr>
              <a:t>c</a:t>
            </a:r>
            <a:r>
              <a:rPr sz="1200" b="0" i="1">
                <a:solidFill>
                  <a:srgbClr val="414141"/>
                </a:solidFill>
                <a:latin typeface="Arial"/>
              </a:rPr>
              <a:t>)</a:t>
            </a:r>
          </a:p>
        </p:txBody>
      </p:sp>
      <p:sp>
        <p:nvSpPr>
          <p:cNvPr id="949" name="Rectangle 948"/>
          <p:cNvSpPr/>
          <p:nvPr/>
        </p:nvSpPr>
        <p:spPr>
          <a:xfrm>
            <a:off x="685800" y="2825496"/>
            <a:ext cx="7955279"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TextBox 949"/>
          <p:cNvSpPr txBox="1"/>
          <p:nvPr/>
        </p:nvSpPr>
        <p:spPr>
          <a:xfrm>
            <a:off x="758952" y="2825496"/>
            <a:ext cx="1645920" cy="457200"/>
          </a:xfrm>
          <a:prstGeom prst="rect">
            <a:avLst/>
          </a:prstGeom>
          <a:noFill/>
        </p:spPr>
        <p:txBody>
          <a:bodyPr wrap="square" lIns="45720" rIns="45720" tIns="27432" bIns="27432" anchor="ctr"/>
          <a:lstStyle/>
          <a:p>
            <a:pPr algn="l" marL="0" indent="0">
              <a:spcBef>
                <a:spcPts val="0"/>
              </a:spcBef>
              <a:spcAft>
                <a:spcPts val="0"/>
              </a:spcAft>
              <a:buNone/>
            </a:pPr>
            <a:r>
              <a:rPr sz="1000" b="1" i="0">
                <a:solidFill>
                  <a:srgbClr val="004CA0"/>
                </a:solidFill>
                <a:latin typeface="Arial"/>
              </a:rPr>
              <a:t>Macro F1</a:t>
            </a:r>
          </a:p>
        </p:txBody>
      </p:sp>
      <p:sp>
        <p:nvSpPr>
          <p:cNvPr id="951" name="TextBox 950"/>
          <p:cNvSpPr txBox="1"/>
          <p:nvPr/>
        </p:nvSpPr>
        <p:spPr>
          <a:xfrm>
            <a:off x="2423160" y="2825496"/>
            <a:ext cx="6144768" cy="457200"/>
          </a:xfrm>
          <a:prstGeom prst="rect">
            <a:avLst/>
          </a:prstGeom>
          <a:noFill/>
        </p:spPr>
        <p:txBody>
          <a:bodyPr wrap="square" lIns="45720" rIns="45720" tIns="27432" bIns="27432" anchor="ctr"/>
          <a:lstStyle/>
          <a:p>
            <a:pPr algn="l" marL="0" indent="0">
              <a:spcBef>
                <a:spcPts val="0"/>
              </a:spcBef>
              <a:spcAft>
                <a:spcPts val="0"/>
              </a:spcAft>
              <a:buNone/>
            </a:pPr>
            <a:r>
              <a:rPr sz="1200" b="0" i="1">
                <a:solidFill>
                  <a:srgbClr val="414141"/>
                </a:solidFill>
                <a:latin typeface="Arial"/>
              </a:rPr>
              <a:t>F1</a:t>
            </a:r>
            <a:r>
              <a:rPr sz="1200" b="0" i="1" baseline="-25000">
                <a:solidFill>
                  <a:srgbClr val="414141"/>
                </a:solidFill>
                <a:latin typeface="Arial"/>
              </a:rPr>
              <a:t>macro</a:t>
            </a:r>
            <a:r>
              <a:rPr sz="1200" b="0" i="1">
                <a:solidFill>
                  <a:srgbClr val="414141"/>
                </a:solidFill>
                <a:latin typeface="Arial"/>
              </a:rPr>
              <a:t> = (1/C) Σ F1</a:t>
            </a:r>
            <a:r>
              <a:rPr sz="1200" b="0" i="1" baseline="-25000">
                <a:solidFill>
                  <a:srgbClr val="414141"/>
                </a:solidFill>
                <a:latin typeface="Arial"/>
              </a:rPr>
              <a:t>c</a:t>
            </a:r>
          </a:p>
        </p:txBody>
      </p:sp>
      <p:sp>
        <p:nvSpPr>
          <p:cNvPr id="952" name="Rectangle 951"/>
          <p:cNvSpPr/>
          <p:nvPr/>
        </p:nvSpPr>
        <p:spPr>
          <a:xfrm>
            <a:off x="685800" y="3474720"/>
            <a:ext cx="2529839" cy="2103120"/>
          </a:xfrm>
          <a:prstGeom prst="rect">
            <a:avLst/>
          </a:prstGeom>
          <a:solidFill>
            <a:srgbClr val="004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TextBox 952"/>
          <p:cNvSpPr txBox="1"/>
          <p:nvPr/>
        </p:nvSpPr>
        <p:spPr>
          <a:xfrm>
            <a:off x="777240" y="3520440"/>
            <a:ext cx="2346959" cy="2011680"/>
          </a:xfrm>
          <a:prstGeom prst="rect">
            <a:avLst/>
          </a:prstGeom>
          <a:noFill/>
        </p:spPr>
        <p:txBody>
          <a:bodyPr wrap="square" lIns="45720" rIns="45720" tIns="27432" bIns="27432" anchor="t"/>
          <a:lstStyle/>
          <a:p>
            <a:pPr algn="l" marL="0" indent="0">
              <a:spcBef>
                <a:spcPts val="0"/>
              </a:spcBef>
              <a:spcAft>
                <a:spcPts val="600"/>
              </a:spcAft>
              <a:buNone/>
            </a:pPr>
            <a:r>
              <a:rPr sz="1150" b="1" i="0">
                <a:solidFill>
                  <a:srgbClr val="A8CC2F"/>
                </a:solidFill>
                <a:latin typeface="Arial"/>
              </a:rPr>
              <a:t>Pooled macro F1 (primary)</a:t>
            </a:r>
          </a:p>
          <a:p>
            <a:pPr algn="l" marL="155448" indent="-155448">
              <a:spcBef>
                <a:spcPts val="0"/>
              </a:spcBef>
              <a:spcAft>
                <a:spcPts val="400"/>
              </a:spcAft>
              <a:buClr>
                <a:srgbClr val="A8CC2F"/>
              </a:buClr>
              <a:buFont typeface="Arial"/>
              <a:buChar char="•"/>
            </a:pPr>
            <a:r>
              <a:rPr sz="1050" b="0" i="0">
                <a:solidFill>
                  <a:srgbClr val="FFFFFF"/>
                </a:solidFill>
                <a:latin typeface="Arial"/>
              </a:rPr>
              <a:t>Confusion matrices of the 25 folds are summed into one 3 × 3 matrix</a:t>
            </a:r>
          </a:p>
          <a:p>
            <a:pPr algn="l" marL="155448" indent="-155448">
              <a:spcBef>
                <a:spcPts val="0"/>
              </a:spcBef>
              <a:spcAft>
                <a:spcPts val="400"/>
              </a:spcAft>
              <a:buClr>
                <a:srgbClr val="A8CC2F"/>
              </a:buClr>
              <a:buFont typeface="Arial"/>
              <a:buChar char="•"/>
            </a:pPr>
            <a:r>
              <a:rPr sz="1050" b="0" i="0">
                <a:solidFill>
                  <a:srgbClr val="FFFFFF"/>
                </a:solidFill>
                <a:latin typeface="Arial"/>
              </a:rPr>
              <a:t>Per-class F1 is computed once from the pooled counts</a:t>
            </a:r>
          </a:p>
          <a:p>
            <a:pPr algn="l" marL="155448" indent="-155448">
              <a:spcBef>
                <a:spcPts val="0"/>
              </a:spcBef>
              <a:spcAft>
                <a:spcPts val="400"/>
              </a:spcAft>
              <a:buClr>
                <a:srgbClr val="A8CC2F"/>
              </a:buClr>
              <a:buFont typeface="Arial"/>
              <a:buChar char="•"/>
            </a:pPr>
            <a:r>
              <a:rPr sz="1050" b="0" i="0">
                <a:solidFill>
                  <a:srgbClr val="FFFFFF"/>
                </a:solidFill>
                <a:latin typeface="Arial"/>
              </a:rPr>
              <a:t>Identical in construction to the UF1 of MEGC 2019</a:t>
            </a:r>
          </a:p>
        </p:txBody>
      </p:sp>
      <p:sp>
        <p:nvSpPr>
          <p:cNvPr id="954" name="Rectangle 953"/>
          <p:cNvSpPr/>
          <p:nvPr/>
        </p:nvSpPr>
        <p:spPr>
          <a:xfrm>
            <a:off x="3398519" y="3474720"/>
            <a:ext cx="2529839"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TextBox 954"/>
          <p:cNvSpPr txBox="1"/>
          <p:nvPr/>
        </p:nvSpPr>
        <p:spPr>
          <a:xfrm>
            <a:off x="3489960" y="3538728"/>
            <a:ext cx="2346959" cy="1975103"/>
          </a:xfrm>
          <a:prstGeom prst="rect">
            <a:avLst/>
          </a:prstGeom>
          <a:noFill/>
        </p:spPr>
        <p:txBody>
          <a:bodyPr wrap="square" lIns="45720" rIns="45720" tIns="27432" bIns="27432" anchor="t"/>
          <a:lstStyle/>
          <a:p>
            <a:pPr algn="l" marL="0" indent="0">
              <a:spcBef>
                <a:spcPts val="0"/>
              </a:spcBef>
              <a:spcAft>
                <a:spcPts val="600"/>
              </a:spcAft>
              <a:buNone/>
            </a:pPr>
            <a:r>
              <a:rPr sz="1150" b="1" i="0">
                <a:solidFill>
                  <a:srgbClr val="004CA0"/>
                </a:solidFill>
                <a:latin typeface="Arial"/>
              </a:rPr>
              <a:t>Mean-of-folds macro F1 (rejected)</a:t>
            </a:r>
          </a:p>
          <a:p>
            <a:pPr algn="l" marL="155448" indent="-155448">
              <a:spcBef>
                <a:spcPts val="0"/>
              </a:spcBef>
              <a:spcAft>
                <a:spcPts val="400"/>
              </a:spcAft>
              <a:buClr>
                <a:srgbClr val="A8CC2F"/>
              </a:buClr>
              <a:buFont typeface="Arial"/>
              <a:buChar char="•"/>
            </a:pPr>
            <a:r>
              <a:rPr sz="1050" b="0" i="0">
                <a:solidFill>
                  <a:srgbClr val="414141"/>
                </a:solidFill>
                <a:latin typeface="Arial"/>
              </a:rPr>
              <a:t>Macro F1 is computed in each fold and averaged</a:t>
            </a:r>
          </a:p>
          <a:p>
            <a:pPr algn="l" marL="155448" indent="-155448">
              <a:spcBef>
                <a:spcPts val="0"/>
              </a:spcBef>
              <a:spcAft>
                <a:spcPts val="400"/>
              </a:spcAft>
              <a:buClr>
                <a:srgbClr val="A8CC2F"/>
              </a:buClr>
              <a:buFont typeface="Arial"/>
              <a:buChar char="•"/>
            </a:pPr>
            <a:r>
              <a:rPr sz="1050" b="0" i="0">
                <a:solidFill>
                  <a:srgbClr val="414141"/>
                </a:solidFill>
                <a:latin typeface="Arial"/>
              </a:rPr>
              <a:t>A class absent from a fold scores zero</a:t>
            </a:r>
          </a:p>
          <a:p>
            <a:pPr algn="l" marL="155448" indent="-155448">
              <a:spcBef>
                <a:spcPts val="0"/>
              </a:spcBef>
              <a:spcAft>
                <a:spcPts val="400"/>
              </a:spcAft>
              <a:buClr>
                <a:srgbClr val="A8CC2F"/>
              </a:buClr>
              <a:buFont typeface="Arial"/>
              <a:buChar char="•"/>
            </a:pPr>
            <a:r>
              <a:rPr sz="1050" b="0" i="0">
                <a:solidFill>
                  <a:srgbClr val="414141"/>
                </a:solidFill>
                <a:latin typeface="Arial"/>
              </a:rPr>
              <a:t>Bounded at 0.627 by fold composition alone</a:t>
            </a:r>
          </a:p>
        </p:txBody>
      </p:sp>
      <p:sp>
        <p:nvSpPr>
          <p:cNvPr id="956" name="Rectangle 955"/>
          <p:cNvSpPr/>
          <p:nvPr/>
        </p:nvSpPr>
        <p:spPr>
          <a:xfrm>
            <a:off x="6111239" y="3474720"/>
            <a:ext cx="2529839"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TextBox 956"/>
          <p:cNvSpPr txBox="1"/>
          <p:nvPr/>
        </p:nvSpPr>
        <p:spPr>
          <a:xfrm>
            <a:off x="6202679" y="3538728"/>
            <a:ext cx="2346959" cy="1975103"/>
          </a:xfrm>
          <a:prstGeom prst="rect">
            <a:avLst/>
          </a:prstGeom>
          <a:noFill/>
        </p:spPr>
        <p:txBody>
          <a:bodyPr wrap="square" lIns="45720" rIns="45720" tIns="27432" bIns="27432" anchor="t"/>
          <a:lstStyle/>
          <a:p>
            <a:pPr algn="l" marL="0" indent="0">
              <a:spcBef>
                <a:spcPts val="0"/>
              </a:spcBef>
              <a:spcAft>
                <a:spcPts val="600"/>
              </a:spcAft>
              <a:buNone/>
            </a:pPr>
            <a:r>
              <a:rPr sz="1150" b="1" i="0">
                <a:solidFill>
                  <a:srgbClr val="004CA0"/>
                </a:solidFill>
                <a:latin typeface="Arial"/>
              </a:rPr>
              <a:t>Accuracy (reported alongside)</a:t>
            </a:r>
          </a:p>
          <a:p>
            <a:pPr algn="l" marL="155448" indent="-155448">
              <a:spcBef>
                <a:spcPts val="0"/>
              </a:spcBef>
              <a:spcAft>
                <a:spcPts val="400"/>
              </a:spcAft>
              <a:buClr>
                <a:srgbClr val="A8CC2F"/>
              </a:buClr>
              <a:buFont typeface="Arial"/>
              <a:buChar char="•"/>
            </a:pPr>
            <a:r>
              <a:rPr sz="1050" b="0" i="0">
                <a:solidFill>
                  <a:srgbClr val="414141"/>
                </a:solidFill>
                <a:latin typeface="Arial"/>
              </a:rPr>
              <a:t>Equals micro F1 in single-label classification</a:t>
            </a:r>
          </a:p>
          <a:p>
            <a:pPr algn="l" marL="155448" indent="-155448">
              <a:spcBef>
                <a:spcPts val="0"/>
              </a:spcBef>
              <a:spcAft>
                <a:spcPts val="400"/>
              </a:spcAft>
              <a:buClr>
                <a:srgbClr val="A8CC2F"/>
              </a:buClr>
              <a:buFont typeface="Arial"/>
              <a:buChar char="•"/>
            </a:pPr>
            <a:r>
              <a:rPr sz="1050" b="0" i="0">
                <a:solidFill>
                  <a:srgbClr val="414141"/>
                </a:solidFill>
                <a:latin typeface="Arial"/>
              </a:rPr>
              <a:t>Dominated by the majority class</a:t>
            </a:r>
          </a:p>
          <a:p>
            <a:pPr algn="l" marL="155448" indent="-155448">
              <a:spcBef>
                <a:spcPts val="0"/>
              </a:spcBef>
              <a:spcAft>
                <a:spcPts val="400"/>
              </a:spcAft>
              <a:buClr>
                <a:srgbClr val="A8CC2F"/>
              </a:buClr>
              <a:buFont typeface="Arial"/>
              <a:buChar char="•"/>
            </a:pPr>
            <a:r>
              <a:rPr sz="1050" b="0" i="0">
                <a:solidFill>
                  <a:srgbClr val="414141"/>
                </a:solidFill>
                <a:latin typeface="Arial"/>
              </a:rPr>
              <a:t>All-Negative: accuracy 0.6346, macro F1 0.2588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PUBLISHED EVIDENCE FOR MAGNIFICATION AND STRAIN</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3"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43</a:t>
            </a:fld>
          </a:p>
        </p:txBody>
      </p:sp>
      <p:sp>
        <p:nvSpPr>
          <p:cNvPr id="944" name="TextBox 943"/>
          <p:cNvSpPr txBox="1"/>
          <p:nvPr/>
        </p:nvSpPr>
        <p:spPr>
          <a:xfrm>
            <a:off x="685800" y="1783080"/>
            <a:ext cx="3886200" cy="292608"/>
          </a:xfrm>
          <a:prstGeom prst="rect">
            <a:avLst/>
          </a:prstGeom>
          <a:noFill/>
        </p:spPr>
        <p:txBody>
          <a:bodyPr wrap="square" lIns="45720" rIns="45720" tIns="27432" bIns="27432" anchor="t"/>
          <a:lstStyle/>
          <a:p>
            <a:pPr algn="l" marL="0" indent="0">
              <a:spcBef>
                <a:spcPts val="0"/>
              </a:spcBef>
              <a:spcAft>
                <a:spcPts val="300"/>
              </a:spcAft>
              <a:buNone/>
            </a:pPr>
            <a:r>
              <a:rPr sz="1150" b="1" i="0">
                <a:solidFill>
                  <a:srgbClr val="004CA0"/>
                </a:solidFill>
                <a:latin typeface="Arial"/>
              </a:rPr>
              <a:t>Magnification on CASME II (Li et al., 2018)</a:t>
            </a:r>
          </a:p>
        </p:txBody>
      </p:sp>
      <p:graphicFrame>
        <p:nvGraphicFramePr>
          <p:cNvPr id="945" name="Table 944"/>
          <p:cNvGraphicFramePr>
            <a:graphicFrameLocks noGrp="1"/>
          </p:cNvGraphicFramePr>
          <p:nvPr/>
        </p:nvGraphicFramePr>
        <p:xfrm>
          <a:off x="685800" y="2121408"/>
          <a:ext cx="3886200" cy="1243584"/>
        </p:xfrm>
        <a:graphic>
          <a:graphicData uri="http://schemas.openxmlformats.org/drawingml/2006/table">
            <a:tbl>
              <a:tblPr firstRow="0" bandRow="0">
                <a:tableStyleId>{2D5ABB26-0587-4C30-8999-92F81FD0307C}</a:tableStyleId>
              </a:tblPr>
              <a:tblGrid>
                <a:gridCol w="1143000"/>
                <a:gridCol w="914400"/>
                <a:gridCol w="914400"/>
                <a:gridCol w="914400"/>
              </a:tblGrid>
              <a:tr h="310896">
                <a:tc>
                  <a:txBody>
                    <a:bodyPr wrap="square"/>
                    <a:lstStyle/>
                    <a:p>
                      <a:pPr algn="l" marL="0" indent="0">
                        <a:spcBef>
                          <a:spcPts val="0"/>
                        </a:spcBef>
                        <a:spcAft>
                          <a:spcPts val="0"/>
                        </a:spcAft>
                        <a:buNone/>
                      </a:pPr>
                      <a:r>
                        <a:rPr sz="1000" b="1" i="0">
                          <a:solidFill>
                            <a:srgbClr val="FFFFFF"/>
                          </a:solidFill>
                          <a:latin typeface="Arial"/>
                        </a:rPr>
                        <a:t>Descriptor</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Without</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With</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Gain</a:t>
                      </a:r>
                    </a:p>
                  </a:txBody>
                  <a:tcPr marL="54864" marR="54864" marT="18288" marB="18288" anchor="ctr">
                    <a:lnL w="9525">
                      <a:noFill/>
                    </a:lnL>
                    <a:lnR w="9525">
                      <a:noFill/>
                    </a:lnR>
                    <a:lnT w="9525">
                      <a:noFill/>
                    </a:lnT>
                    <a:lnB w="9525">
                      <a:solidFill>
                        <a:srgbClr val="D9D9D9"/>
                      </a:solidFill>
                    </a:lnB>
                    <a:solidFill>
                      <a:srgbClr val="004CA0"/>
                    </a:solidFill>
                  </a:tcPr>
                </a:tc>
              </a:tr>
              <a:tr h="310896">
                <a:tc>
                  <a:txBody>
                    <a:bodyPr wrap="square"/>
                    <a:lstStyle/>
                    <a:p>
                      <a:pPr algn="l" marL="0" indent="0">
                        <a:spcBef>
                          <a:spcPts val="0"/>
                        </a:spcBef>
                        <a:spcAft>
                          <a:spcPts val="0"/>
                        </a:spcAft>
                        <a:buNone/>
                      </a:pPr>
                      <a:r>
                        <a:rPr sz="1000" b="0" i="0">
                          <a:solidFill>
                            <a:srgbClr val="414141"/>
                          </a:solidFill>
                          <a:latin typeface="Arial"/>
                        </a:rPr>
                        <a:t>LBP</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55.87 %</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60.73 %</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414141"/>
                          </a:solidFill>
                          <a:latin typeface="Arial"/>
                        </a:rPr>
                        <a:t>+4.86</a:t>
                      </a:r>
                    </a:p>
                  </a:txBody>
                  <a:tcPr marL="54864" marR="54864" marT="18288" marB="18288" anchor="ctr">
                    <a:lnL w="9525">
                      <a:noFill/>
                    </a:lnL>
                    <a:lnR w="9525">
                      <a:noFill/>
                    </a:lnR>
                    <a:lnT w="9525">
                      <a:noFill/>
                    </a:lnT>
                    <a:lnB w="9525">
                      <a:solidFill>
                        <a:srgbClr val="D9D9D9"/>
                      </a:solidFill>
                    </a:lnB>
                    <a:solidFill>
                      <a:srgbClr val="FFFFFF"/>
                    </a:solidFill>
                  </a:tcPr>
                </a:tc>
              </a:tr>
              <a:tr h="310896">
                <a:tc>
                  <a:txBody>
                    <a:bodyPr wrap="square"/>
                    <a:lstStyle/>
                    <a:p>
                      <a:pPr algn="l" marL="0" indent="0">
                        <a:spcBef>
                          <a:spcPts val="0"/>
                        </a:spcBef>
                        <a:spcAft>
                          <a:spcPts val="0"/>
                        </a:spcAft>
                        <a:buNone/>
                      </a:pPr>
                      <a:r>
                        <a:rPr sz="1000" b="0" i="0">
                          <a:solidFill>
                            <a:srgbClr val="414141"/>
                          </a:solidFill>
                          <a:latin typeface="Arial"/>
                        </a:rPr>
                        <a:t>HOG</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0" i="0">
                          <a:solidFill>
                            <a:srgbClr val="414141"/>
                          </a:solidFill>
                          <a:latin typeface="Arial"/>
                        </a:rPr>
                        <a:t>57.49 %</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0" i="0">
                          <a:solidFill>
                            <a:srgbClr val="414141"/>
                          </a:solidFill>
                          <a:latin typeface="Arial"/>
                        </a:rPr>
                        <a:t>63.97 %</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1" i="0">
                          <a:solidFill>
                            <a:srgbClr val="414141"/>
                          </a:solidFill>
                          <a:latin typeface="Arial"/>
                        </a:rPr>
                        <a:t>+6.48</a:t>
                      </a:r>
                    </a:p>
                  </a:txBody>
                  <a:tcPr marL="54864" marR="54864" marT="18288" marB="18288" anchor="ctr">
                    <a:lnL w="9525">
                      <a:noFill/>
                    </a:lnL>
                    <a:lnR w="9525">
                      <a:noFill/>
                    </a:lnR>
                    <a:lnT w="9525">
                      <a:noFill/>
                    </a:lnT>
                    <a:lnB w="9525">
                      <a:solidFill>
                        <a:srgbClr val="D9D9D9"/>
                      </a:solidFill>
                    </a:lnB>
                    <a:solidFill>
                      <a:srgbClr val="F2F2F2"/>
                    </a:solidFill>
                  </a:tcPr>
                </a:tc>
              </a:tr>
              <a:tr h="310896">
                <a:tc>
                  <a:txBody>
                    <a:bodyPr wrap="square"/>
                    <a:lstStyle/>
                    <a:p>
                      <a:pPr algn="l" marL="0" indent="0">
                        <a:spcBef>
                          <a:spcPts val="0"/>
                        </a:spcBef>
                        <a:spcAft>
                          <a:spcPts val="0"/>
                        </a:spcAft>
                        <a:buNone/>
                      </a:pPr>
                      <a:r>
                        <a:rPr sz="1000" b="0" i="0">
                          <a:solidFill>
                            <a:srgbClr val="414141"/>
                          </a:solidFill>
                          <a:latin typeface="Arial"/>
                        </a:rPr>
                        <a:t>HIGO</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57.09 %</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67.21 %</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414141"/>
                          </a:solidFill>
                          <a:latin typeface="Arial"/>
                        </a:rPr>
                        <a:t>+10.12</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sp>
        <p:nvSpPr>
          <p:cNvPr id="946" name="TextBox 945"/>
          <p:cNvSpPr txBox="1"/>
          <p:nvPr/>
        </p:nvSpPr>
        <p:spPr>
          <a:xfrm>
            <a:off x="685800" y="3520440"/>
            <a:ext cx="3886200" cy="237744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00" b="0" i="0">
                <a:solidFill>
                  <a:srgbClr val="414141"/>
                </a:solidFill>
                <a:latin typeface="Arial"/>
              </a:rPr>
              <a:t>Leave-one-subject-out accuracy, with descriptor and classifier held fixed</a:t>
            </a:r>
          </a:p>
          <a:p>
            <a:pPr algn="l" marL="155448" indent="-155448">
              <a:spcBef>
                <a:spcPts val="0"/>
              </a:spcBef>
              <a:spcAft>
                <a:spcPts val="400"/>
              </a:spcAft>
              <a:buClr>
                <a:srgbClr val="A8CC2F"/>
              </a:buClr>
              <a:buFont typeface="Arial"/>
              <a:buChar char="•"/>
            </a:pPr>
            <a:r>
              <a:rPr sz="1000" b="0" i="0">
                <a:solidFill>
                  <a:srgbClr val="414141"/>
                </a:solidFill>
                <a:latin typeface="Arial"/>
              </a:rPr>
              <a:t>Xia et al. (2020b) run the same check on composite data with optical-flow input: magnification lowers the UAR of every model</a:t>
            </a:r>
          </a:p>
          <a:p>
            <a:pPr algn="l" marL="155448" indent="-155448">
              <a:spcBef>
                <a:spcPts val="0"/>
              </a:spcBef>
              <a:spcAft>
                <a:spcPts val="400"/>
              </a:spcAft>
              <a:buClr>
                <a:srgbClr val="A8CC2F"/>
              </a:buClr>
              <a:buFont typeface="Arial"/>
              <a:buChar char="•"/>
            </a:pPr>
            <a:r>
              <a:rPr sz="1000" b="0" i="0">
                <a:solidFill>
                  <a:srgbClr val="414141"/>
                </a:solidFill>
                <a:latin typeface="Arial"/>
              </a:rPr>
              <a:t>Accuracy over α is 'rainbow-shaped', with the best performance generally in the range 8 to 16</a:t>
            </a:r>
          </a:p>
          <a:p>
            <a:pPr algn="l" marL="155448" indent="-155448">
              <a:spcBef>
                <a:spcPts val="0"/>
              </a:spcBef>
              <a:spcAft>
                <a:spcPts val="400"/>
              </a:spcAft>
              <a:buClr>
                <a:srgbClr val="A8CC2F"/>
              </a:buClr>
              <a:buFont typeface="Arial"/>
              <a:buChar char="•"/>
            </a:pPr>
            <a:r>
              <a:rPr sz="1000" b="0" i="0">
                <a:solidFill>
                  <a:srgbClr val="414141"/>
                </a:solidFill>
                <a:latin typeface="Arial"/>
              </a:rPr>
              <a:t>The gains are for appearance-based descriptors computed on magnified pixel intensities</a:t>
            </a:r>
          </a:p>
        </p:txBody>
      </p:sp>
      <p:sp>
        <p:nvSpPr>
          <p:cNvPr id="947" name="TextBox 946"/>
          <p:cNvSpPr txBox="1"/>
          <p:nvPr/>
        </p:nvSpPr>
        <p:spPr>
          <a:xfrm>
            <a:off x="4754880" y="1783080"/>
            <a:ext cx="3886200" cy="292608"/>
          </a:xfrm>
          <a:prstGeom prst="rect">
            <a:avLst/>
          </a:prstGeom>
          <a:noFill/>
        </p:spPr>
        <p:txBody>
          <a:bodyPr wrap="square" lIns="45720" rIns="45720" tIns="27432" bIns="27432" anchor="t"/>
          <a:lstStyle/>
          <a:p>
            <a:pPr algn="l" marL="0" indent="0">
              <a:spcBef>
                <a:spcPts val="0"/>
              </a:spcBef>
              <a:spcAft>
                <a:spcPts val="300"/>
              </a:spcAft>
              <a:buNone/>
            </a:pPr>
            <a:r>
              <a:rPr sz="1150" b="1" i="0">
                <a:solidFill>
                  <a:srgbClr val="004CA0"/>
                </a:solidFill>
                <a:latin typeface="Arial"/>
              </a:rPr>
              <a:t>Strain descriptors (Liong et al., 2016)</a:t>
            </a:r>
          </a:p>
        </p:txBody>
      </p:sp>
      <p:graphicFrame>
        <p:nvGraphicFramePr>
          <p:cNvPr id="948" name="Table 947"/>
          <p:cNvGraphicFramePr>
            <a:graphicFrameLocks noGrp="1"/>
          </p:cNvGraphicFramePr>
          <p:nvPr/>
        </p:nvGraphicFramePr>
        <p:xfrm>
          <a:off x="4754880" y="2121408"/>
          <a:ext cx="3886200" cy="1371600"/>
        </p:xfrm>
        <a:graphic>
          <a:graphicData uri="http://schemas.openxmlformats.org/drawingml/2006/table">
            <a:tbl>
              <a:tblPr firstRow="0" bandRow="0">
                <a:tableStyleId>{2D5ABB26-0587-4C30-8999-92F81FD0307C}</a:tableStyleId>
              </a:tblPr>
              <a:tblGrid>
                <a:gridCol w="1600200"/>
                <a:gridCol w="1143000"/>
                <a:gridCol w="1143000"/>
              </a:tblGrid>
              <a:tr h="274320">
                <a:tc>
                  <a:txBody>
                    <a:bodyPr wrap="square"/>
                    <a:lstStyle/>
                    <a:p>
                      <a:pPr algn="l" marL="0" indent="0">
                        <a:spcBef>
                          <a:spcPts val="0"/>
                        </a:spcBef>
                        <a:spcAft>
                          <a:spcPts val="0"/>
                        </a:spcAft>
                        <a:buNone/>
                      </a:pPr>
                      <a:r>
                        <a:rPr sz="1000" b="1" i="0">
                          <a:solidFill>
                            <a:srgbClr val="FFFFFF"/>
                          </a:solidFill>
                          <a:latin typeface="Arial"/>
                        </a:rPr>
                        <a:t>Method</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SMIC (%)</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1000" b="1" i="0">
                          <a:solidFill>
                            <a:srgbClr val="FFFFFF"/>
                          </a:solidFill>
                          <a:latin typeface="Arial"/>
                        </a:rPr>
                        <a:t>CASME II (%)</a:t>
                      </a:r>
                    </a:p>
                  </a:txBody>
                  <a:tcPr marL="54864" marR="54864" marT="18288" marB="18288" anchor="ctr">
                    <a:lnL w="9525">
                      <a:noFill/>
                    </a:lnL>
                    <a:lnR w="9525">
                      <a:noFill/>
                    </a:lnR>
                    <a:lnT w="9525">
                      <a:noFill/>
                    </a:lnT>
                    <a:lnB w="9525">
                      <a:solidFill>
                        <a:srgbClr val="D9D9D9"/>
                      </a:solidFill>
                    </a:lnB>
                    <a:solidFill>
                      <a:srgbClr val="004CA0"/>
                    </a:solidFill>
                  </a:tcPr>
                </a:tc>
              </a:tr>
              <a:tr h="274320">
                <a:tc>
                  <a:txBody>
                    <a:bodyPr wrap="square"/>
                    <a:lstStyle/>
                    <a:p>
                      <a:pPr algn="l" marL="0" indent="0">
                        <a:spcBef>
                          <a:spcPts val="0"/>
                        </a:spcBef>
                        <a:spcAft>
                          <a:spcPts val="0"/>
                        </a:spcAft>
                        <a:buNone/>
                      </a:pPr>
                      <a:r>
                        <a:rPr sz="1000" b="0" i="0">
                          <a:solidFill>
                            <a:srgbClr val="414141"/>
                          </a:solidFill>
                          <a:latin typeface="Arial"/>
                        </a:rPr>
                        <a:t>Baseline (texture)</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45.73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0" i="0">
                          <a:solidFill>
                            <a:srgbClr val="414141"/>
                          </a:solidFill>
                          <a:latin typeface="Arial"/>
                        </a:rPr>
                        <a:t>61.94</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l" marL="0" indent="0">
                        <a:spcBef>
                          <a:spcPts val="0"/>
                        </a:spcBef>
                        <a:spcAft>
                          <a:spcPts val="0"/>
                        </a:spcAft>
                        <a:buNone/>
                      </a:pPr>
                      <a:r>
                        <a:rPr sz="1000" b="0" i="0">
                          <a:solidFill>
                            <a:srgbClr val="414141"/>
                          </a:solidFill>
                          <a:latin typeface="Arial"/>
                        </a:rPr>
                        <a:t>OSF</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0" i="0">
                          <a:solidFill>
                            <a:srgbClr val="414141"/>
                          </a:solidFill>
                          <a:latin typeface="Arial"/>
                        </a:rPr>
                        <a:t>41.46</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0" i="0">
                          <a:solidFill>
                            <a:srgbClr val="414141"/>
                          </a:solidFill>
                          <a:latin typeface="Arial"/>
                        </a:rPr>
                        <a:t>51.01</a:t>
                      </a:r>
                    </a:p>
                  </a:txBody>
                  <a:tcPr marL="54864" marR="54864" marT="18288" marB="18288" anchor="ctr">
                    <a:lnL w="9525">
                      <a:noFill/>
                    </a:lnL>
                    <a:lnR w="9525">
                      <a:noFill/>
                    </a:lnR>
                    <a:lnT w="9525">
                      <a:noFill/>
                    </a:lnT>
                    <a:lnB w="9525">
                      <a:solidFill>
                        <a:srgbClr val="D9D9D9"/>
                      </a:solidFill>
                    </a:lnB>
                    <a:solidFill>
                      <a:srgbClr val="F2F2F2"/>
                    </a:solidFill>
                  </a:tcPr>
                </a:tc>
              </a:tr>
              <a:tr h="274320">
                <a:tc>
                  <a:txBody>
                    <a:bodyPr wrap="square"/>
                    <a:lstStyle/>
                    <a:p>
                      <a:pPr algn="l" marL="0" indent="0">
                        <a:spcBef>
                          <a:spcPts val="0"/>
                        </a:spcBef>
                        <a:spcAft>
                          <a:spcPts val="0"/>
                        </a:spcAft>
                        <a:buNone/>
                      </a:pPr>
                      <a:r>
                        <a:rPr sz="1000" b="1" i="0">
                          <a:solidFill>
                            <a:srgbClr val="414141"/>
                          </a:solidFill>
                          <a:latin typeface="Arial"/>
                        </a:rPr>
                        <a:t>OSF + OSW</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414141"/>
                          </a:solidFill>
                          <a:latin typeface="Arial"/>
                        </a:rPr>
                        <a:t>52.44</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1000" b="1" i="0">
                          <a:solidFill>
                            <a:srgbClr val="414141"/>
                          </a:solidFill>
                          <a:latin typeface="Arial"/>
                        </a:rPr>
                        <a:t>63.16</a:t>
                      </a:r>
                    </a:p>
                  </a:txBody>
                  <a:tcPr marL="54864" marR="54864" marT="18288" marB="18288" anchor="ctr">
                    <a:lnL w="9525">
                      <a:noFill/>
                    </a:lnL>
                    <a:lnR w="9525">
                      <a:noFill/>
                    </a:lnR>
                    <a:lnT w="9525">
                      <a:noFill/>
                    </a:lnT>
                    <a:lnB w="9525">
                      <a:solidFill>
                        <a:srgbClr val="D9D9D9"/>
                      </a:solidFill>
                    </a:lnB>
                    <a:solidFill>
                      <a:srgbClr val="FFFFFF"/>
                    </a:solidFill>
                  </a:tcPr>
                </a:tc>
              </a:tr>
              <a:tr h="274320">
                <a:tc>
                  <a:txBody>
                    <a:bodyPr wrap="square"/>
                    <a:lstStyle/>
                    <a:p>
                      <a:pPr algn="l" marL="0" indent="0">
                        <a:spcBef>
                          <a:spcPts val="0"/>
                        </a:spcBef>
                        <a:spcAft>
                          <a:spcPts val="0"/>
                        </a:spcAft>
                        <a:buNone/>
                      </a:pPr>
                      <a:r>
                        <a:rPr sz="1000" b="0" i="0">
                          <a:solidFill>
                            <a:srgbClr val="414141"/>
                          </a:solidFill>
                          <a:latin typeface="Arial"/>
                        </a:rPr>
                        <a:t>OFF + OFW (flow)</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0" i="0">
                          <a:solidFill>
                            <a:srgbClr val="414141"/>
                          </a:solidFill>
                          <a:latin typeface="Arial"/>
                        </a:rPr>
                        <a:t>40.24</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1000" b="0" i="0">
                          <a:solidFill>
                            <a:srgbClr val="414141"/>
                          </a:solidFill>
                          <a:latin typeface="Arial"/>
                        </a:rPr>
                        <a:t>55.87</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49" name="TextBox 948"/>
          <p:cNvSpPr txBox="1"/>
          <p:nvPr/>
        </p:nvSpPr>
        <p:spPr>
          <a:xfrm>
            <a:off x="4754880" y="3520440"/>
            <a:ext cx="3886200" cy="2377440"/>
          </a:xfrm>
          <a:prstGeom prst="rect">
            <a:avLst/>
          </a:prstGeom>
          <a:noFill/>
        </p:spPr>
        <p:txBody>
          <a:bodyPr wrap="square" lIns="45720" rIns="45720" tIns="27432" bIns="27432" anchor="t"/>
          <a:lstStyle/>
          <a:p>
            <a:pPr algn="l" marL="155448" indent="-155448">
              <a:spcBef>
                <a:spcPts val="0"/>
              </a:spcBef>
              <a:spcAft>
                <a:spcPts val="400"/>
              </a:spcAft>
              <a:buClr>
                <a:srgbClr val="A8CC2F"/>
              </a:buClr>
              <a:buFont typeface="Arial"/>
              <a:buChar char="•"/>
            </a:pPr>
            <a:r>
              <a:rPr sz="1000" b="0" i="0">
                <a:solidFill>
                  <a:srgbClr val="414141"/>
                </a:solidFill>
                <a:latin typeface="Arial"/>
              </a:rPr>
              <a:t>A matched comparison of strain and flow within one framework</a:t>
            </a:r>
          </a:p>
          <a:p>
            <a:pPr algn="l" marL="155448" indent="-155448">
              <a:spcBef>
                <a:spcPts val="0"/>
              </a:spcBef>
              <a:spcAft>
                <a:spcPts val="400"/>
              </a:spcAft>
              <a:buClr>
                <a:srgbClr val="A8CC2F"/>
              </a:buClr>
              <a:buFont typeface="Arial"/>
              <a:buChar char="•"/>
            </a:pPr>
            <a:r>
              <a:rPr sz="1000" b="0" i="0">
                <a:solidFill>
                  <a:srgbClr val="414141"/>
                </a:solidFill>
                <a:latin typeface="Arial"/>
              </a:rPr>
              <a:t>CASME II is evaluated leave-one-video-out, which is not subject-independent</a:t>
            </a:r>
          </a:p>
          <a:p>
            <a:pPr algn="l" marL="155448" indent="-155448">
              <a:spcBef>
                <a:spcPts val="0"/>
              </a:spcBef>
              <a:spcAft>
                <a:spcPts val="400"/>
              </a:spcAft>
              <a:buClr>
                <a:srgbClr val="A8CC2F"/>
              </a:buClr>
              <a:buFont typeface="Arial"/>
              <a:buChar char="•"/>
            </a:pPr>
            <a:r>
              <a:rPr sz="1000" b="0" i="0">
                <a:solidFill>
                  <a:srgbClr val="414141"/>
                </a:solidFill>
                <a:latin typeface="Arial"/>
              </a:rPr>
              <a:t>Hand-crafted descriptors; it does not establish the gain from a strain channel in a learned sequence model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FULL RESULTS FOR THE TWELVE CONFIGURATIONS</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4"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44</a:t>
            </a:fld>
          </a:p>
        </p:txBody>
      </p:sp>
      <p:graphicFrame>
        <p:nvGraphicFramePr>
          <p:cNvPr id="945" name="Table 944"/>
          <p:cNvGraphicFramePr>
            <a:graphicFrameLocks noGrp="1"/>
          </p:cNvGraphicFramePr>
          <p:nvPr/>
        </p:nvGraphicFramePr>
        <p:xfrm>
          <a:off x="685800" y="1783080"/>
          <a:ext cx="7955280" cy="3803904"/>
        </p:xfrm>
        <a:graphic>
          <a:graphicData uri="http://schemas.openxmlformats.org/drawingml/2006/table">
            <a:tbl>
              <a:tblPr firstRow="0" bandRow="0">
                <a:tableStyleId>{2D5ABB26-0587-4C30-8999-92F81FD0307C}</a:tableStyleId>
              </a:tblPr>
              <a:tblGrid>
                <a:gridCol w="548640"/>
                <a:gridCol w="685800"/>
                <a:gridCol w="594360"/>
                <a:gridCol w="685800"/>
                <a:gridCol w="594360"/>
                <a:gridCol w="548640"/>
                <a:gridCol w="914400"/>
                <a:gridCol w="914400"/>
                <a:gridCol w="822960"/>
                <a:gridCol w="822960"/>
                <a:gridCol w="822960"/>
              </a:tblGrid>
              <a:tr h="292608">
                <a:tc>
                  <a:txBody>
                    <a:bodyPr wrap="square"/>
                    <a:lstStyle/>
                    <a:p>
                      <a:pPr algn="ctr" marL="0" indent="0">
                        <a:spcBef>
                          <a:spcPts val="0"/>
                        </a:spcBef>
                        <a:spcAft>
                          <a:spcPts val="0"/>
                        </a:spcAft>
                        <a:buNone/>
                      </a:pPr>
                      <a:r>
                        <a:rPr sz="900" b="1" i="0">
                          <a:solidFill>
                            <a:srgbClr val="FFFFFF"/>
                          </a:solidFill>
                          <a:latin typeface="Arial"/>
                        </a:rPr>
                        <a:t>Rank</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Config.</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EVM</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SimAM</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CNN</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TF</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Macro F1</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Accuracy</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F1 Neg.</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F1 Pos.</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ctr" marL="0" indent="0">
                        <a:spcBef>
                          <a:spcPts val="0"/>
                        </a:spcBef>
                        <a:spcAft>
                          <a:spcPts val="0"/>
                        </a:spcAft>
                        <a:buNone/>
                      </a:pPr>
                      <a:r>
                        <a:rPr sz="900" b="1" i="0">
                          <a:solidFill>
                            <a:srgbClr val="FFFFFF"/>
                          </a:solidFill>
                          <a:latin typeface="Arial"/>
                        </a:rPr>
                        <a:t>F1 Sur.</a:t>
                      </a:r>
                    </a:p>
                  </a:txBody>
                  <a:tcPr marL="54864" marR="54864" marT="18288" marB="18288" anchor="ctr">
                    <a:lnL w="9525">
                      <a:noFill/>
                    </a:lnL>
                    <a:lnR w="9525">
                      <a:noFill/>
                    </a:lnR>
                    <a:lnT w="9525">
                      <a:noFill/>
                    </a:lnT>
                    <a:lnB w="9525">
                      <a:solidFill>
                        <a:srgbClr val="D9D9D9"/>
                      </a:solidFill>
                    </a:lnB>
                    <a:solidFill>
                      <a:srgbClr val="004CA0"/>
                    </a:solidFill>
                  </a:tcPr>
                </a:tc>
              </a:tr>
              <a:tr h="292608">
                <a:tc>
                  <a:txBody>
                    <a:bodyPr wrap="square"/>
                    <a:lstStyle/>
                    <a:p>
                      <a:pPr algn="ctr" marL="0" indent="0">
                        <a:spcBef>
                          <a:spcPts val="0"/>
                        </a:spcBef>
                        <a:spcAft>
                          <a:spcPts val="0"/>
                        </a:spcAft>
                        <a:buNone/>
                      </a:pPr>
                      <a:r>
                        <a:rPr sz="900" b="0" i="0">
                          <a:solidFill>
                            <a:srgbClr val="414141"/>
                          </a:solidFill>
                          <a:latin typeface="Arial"/>
                        </a:rPr>
                        <a:t>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C2</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0.7122</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0.7436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0.8068</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0.6506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0.6792</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ctr" marL="0" indent="0">
                        <a:spcBef>
                          <a:spcPts val="0"/>
                        </a:spcBef>
                        <a:spcAft>
                          <a:spcPts val="0"/>
                        </a:spcAft>
                        <a:buNone/>
                      </a:pPr>
                      <a:r>
                        <a:rPr sz="900" b="0" i="0">
                          <a:solidFill>
                            <a:srgbClr val="414141"/>
                          </a:solidFill>
                          <a:latin typeface="Arial"/>
                        </a:rPr>
                        <a:t>2</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C8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0.6659</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0.7500</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0.8458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0.5556</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0.5965</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ctr" marL="0" indent="0">
                        <a:spcBef>
                          <a:spcPts val="0"/>
                        </a:spcBef>
                        <a:spcAft>
                          <a:spcPts val="0"/>
                        </a:spcAft>
                        <a:buNone/>
                      </a:pPr>
                      <a:r>
                        <a:rPr sz="900" b="0" i="0">
                          <a:solidFill>
                            <a:srgbClr val="414141"/>
                          </a:solidFill>
                          <a:latin typeface="Arial"/>
                        </a:rPr>
                        <a:t>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C7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0.6625</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0.7051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0.7845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0.5479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0.6552</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ctr" marL="0" indent="0">
                        <a:spcBef>
                          <a:spcPts val="0"/>
                        </a:spcBef>
                        <a:spcAft>
                          <a:spcPts val="0"/>
                        </a:spcAft>
                        <a:buNone/>
                      </a:pPr>
                      <a:r>
                        <a:rPr sz="900" b="0" i="0">
                          <a:solidFill>
                            <a:srgbClr val="414141"/>
                          </a:solidFill>
                          <a:latin typeface="Arial"/>
                        </a:rPr>
                        <a:t>4</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C12</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0.6581</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0.6795</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0.7485</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0.5591</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0.6667</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ctr" marL="0" indent="0">
                        <a:spcBef>
                          <a:spcPts val="0"/>
                        </a:spcBef>
                        <a:spcAft>
                          <a:spcPts val="0"/>
                        </a:spcAft>
                        <a:buNone/>
                      </a:pPr>
                      <a:r>
                        <a:rPr sz="900" b="0" i="0">
                          <a:solidFill>
                            <a:srgbClr val="414141"/>
                          </a:solidFill>
                          <a:latin typeface="Arial"/>
                        </a:rPr>
                        <a:t>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C6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0.6171</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0.7308</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0.8325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0.4286</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0.5902</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ctr" marL="0" indent="0">
                        <a:spcBef>
                          <a:spcPts val="0"/>
                        </a:spcBef>
                        <a:spcAft>
                          <a:spcPts val="0"/>
                        </a:spcAft>
                        <a:buNone/>
                      </a:pPr>
                      <a:r>
                        <a:rPr sz="900" b="0" i="0">
                          <a:solidFill>
                            <a:srgbClr val="414141"/>
                          </a:solidFill>
                          <a:latin typeface="Arial"/>
                        </a:rPr>
                        <a:t>6</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C9</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0.5830</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0.7308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0.8491</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0.6000</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0.3000</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ctr" marL="0" indent="0">
                        <a:spcBef>
                          <a:spcPts val="0"/>
                        </a:spcBef>
                        <a:spcAft>
                          <a:spcPts val="0"/>
                        </a:spcAft>
                        <a:buNone/>
                      </a:pPr>
                      <a:r>
                        <a:rPr sz="900" b="0" i="0">
                          <a:solidFill>
                            <a:srgbClr val="414141"/>
                          </a:solidFill>
                          <a:latin typeface="Arial"/>
                        </a:rPr>
                        <a:t>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C13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0.4480</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0.4359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0.4127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0.5278</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0.4035</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ctr" marL="0" indent="0">
                        <a:spcBef>
                          <a:spcPts val="0"/>
                        </a:spcBef>
                        <a:spcAft>
                          <a:spcPts val="0"/>
                        </a:spcAft>
                        <a:buNone/>
                      </a:pPr>
                      <a:r>
                        <a:rPr sz="900" b="0" i="0">
                          <a:solidFill>
                            <a:srgbClr val="414141"/>
                          </a:solidFill>
                          <a:latin typeface="Arial"/>
                        </a:rPr>
                        <a:t>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C4</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0.4386</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0.4808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0.5641</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0.5055</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0.2462</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ctr" marL="0" indent="0">
                        <a:spcBef>
                          <a:spcPts val="0"/>
                        </a:spcBef>
                        <a:spcAft>
                          <a:spcPts val="0"/>
                        </a:spcAft>
                        <a:buNone/>
                      </a:pPr>
                      <a:r>
                        <a:rPr sz="900" b="0" i="0">
                          <a:solidFill>
                            <a:srgbClr val="414141"/>
                          </a:solidFill>
                          <a:latin typeface="Arial"/>
                        </a:rPr>
                        <a:t>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C1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0.4337</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0.4615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0.5600</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0.3714</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0.3696</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ctr" marL="0" indent="0">
                        <a:spcBef>
                          <a:spcPts val="0"/>
                        </a:spcBef>
                        <a:spcAft>
                          <a:spcPts val="0"/>
                        </a:spcAft>
                        <a:buNone/>
                      </a:pPr>
                      <a:r>
                        <a:rPr sz="900" b="0" i="0">
                          <a:solidFill>
                            <a:srgbClr val="414141"/>
                          </a:solidFill>
                          <a:latin typeface="Arial"/>
                        </a:rPr>
                        <a:t>10</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C5</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0.4302</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0.4231</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0.3840</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0.5227</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0.3838</a:t>
                      </a:r>
                    </a:p>
                  </a:txBody>
                  <a:tcPr marL="54864" marR="54864" marT="18288" marB="18288" anchor="ctr">
                    <a:lnL w="9525">
                      <a:noFill/>
                    </a:lnL>
                    <a:lnR w="9525">
                      <a:noFill/>
                    </a:lnR>
                    <a:lnT w="9525">
                      <a:noFill/>
                    </a:lnT>
                    <a:lnB w="9525">
                      <a:solidFill>
                        <a:srgbClr val="D9D9D9"/>
                      </a:solidFill>
                    </a:lnB>
                    <a:solidFill>
                      <a:srgbClr val="F2F2F2"/>
                    </a:solidFill>
                  </a:tcPr>
                </a:tc>
              </a:tr>
              <a:tr h="292608">
                <a:tc>
                  <a:txBody>
                    <a:bodyPr wrap="square"/>
                    <a:lstStyle/>
                    <a:p>
                      <a:pPr algn="ctr" marL="0" indent="0">
                        <a:spcBef>
                          <a:spcPts val="0"/>
                        </a:spcBef>
                        <a:spcAft>
                          <a:spcPts val="0"/>
                        </a:spcAft>
                        <a:buNone/>
                      </a:pPr>
                      <a:r>
                        <a:rPr sz="900" b="0" i="0">
                          <a:solidFill>
                            <a:srgbClr val="414141"/>
                          </a:solidFill>
                          <a:latin typeface="Arial"/>
                        </a:rPr>
                        <a:t>11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C3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1" i="0">
                          <a:solidFill>
                            <a:srgbClr val="414141"/>
                          </a:solidFill>
                          <a:latin typeface="Arial"/>
                        </a:rPr>
                        <a:t>0.4252</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0.4167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0.3607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0.5227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ctr" marL="0" indent="0">
                        <a:spcBef>
                          <a:spcPts val="0"/>
                        </a:spcBef>
                        <a:spcAft>
                          <a:spcPts val="0"/>
                        </a:spcAft>
                        <a:buNone/>
                      </a:pPr>
                      <a:r>
                        <a:rPr sz="900" b="0" i="0">
                          <a:solidFill>
                            <a:srgbClr val="414141"/>
                          </a:solidFill>
                          <a:latin typeface="Arial"/>
                        </a:rPr>
                        <a:t>0.3922</a:t>
                      </a:r>
                    </a:p>
                  </a:txBody>
                  <a:tcPr marL="54864" marR="54864" marT="18288" marB="18288" anchor="ctr">
                    <a:lnL w="9525">
                      <a:noFill/>
                    </a:lnL>
                    <a:lnR w="9525">
                      <a:noFill/>
                    </a:lnR>
                    <a:lnT w="9525">
                      <a:noFill/>
                    </a:lnT>
                    <a:lnB w="9525">
                      <a:solidFill>
                        <a:srgbClr val="D9D9D9"/>
                      </a:solidFill>
                    </a:lnB>
                    <a:solidFill>
                      <a:srgbClr val="FFFFFF"/>
                    </a:solidFill>
                  </a:tcPr>
                </a:tc>
              </a:tr>
              <a:tr h="292608">
                <a:tc>
                  <a:txBody>
                    <a:bodyPr wrap="square"/>
                    <a:lstStyle/>
                    <a:p>
                      <a:pPr algn="ctr" marL="0" indent="0">
                        <a:spcBef>
                          <a:spcPts val="0"/>
                        </a:spcBef>
                        <a:spcAft>
                          <a:spcPts val="0"/>
                        </a:spcAft>
                        <a:buNone/>
                      </a:pPr>
                      <a:r>
                        <a:rPr sz="900" b="0" i="0">
                          <a:solidFill>
                            <a:srgbClr val="414141"/>
                          </a:solidFill>
                          <a:latin typeface="Arial"/>
                        </a:rPr>
                        <a:t>12</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C16</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004CA0"/>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8C8C8C"/>
                          </a:solidFill>
                          <a:latin typeface="Arial"/>
                        </a:rPr>
                        <a: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1" i="0">
                          <a:solidFill>
                            <a:srgbClr val="414141"/>
                          </a:solidFill>
                          <a:latin typeface="Arial"/>
                        </a:rPr>
                        <a:t>0.4192</a:t>
                      </a:r>
                    </a:p>
                  </a:txBody>
                  <a:tcPr marL="54864" marR="54864" marT="18288" marB="18288" anchor="ctr">
                    <a:lnL w="9525">
                      <a:noFill/>
                    </a:lnL>
                    <a:lnR w="9525">
                      <a:noFill/>
                    </a:lnR>
                    <a:lnT w="9525">
                      <a:noFill/>
                    </a:lnT>
                    <a:lnB w="9525">
                      <a:solidFill>
                        <a:srgbClr val="D9D9D9"/>
                      </a:solidFill>
                    </a:lnB>
                    <a:solidFill>
                      <a:srgbClr val="E6EDF6"/>
                    </a:solidFill>
                  </a:tcPr>
                </a:tc>
                <a:tc>
                  <a:txBody>
                    <a:bodyPr wrap="square"/>
                    <a:lstStyle/>
                    <a:p>
                      <a:pPr algn="ctr" marL="0" indent="0">
                        <a:spcBef>
                          <a:spcPts val="0"/>
                        </a:spcBef>
                        <a:spcAft>
                          <a:spcPts val="0"/>
                        </a:spcAft>
                        <a:buNone/>
                      </a:pPr>
                      <a:r>
                        <a:rPr sz="900" b="0" i="0">
                          <a:solidFill>
                            <a:srgbClr val="414141"/>
                          </a:solidFill>
                          <a:latin typeface="Arial"/>
                        </a:rPr>
                        <a:t>0.4038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0.3500</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0.5143</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ctr" marL="0" indent="0">
                        <a:spcBef>
                          <a:spcPts val="0"/>
                        </a:spcBef>
                        <a:spcAft>
                          <a:spcPts val="0"/>
                        </a:spcAft>
                        <a:buNone/>
                      </a:pPr>
                      <a:r>
                        <a:rPr sz="900" b="0" i="0">
                          <a:solidFill>
                            <a:srgbClr val="414141"/>
                          </a:solidFill>
                          <a:latin typeface="Arial"/>
                        </a:rPr>
                        <a:t>0.3934</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46" name="TextBox 945"/>
          <p:cNvSpPr txBox="1"/>
          <p:nvPr/>
        </p:nvSpPr>
        <p:spPr>
          <a:xfrm>
            <a:off x="685800" y="5669280"/>
            <a:ext cx="7955279" cy="27432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Pooled over the 25 leave-one-subject-out folds (156 clips). EVM: magnification; CNN: convolutional stem; TF: transformer.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HOW OFTEN EACH CLASS IS PREDICTED</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5"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45</a:t>
            </a:fld>
          </a:p>
        </p:txBody>
      </p:sp>
      <p:graphicFrame>
        <p:nvGraphicFramePr>
          <p:cNvPr id="946" name="Chart 945"/>
          <p:cNvGraphicFramePr>
            <a:graphicFrameLocks noGrp="1"/>
          </p:cNvGraphicFramePr>
          <p:nvPr/>
        </p:nvGraphicFramePr>
        <p:xfrm>
          <a:off x="594360" y="1691640"/>
          <a:ext cx="5715000" cy="4297680"/>
        </p:xfrm>
        <a:graphic>
          <a:graphicData uri="http://schemas.openxmlformats.org/drawingml/2006/chart">
            <c:chart xmlns:c="http://schemas.openxmlformats.org/drawingml/2006/chart" r:id="rId3"/>
          </a:graphicData>
        </a:graphic>
      </p:graphicFrame>
      <p:sp>
        <p:nvSpPr>
          <p:cNvPr id="947" name="TextBox 946"/>
          <p:cNvSpPr txBox="1"/>
          <p:nvPr/>
        </p:nvSpPr>
        <p:spPr>
          <a:xfrm>
            <a:off x="6446520" y="1783080"/>
            <a:ext cx="2194560" cy="4114800"/>
          </a:xfrm>
          <a:prstGeom prst="rect">
            <a:avLst/>
          </a:prstGeom>
          <a:noFill/>
        </p:spPr>
        <p:txBody>
          <a:bodyPr wrap="square" lIns="45720" rIns="45720" tIns="27432" bIns="27432" anchor="t"/>
          <a:lstStyle/>
          <a:p>
            <a:pPr algn="l" marL="155448" indent="-155448">
              <a:spcBef>
                <a:spcPts val="0"/>
              </a:spcBef>
              <a:spcAft>
                <a:spcPts val="600"/>
              </a:spcAft>
              <a:buClr>
                <a:srgbClr val="A8CC2F"/>
              </a:buClr>
              <a:buFont typeface="Arial"/>
              <a:buChar char="•"/>
            </a:pPr>
            <a:r>
              <a:rPr sz="1050" b="0" i="0">
                <a:solidFill>
                  <a:srgbClr val="414141"/>
                </a:solidFill>
                <a:latin typeface="Arial"/>
              </a:rPr>
              <a:t>First group: true class sizes (99, 32, 25)</a:t>
            </a:r>
          </a:p>
          <a:p>
            <a:pPr algn="l" marL="155448" indent="-155448">
              <a:spcBef>
                <a:spcPts val="0"/>
              </a:spcBef>
              <a:spcAft>
                <a:spcPts val="600"/>
              </a:spcAft>
              <a:buClr>
                <a:srgbClr val="A8CC2F"/>
              </a:buClr>
              <a:buFont typeface="Arial"/>
              <a:buChar char="•"/>
            </a:pPr>
            <a:r>
              <a:rPr sz="1050" b="0" i="0">
                <a:solidFill>
                  <a:srgbClr val="414141"/>
                </a:solidFill>
                <a:latin typeface="Arial"/>
              </a:rPr>
              <a:t>Without the transformer, Surprise is predicted 40 to 97 times and Positive 38 to 59 times</a:t>
            </a:r>
          </a:p>
          <a:p>
            <a:pPr algn="l" marL="155448" indent="-155448">
              <a:spcBef>
                <a:spcPts val="0"/>
              </a:spcBef>
              <a:spcAft>
                <a:spcPts val="600"/>
              </a:spcAft>
              <a:buClr>
                <a:srgbClr val="A8CC2F"/>
              </a:buClr>
              <a:buFont typeface="Arial"/>
              <a:buChar char="•"/>
            </a:pPr>
            <a:r>
              <a:rPr sz="1050" b="0" i="0">
                <a:solidFill>
                  <a:srgbClr val="414141"/>
                </a:solidFill>
                <a:latin typeface="Arial"/>
              </a:rPr>
              <a:t>With the transformer, predicted counts lie much closer to the true counts</a:t>
            </a:r>
          </a:p>
          <a:p>
            <a:pPr algn="l" marL="155448" indent="-155448">
              <a:spcBef>
                <a:spcPts val="0"/>
              </a:spcBef>
              <a:spcAft>
                <a:spcPts val="600"/>
              </a:spcAft>
              <a:buClr>
                <a:srgbClr val="A8CC2F"/>
              </a:buClr>
              <a:buFont typeface="Arial"/>
              <a:buChar char="•"/>
            </a:pPr>
            <a:r>
              <a:rPr sz="1050" b="0" i="0">
                <a:solidFill>
                  <a:srgbClr val="414141"/>
                </a:solidFill>
                <a:latin typeface="Arial"/>
              </a:rPr>
              <a:t>With stem and transformer, Negative is predicted 82 to 113 times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TWELVE DECLARED DIVERGENCES FROM THE REVIEWED LITERATURE</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6"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46</a:t>
            </a:fld>
          </a:p>
        </p:txBody>
      </p:sp>
      <p:graphicFrame>
        <p:nvGraphicFramePr>
          <p:cNvPr id="947" name="Table 946"/>
          <p:cNvGraphicFramePr>
            <a:graphicFrameLocks noGrp="1"/>
          </p:cNvGraphicFramePr>
          <p:nvPr/>
        </p:nvGraphicFramePr>
        <p:xfrm>
          <a:off x="685800" y="1783080"/>
          <a:ext cx="7955280" cy="3877056"/>
        </p:xfrm>
        <a:graphic>
          <a:graphicData uri="http://schemas.openxmlformats.org/drawingml/2006/table">
            <a:tbl>
              <a:tblPr firstRow="0" bandRow="0">
                <a:tableStyleId>{2D5ABB26-0587-4C30-8999-92F81FD0307C}</a:tableStyleId>
              </a:tblPr>
              <a:tblGrid>
                <a:gridCol w="320040"/>
                <a:gridCol w="4206240"/>
                <a:gridCol w="3429000"/>
              </a:tblGrid>
              <a:tr h="256032">
                <a:tc>
                  <a:txBody>
                    <a:bodyPr wrap="square"/>
                    <a:lstStyle/>
                    <a:p>
                      <a:pPr algn="ctr" marL="0" indent="0">
                        <a:spcBef>
                          <a:spcPts val="0"/>
                        </a:spcBef>
                        <a:spcAft>
                          <a:spcPts val="0"/>
                        </a:spcAft>
                        <a:buNone/>
                      </a:pPr>
                      <a:r>
                        <a:rPr sz="850" b="1" i="0">
                          <a:solidFill>
                            <a:srgbClr val="FFFFFF"/>
                          </a:solidFill>
                          <a:latin typeface="Arial"/>
                        </a:rPr>
                        <a:t>#</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850" b="1" i="0">
                          <a:solidFill>
                            <a:srgbClr val="FFFFFF"/>
                          </a:solidFill>
                          <a:latin typeface="Arial"/>
                        </a:rPr>
                        <a:t>Divergence</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850" b="1" i="0">
                          <a:solidFill>
                            <a:srgbClr val="FFFFFF"/>
                          </a:solidFill>
                          <a:latin typeface="Arial"/>
                        </a:rPr>
                        <a:t>Consequence</a:t>
                      </a:r>
                    </a:p>
                  </a:txBody>
                  <a:tcPr marL="54864" marR="54864" marT="18288" marB="18288" anchor="ctr">
                    <a:lnL w="9525">
                      <a:noFill/>
                    </a:lnL>
                    <a:lnR w="9525">
                      <a:noFill/>
                    </a:lnR>
                    <a:lnT w="9525">
                      <a:noFill/>
                    </a:lnT>
                    <a:lnB w="9525">
                      <a:solidFill>
                        <a:srgbClr val="D9D9D9"/>
                      </a:solidFill>
                    </a:lnB>
                    <a:solidFill>
                      <a:srgbClr val="004CA0"/>
                    </a:solidFill>
                  </a:tcPr>
                </a:tc>
              </a:tr>
              <a:tr h="301752">
                <a:tc>
                  <a:txBody>
                    <a:bodyPr wrap="square"/>
                    <a:lstStyle/>
                    <a:p>
                      <a:pPr algn="ctr" marL="0" indent="0">
                        <a:spcBef>
                          <a:spcPts val="0"/>
                        </a:spcBef>
                        <a:spcAft>
                          <a:spcPts val="0"/>
                        </a:spcAft>
                        <a:buNone/>
                      </a:pPr>
                      <a:r>
                        <a:rPr sz="850" b="1" i="0">
                          <a:solidFill>
                            <a:srgbClr val="004CA0"/>
                          </a:solidFill>
                          <a:latin typeface="Arial"/>
                        </a:rPr>
                        <a:t>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Working set of 156 clips (sadness and fear in Negative); MEGC subset has 145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Comparison with challenge results is not like-for-like</a:t>
                      </a:r>
                    </a:p>
                  </a:txBody>
                  <a:tcPr marL="54864" marR="54864" marT="18288" marB="18288" anchor="ctr">
                    <a:lnL w="9525">
                      <a:noFill/>
                    </a:lnL>
                    <a:lnR w="9525">
                      <a:noFill/>
                    </a:lnR>
                    <a:lnT w="9525">
                      <a:noFill/>
                    </a:lnT>
                    <a:lnB w="9525">
                      <a:solidFill>
                        <a:srgbClr val="D9D9D9"/>
                      </a:solidFill>
                    </a:lnB>
                    <a:solidFill>
                      <a:srgbClr val="FFFFFF"/>
                    </a:solidFill>
                  </a:tcPr>
                </a:tc>
              </a:tr>
              <a:tr h="301752">
                <a:tc>
                  <a:txBody>
                    <a:bodyPr wrap="square"/>
                    <a:lstStyle/>
                    <a:p>
                      <a:pPr algn="ctr" marL="0" indent="0">
                        <a:spcBef>
                          <a:spcPts val="0"/>
                        </a:spcBef>
                        <a:spcAft>
                          <a:spcPts val="0"/>
                        </a:spcAft>
                        <a:buNone/>
                      </a:pPr>
                      <a:r>
                        <a:rPr sz="850" b="1" i="0">
                          <a:solidFill>
                            <a:srgbClr val="004CA0"/>
                          </a:solidFill>
                          <a:latin typeface="Arial"/>
                        </a:rPr>
                        <a:t>2</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Original frames used, not the registered release</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No landmark detection or alignment precedes the network</a:t>
                      </a:r>
                    </a:p>
                  </a:txBody>
                  <a:tcPr marL="54864" marR="54864" marT="18288" marB="18288" anchor="ctr">
                    <a:lnL w="9525">
                      <a:noFill/>
                    </a:lnL>
                    <a:lnR w="9525">
                      <a:noFill/>
                    </a:lnR>
                    <a:lnT w="9525">
                      <a:noFill/>
                    </a:lnT>
                    <a:lnB w="9525">
                      <a:solidFill>
                        <a:srgbClr val="D9D9D9"/>
                      </a:solidFill>
                    </a:lnB>
                    <a:solidFill>
                      <a:srgbClr val="F2F2F2"/>
                    </a:solidFill>
                  </a:tcPr>
                </a:tc>
              </a:tr>
              <a:tr h="301752">
                <a:tc>
                  <a:txBody>
                    <a:bodyPr wrap="square"/>
                    <a:lstStyle/>
                    <a:p>
                      <a:pPr algn="ctr" marL="0" indent="0">
                        <a:spcBef>
                          <a:spcPts val="0"/>
                        </a:spcBef>
                        <a:spcAft>
                          <a:spcPts val="0"/>
                        </a:spcAft>
                        <a:buNone/>
                      </a:pPr>
                      <a:r>
                        <a:rPr sz="850" b="1" i="0">
                          <a:solidFill>
                            <a:srgbClr val="004CA0"/>
                          </a:solidFill>
                          <a:latin typeface="Arial"/>
                        </a:rPr>
                        <a:t>3</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Magnification band 5–25 Hz with a Fourier mask, not 15–25 Hz with a Butterworth filter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Admits the low frequencies that Bai et al. rejected</a:t>
                      </a:r>
                    </a:p>
                  </a:txBody>
                  <a:tcPr marL="54864" marR="54864" marT="18288" marB="18288" anchor="ctr">
                    <a:lnL w="9525">
                      <a:noFill/>
                    </a:lnL>
                    <a:lnR w="9525">
                      <a:noFill/>
                    </a:lnR>
                    <a:lnT w="9525">
                      <a:noFill/>
                    </a:lnT>
                    <a:lnB w="9525">
                      <a:solidFill>
                        <a:srgbClr val="D9D9D9"/>
                      </a:solidFill>
                    </a:lnB>
                    <a:solidFill>
                      <a:srgbClr val="FFFFFF"/>
                    </a:solidFill>
                  </a:tcPr>
                </a:tc>
              </a:tr>
              <a:tr h="301752">
                <a:tc>
                  <a:txBody>
                    <a:bodyPr wrap="square"/>
                    <a:lstStyle/>
                    <a:p>
                      <a:pPr algn="ctr" marL="0" indent="0">
                        <a:spcBef>
                          <a:spcPts val="0"/>
                        </a:spcBef>
                        <a:spcAft>
                          <a:spcPts val="0"/>
                        </a:spcAft>
                        <a:buNone/>
                      </a:pPr>
                      <a:r>
                        <a:rPr sz="850" b="1" i="0">
                          <a:solidFill>
                            <a:srgbClr val="004CA0"/>
                          </a:solidFill>
                          <a:latin typeface="Arial"/>
                        </a:rPr>
                        <a:t>4</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Strain magnitude counts shear once, not twice</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Shear weighted lower by √2; untested</a:t>
                      </a:r>
                    </a:p>
                  </a:txBody>
                  <a:tcPr marL="54864" marR="54864" marT="18288" marB="18288" anchor="ctr">
                    <a:lnL w="9525">
                      <a:noFill/>
                    </a:lnL>
                    <a:lnR w="9525">
                      <a:noFill/>
                    </a:lnR>
                    <a:lnT w="9525">
                      <a:noFill/>
                    </a:lnT>
                    <a:lnB w="9525">
                      <a:solidFill>
                        <a:srgbClr val="D9D9D9"/>
                      </a:solidFill>
                    </a:lnB>
                    <a:solidFill>
                      <a:srgbClr val="F2F2F2"/>
                    </a:solidFill>
                  </a:tcPr>
                </a:tc>
              </a:tr>
              <a:tr h="301752">
                <a:tc>
                  <a:txBody>
                    <a:bodyPr wrap="square"/>
                    <a:lstStyle/>
                    <a:p>
                      <a:pPr algn="ctr" marL="0" indent="0">
                        <a:spcBef>
                          <a:spcPts val="0"/>
                        </a:spcBef>
                        <a:spcAft>
                          <a:spcPts val="0"/>
                        </a:spcAft>
                        <a:buNone/>
                      </a:pPr>
                      <a:r>
                        <a:rPr sz="850" b="1" i="0">
                          <a:solidFill>
                            <a:srgbClr val="004CA0"/>
                          </a:solidFill>
                          <a:latin typeface="Arial"/>
                        </a:rPr>
                        <a:t>5</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No dedicated strain filter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Differentiation can amplify noise in the flow estimate</a:t>
                      </a:r>
                    </a:p>
                  </a:txBody>
                  <a:tcPr marL="54864" marR="54864" marT="18288" marB="18288" anchor="ctr">
                    <a:lnL w="9525">
                      <a:noFill/>
                    </a:lnL>
                    <a:lnR w="9525">
                      <a:noFill/>
                    </a:lnR>
                    <a:lnT w="9525">
                      <a:noFill/>
                    </a:lnT>
                    <a:lnB w="9525">
                      <a:solidFill>
                        <a:srgbClr val="D9D9D9"/>
                      </a:solidFill>
                    </a:lnB>
                    <a:solidFill>
                      <a:srgbClr val="FFFFFF"/>
                    </a:solidFill>
                  </a:tcPr>
                </a:tc>
              </a:tr>
              <a:tr h="301752">
                <a:tc>
                  <a:txBody>
                    <a:bodyPr wrap="square"/>
                    <a:lstStyle/>
                    <a:p>
                      <a:pPr algn="ctr" marL="0" indent="0">
                        <a:spcBef>
                          <a:spcPts val="0"/>
                        </a:spcBef>
                        <a:spcAft>
                          <a:spcPts val="0"/>
                        </a:spcAft>
                        <a:buNone/>
                      </a:pPr>
                      <a:r>
                        <a:rPr sz="850" b="1" i="0">
                          <a:solidFill>
                            <a:srgbClr val="004CA0"/>
                          </a:solidFill>
                          <a:latin typeface="Arial"/>
                        </a:rPr>
                        <a:t>6</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Uniform index sampling, not TIM</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Avoids fabricating motion; cannot lengthen short clips</a:t>
                      </a:r>
                    </a:p>
                  </a:txBody>
                  <a:tcPr marL="54864" marR="54864" marT="18288" marB="18288" anchor="ctr">
                    <a:lnL w="9525">
                      <a:noFill/>
                    </a:lnL>
                    <a:lnR w="9525">
                      <a:noFill/>
                    </a:lnR>
                    <a:lnT w="9525">
                      <a:noFill/>
                    </a:lnT>
                    <a:lnB w="9525">
                      <a:solidFill>
                        <a:srgbClr val="D9D9D9"/>
                      </a:solidFill>
                    </a:lnB>
                    <a:solidFill>
                      <a:srgbClr val="F2F2F2"/>
                    </a:solidFill>
                  </a:tcPr>
                </a:tc>
              </a:tr>
              <a:tr h="301752">
                <a:tc>
                  <a:txBody>
                    <a:bodyPr wrap="square"/>
                    <a:lstStyle/>
                    <a:p>
                      <a:pPr algn="ctr" marL="0" indent="0">
                        <a:spcBef>
                          <a:spcPts val="0"/>
                        </a:spcBef>
                        <a:spcAft>
                          <a:spcPts val="0"/>
                        </a:spcAft>
                        <a:buNone/>
                      </a:pPr>
                      <a:r>
                        <a:rPr sz="850" b="1" i="0">
                          <a:solidFill>
                            <a:srgbClr val="004CA0"/>
                          </a:solidFill>
                          <a:latin typeface="Arial"/>
                        </a:rPr>
                        <a:t>7</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Magnification applied after subsampling</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Realised pass-band is clip-dependent and lower than intended</a:t>
                      </a:r>
                    </a:p>
                  </a:txBody>
                  <a:tcPr marL="54864" marR="54864" marT="18288" marB="18288" anchor="ctr">
                    <a:lnL w="9525">
                      <a:noFill/>
                    </a:lnL>
                    <a:lnR w="9525">
                      <a:noFill/>
                    </a:lnR>
                    <a:lnT w="9525">
                      <a:noFill/>
                    </a:lnT>
                    <a:lnB w="9525">
                      <a:solidFill>
                        <a:srgbClr val="D9D9D9"/>
                      </a:solidFill>
                    </a:lnB>
                    <a:solidFill>
                      <a:srgbClr val="FFFFFF"/>
                    </a:solidFill>
                  </a:tcPr>
                </a:tc>
              </a:tr>
              <a:tr h="301752">
                <a:tc>
                  <a:txBody>
                    <a:bodyPr wrap="square"/>
                    <a:lstStyle/>
                    <a:p>
                      <a:pPr algn="ctr" marL="0" indent="0">
                        <a:spcBef>
                          <a:spcPts val="0"/>
                        </a:spcBef>
                        <a:spcAft>
                          <a:spcPts val="0"/>
                        </a:spcAft>
                        <a:buNone/>
                      </a:pPr>
                      <a:r>
                        <a:rPr sz="850" b="1" i="0">
                          <a:solidFill>
                            <a:srgbClr val="004CA0"/>
                          </a:solidFill>
                          <a:latin typeface="Arial"/>
                        </a:rPr>
                        <a:t>8</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Stem kernels are spatial only</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Tests a learned spatial stem, not spatio-temporal convolution</a:t>
                      </a:r>
                    </a:p>
                  </a:txBody>
                  <a:tcPr marL="54864" marR="54864" marT="18288" marB="18288" anchor="ctr">
                    <a:lnL w="9525">
                      <a:noFill/>
                    </a:lnL>
                    <a:lnR w="9525">
                      <a:noFill/>
                    </a:lnR>
                    <a:lnT w="9525">
                      <a:noFill/>
                    </a:lnT>
                    <a:lnB w="9525">
                      <a:solidFill>
                        <a:srgbClr val="D9D9D9"/>
                      </a:solidFill>
                    </a:lnB>
                    <a:solidFill>
                      <a:srgbClr val="F2F2F2"/>
                    </a:solidFill>
                  </a:tcPr>
                </a:tc>
              </a:tr>
              <a:tr h="301752">
                <a:tc>
                  <a:txBody>
                    <a:bodyPr wrap="square"/>
                    <a:lstStyle/>
                    <a:p>
                      <a:pPr algn="ctr" marL="0" indent="0">
                        <a:spcBef>
                          <a:spcPts val="0"/>
                        </a:spcBef>
                        <a:spcAft>
                          <a:spcPts val="0"/>
                        </a:spcAft>
                        <a:buNone/>
                      </a:pPr>
                      <a:r>
                        <a:rPr sz="850" b="1" i="0">
                          <a:solidFill>
                            <a:srgbClr val="004CA0"/>
                          </a:solidFill>
                          <a:latin typeface="Arial"/>
                        </a:rPr>
                        <a:t>9</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Stem input is 224 × 224, above the 100 × 100 of Xia et al.</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Stem effect may reflect resolution as much as architecture</a:t>
                      </a:r>
                    </a:p>
                  </a:txBody>
                  <a:tcPr marL="54864" marR="54864" marT="18288" marB="18288" anchor="ctr">
                    <a:lnL w="9525">
                      <a:noFill/>
                    </a:lnL>
                    <a:lnR w="9525">
                      <a:noFill/>
                    </a:lnR>
                    <a:lnT w="9525">
                      <a:noFill/>
                    </a:lnT>
                    <a:lnB w="9525">
                      <a:solidFill>
                        <a:srgbClr val="D9D9D9"/>
                      </a:solidFill>
                    </a:lnB>
                    <a:solidFill>
                      <a:srgbClr val="FFFFFF"/>
                    </a:solidFill>
                  </a:tcPr>
                </a:tc>
              </a:tr>
              <a:tr h="301752">
                <a:tc>
                  <a:txBody>
                    <a:bodyPr wrap="square"/>
                    <a:lstStyle/>
                    <a:p>
                      <a:pPr algn="ctr" marL="0" indent="0">
                        <a:spcBef>
                          <a:spcPts val="0"/>
                        </a:spcBef>
                        <a:spcAft>
                          <a:spcPts val="0"/>
                        </a:spcAft>
                        <a:buNone/>
                      </a:pPr>
                      <a:r>
                        <a:rPr sz="850" b="1" i="0">
                          <a:solidFill>
                            <a:srgbClr val="004CA0"/>
                          </a:solidFill>
                          <a:latin typeface="Arial"/>
                        </a:rPr>
                        <a:t>10</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SimAM statistics over the whole clip; λ not re-tuned</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Activations judged against the clip, not the frame</a:t>
                      </a:r>
                    </a:p>
                  </a:txBody>
                  <a:tcPr marL="54864" marR="54864" marT="18288" marB="18288" anchor="ctr">
                    <a:lnL w="9525">
                      <a:noFill/>
                    </a:lnL>
                    <a:lnR w="9525">
                      <a:noFill/>
                    </a:lnR>
                    <a:lnT w="9525">
                      <a:noFill/>
                    </a:lnT>
                    <a:lnB w="9525">
                      <a:solidFill>
                        <a:srgbClr val="D9D9D9"/>
                      </a:solidFill>
                    </a:lnB>
                    <a:solidFill>
                      <a:srgbClr val="F2F2F2"/>
                    </a:solidFill>
                  </a:tcPr>
                </a:tc>
              </a:tr>
              <a:tr h="301752">
                <a:tc>
                  <a:txBody>
                    <a:bodyPr wrap="square"/>
                    <a:lstStyle/>
                    <a:p>
                      <a:pPr algn="ctr" marL="0" indent="0">
                        <a:spcBef>
                          <a:spcPts val="0"/>
                        </a:spcBef>
                        <a:spcAft>
                          <a:spcPts val="0"/>
                        </a:spcAft>
                        <a:buNone/>
                      </a:pPr>
                      <a:r>
                        <a:rPr sz="850" b="1" i="0">
                          <a:solidFill>
                            <a:srgbClr val="004CA0"/>
                          </a:solidFill>
                          <a:latin typeface="Arial"/>
                        </a:rPr>
                        <a:t>11</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Six differences from published SLSTT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850" b="0" i="0">
                          <a:solidFill>
                            <a:srgbClr val="414141"/>
                          </a:solidFill>
                          <a:latin typeface="Arial"/>
                        </a:rPr>
                        <a:t>The temporal encoder is not a reproduction of SLSTT</a:t>
                      </a:r>
                    </a:p>
                  </a:txBody>
                  <a:tcPr marL="54864" marR="54864" marT="18288" marB="18288" anchor="ctr">
                    <a:lnL w="9525">
                      <a:noFill/>
                    </a:lnL>
                    <a:lnR w="9525">
                      <a:noFill/>
                    </a:lnR>
                    <a:lnT w="9525">
                      <a:noFill/>
                    </a:lnT>
                    <a:lnB w="9525">
                      <a:solidFill>
                        <a:srgbClr val="D9D9D9"/>
                      </a:solidFill>
                    </a:lnB>
                    <a:solidFill>
                      <a:srgbClr val="FFFFFF"/>
                    </a:solidFill>
                  </a:tcPr>
                </a:tc>
              </a:tr>
              <a:tr h="301752">
                <a:tc>
                  <a:txBody>
                    <a:bodyPr wrap="square"/>
                    <a:lstStyle/>
                    <a:p>
                      <a:pPr algn="ctr" marL="0" indent="0">
                        <a:spcBef>
                          <a:spcPts val="0"/>
                        </a:spcBef>
                        <a:spcAft>
                          <a:spcPts val="0"/>
                        </a:spcAft>
                        <a:buNone/>
                      </a:pPr>
                      <a:r>
                        <a:rPr sz="850" b="1" i="0">
                          <a:solidFill>
                            <a:srgbClr val="004CA0"/>
                          </a:solidFill>
                          <a:latin typeface="Arial"/>
                        </a:rPr>
                        <a:t>12</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Label smoothing of 0.05</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850" b="0" i="0">
                          <a:solidFill>
                            <a:srgbClr val="414141"/>
                          </a:solidFill>
                          <a:latin typeface="Arial"/>
                        </a:rPr>
                        <a:t>Neither supported nor contradicted by the reviewed literature</a:t>
                      </a:r>
                    </a:p>
                  </a:txBody>
                  <a:tcPr marL="54864" marR="54864" marT="18288" marB="18288" anchor="ctr">
                    <a:lnL w="9525">
                      <a:noFill/>
                    </a:lnL>
                    <a:lnR w="9525">
                      <a:noFill/>
                    </a:lnR>
                    <a:lnT w="9525">
                      <a:noFill/>
                    </a:lnT>
                    <a:lnB w="9525">
                      <a:solidFill>
                        <a:srgbClr val="D9D9D9"/>
                      </a:solidFill>
                    </a:lnB>
                    <a:solidFill>
                      <a:srgbClr val="F2F2F2"/>
                    </a:solidFill>
                  </a:tcPr>
                </a:tc>
              </a:tr>
            </a:tbl>
          </a:graphicData>
        </a:graphic>
      </p:graphicFrame>
      <p:sp>
        <p:nvSpPr>
          <p:cNvPr id="948" name="TextBox 947"/>
          <p:cNvSpPr txBox="1"/>
          <p:nvPr/>
        </p:nvSpPr>
        <p:spPr>
          <a:xfrm>
            <a:off x="685800" y="5806440"/>
            <a:ext cx="7955279" cy="274320"/>
          </a:xfrm>
          <a:prstGeom prst="rect">
            <a:avLst/>
          </a:prstGeom>
          <a:noFill/>
        </p:spPr>
        <p:txBody>
          <a:bodyPr wrap="square" lIns="45720" rIns="45720" tIns="27432" bIns="27432" anchor="t"/>
          <a:lstStyle/>
          <a:p>
            <a:pPr algn="l" marL="0" indent="0">
              <a:spcBef>
                <a:spcPts val="0"/>
              </a:spcBef>
              <a:spcAft>
                <a:spcPts val="300"/>
              </a:spcAft>
              <a:buNone/>
            </a:pPr>
            <a:r>
              <a:rPr sz="850" b="0" i="1">
                <a:solidFill>
                  <a:srgbClr val="8C8C8C"/>
                </a:solidFill>
                <a:latin typeface="Arial"/>
              </a:rPr>
              <a:t>None invalidates the ablation, because every configuration shares them. They constrain the wording of the conclusions.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marL="0" indent="0">
              <a:spcBef>
                <a:spcPts val="0"/>
              </a:spcBef>
              <a:spcAft>
                <a:spcPts val="0"/>
              </a:spcAft>
              <a:buNone/>
            </a:pPr>
            <a:r>
              <a:rPr sz="1800" b="1" i="0">
                <a:solidFill>
                  <a:srgbClr val="A8CC2F"/>
                </a:solidFill>
                <a:latin typeface="Arial"/>
              </a:rPr>
              <a:t>RESEARCH GAP AND LIMITATION FOR EACH COMPONENT</a:t>
            </a:r>
          </a:p>
        </p:txBody>
      </p:sp>
      <p:sp>
        <p:nvSpPr>
          <p:cNvPr id="3" name="Footer"/>
          <p:cNvSpPr txBox="1"/>
          <p:nvPr/>
        </p:nvSpPr>
        <p:spPr>
          <a:xfrm>
            <a:off x="457200" y="6248095"/>
            <a:ext cx="5184648" cy="365760"/>
          </a:xfrm>
          <a:prstGeom prst="rect">
            <a:avLst/>
          </a:prstGeom>
          <a:noFill/>
        </p:spPr>
        <p:txBody>
          <a:bodyPr wrap="square" lIns="89611" rIns="89611" tIns="27432" bIns="27432" anchor="t"/>
          <a:lstStyle/>
          <a:p>
            <a:pPr algn="l" marL="0" indent="0">
              <a:spcBef>
                <a:spcPts val="0"/>
              </a:spcBef>
              <a:spcAft>
                <a:spcPts val="0"/>
              </a:spcAft>
              <a:buNone/>
            </a:pPr>
            <a:r>
              <a:rPr sz="1000" b="0" i="0">
                <a:solidFill>
                  <a:srgbClr val="A8CC2F"/>
                </a:solidFill>
                <a:latin typeface="Arial"/>
              </a:rPr>
              <a:t>06 · BACKUP SLIDES</a:t>
            </a:r>
          </a:p>
        </p:txBody>
      </p:sp>
      <p:sp>
        <p:nvSpPr>
          <p:cNvPr id="947" name="Slide Number"/>
          <p:cNvSpPr>
            <a:spLocks noGrp="1"/>
          </p:cNvSpPr>
          <p:nvPr>
            <p:ph type="sldNum" idx="1"/>
          </p:nvPr>
        </p:nvSpPr>
        <p:spPr>
          <a:xfrm>
            <a:off x="6781680" y="6248160"/>
            <a:ext cx="1905120" cy="457200"/>
          </a:xfrm>
        </p:spPr>
        <p:txBody>
          <a:bodyPr/>
          <a:lstStyle/>
          <a:p>
            <a:pPr algn="r"/>
            <a:fld id="{B6F15528-21DE-4FAA-801E-634DDDAF4B2B}" type="slidenum">
              <a:rPr lang="en-GB" sz="1000">
                <a:solidFill>
                  <a:srgbClr val="A8CC2F"/>
                </a:solidFill>
                <a:latin typeface="Arial"/>
              </a:rPr>
              <a:t>47</a:t>
            </a:fld>
          </a:p>
        </p:txBody>
      </p:sp>
      <p:graphicFrame>
        <p:nvGraphicFramePr>
          <p:cNvPr id="948" name="Table 947"/>
          <p:cNvGraphicFramePr>
            <a:graphicFrameLocks noGrp="1"/>
          </p:cNvGraphicFramePr>
          <p:nvPr/>
        </p:nvGraphicFramePr>
        <p:xfrm>
          <a:off x="685800" y="1783080"/>
          <a:ext cx="7955280" cy="3346704"/>
        </p:xfrm>
        <a:graphic>
          <a:graphicData uri="http://schemas.openxmlformats.org/drawingml/2006/table">
            <a:tbl>
              <a:tblPr firstRow="0" bandRow="0">
                <a:tableStyleId>{2D5ABB26-0587-4C30-8999-92F81FD0307C}</a:tableStyleId>
              </a:tblPr>
              <a:tblGrid>
                <a:gridCol w="1463040"/>
                <a:gridCol w="3383280"/>
                <a:gridCol w="3108960"/>
              </a:tblGrid>
              <a:tr h="274320">
                <a:tc>
                  <a:txBody>
                    <a:bodyPr wrap="square"/>
                    <a:lstStyle/>
                    <a:p>
                      <a:pPr algn="l" marL="0" indent="0">
                        <a:spcBef>
                          <a:spcPts val="0"/>
                        </a:spcBef>
                        <a:spcAft>
                          <a:spcPts val="0"/>
                        </a:spcAft>
                        <a:buNone/>
                      </a:pPr>
                      <a:r>
                        <a:rPr sz="900" b="1" i="0">
                          <a:solidFill>
                            <a:srgbClr val="FFFFFF"/>
                          </a:solidFill>
                          <a:latin typeface="Arial"/>
                        </a:rPr>
                        <a:t>Component</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00" b="1" i="0">
                          <a:solidFill>
                            <a:srgbClr val="FFFFFF"/>
                          </a:solidFill>
                          <a:latin typeface="Arial"/>
                        </a:rPr>
                        <a:t>Research gap in the reviewed literature</a:t>
                      </a:r>
                    </a:p>
                  </a:txBody>
                  <a:tcPr marL="54864" marR="54864" marT="18288" marB="18288" anchor="ctr">
                    <a:lnL w="9525">
                      <a:noFill/>
                    </a:lnL>
                    <a:lnR w="9525">
                      <a:noFill/>
                    </a:lnR>
                    <a:lnT w="9525">
                      <a:noFill/>
                    </a:lnT>
                    <a:lnB w="9525">
                      <a:solidFill>
                        <a:srgbClr val="D9D9D9"/>
                      </a:solidFill>
                    </a:lnB>
                    <a:solidFill>
                      <a:srgbClr val="004CA0"/>
                    </a:solidFill>
                  </a:tcPr>
                </a:tc>
                <a:tc>
                  <a:txBody>
                    <a:bodyPr wrap="square"/>
                    <a:lstStyle/>
                    <a:p>
                      <a:pPr algn="l" marL="0" indent="0">
                        <a:spcBef>
                          <a:spcPts val="0"/>
                        </a:spcBef>
                        <a:spcAft>
                          <a:spcPts val="0"/>
                        </a:spcAft>
                        <a:buNone/>
                      </a:pPr>
                      <a:r>
                        <a:rPr sz="900" b="1" i="0">
                          <a:solidFill>
                            <a:srgbClr val="FFFFFF"/>
                          </a:solidFill>
                          <a:latin typeface="Arial"/>
                        </a:rPr>
                        <a:t>Limitation in this thesis</a:t>
                      </a:r>
                    </a:p>
                  </a:txBody>
                  <a:tcPr marL="54864" marR="54864" marT="18288" marB="18288" anchor="ctr">
                    <a:lnL w="9525">
                      <a:noFill/>
                    </a:lnL>
                    <a:lnR w="9525">
                      <a:noFill/>
                    </a:lnR>
                    <a:lnT w="9525">
                      <a:noFill/>
                    </a:lnT>
                    <a:lnB w="9525">
                      <a:solidFill>
                        <a:srgbClr val="D9D9D9"/>
                      </a:solidFill>
                    </a:lnB>
                    <a:solidFill>
                      <a:srgbClr val="004CA0"/>
                    </a:solidFill>
                  </a:tcPr>
                </a:tc>
              </a:tr>
              <a:tr h="438912">
                <a:tc>
                  <a:txBody>
                    <a:bodyPr wrap="square"/>
                    <a:lstStyle/>
                    <a:p>
                      <a:pPr algn="l" marL="0" indent="0">
                        <a:spcBef>
                          <a:spcPts val="0"/>
                        </a:spcBef>
                        <a:spcAft>
                          <a:spcPts val="0"/>
                        </a:spcAft>
                        <a:buNone/>
                      </a:pPr>
                      <a:r>
                        <a:rPr sz="900" b="1" i="0">
                          <a:solidFill>
                            <a:srgbClr val="004CA0"/>
                          </a:solidFill>
                          <a:latin typeface="Arial"/>
                        </a:rPr>
                        <a:t>Magnification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Evaluated only in front of appearance-based descriptors, never with an explicit motion field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α = 10 not varied; band, filter and ordering depart from the reference; no alignment</a:t>
                      </a:r>
                    </a:p>
                  </a:txBody>
                  <a:tcPr marL="54864" marR="54864" marT="18288" marB="18288" anchor="ctr">
                    <a:lnL w="9525">
                      <a:noFill/>
                    </a:lnL>
                    <a:lnR w="9525">
                      <a:noFill/>
                    </a:lnR>
                    <a:lnT w="9525">
                      <a:noFill/>
                    </a:lnT>
                    <a:lnB w="9525">
                      <a:solidFill>
                        <a:srgbClr val="D9D9D9"/>
                      </a:solidFill>
                    </a:lnB>
                    <a:solidFill>
                      <a:srgbClr val="FFFFFF"/>
                    </a:solidFill>
                  </a:tcPr>
                </a:tc>
              </a:tr>
              <a:tr h="438912">
                <a:tc>
                  <a:txBody>
                    <a:bodyPr wrap="square"/>
                    <a:lstStyle/>
                    <a:p>
                      <a:pPr algn="l" marL="0" indent="0">
                        <a:spcBef>
                          <a:spcPts val="0"/>
                        </a:spcBef>
                        <a:spcAft>
                          <a:spcPts val="0"/>
                        </a:spcAft>
                        <a:buNone/>
                      </a:pPr>
                      <a:r>
                        <a:rPr sz="900" b="1" i="0">
                          <a:solidFill>
                            <a:srgbClr val="004CA0"/>
                          </a:solidFill>
                          <a:latin typeface="Arial"/>
                        </a:rPr>
                        <a:t>Optical flow</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00" b="0" i="0">
                          <a:solidFill>
                            <a:srgbClr val="414141"/>
                          </a:solidFill>
                          <a:latin typeface="Arial"/>
                        </a:rPr>
                        <a:t>Estimator not settled; a single onset-to-apex field against a flow sequence has not been measured</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00" b="0" i="0">
                          <a:solidFill>
                            <a:srgbClr val="414141"/>
                          </a:solidFill>
                          <a:latin typeface="Arial"/>
                        </a:rPr>
                        <a:t>Farnebäck only; consecutive-frame flow; no flow-based alignment</a:t>
                      </a:r>
                    </a:p>
                  </a:txBody>
                  <a:tcPr marL="54864" marR="54864" marT="18288" marB="18288" anchor="ctr">
                    <a:lnL w="9525">
                      <a:noFill/>
                    </a:lnL>
                    <a:lnR w="9525">
                      <a:noFill/>
                    </a:lnR>
                    <a:lnT w="9525">
                      <a:noFill/>
                    </a:lnT>
                    <a:lnB w="9525">
                      <a:solidFill>
                        <a:srgbClr val="D9D9D9"/>
                      </a:solidFill>
                    </a:lnB>
                    <a:solidFill>
                      <a:srgbClr val="F2F2F2"/>
                    </a:solidFill>
                  </a:tcPr>
                </a:tc>
              </a:tr>
              <a:tr h="438912">
                <a:tc>
                  <a:txBody>
                    <a:bodyPr wrap="square"/>
                    <a:lstStyle/>
                    <a:p>
                      <a:pPr algn="l" marL="0" indent="0">
                        <a:spcBef>
                          <a:spcPts val="0"/>
                        </a:spcBef>
                        <a:spcAft>
                          <a:spcPts val="0"/>
                        </a:spcAft>
                        <a:buNone/>
                      </a:pPr>
                      <a:r>
                        <a:rPr sz="900" b="1" i="0">
                          <a:solidFill>
                            <a:srgbClr val="004CA0"/>
                          </a:solidFill>
                          <a:latin typeface="Arial"/>
                        </a:rPr>
                        <a:t>Optical strain</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Evidence from hand-crafted descriptors under a protocol that is not subject-independent</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Shear counted once; no strain filter; present in all twelve configurations</a:t>
                      </a:r>
                    </a:p>
                  </a:txBody>
                  <a:tcPr marL="54864" marR="54864" marT="18288" marB="18288" anchor="ctr">
                    <a:lnL w="9525">
                      <a:noFill/>
                    </a:lnL>
                    <a:lnR w="9525">
                      <a:noFill/>
                    </a:lnR>
                    <a:lnT w="9525">
                      <a:noFill/>
                    </a:lnT>
                    <a:lnB w="9525">
                      <a:solidFill>
                        <a:srgbClr val="D9D9D9"/>
                      </a:solidFill>
                    </a:lnB>
                    <a:solidFill>
                      <a:srgbClr val="FFFFFF"/>
                    </a:solidFill>
                  </a:tcPr>
                </a:tc>
              </a:tr>
              <a:tr h="438912">
                <a:tc>
                  <a:txBody>
                    <a:bodyPr wrap="square"/>
                    <a:lstStyle/>
                    <a:p>
                      <a:pPr algn="l" marL="0" indent="0">
                        <a:spcBef>
                          <a:spcPts val="0"/>
                        </a:spcBef>
                        <a:spcAft>
                          <a:spcPts val="0"/>
                        </a:spcAft>
                        <a:buNone/>
                      </a:pPr>
                      <a:r>
                        <a:rPr sz="900" b="1" i="0">
                          <a:solidFill>
                            <a:srgbClr val="004CA0"/>
                          </a:solidFill>
                          <a:latin typeface="Arial"/>
                        </a:rPr>
                        <a:t>Convolutional stem</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00" b="0" i="0">
                          <a:solidFill>
                            <a:srgbClr val="414141"/>
                          </a:solidFill>
                          <a:latin typeface="Arial"/>
                        </a:rPr>
                        <a:t>No study removes the learned stem; depth and resolution reduce performance on composite data</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00" b="0" i="0">
                          <a:solidFill>
                            <a:srgbClr val="414141"/>
                          </a:solidFill>
                          <a:latin typeface="Arial"/>
                        </a:rPr>
                        <a:t>Spatial kernels only; 224 × 224 input</a:t>
                      </a:r>
                    </a:p>
                  </a:txBody>
                  <a:tcPr marL="54864" marR="54864" marT="18288" marB="18288" anchor="ctr">
                    <a:lnL w="9525">
                      <a:noFill/>
                    </a:lnL>
                    <a:lnR w="9525">
                      <a:noFill/>
                    </a:lnR>
                    <a:lnT w="9525">
                      <a:noFill/>
                    </a:lnT>
                    <a:lnB w="9525">
                      <a:solidFill>
                        <a:srgbClr val="D9D9D9"/>
                      </a:solidFill>
                    </a:lnB>
                    <a:solidFill>
                      <a:srgbClr val="F2F2F2"/>
                    </a:solidFill>
                  </a:tcPr>
                </a:tc>
              </a:tr>
              <a:tr h="438912">
                <a:tc>
                  <a:txBody>
                    <a:bodyPr wrap="square"/>
                    <a:lstStyle/>
                    <a:p>
                      <a:pPr algn="l" marL="0" indent="0">
                        <a:spcBef>
                          <a:spcPts val="0"/>
                        </a:spcBef>
                        <a:spcAft>
                          <a:spcPts val="0"/>
                        </a:spcAft>
                        <a:buNone/>
                      </a:pPr>
                      <a:r>
                        <a:rPr sz="900" b="1" i="0">
                          <a:solidFill>
                            <a:srgbClr val="004CA0"/>
                          </a:solidFill>
                          <a:latin typeface="Arial"/>
                        </a:rPr>
                        <a:t>SimAM</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Evaluated on natural images; per-frame against per-clip statistics untested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Clip-level statistics; λ not re-tuned; four pairs only</a:t>
                      </a:r>
                    </a:p>
                  </a:txBody>
                  <a:tcPr marL="54864" marR="54864" marT="18288" marB="18288" anchor="ctr">
                    <a:lnL w="9525">
                      <a:noFill/>
                    </a:lnL>
                    <a:lnR w="9525">
                      <a:noFill/>
                    </a:lnR>
                    <a:lnT w="9525">
                      <a:noFill/>
                    </a:lnT>
                    <a:lnB w="9525">
                      <a:solidFill>
                        <a:srgbClr val="D9D9D9"/>
                      </a:solidFill>
                    </a:lnB>
                    <a:solidFill>
                      <a:srgbClr val="FFFFFF"/>
                    </a:solidFill>
                  </a:tcPr>
                </a:tc>
              </a:tr>
              <a:tr h="438912">
                <a:tc>
                  <a:txBody>
                    <a:bodyPr wrap="square"/>
                    <a:lstStyle/>
                    <a:p>
                      <a:pPr algn="l" marL="0" indent="0">
                        <a:spcBef>
                          <a:spcPts val="0"/>
                        </a:spcBef>
                        <a:spcAft>
                          <a:spcPts val="0"/>
                        </a:spcAft>
                        <a:buNone/>
                      </a:pPr>
                      <a:r>
                        <a:rPr sz="900" b="1" i="0">
                          <a:solidFill>
                            <a:srgbClr val="007A33"/>
                          </a:solidFill>
                          <a:latin typeface="Arial"/>
                        </a:rPr>
                        <a:t>Temporal normalisation</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00" b="0" i="0">
                          <a:solidFill>
                            <a:srgbClr val="414141"/>
                          </a:solidFill>
                          <a:latin typeface="Arial"/>
                        </a:rPr>
                        <a:t>Ten frames by convention; studies report different optima; no comparison for motion input</a:t>
                      </a:r>
                    </a:p>
                  </a:txBody>
                  <a:tcPr marL="54864" marR="54864" marT="18288" marB="18288" anchor="ctr">
                    <a:lnL w="9525">
                      <a:noFill/>
                    </a:lnL>
                    <a:lnR w="9525">
                      <a:noFill/>
                    </a:lnR>
                    <a:lnT w="9525">
                      <a:noFill/>
                    </a:lnT>
                    <a:lnB w="9525">
                      <a:solidFill>
                        <a:srgbClr val="D9D9D9"/>
                      </a:solidFill>
                    </a:lnB>
                    <a:solidFill>
                      <a:srgbClr val="F2F2F2"/>
                    </a:solidFill>
                  </a:tcPr>
                </a:tc>
                <a:tc>
                  <a:txBody>
                    <a:bodyPr wrap="square"/>
                    <a:lstStyle/>
                    <a:p>
                      <a:pPr algn="l" marL="0" indent="0">
                        <a:spcBef>
                          <a:spcPts val="0"/>
                        </a:spcBef>
                        <a:spcAft>
                          <a:spcPts val="0"/>
                        </a:spcAft>
                        <a:buNone/>
                      </a:pPr>
                      <a:r>
                        <a:rPr sz="900" b="0" i="0">
                          <a:solidFill>
                            <a:srgbClr val="414141"/>
                          </a:solidFill>
                          <a:latin typeface="Arial"/>
                        </a:rPr>
                        <a:t>Uniform sampling, not TIM; 33 frames not varied</a:t>
                      </a:r>
                    </a:p>
                  </a:txBody>
                  <a:tcPr marL="54864" marR="54864" marT="18288" marB="18288" anchor="ctr">
                    <a:lnL w="9525">
                      <a:noFill/>
                    </a:lnL>
                    <a:lnR w="9525">
                      <a:noFill/>
                    </a:lnR>
                    <a:lnT w="9525">
                      <a:noFill/>
                    </a:lnT>
                    <a:lnB w="9525">
                      <a:solidFill>
                        <a:srgbClr val="D9D9D9"/>
                      </a:solidFill>
                    </a:lnB>
                    <a:solidFill>
                      <a:srgbClr val="F2F2F2"/>
                    </a:solidFill>
                  </a:tcPr>
                </a:tc>
              </a:tr>
              <a:tr h="438912">
                <a:tc>
                  <a:txBody>
                    <a:bodyPr wrap="square"/>
                    <a:lstStyle/>
                    <a:p>
                      <a:pPr algn="l" marL="0" indent="0">
                        <a:spcBef>
                          <a:spcPts val="0"/>
                        </a:spcBef>
                        <a:spcAft>
                          <a:spcPts val="0"/>
                        </a:spcAft>
                        <a:buNone/>
                      </a:pPr>
                      <a:r>
                        <a:rPr sz="900" b="1" i="0">
                          <a:solidFill>
                            <a:srgbClr val="007A33"/>
                          </a:solidFill>
                          <a:latin typeface="Arial"/>
                        </a:rPr>
                        <a:t>Transformer</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Best results combine a pre-trained spatial transformer with an LSTM; from-scratch benefit not isolated</a:t>
                      </a:r>
                    </a:p>
                  </a:txBody>
                  <a:tcPr marL="54864" marR="54864" marT="18288" marB="18288" anchor="ctr">
                    <a:lnL w="9525">
                      <a:noFill/>
                    </a:lnL>
                    <a:lnR w="9525">
                      <a:noFill/>
                    </a:lnR>
                    <a:lnT w="9525">
                      <a:noFill/>
                    </a:lnT>
                    <a:lnB w="9525">
                      <a:solidFill>
                        <a:srgbClr val="D9D9D9"/>
                      </a:solidFill>
                    </a:lnB>
                    <a:solidFill>
                      <a:srgbClr val="FFFFFF"/>
                    </a:solidFill>
                  </a:tcPr>
                </a:tc>
                <a:tc>
                  <a:txBody>
                    <a:bodyPr wrap="square"/>
                    <a:lstStyle/>
                    <a:p>
                      <a:pPr algn="l" marL="0" indent="0">
                        <a:spcBef>
                          <a:spcPts val="0"/>
                        </a:spcBef>
                        <a:spcAft>
                          <a:spcPts val="0"/>
                        </a:spcAft>
                        <a:buNone/>
                      </a:pPr>
                      <a:r>
                        <a:rPr sz="900" b="0" i="0">
                          <a:solidFill>
                            <a:srgbClr val="414141"/>
                          </a:solidFill>
                          <a:latin typeface="Arial"/>
                        </a:rPr>
                        <a:t>Six differences from SLSTT; self-attention not isolated</a:t>
                      </a:r>
                    </a:p>
                  </a:txBody>
                  <a:tcPr marL="54864" marR="54864" marT="18288" marB="18288" anchor="ctr">
                    <a:lnL w="9525">
                      <a:noFill/>
                    </a:lnL>
                    <a:lnR w="9525">
                      <a:noFill/>
                    </a:lnR>
                    <a:lnT w="9525">
                      <a:noFill/>
                    </a:lnT>
                    <a:lnB w="9525">
                      <a:solidFill>
                        <a:srgbClr val="D9D9D9"/>
                      </a:solidFill>
                    </a:lnB>
                    <a:solidFill>
                      <a:srgbClr val="FFFFFF"/>
                    </a:solidFill>
                  </a:tcPr>
                </a:tc>
              </a:tr>
            </a:tbl>
          </a:graphicData>
        </a:graphic>
      </p:graphicFrame>
      <p:sp>
        <p:nvSpPr>
          <p:cNvPr id="949" name="TextBox 948"/>
          <p:cNvSpPr txBox="1"/>
          <p:nvPr/>
        </p:nvSpPr>
        <p:spPr>
          <a:xfrm>
            <a:off x="685800" y="5257800"/>
            <a:ext cx="7955279" cy="594360"/>
          </a:xfrm>
          <a:prstGeom prst="rect">
            <a:avLst/>
          </a:prstGeom>
          <a:noFill/>
        </p:spPr>
        <p:txBody>
          <a:bodyPr wrap="square" lIns="45720" rIns="45720" tIns="27432" bIns="27432" anchor="t"/>
          <a:lstStyle/>
          <a:p>
            <a:pPr algn="l" marL="0" indent="0">
              <a:spcBef>
                <a:spcPts val="0"/>
              </a:spcBef>
              <a:spcAft>
                <a:spcPts val="300"/>
              </a:spcAft>
              <a:buNone/>
            </a:pPr>
            <a:r>
              <a:rPr sz="900" b="0" i="1">
                <a:solidFill>
                  <a:srgbClr val="8C8C8C"/>
                </a:solidFill>
                <a:latin typeface="Arial"/>
              </a:rPr>
              <a:t>Blue: motion modelling. Green: temporal modelling. Training: the imbalance treatment, γ and label smoothing are identical in all configurations, so their effects are not measured.</a:t>
            </a: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BTU">
      <a:dk1>
        <a:srgbClr val="000000"/>
      </a:dk1>
      <a:lt1>
        <a:srgbClr val="FFFFFF"/>
      </a:lt1>
      <a:dk2>
        <a:srgbClr val="414141"/>
      </a:dk2>
      <a:lt2>
        <a:srgbClr val="F2F2F2"/>
      </a:lt2>
      <a:accent1>
        <a:srgbClr val="004CA0"/>
      </a:accent1>
      <a:accent2>
        <a:srgbClr val="A8CC2F"/>
      </a:accent2>
      <a:accent3>
        <a:srgbClr val="00A0C8"/>
      </a:accent3>
      <a:accent4>
        <a:srgbClr val="D2007E"/>
      </a:accent4>
      <a:accent5>
        <a:srgbClr val="00A033"/>
      </a:accent5>
      <a:accent6>
        <a:srgbClr val="8C8C8C"/>
      </a:accent6>
      <a:hlink>
        <a:srgbClr val="004CA0"/>
      </a:hlink>
      <a:folHlink>
        <a:srgbClr val="D2007E"/>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LibreOffice/26.8.1.1$MacOSX_AARCH64 LibreOffice_project/bf6ef2662401c7d6dce671ab4deb26ee0af3a7c1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2010-05-17T12:02:14Z</dcterms:created>
  <dc:creator>s k</dc:creator>
  <dc:description/>
  <dc:language>en-US</dc:language>
  <cp:lastModifiedBy>Haase, Nina-Franziska</cp:lastModifiedBy>
  <cp:lastPrinted>2009-05-24T14:49:37Z</cp:lastPrinted>
  <dcterms:modified xsi:type="dcterms:W3CDTF">2016-10-14T07:39:43Z</dcterms:modified>
  <cp:revision>88</cp:revision>
  <dc:subject/>
  <dc:title>Improving Micro-Expression Recognition through Temporal and Motion Modeling</dc:title>
</cp:coreProperties>
</file>