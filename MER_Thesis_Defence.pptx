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5"/>
    <p:sldId id="257" r:id="rId6"/>
    <p:sldId id="258" r:id="rId7"/>
    <p:sldId id="259" r:id="rId4"/>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x="9144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presProps" Target="presProps.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Clips</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A8CC2F"/>
              </a:solidFill>
            </c:spPr>
          </c:dPt>
          <c:dPt>
            <c:idx val="2"/>
            <c:invertIfNegative val="0"/>
            <c:bubble3D val="0"/>
            <c:spPr>
              <a:solidFill>
                <a:srgbClr val="00A0C8"/>
              </a:solidFill>
            </c:spPr>
          </c:dPt>
          <c:cat>
            <c:strRef>
              <c:f>Sheet1!$A$2:$A$4</c:f>
              <c:strCache>
                <c:ptCount val="3"/>
                <c:pt idx="0">
                  <c:v>Negative</c:v>
                </c:pt>
                <c:pt idx="1">
                  <c:v>Positive</c:v>
                </c:pt>
                <c:pt idx="2">
                  <c:v>Surprise</c:v>
                </c:pt>
              </c:strCache>
            </c:strRef>
          </c:cat>
          <c:val>
            <c:numRef>
              <c:f>Sheet1!$B$2:$B$4</c:f>
              <c:numCache>
                <c:formatCode>General</c:formatCode>
                <c:ptCount val="3"/>
                <c:pt idx="0">
                  <c:v>99</c:v>
                </c:pt>
                <c:pt idx="1">
                  <c:v>32</c:v>
                </c:pt>
                <c:pt idx="2">
                  <c:v>25</c:v>
                </c:pt>
              </c:numCache>
            </c:numRef>
          </c:val>
        </c:ser>
        <c:dLbls>
          <c:numFmt formatCode="0" sourceLinked="0"/>
          <c:txPr>
            <a:bodyPr/>
            <a:lstStyle/>
            <a:p>
              <a:pPr>
                <a:defRPr sz="1000">
                  <a:solidFill>
                    <a:srgbClr val="414141"/>
                  </a:solidFill>
                  <a:latin typeface="Aria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1000">
                <a:solidFill>
                  <a:srgbClr val="414141"/>
                </a:solidFill>
                <a:latin typeface="Arial"/>
              </a:defRPr>
            </a:pPr>
          </a:p>
        </c:txPr>
        <c:crossAx val="-2113994440"/>
        <c:crosses val="autoZero"/>
        <c:auto val="1"/>
        <c:lblAlgn val="ctr"/>
        <c:lblOffset val="100"/>
        <c:noMultiLvlLbl val="0"/>
      </c:catAx>
      <c:valAx>
        <c:axId val="-2113994440"/>
        <c:scaling>
          <c:max val="120.0"/>
          <c:min val="0.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20.0"/>
      </c:valAx>
    </c:plotArea>
    <c:dispBlanksAs val="gap"/>
  </c:chart>
  <c:txPr>
    <a:bodyPr/>
    <a:lstStyle/>
    <a:p>
      <a:pPr>
        <a:defRPr sz="1000">
          <a:solidFill>
            <a:srgbClr val="414141"/>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Pooled macro F1</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004CA0"/>
              </a:solidFill>
            </c:spPr>
          </c:dPt>
          <c:dPt>
            <c:idx val="2"/>
            <c:invertIfNegative val="0"/>
            <c:bubble3D val="0"/>
            <c:spPr>
              <a:solidFill>
                <a:srgbClr val="004CA0"/>
              </a:solidFill>
            </c:spPr>
          </c:dPt>
          <c:dPt>
            <c:idx val="3"/>
            <c:invertIfNegative val="0"/>
            <c:bubble3D val="0"/>
            <c:spPr>
              <a:solidFill>
                <a:srgbClr val="004CA0"/>
              </a:solidFill>
            </c:spPr>
          </c:dPt>
          <c:dPt>
            <c:idx val="4"/>
            <c:invertIfNegative val="0"/>
            <c:bubble3D val="0"/>
            <c:spPr>
              <a:solidFill>
                <a:srgbClr val="004CA0"/>
              </a:solidFill>
            </c:spPr>
          </c:dPt>
          <c:dPt>
            <c:idx val="5"/>
            <c:invertIfNegative val="0"/>
            <c:bubble3D val="0"/>
            <c:spPr>
              <a:solidFill>
                <a:srgbClr val="004CA0"/>
              </a:solidFill>
            </c:spPr>
          </c:dPt>
          <c:dPt>
            <c:idx val="6"/>
            <c:invertIfNegative val="0"/>
            <c:bubble3D val="0"/>
            <c:spPr>
              <a:solidFill>
                <a:srgbClr val="8C8C8C"/>
              </a:solidFill>
            </c:spPr>
          </c:dPt>
          <c:dPt>
            <c:idx val="7"/>
            <c:invertIfNegative val="0"/>
            <c:bubble3D val="0"/>
            <c:spPr>
              <a:solidFill>
                <a:srgbClr val="8C8C8C"/>
              </a:solidFill>
            </c:spPr>
          </c:dPt>
          <c:dPt>
            <c:idx val="8"/>
            <c:invertIfNegative val="0"/>
            <c:bubble3D val="0"/>
            <c:spPr>
              <a:solidFill>
                <a:srgbClr val="8C8C8C"/>
              </a:solidFill>
            </c:spPr>
          </c:dPt>
          <c:dPt>
            <c:idx val="9"/>
            <c:invertIfNegative val="0"/>
            <c:bubble3D val="0"/>
            <c:spPr>
              <a:solidFill>
                <a:srgbClr val="8C8C8C"/>
              </a:solidFill>
            </c:spPr>
          </c:dPt>
          <c:dPt>
            <c:idx val="10"/>
            <c:invertIfNegative val="0"/>
            <c:bubble3D val="0"/>
            <c:spPr>
              <a:solidFill>
                <a:srgbClr val="8C8C8C"/>
              </a:solidFill>
            </c:spPr>
          </c:dPt>
          <c:dPt>
            <c:idx val="11"/>
            <c:invertIfNegative val="0"/>
            <c:bubble3D val="0"/>
            <c:spPr>
              <a:solidFill>
                <a:srgbClr val="8C8C8C"/>
              </a:solidFill>
            </c:spPr>
          </c:dPt>
          <c:cat>
            <c:strRef>
              <c:f>Sheet1!$A$2:$A$13</c:f>
              <c:strCache>
                <c:ptCount val="12"/>
                <c:pt idx="0">
                  <c:v>C2</c:v>
                </c:pt>
                <c:pt idx="1">
                  <c:v>C8</c:v>
                </c:pt>
                <c:pt idx="2">
                  <c:v>C7</c:v>
                </c:pt>
                <c:pt idx="3">
                  <c:v>C12</c:v>
                </c:pt>
                <c:pt idx="4">
                  <c:v>C6</c:v>
                </c:pt>
                <c:pt idx="5">
                  <c:v>C9</c:v>
                </c:pt>
                <c:pt idx="6">
                  <c:v>C13</c:v>
                </c:pt>
                <c:pt idx="7">
                  <c:v>C4</c:v>
                </c:pt>
                <c:pt idx="8">
                  <c:v>C1</c:v>
                </c:pt>
                <c:pt idx="9">
                  <c:v>C5</c:v>
                </c:pt>
                <c:pt idx="10">
                  <c:v>C3</c:v>
                </c:pt>
                <c:pt idx="11">
                  <c:v>C16</c:v>
                </c:pt>
              </c:strCache>
            </c:strRef>
          </c:cat>
          <c:val>
            <c:numRef>
              <c:f>Sheet1!$B$2:$B$13</c:f>
              <c:numCache>
                <c:formatCode>General</c:formatCode>
                <c:ptCount val="12"/>
                <c:pt idx="0">
                  <c:v>0.7122</c:v>
                </c:pt>
                <c:pt idx="1">
                  <c:v>0.6659</c:v>
                </c:pt>
                <c:pt idx="2">
                  <c:v>0.6625</c:v>
                </c:pt>
                <c:pt idx="3">
                  <c:v>0.6581</c:v>
                </c:pt>
                <c:pt idx="4">
                  <c:v>0.6171</c:v>
                </c:pt>
                <c:pt idx="5">
                  <c:v>0.583</c:v>
                </c:pt>
                <c:pt idx="6">
                  <c:v>0.448</c:v>
                </c:pt>
                <c:pt idx="7">
                  <c:v>0.4386</c:v>
                </c:pt>
                <c:pt idx="8">
                  <c:v>0.4337</c:v>
                </c:pt>
                <c:pt idx="9">
                  <c:v>0.4302</c:v>
                </c:pt>
                <c:pt idx="10">
                  <c:v>0.4252</c:v>
                </c:pt>
                <c:pt idx="11">
                  <c:v>0.4192</c:v>
                </c:pt>
              </c:numCache>
            </c:numRef>
          </c:val>
        </c:ser>
        <c:dLbls>
          <c:numFmt formatCode="0.000" sourceLinked="0"/>
          <c:txPr>
            <a:bodyPr/>
            <a:lstStyle/>
            <a:p>
              <a:pPr>
                <a:defRPr sz="750">
                  <a:solidFill>
                    <a:srgbClr val="414141"/>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900">
                <a:solidFill>
                  <a:srgbClr val="414141"/>
                </a:solidFill>
                <a:latin typeface="Arial"/>
              </a:defRPr>
            </a:pPr>
          </a:p>
        </c:txPr>
        <c:crossAx val="-2113994440"/>
        <c:crosses val="autoZero"/>
        <c:auto val="1"/>
        <c:lblAlgn val="ctr"/>
        <c:lblOffset val="100"/>
        <c:noMultiLvlLbl val="0"/>
      </c:catAx>
      <c:valAx>
        <c:axId val="-2113994440"/>
        <c:scaling>
          <c:max val="0.8"/>
          <c:min val="0.0"/>
        </c:scaling>
        <c:delete val="0"/>
        <c:axPos val="l"/>
        <c:majorGridlines>
          <c:spPr>
            <a:ln w="6350">
              <a:solidFill>
                <a:srgbClr val="D9D9D9"/>
              </a:solidFill>
            </a:ln>
          </c:spPr>
        </c:majorGridlines>
        <c:title>
          <c:tx>
            <c:rich>
              <a:bodyPr/>
              <a:lstStyle/>
              <a:p>
                <a:r>
                  <a:rPr sz="900" b="0">
                    <a:solidFill>
                      <a:srgbClr val="8C8C8C"/>
                    </a:solidFill>
                    <a:latin typeface="Arial"/>
                  </a:rPr>
                  <a:t>Pooled macro F1</a:t>
                </a:r>
              </a:p>
            </c:rich>
          </c:tx>
          <c:layout/>
          <c:overlay val="0"/>
        </c:title>
        <c:numFmt formatCode="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2"/>
      </c:valAx>
    </c:plotArea>
    <c:dispBlanksAs val="gap"/>
  </c:chart>
  <c:txPr>
    <a:bodyPr/>
    <a:lstStyle/>
    <a:p>
      <a:pPr>
        <a:defRPr sz="900">
          <a:solidFill>
            <a:srgbClr val="414141"/>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Mean effect</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8C8C8C"/>
              </a:solidFill>
            </c:spPr>
          </c:dPt>
          <c:dPt>
            <c:idx val="2"/>
            <c:invertIfNegative val="0"/>
            <c:bubble3D val="0"/>
            <c:spPr>
              <a:solidFill>
                <a:srgbClr val="8C8C8C"/>
              </a:solidFill>
            </c:spPr>
          </c:dPt>
          <c:dPt>
            <c:idx val="3"/>
            <c:invertIfNegative val="0"/>
            <c:bubble3D val="0"/>
            <c:spPr>
              <a:solidFill>
                <a:srgbClr val="D2007E"/>
              </a:solidFill>
            </c:spPr>
          </c:dPt>
          <c:cat>
            <c:strRef>
              <c:f>Sheet1!$A$2:$A$5</c:f>
              <c:strCache>
                <c:ptCount val="4"/>
                <c:pt idx="0">
                  <c:v>Transformer</c:v>
                </c:pt>
                <c:pt idx="1">
                  <c:v>Magnification</c:v>
                </c:pt>
                <c:pt idx="2">
                  <c:v>SimAM</c:v>
                </c:pt>
                <c:pt idx="3">
                  <c:v>Conv. stem</c:v>
                </c:pt>
              </c:strCache>
            </c:strRef>
          </c:cat>
          <c:val>
            <c:numRef>
              <c:f>Sheet1!$B$2:$B$5</c:f>
              <c:numCache>
                <c:formatCode>General</c:formatCode>
                <c:ptCount val="4"/>
                <c:pt idx="0">
                  <c:v>0.2173</c:v>
                </c:pt>
                <c:pt idx="1">
                  <c:v>0.0152</c:v>
                </c:pt>
                <c:pt idx="2">
                  <c:v>0.0034</c:v>
                </c:pt>
                <c:pt idx="3">
                  <c:v>-0.031</c:v>
                </c:pt>
              </c:numCache>
            </c:numRef>
          </c:val>
        </c:ser>
        <c:dLbls>
          <c:numFmt formatCode="+0.0000;−0.0000" sourceLinked="0"/>
          <c:txPr>
            <a:bodyPr/>
            <a:lstStyle/>
            <a:p>
              <a:pPr>
                <a:defRPr sz="900">
                  <a:solidFill>
                    <a:srgbClr val="41414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900">
                <a:solidFill>
                  <a:srgbClr val="414141"/>
                </a:solidFill>
                <a:latin typeface="Arial"/>
              </a:defRPr>
            </a:pPr>
          </a:p>
        </c:txPr>
        <c:crossAx val="-2113994440"/>
        <c:crosses val="autoZero"/>
        <c:auto val="1"/>
        <c:lblAlgn val="ctr"/>
        <c:lblOffset val="100"/>
        <c:noMultiLvlLbl val="0"/>
      </c:catAx>
      <c:valAx>
        <c:axId val="-2113994440"/>
        <c:scaling>
          <c:max val="0.25"/>
          <c:min val="-0.05"/>
        </c:scaling>
        <c:delete val="0"/>
        <c:axPos val="l"/>
        <c:majorGridlines>
          <c:spPr>
            <a:ln w="6350">
              <a:solidFill>
                <a:srgbClr val="D9D9D9"/>
              </a:solidFill>
            </a:ln>
          </c:spPr>
        </c:majorGridlines>
        <c:title>
          <c:tx>
            <c:rich>
              <a:bodyPr/>
              <a:lstStyle/>
              <a:p>
                <a:r>
                  <a:rPr sz="900" b="0">
                    <a:solidFill>
                      <a:srgbClr val="8C8C8C"/>
                    </a:solidFill>
                    <a:latin typeface="Arial"/>
                  </a:rPr>
                  <a:t>Mean change in pooled macro F1</a:t>
                </a:r>
              </a:p>
            </c:rich>
          </c:tx>
          <c:layout/>
          <c:overlay val="0"/>
        </c:title>
        <c:numFmt formatCode="0.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05"/>
      </c:valAx>
    </c:plotArea>
    <c:dispBlanksAs val="gap"/>
  </c:chart>
  <c:txPr>
    <a:bodyPr/>
    <a:lstStyle/>
    <a:p>
      <a:pPr>
        <a:defRPr sz="900">
          <a:solidFill>
            <a:srgbClr val="414141"/>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Transformer</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004CA0"/>
              </a:solidFill>
            </c:spPr>
          </c:dPt>
          <c:dPt>
            <c:idx val="2"/>
            <c:invertIfNegative val="0"/>
            <c:bubble3D val="0"/>
            <c:spPr>
              <a:solidFill>
                <a:srgbClr val="004CA0"/>
              </a:solidFill>
            </c:spPr>
          </c:dPt>
          <c:dPt>
            <c:idx val="3"/>
            <c:invertIfNegative val="0"/>
            <c:bubble3D val="0"/>
            <c:spPr>
              <a:solidFill>
                <a:srgbClr val="004CA0"/>
              </a:solidFill>
            </c:spPr>
          </c:dPt>
          <c:dPt>
            <c:idx val="4"/>
            <c:invertIfNegative val="0"/>
            <c:bubble3D val="0"/>
            <c:spPr>
              <a:solidFill>
                <a:srgbClr val="004CA0"/>
              </a:solidFill>
            </c:spPr>
          </c:dPt>
          <c:dPt>
            <c:idx val="5"/>
            <c:invertIfNegative val="0"/>
            <c:bubble3D val="0"/>
            <c:spPr>
              <a:solidFill>
                <a:srgbClr val="004CA0"/>
              </a:solidFill>
            </c:spPr>
          </c:dPt>
          <c:cat>
            <c:strRef>
              <c:f>Sheet1!$A$2:$A$7</c:f>
              <c:strCache>
                <c:ptCount val="6"/>
                <c:pt idx="0">
                  <c:v>1→2</c:v>
                </c:pt>
                <c:pt idx="1">
                  <c:v>16→8</c:v>
                </c:pt>
                <c:pt idx="2">
                  <c:v>4→12</c:v>
                </c:pt>
                <c:pt idx="3">
                  <c:v>13→7</c:v>
                </c:pt>
                <c:pt idx="4">
                  <c:v>5→6</c:v>
                </c:pt>
                <c:pt idx="5">
                  <c:v>3→9</c:v>
                </c:pt>
              </c:strCache>
            </c:strRef>
          </c:cat>
          <c:val>
            <c:numRef>
              <c:f>Sheet1!$B$2:$B$7</c:f>
              <c:numCache>
                <c:formatCode>General</c:formatCode>
                <c:ptCount val="6"/>
                <c:pt idx="0">
                  <c:v>0.2786</c:v>
                </c:pt>
                <c:pt idx="1">
                  <c:v>0.2467</c:v>
                </c:pt>
                <c:pt idx="2">
                  <c:v>0.2195</c:v>
                </c:pt>
                <c:pt idx="3">
                  <c:v>0.2146</c:v>
                </c:pt>
                <c:pt idx="4">
                  <c:v>0.1869</c:v>
                </c:pt>
                <c:pt idx="5">
                  <c:v>0.1578</c:v>
                </c:pt>
              </c:numCache>
            </c:numRef>
          </c:val>
        </c:ser>
        <c:dLbls>
          <c:numFmt formatCode="+0.000;−0.000" sourceLinked="0"/>
          <c:txPr>
            <a:bodyPr/>
            <a:lstStyle/>
            <a:p>
              <a:pPr>
                <a:defRPr sz="750">
                  <a:solidFill>
                    <a:srgbClr val="41414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800">
                <a:solidFill>
                  <a:srgbClr val="414141"/>
                </a:solidFill>
                <a:latin typeface="Arial"/>
              </a:defRPr>
            </a:pPr>
          </a:p>
        </c:txPr>
        <c:crossAx val="-2113994440"/>
        <c:crosses val="autoZero"/>
        <c:auto val="1"/>
        <c:lblAlgn val="ctr"/>
        <c:lblOffset val="100"/>
        <c:noMultiLvlLbl val="0"/>
      </c:catAx>
      <c:valAx>
        <c:axId val="-2113994440"/>
        <c:scaling>
          <c:max val="0.3"/>
          <c:min val="-0.2"/>
        </c:scaling>
        <c:delete val="0"/>
        <c:axPos val="l"/>
        <c:majorGridlines>
          <c:spPr>
            <a:ln w="6350">
              <a:solidFill>
                <a:srgbClr val="D9D9D9"/>
              </a:solidFill>
            </a:ln>
          </c:spPr>
        </c:majorGridlines>
        <c:numFmt formatCode="0.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1"/>
      </c:valAx>
    </c:plotArea>
    <c:dispBlanksAs val="gap"/>
  </c:chart>
  <c:txPr>
    <a:bodyPr/>
    <a:lstStyle/>
    <a:p>
      <a:pPr>
        <a:defRPr sz="800">
          <a:solidFill>
            <a:srgbClr val="414141"/>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Magnification</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004CA0"/>
              </a:solidFill>
            </c:spPr>
          </c:dPt>
          <c:dPt>
            <c:idx val="2"/>
            <c:invertIfNegative val="0"/>
            <c:bubble3D val="0"/>
            <c:spPr>
              <a:solidFill>
                <a:srgbClr val="004CA0"/>
              </a:solidFill>
            </c:spPr>
          </c:dPt>
          <c:dPt>
            <c:idx val="3"/>
            <c:invertIfNegative val="0"/>
            <c:bubble3D val="0"/>
            <c:spPr>
              <a:solidFill>
                <a:srgbClr val="004CA0"/>
              </a:solidFill>
            </c:spPr>
          </c:dPt>
          <c:dPt>
            <c:idx val="4"/>
            <c:invertIfNegative val="0"/>
            <c:bubble3D val="0"/>
            <c:spPr>
              <a:solidFill>
                <a:srgbClr val="D2007E"/>
              </a:solidFill>
            </c:spPr>
          </c:dPt>
          <c:dPt>
            <c:idx val="5"/>
            <c:invertIfNegative val="0"/>
            <c:bubble3D val="0"/>
            <c:spPr>
              <a:solidFill>
                <a:srgbClr val="D2007E"/>
              </a:solidFill>
            </c:spPr>
          </c:dPt>
          <c:cat>
            <c:strRef>
              <c:f>Sheet1!$A$2:$A$7</c:f>
              <c:strCache>
                <c:ptCount val="6"/>
                <c:pt idx="0">
                  <c:v>9→7</c:v>
                </c:pt>
                <c:pt idx="1">
                  <c:v>6→8</c:v>
                </c:pt>
                <c:pt idx="2">
                  <c:v>3→13</c:v>
                </c:pt>
                <c:pt idx="3">
                  <c:v>1→4</c:v>
                </c:pt>
                <c:pt idx="4">
                  <c:v>5→16</c:v>
                </c:pt>
                <c:pt idx="5">
                  <c:v>2→12</c:v>
                </c:pt>
              </c:strCache>
            </c:strRef>
          </c:cat>
          <c:val>
            <c:numRef>
              <c:f>Sheet1!$B$2:$B$7</c:f>
              <c:numCache>
                <c:formatCode>General</c:formatCode>
                <c:ptCount val="6"/>
                <c:pt idx="0">
                  <c:v>0.0795</c:v>
                </c:pt>
                <c:pt idx="1">
                  <c:v>0.0488</c:v>
                </c:pt>
                <c:pt idx="2">
                  <c:v>0.0228</c:v>
                </c:pt>
                <c:pt idx="3">
                  <c:v>0.0049</c:v>
                </c:pt>
                <c:pt idx="4">
                  <c:v>-0.0109</c:v>
                </c:pt>
                <c:pt idx="5">
                  <c:v>-0.0541</c:v>
                </c:pt>
              </c:numCache>
            </c:numRef>
          </c:val>
        </c:ser>
        <c:dLbls>
          <c:numFmt formatCode="+0.000;−0.000" sourceLinked="0"/>
          <c:txPr>
            <a:bodyPr/>
            <a:lstStyle/>
            <a:p>
              <a:pPr>
                <a:defRPr sz="750">
                  <a:solidFill>
                    <a:srgbClr val="41414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800">
                <a:solidFill>
                  <a:srgbClr val="414141"/>
                </a:solidFill>
                <a:latin typeface="Arial"/>
              </a:defRPr>
            </a:pPr>
          </a:p>
        </c:txPr>
        <c:crossAx val="-2113994440"/>
        <c:crosses val="autoZero"/>
        <c:auto val="1"/>
        <c:lblAlgn val="ctr"/>
        <c:lblOffset val="100"/>
        <c:noMultiLvlLbl val="0"/>
      </c:catAx>
      <c:valAx>
        <c:axId val="-2113994440"/>
        <c:scaling>
          <c:max val="0.3"/>
          <c:min val="-0.2"/>
        </c:scaling>
        <c:delete val="0"/>
        <c:axPos val="l"/>
        <c:majorGridlines>
          <c:spPr>
            <a:ln w="6350">
              <a:solidFill>
                <a:srgbClr val="D9D9D9"/>
              </a:solidFill>
            </a:ln>
          </c:spPr>
        </c:majorGridlines>
        <c:numFmt formatCode="0.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1"/>
      </c:valAx>
    </c:plotArea>
    <c:dispBlanksAs val="gap"/>
  </c:chart>
  <c:txPr>
    <a:bodyPr/>
    <a:lstStyle/>
    <a:p>
      <a:pPr>
        <a:defRPr sz="800">
          <a:solidFill>
            <a:srgbClr val="414141"/>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SimAM</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004CA0"/>
              </a:solidFill>
            </c:spPr>
          </c:dPt>
          <c:dPt>
            <c:idx val="2"/>
            <c:invertIfNegative val="0"/>
            <c:bubble3D val="0"/>
            <c:spPr>
              <a:solidFill>
                <a:srgbClr val="004CA0"/>
              </a:solidFill>
            </c:spPr>
          </c:dPt>
          <c:dPt>
            <c:idx val="3"/>
            <c:invertIfNegative val="0"/>
            <c:bubble3D val="0"/>
            <c:spPr>
              <a:solidFill>
                <a:srgbClr val="D2007E"/>
              </a:solidFill>
            </c:spPr>
          </c:dPt>
          <c:cat>
            <c:strRef>
              <c:f>Sheet1!$A$2:$A$5</c:f>
              <c:strCache>
                <c:ptCount val="4"/>
                <c:pt idx="0">
                  <c:v>9→6</c:v>
                </c:pt>
                <c:pt idx="1">
                  <c:v>3→5</c:v>
                </c:pt>
                <c:pt idx="2">
                  <c:v>7→8</c:v>
                </c:pt>
                <c:pt idx="3">
                  <c:v>13→16</c:v>
                </c:pt>
              </c:strCache>
            </c:strRef>
          </c:cat>
          <c:val>
            <c:numRef>
              <c:f>Sheet1!$B$2:$B$5</c:f>
              <c:numCache>
                <c:formatCode>General</c:formatCode>
                <c:ptCount val="4"/>
                <c:pt idx="0">
                  <c:v>0.0341</c:v>
                </c:pt>
                <c:pt idx="1">
                  <c:v>0.005</c:v>
                </c:pt>
                <c:pt idx="2">
                  <c:v>0.0034</c:v>
                </c:pt>
                <c:pt idx="3">
                  <c:v>-0.0288</c:v>
                </c:pt>
              </c:numCache>
            </c:numRef>
          </c:val>
        </c:ser>
        <c:dLbls>
          <c:numFmt formatCode="+0.000;−0.000" sourceLinked="0"/>
          <c:txPr>
            <a:bodyPr/>
            <a:lstStyle/>
            <a:p>
              <a:pPr>
                <a:defRPr sz="750">
                  <a:solidFill>
                    <a:srgbClr val="41414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800">
                <a:solidFill>
                  <a:srgbClr val="414141"/>
                </a:solidFill>
                <a:latin typeface="Arial"/>
              </a:defRPr>
            </a:pPr>
          </a:p>
        </c:txPr>
        <c:crossAx val="-2113994440"/>
        <c:crosses val="autoZero"/>
        <c:auto val="1"/>
        <c:lblAlgn val="ctr"/>
        <c:lblOffset val="100"/>
        <c:noMultiLvlLbl val="0"/>
      </c:catAx>
      <c:valAx>
        <c:axId val="-2113994440"/>
        <c:scaling>
          <c:max val="0.3"/>
          <c:min val="-0.2"/>
        </c:scaling>
        <c:delete val="0"/>
        <c:axPos val="l"/>
        <c:majorGridlines>
          <c:spPr>
            <a:ln w="6350">
              <a:solidFill>
                <a:srgbClr val="D9D9D9"/>
              </a:solidFill>
            </a:ln>
          </c:spPr>
        </c:majorGridlines>
        <c:numFmt formatCode="0.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1"/>
      </c:valAx>
    </c:plotArea>
    <c:dispBlanksAs val="gap"/>
  </c:chart>
  <c:txPr>
    <a:bodyPr/>
    <a:lstStyle/>
    <a:p>
      <a:pPr>
        <a:defRPr sz="800">
          <a:solidFill>
            <a:srgbClr val="414141"/>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Convolutional stem</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004CA0"/>
              </a:solidFill>
            </c:spPr>
          </c:dPt>
          <c:dPt>
            <c:idx val="2"/>
            <c:invertIfNegative val="0"/>
            <c:bubble3D val="0"/>
            <c:spPr>
              <a:solidFill>
                <a:srgbClr val="D2007E"/>
              </a:solidFill>
            </c:spPr>
          </c:dPt>
          <c:dPt>
            <c:idx val="3"/>
            <c:invertIfNegative val="0"/>
            <c:bubble3D val="0"/>
            <c:spPr>
              <a:solidFill>
                <a:srgbClr val="D2007E"/>
              </a:solidFill>
            </c:spPr>
          </c:dPt>
          <c:cat>
            <c:strRef>
              <c:f>Sheet1!$A$2:$A$5</c:f>
              <c:strCache>
                <c:ptCount val="4"/>
                <c:pt idx="0">
                  <c:v>4→13</c:v>
                </c:pt>
                <c:pt idx="1">
                  <c:v>12→7</c:v>
                </c:pt>
                <c:pt idx="2">
                  <c:v>1→3</c:v>
                </c:pt>
                <c:pt idx="3">
                  <c:v>2→9</c:v>
                </c:pt>
              </c:strCache>
            </c:strRef>
          </c:cat>
          <c:val>
            <c:numRef>
              <c:f>Sheet1!$B$2:$B$5</c:f>
              <c:numCache>
                <c:formatCode>General</c:formatCode>
                <c:ptCount val="4"/>
                <c:pt idx="0">
                  <c:v>0.0094</c:v>
                </c:pt>
                <c:pt idx="1">
                  <c:v>0.0044</c:v>
                </c:pt>
                <c:pt idx="2">
                  <c:v>-0.0085</c:v>
                </c:pt>
                <c:pt idx="3">
                  <c:v>-0.1292</c:v>
                </c:pt>
              </c:numCache>
            </c:numRef>
          </c:val>
        </c:ser>
        <c:dLbls>
          <c:numFmt formatCode="+0.000;−0.000" sourceLinked="0"/>
          <c:txPr>
            <a:bodyPr/>
            <a:lstStyle/>
            <a:p>
              <a:pPr>
                <a:defRPr sz="750">
                  <a:solidFill>
                    <a:srgbClr val="41414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800">
                <a:solidFill>
                  <a:srgbClr val="414141"/>
                </a:solidFill>
                <a:latin typeface="Arial"/>
              </a:defRPr>
            </a:pPr>
          </a:p>
        </c:txPr>
        <c:crossAx val="-2113994440"/>
        <c:crosses val="autoZero"/>
        <c:auto val="1"/>
        <c:lblAlgn val="ctr"/>
        <c:lblOffset val="100"/>
        <c:noMultiLvlLbl val="0"/>
      </c:catAx>
      <c:valAx>
        <c:axId val="-2113994440"/>
        <c:scaling>
          <c:max val="0.3"/>
          <c:min val="-0.2"/>
        </c:scaling>
        <c:delete val="0"/>
        <c:axPos val="l"/>
        <c:majorGridlines>
          <c:spPr>
            <a:ln w="6350">
              <a:solidFill>
                <a:srgbClr val="D9D9D9"/>
              </a:solidFill>
            </a:ln>
          </c:spPr>
        </c:majorGridlines>
        <c:numFmt formatCode="0.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1"/>
      </c:valAx>
    </c:plotArea>
    <c:dispBlanksAs val="gap"/>
  </c:chart>
  <c:txPr>
    <a:bodyPr/>
    <a:lstStyle/>
    <a:p>
      <a:pPr>
        <a:defRPr sz="800">
          <a:solidFill>
            <a:srgbClr val="414141"/>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Negative (99 clips)</c:v>
                </c:pt>
              </c:strCache>
            </c:strRef>
          </c:tx>
          <c:spPr>
            <a:solidFill>
              <a:srgbClr val="004CA0"/>
            </a:solidFill>
          </c:spPr>
          <c:invertIfNegative val="0"/>
          <c:cat>
            <c:strRef>
              <c:f>Sheet1!$A$2:$A$13</c:f>
              <c:strCache>
                <c:ptCount val="12"/>
                <c:pt idx="0">
                  <c:v>C2</c:v>
                </c:pt>
                <c:pt idx="1">
                  <c:v>C8</c:v>
                </c:pt>
                <c:pt idx="2">
                  <c:v>C7</c:v>
                </c:pt>
                <c:pt idx="3">
                  <c:v>C12</c:v>
                </c:pt>
                <c:pt idx="4">
                  <c:v>C6</c:v>
                </c:pt>
                <c:pt idx="5">
                  <c:v>C9</c:v>
                </c:pt>
                <c:pt idx="6">
                  <c:v>C13</c:v>
                </c:pt>
                <c:pt idx="7">
                  <c:v>C4</c:v>
                </c:pt>
                <c:pt idx="8">
                  <c:v>C1</c:v>
                </c:pt>
                <c:pt idx="9">
                  <c:v>C5</c:v>
                </c:pt>
                <c:pt idx="10">
                  <c:v>C3</c:v>
                </c:pt>
                <c:pt idx="11">
                  <c:v>C16</c:v>
                </c:pt>
              </c:strCache>
            </c:strRef>
          </c:cat>
          <c:val>
            <c:numRef>
              <c:f>Sheet1!$B$2:$B$13</c:f>
              <c:numCache>
                <c:formatCode>General</c:formatCode>
                <c:ptCount val="12"/>
                <c:pt idx="0">
                  <c:v>0.8068</c:v>
                </c:pt>
                <c:pt idx="1">
                  <c:v>0.8458</c:v>
                </c:pt>
                <c:pt idx="2">
                  <c:v>0.7845</c:v>
                </c:pt>
                <c:pt idx="3">
                  <c:v>0.7485</c:v>
                </c:pt>
                <c:pt idx="4">
                  <c:v>0.8325</c:v>
                </c:pt>
                <c:pt idx="5">
                  <c:v>0.8491</c:v>
                </c:pt>
                <c:pt idx="6">
                  <c:v>0.4127</c:v>
                </c:pt>
                <c:pt idx="7">
                  <c:v>0.5641</c:v>
                </c:pt>
                <c:pt idx="8">
                  <c:v>0.56</c:v>
                </c:pt>
                <c:pt idx="9">
                  <c:v>0.384</c:v>
                </c:pt>
                <c:pt idx="10">
                  <c:v>0.3607</c:v>
                </c:pt>
                <c:pt idx="11">
                  <c:v>0.35</c:v>
                </c:pt>
              </c:numCache>
            </c:numRef>
          </c:val>
        </c:ser>
        <c:ser>
          <c:idx val="1"/>
          <c:order val="1"/>
          <c:tx>
            <c:strRef>
              <c:f>Sheet1!$C$1</c:f>
              <c:strCache>
                <c:ptCount val="1"/>
                <c:pt idx="0">
                  <c:v>Positive (32 clips)</c:v>
                </c:pt>
              </c:strCache>
            </c:strRef>
          </c:tx>
          <c:spPr>
            <a:solidFill>
              <a:srgbClr val="A8CC2F"/>
            </a:solidFill>
          </c:spPr>
          <c:invertIfNegative val="0"/>
          <c:cat>
            <c:strRef>
              <c:f>Sheet1!$A$2:$A$13</c:f>
              <c:strCache>
                <c:ptCount val="12"/>
                <c:pt idx="0">
                  <c:v>C2</c:v>
                </c:pt>
                <c:pt idx="1">
                  <c:v>C8</c:v>
                </c:pt>
                <c:pt idx="2">
                  <c:v>C7</c:v>
                </c:pt>
                <c:pt idx="3">
                  <c:v>C12</c:v>
                </c:pt>
                <c:pt idx="4">
                  <c:v>C6</c:v>
                </c:pt>
                <c:pt idx="5">
                  <c:v>C9</c:v>
                </c:pt>
                <c:pt idx="6">
                  <c:v>C13</c:v>
                </c:pt>
                <c:pt idx="7">
                  <c:v>C4</c:v>
                </c:pt>
                <c:pt idx="8">
                  <c:v>C1</c:v>
                </c:pt>
                <c:pt idx="9">
                  <c:v>C5</c:v>
                </c:pt>
                <c:pt idx="10">
                  <c:v>C3</c:v>
                </c:pt>
                <c:pt idx="11">
                  <c:v>C16</c:v>
                </c:pt>
              </c:strCache>
            </c:strRef>
          </c:cat>
          <c:val>
            <c:numRef>
              <c:f>Sheet1!$C$2:$C$13</c:f>
              <c:numCache>
                <c:formatCode>General</c:formatCode>
                <c:ptCount val="12"/>
                <c:pt idx="0">
                  <c:v>0.6506</c:v>
                </c:pt>
                <c:pt idx="1">
                  <c:v>0.5556</c:v>
                </c:pt>
                <c:pt idx="2">
                  <c:v>0.5479</c:v>
                </c:pt>
                <c:pt idx="3">
                  <c:v>0.5591</c:v>
                </c:pt>
                <c:pt idx="4">
                  <c:v>0.4286</c:v>
                </c:pt>
                <c:pt idx="5">
                  <c:v>0.6</c:v>
                </c:pt>
                <c:pt idx="6">
                  <c:v>0.5278</c:v>
                </c:pt>
                <c:pt idx="7">
                  <c:v>0.5055</c:v>
                </c:pt>
                <c:pt idx="8">
                  <c:v>0.3714</c:v>
                </c:pt>
                <c:pt idx="9">
                  <c:v>0.5227</c:v>
                </c:pt>
                <c:pt idx="10">
                  <c:v>0.5227</c:v>
                </c:pt>
                <c:pt idx="11">
                  <c:v>0.5143</c:v>
                </c:pt>
              </c:numCache>
            </c:numRef>
          </c:val>
        </c:ser>
        <c:ser>
          <c:idx val="2"/>
          <c:order val="2"/>
          <c:tx>
            <c:strRef>
              <c:f>Sheet1!$D$1</c:f>
              <c:strCache>
                <c:ptCount val="1"/>
                <c:pt idx="0">
                  <c:v>Surprise (25 clips)</c:v>
                </c:pt>
              </c:strCache>
            </c:strRef>
          </c:tx>
          <c:spPr>
            <a:solidFill>
              <a:srgbClr val="00A0C8"/>
            </a:solidFill>
          </c:spPr>
          <c:invertIfNegative val="0"/>
          <c:cat>
            <c:strRef>
              <c:f>Sheet1!$A$2:$A$13</c:f>
              <c:strCache>
                <c:ptCount val="12"/>
                <c:pt idx="0">
                  <c:v>C2</c:v>
                </c:pt>
                <c:pt idx="1">
                  <c:v>C8</c:v>
                </c:pt>
                <c:pt idx="2">
                  <c:v>C7</c:v>
                </c:pt>
                <c:pt idx="3">
                  <c:v>C12</c:v>
                </c:pt>
                <c:pt idx="4">
                  <c:v>C6</c:v>
                </c:pt>
                <c:pt idx="5">
                  <c:v>C9</c:v>
                </c:pt>
                <c:pt idx="6">
                  <c:v>C13</c:v>
                </c:pt>
                <c:pt idx="7">
                  <c:v>C4</c:v>
                </c:pt>
                <c:pt idx="8">
                  <c:v>C1</c:v>
                </c:pt>
                <c:pt idx="9">
                  <c:v>C5</c:v>
                </c:pt>
                <c:pt idx="10">
                  <c:v>C3</c:v>
                </c:pt>
                <c:pt idx="11">
                  <c:v>C16</c:v>
                </c:pt>
              </c:strCache>
            </c:strRef>
          </c:cat>
          <c:val>
            <c:numRef>
              <c:f>Sheet1!$D$2:$D$13</c:f>
              <c:numCache>
                <c:formatCode>General</c:formatCode>
                <c:ptCount val="12"/>
                <c:pt idx="0">
                  <c:v>0.6792</c:v>
                </c:pt>
                <c:pt idx="1">
                  <c:v>0.5965</c:v>
                </c:pt>
                <c:pt idx="2">
                  <c:v>0.6552</c:v>
                </c:pt>
                <c:pt idx="3">
                  <c:v>0.6667</c:v>
                </c:pt>
                <c:pt idx="4">
                  <c:v>0.5902</c:v>
                </c:pt>
                <c:pt idx="5">
                  <c:v>0.3</c:v>
                </c:pt>
                <c:pt idx="6">
                  <c:v>0.4035</c:v>
                </c:pt>
                <c:pt idx="7">
                  <c:v>0.2462</c:v>
                </c:pt>
                <c:pt idx="8">
                  <c:v>0.3696</c:v>
                </c:pt>
                <c:pt idx="9">
                  <c:v>0.3838</c:v>
                </c:pt>
                <c:pt idx="10">
                  <c:v>0.3922</c:v>
                </c:pt>
                <c:pt idx="11">
                  <c:v>0.3934</c:v>
                </c:pt>
              </c:numCache>
            </c:numRef>
          </c:val>
        </c:ser>
        <c:gapWidth val="40"/>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850">
                <a:solidFill>
                  <a:srgbClr val="414141"/>
                </a:solidFill>
                <a:latin typeface="Arial"/>
              </a:defRPr>
            </a:pPr>
          </a:p>
        </c:txPr>
        <c:crossAx val="-2113994440"/>
        <c:crosses val="autoZero"/>
        <c:auto val="1"/>
        <c:lblAlgn val="ctr"/>
        <c:lblOffset val="100"/>
        <c:noMultiLvlLbl val="0"/>
      </c:catAx>
      <c:valAx>
        <c:axId val="-2113994440"/>
        <c:scaling>
          <c:max val="1.0"/>
          <c:min val="0.0"/>
        </c:scaling>
        <c:delete val="0"/>
        <c:axPos val="l"/>
        <c:majorGridlines>
          <c:spPr>
            <a:ln w="6350">
              <a:solidFill>
                <a:srgbClr val="D9D9D9"/>
              </a:solidFill>
            </a:ln>
          </c:spPr>
        </c:majorGridlines>
        <c:title>
          <c:tx>
            <c:rich>
              <a:bodyPr/>
              <a:lstStyle/>
              <a:p>
                <a:r>
                  <a:rPr sz="900" b="0">
                    <a:solidFill>
                      <a:srgbClr val="8C8C8C"/>
                    </a:solidFill>
                    <a:latin typeface="Arial"/>
                  </a:rPr>
                  <a:t>Pooled per-class F1</a:t>
                </a:r>
              </a:p>
            </c:rich>
          </c:tx>
          <c:layout/>
          <c:overlay val="0"/>
        </c:title>
        <c:numFmt formatCode="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2"/>
      </c:valAx>
    </c:plotArea>
    <c:legend>
      <c:legendPos val="b"/>
      <c:overlay val="0"/>
      <c:txPr>
        <a:bodyPr/>
        <a:lstStyle/>
        <a:p>
          <a:pPr>
            <a:defRPr sz="900"/>
          </a:pPr>
        </a:p>
      </c:txPr>
    </c:legend>
    <c:dispBlanksAs val="gap"/>
  </c:chart>
  <c:txPr>
    <a:bodyPr/>
    <a:lstStyle/>
    <a:p>
      <a:pPr>
        <a:defRPr sz="850">
          <a:solidFill>
            <a:srgbClr val="414141"/>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UF1</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004CA0"/>
              </a:solidFill>
            </c:spPr>
          </c:dPt>
          <c:dPt>
            <c:idx val="2"/>
            <c:invertIfNegative val="0"/>
            <c:bubble3D val="0"/>
            <c:spPr>
              <a:solidFill>
                <a:srgbClr val="A8CC2F"/>
              </a:solidFill>
            </c:spPr>
          </c:dPt>
          <c:dPt>
            <c:idx val="3"/>
            <c:invertIfNegative val="0"/>
            <c:bubble3D val="0"/>
            <c:spPr>
              <a:solidFill>
                <a:srgbClr val="004CA0"/>
              </a:solidFill>
            </c:spPr>
          </c:dPt>
          <c:dPt>
            <c:idx val="4"/>
            <c:invertIfNegative val="0"/>
            <c:bubble3D val="0"/>
            <c:spPr>
              <a:solidFill>
                <a:srgbClr val="004CA0"/>
              </a:solidFill>
            </c:spPr>
          </c:dPt>
          <c:dPt>
            <c:idx val="5"/>
            <c:invertIfNegative val="0"/>
            <c:bubble3D val="0"/>
            <c:spPr>
              <a:solidFill>
                <a:srgbClr val="004CA0"/>
              </a:solidFill>
            </c:spPr>
          </c:dPt>
          <c:dPt>
            <c:idx val="6"/>
            <c:invertIfNegative val="0"/>
            <c:bubble3D val="0"/>
            <c:spPr>
              <a:solidFill>
                <a:srgbClr val="004CA0"/>
              </a:solidFill>
            </c:spPr>
          </c:dPt>
          <c:dPt>
            <c:idx val="7"/>
            <c:invertIfNegative val="0"/>
            <c:bubble3D val="0"/>
            <c:spPr>
              <a:solidFill>
                <a:srgbClr val="004CA0"/>
              </a:solidFill>
            </c:spPr>
          </c:dPt>
          <c:cat>
            <c:strRef>
              <c:f>Sheet1!$A$2:$A$9</c:f>
              <c:strCache>
                <c:ptCount val="8"/>
                <c:pt idx="0">
                  <c:v>LBP-TOP</c:v>
                </c:pt>
                <c:pt idx="1">
                  <c:v>Quang et al.</c:v>
                </c:pt>
                <c:pt idx="2">
                  <c:v>This study (C2)</c:v>
                </c:pt>
                <c:pt idx="3">
                  <c:v>Bi-WOOF</c:v>
                </c:pt>
                <c:pt idx="4">
                  <c:v>EMR</c:v>
                </c:pt>
                <c:pt idx="5">
                  <c:v>STSTNet</c:v>
                </c:pt>
                <c:pt idx="6">
                  <c:v>Zhou et al.</c:v>
                </c:pt>
                <c:pt idx="7">
                  <c:v>OFF-ApexNet</c:v>
                </c:pt>
              </c:strCache>
            </c:strRef>
          </c:cat>
          <c:val>
            <c:numRef>
              <c:f>Sheet1!$B$2:$B$9</c:f>
              <c:numCache>
                <c:formatCode>General</c:formatCode>
                <c:ptCount val="8"/>
                <c:pt idx="0">
                  <c:v>0.7026</c:v>
                </c:pt>
                <c:pt idx="1">
                  <c:v>0.7068</c:v>
                </c:pt>
                <c:pt idx="2">
                  <c:v>0.7122</c:v>
                </c:pt>
                <c:pt idx="3">
                  <c:v>0.7805</c:v>
                </c:pt>
                <c:pt idx="4">
                  <c:v>0.8293</c:v>
                </c:pt>
                <c:pt idx="5">
                  <c:v>0.8382</c:v>
                </c:pt>
                <c:pt idx="6">
                  <c:v>0.8621</c:v>
                </c:pt>
                <c:pt idx="7">
                  <c:v>0.8764</c:v>
                </c:pt>
              </c:numCache>
            </c:numRef>
          </c:val>
        </c:ser>
        <c:dLbls>
          <c:numFmt formatCode="0.0000" sourceLinked="0"/>
          <c:txPr>
            <a:bodyPr/>
            <a:lstStyle/>
            <a:p>
              <a:pPr>
                <a:defRPr sz="800">
                  <a:solidFill>
                    <a:srgbClr val="414141"/>
                  </a:solidFill>
                  <a:latin typeface="Aria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low"/>
        <c:spPr>
          <a:ln>
            <a:solidFill>
              <a:srgbClr val="8C8C8C"/>
            </a:solidFill>
          </a:ln>
        </c:spPr>
        <c:txPr>
          <a:bodyPr/>
          <a:lstStyle/>
          <a:p>
            <a:pPr>
              <a:defRPr sz="900">
                <a:solidFill>
                  <a:srgbClr val="414141"/>
                </a:solidFill>
                <a:latin typeface="Arial"/>
              </a:defRPr>
            </a:pPr>
          </a:p>
        </c:txPr>
        <c:crossAx val="-2113994440"/>
        <c:crosses val="autoZero"/>
        <c:auto val="1"/>
        <c:lblAlgn val="ctr"/>
        <c:lblOffset val="100"/>
        <c:noMultiLvlLbl val="0"/>
      </c:catAx>
      <c:valAx>
        <c:axId val="-2113994440"/>
        <c:scaling>
          <c:max val="1.0"/>
          <c:min val="0.0"/>
        </c:scaling>
        <c:delete val="0"/>
        <c:axPos val="b"/>
        <c:majorGridlines>
          <c:spPr>
            <a:ln w="6350">
              <a:solidFill>
                <a:srgbClr val="D9D9D9"/>
              </a:solidFill>
            </a:ln>
          </c:spPr>
        </c:majorGridlines>
        <c:numFmt formatCode="0.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0.2"/>
      </c:valAx>
    </c:plotArea>
    <c:dispBlanksAs val="gap"/>
  </c:chart>
  <c:txPr>
    <a:bodyPr/>
    <a:lstStyle/>
    <a:p>
      <a:pPr>
        <a:defRPr sz="900">
          <a:solidFill>
            <a:srgbClr val="414141"/>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Clips</c:v>
                </c:pt>
              </c:strCache>
            </c:strRef>
          </c:tx>
          <c:spPr>
            <a:solidFill>
              <a:srgbClr val="004CA0"/>
            </a:solidFill>
          </c:spPr>
          <c:invertIfNegative val="0"/>
          <c:dPt>
            <c:idx val="0"/>
            <c:invertIfNegative val="0"/>
            <c:bubble3D val="0"/>
            <c:spPr>
              <a:solidFill>
                <a:srgbClr val="004CA0"/>
              </a:solidFill>
            </c:spPr>
          </c:dPt>
          <c:dPt>
            <c:idx val="1"/>
            <c:invertIfNegative val="0"/>
            <c:bubble3D val="0"/>
            <c:spPr>
              <a:solidFill>
                <a:srgbClr val="004CA0"/>
              </a:solidFill>
            </c:spPr>
          </c:dPt>
          <c:dPt>
            <c:idx val="2"/>
            <c:invertIfNegative val="0"/>
            <c:bubble3D val="0"/>
            <c:spPr>
              <a:solidFill>
                <a:srgbClr val="004CA0"/>
              </a:solidFill>
            </c:spPr>
          </c:dPt>
          <c:dPt>
            <c:idx val="3"/>
            <c:invertIfNegative val="0"/>
            <c:bubble3D val="0"/>
            <c:spPr>
              <a:solidFill>
                <a:srgbClr val="004CA0"/>
              </a:solidFill>
            </c:spPr>
          </c:dPt>
          <c:dPt>
            <c:idx val="4"/>
            <c:invertIfNegative val="0"/>
            <c:bubble3D val="0"/>
            <c:spPr>
              <a:solidFill>
                <a:srgbClr val="A8CC2F"/>
              </a:solidFill>
            </c:spPr>
          </c:dPt>
          <c:dPt>
            <c:idx val="5"/>
            <c:invertIfNegative val="0"/>
            <c:bubble3D val="0"/>
            <c:spPr>
              <a:solidFill>
                <a:srgbClr val="00A0C8"/>
              </a:solidFill>
            </c:spPr>
          </c:dPt>
          <c:dPt>
            <c:idx val="6"/>
            <c:invertIfNegative val="0"/>
            <c:bubble3D val="0"/>
            <c:spPr>
              <a:solidFill>
                <a:srgbClr val="8C8C8C"/>
              </a:solidFill>
            </c:spPr>
          </c:dPt>
          <c:cat>
            <c:strRef>
              <c:f>Sheet1!$A$2:$A$8</c:f>
              <c:strCache>
                <c:ptCount val="7"/>
                <c:pt idx="0">
                  <c:v>Disgust</c:v>
                </c:pt>
                <c:pt idx="1">
                  <c:v>Repression</c:v>
                </c:pt>
                <c:pt idx="2">
                  <c:v>Sadness</c:v>
                </c:pt>
                <c:pt idx="3">
                  <c:v>Fear</c:v>
                </c:pt>
                <c:pt idx="4">
                  <c:v>Happiness</c:v>
                </c:pt>
                <c:pt idx="5">
                  <c:v>Surprise</c:v>
                </c:pt>
                <c:pt idx="6">
                  <c:v>Others</c:v>
                </c:pt>
              </c:strCache>
            </c:strRef>
          </c:cat>
          <c:val>
            <c:numRef>
              <c:f>Sheet1!$B$2:$B$8</c:f>
              <c:numCache>
                <c:formatCode>General</c:formatCode>
                <c:ptCount val="7"/>
                <c:pt idx="0">
                  <c:v>63</c:v>
                </c:pt>
                <c:pt idx="1">
                  <c:v>27</c:v>
                </c:pt>
                <c:pt idx="2">
                  <c:v>7</c:v>
                </c:pt>
                <c:pt idx="3">
                  <c:v>2</c:v>
                </c:pt>
                <c:pt idx="4">
                  <c:v>32</c:v>
                </c:pt>
                <c:pt idx="5">
                  <c:v>25</c:v>
                </c:pt>
                <c:pt idx="6">
                  <c:v>99</c:v>
                </c:pt>
              </c:numCache>
            </c:numRef>
          </c:val>
        </c:ser>
        <c:dLbls>
          <c:numFmt formatCode="0" sourceLinked="0"/>
          <c:txPr>
            <a:bodyPr/>
            <a:lstStyle/>
            <a:p>
              <a:pPr>
                <a:defRPr sz="900">
                  <a:solidFill>
                    <a:srgbClr val="414141"/>
                  </a:solidFill>
                  <a:latin typeface="Aria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850">
                <a:solidFill>
                  <a:srgbClr val="414141"/>
                </a:solidFill>
                <a:latin typeface="Arial"/>
              </a:defRPr>
            </a:pPr>
          </a:p>
        </c:txPr>
        <c:crossAx val="-2113994440"/>
        <c:crosses val="autoZero"/>
        <c:auto val="1"/>
        <c:lblAlgn val="ctr"/>
        <c:lblOffset val="100"/>
        <c:noMultiLvlLbl val="0"/>
      </c:catAx>
      <c:valAx>
        <c:axId val="-2113994440"/>
        <c:scaling>
          <c:max val="120.0"/>
          <c:min val="0.0"/>
        </c:scaling>
        <c:delete val="0"/>
        <c:axPos val="l"/>
        <c:majorGridlines>
          <c:spPr>
            <a:ln w="6350">
              <a:solidFill>
                <a:srgbClr val="D9D9D9"/>
              </a:solidFill>
            </a:ln>
          </c:spPr>
        </c:majorGridlines>
        <c:numFmt formatCode="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20.0"/>
      </c:valAx>
    </c:plotArea>
    <c:dispBlanksAs val="gap"/>
  </c:chart>
  <c:txPr>
    <a:bodyPr/>
    <a:lstStyle/>
    <a:p>
      <a:pPr>
        <a:defRPr sz="850">
          <a:solidFill>
            <a:srgbClr val="414141"/>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Negative</c:v>
                </c:pt>
              </c:strCache>
            </c:strRef>
          </c:tx>
          <c:spPr>
            <a:solidFill>
              <a:srgbClr val="004CA0"/>
            </a:solidFill>
          </c:spPr>
          <c:invertIfNegative val="0"/>
          <c:cat>
            <c:strRef>
              <c:f>Sheet1!$A$2:$A$14</c:f>
              <c:strCache>
                <c:ptCount val="13"/>
                <c:pt idx="0">
                  <c:v>True</c:v>
                </c:pt>
                <c:pt idx="1">
                  <c:v>C2</c:v>
                </c:pt>
                <c:pt idx="2">
                  <c:v>C8</c:v>
                </c:pt>
                <c:pt idx="3">
                  <c:v>C7</c:v>
                </c:pt>
                <c:pt idx="4">
                  <c:v>C12</c:v>
                </c:pt>
                <c:pt idx="5">
                  <c:v>C6</c:v>
                </c:pt>
                <c:pt idx="6">
                  <c:v>C9</c:v>
                </c:pt>
                <c:pt idx="7">
                  <c:v>C13</c:v>
                </c:pt>
                <c:pt idx="8">
                  <c:v>C4</c:v>
                </c:pt>
                <c:pt idx="9">
                  <c:v>C1</c:v>
                </c:pt>
                <c:pt idx="10">
                  <c:v>C5</c:v>
                </c:pt>
                <c:pt idx="11">
                  <c:v>C3</c:v>
                </c:pt>
                <c:pt idx="12">
                  <c:v>C16</c:v>
                </c:pt>
              </c:strCache>
            </c:strRef>
          </c:cat>
          <c:val>
            <c:numRef>
              <c:f>Sheet1!$B$2:$B$14</c:f>
              <c:numCache>
                <c:formatCode>General</c:formatCode>
                <c:ptCount val="13"/>
                <c:pt idx="0">
                  <c:v>99</c:v>
                </c:pt>
                <c:pt idx="1">
                  <c:v>77</c:v>
                </c:pt>
                <c:pt idx="2">
                  <c:v>102</c:v>
                </c:pt>
                <c:pt idx="3">
                  <c:v>82</c:v>
                </c:pt>
                <c:pt idx="4">
                  <c:v>72</c:v>
                </c:pt>
                <c:pt idx="5">
                  <c:v>110</c:v>
                </c:pt>
                <c:pt idx="6">
                  <c:v>113</c:v>
                </c:pt>
                <c:pt idx="7">
                  <c:v>27</c:v>
                </c:pt>
                <c:pt idx="8">
                  <c:v>57</c:v>
                </c:pt>
                <c:pt idx="9">
                  <c:v>51</c:v>
                </c:pt>
                <c:pt idx="10">
                  <c:v>26</c:v>
                </c:pt>
                <c:pt idx="11">
                  <c:v>23</c:v>
                </c:pt>
                <c:pt idx="12">
                  <c:v>21</c:v>
                </c:pt>
              </c:numCache>
            </c:numRef>
          </c:val>
        </c:ser>
        <c:ser>
          <c:idx val="1"/>
          <c:order val="1"/>
          <c:tx>
            <c:strRef>
              <c:f>Sheet1!$C$1</c:f>
              <c:strCache>
                <c:ptCount val="1"/>
                <c:pt idx="0">
                  <c:v>Positive</c:v>
                </c:pt>
              </c:strCache>
            </c:strRef>
          </c:tx>
          <c:spPr>
            <a:solidFill>
              <a:srgbClr val="A8CC2F"/>
            </a:solidFill>
          </c:spPr>
          <c:invertIfNegative val="0"/>
          <c:cat>
            <c:strRef>
              <c:f>Sheet1!$A$2:$A$14</c:f>
              <c:strCache>
                <c:ptCount val="13"/>
                <c:pt idx="0">
                  <c:v>True</c:v>
                </c:pt>
                <c:pt idx="1">
                  <c:v>C2</c:v>
                </c:pt>
                <c:pt idx="2">
                  <c:v>C8</c:v>
                </c:pt>
                <c:pt idx="3">
                  <c:v>C7</c:v>
                </c:pt>
                <c:pt idx="4">
                  <c:v>C12</c:v>
                </c:pt>
                <c:pt idx="5">
                  <c:v>C6</c:v>
                </c:pt>
                <c:pt idx="6">
                  <c:v>C9</c:v>
                </c:pt>
                <c:pt idx="7">
                  <c:v>C13</c:v>
                </c:pt>
                <c:pt idx="8">
                  <c:v>C4</c:v>
                </c:pt>
                <c:pt idx="9">
                  <c:v>C1</c:v>
                </c:pt>
                <c:pt idx="10">
                  <c:v>C5</c:v>
                </c:pt>
                <c:pt idx="11">
                  <c:v>C3</c:v>
                </c:pt>
                <c:pt idx="12">
                  <c:v>C16</c:v>
                </c:pt>
              </c:strCache>
            </c:strRef>
          </c:cat>
          <c:val>
            <c:numRef>
              <c:f>Sheet1!$C$2:$C$14</c:f>
              <c:numCache>
                <c:formatCode>General</c:formatCode>
                <c:ptCount val="13"/>
                <c:pt idx="0">
                  <c:v>32</c:v>
                </c:pt>
                <c:pt idx="1">
                  <c:v>51</c:v>
                </c:pt>
                <c:pt idx="2">
                  <c:v>22</c:v>
                </c:pt>
                <c:pt idx="3">
                  <c:v>41</c:v>
                </c:pt>
                <c:pt idx="4">
                  <c:v>61</c:v>
                </c:pt>
                <c:pt idx="5">
                  <c:v>10</c:v>
                </c:pt>
                <c:pt idx="6">
                  <c:v>28</c:v>
                </c:pt>
                <c:pt idx="7">
                  <c:v>40</c:v>
                </c:pt>
                <c:pt idx="8">
                  <c:v>59</c:v>
                </c:pt>
                <c:pt idx="9">
                  <c:v>38</c:v>
                </c:pt>
                <c:pt idx="10">
                  <c:v>56</c:v>
                </c:pt>
                <c:pt idx="11">
                  <c:v>56</c:v>
                </c:pt>
                <c:pt idx="12">
                  <c:v>38</c:v>
                </c:pt>
              </c:numCache>
            </c:numRef>
          </c:val>
        </c:ser>
        <c:ser>
          <c:idx val="2"/>
          <c:order val="2"/>
          <c:tx>
            <c:strRef>
              <c:f>Sheet1!$D$1</c:f>
              <c:strCache>
                <c:ptCount val="1"/>
                <c:pt idx="0">
                  <c:v>Surprise</c:v>
                </c:pt>
              </c:strCache>
            </c:strRef>
          </c:tx>
          <c:spPr>
            <a:solidFill>
              <a:srgbClr val="00A0C8"/>
            </a:solidFill>
          </c:spPr>
          <c:invertIfNegative val="0"/>
          <c:cat>
            <c:strRef>
              <c:f>Sheet1!$A$2:$A$14</c:f>
              <c:strCache>
                <c:ptCount val="13"/>
                <c:pt idx="0">
                  <c:v>True</c:v>
                </c:pt>
                <c:pt idx="1">
                  <c:v>C2</c:v>
                </c:pt>
                <c:pt idx="2">
                  <c:v>C8</c:v>
                </c:pt>
                <c:pt idx="3">
                  <c:v>C7</c:v>
                </c:pt>
                <c:pt idx="4">
                  <c:v>C12</c:v>
                </c:pt>
                <c:pt idx="5">
                  <c:v>C6</c:v>
                </c:pt>
                <c:pt idx="6">
                  <c:v>C9</c:v>
                </c:pt>
                <c:pt idx="7">
                  <c:v>C13</c:v>
                </c:pt>
                <c:pt idx="8">
                  <c:v>C4</c:v>
                </c:pt>
                <c:pt idx="9">
                  <c:v>C1</c:v>
                </c:pt>
                <c:pt idx="10">
                  <c:v>C5</c:v>
                </c:pt>
                <c:pt idx="11">
                  <c:v>C3</c:v>
                </c:pt>
                <c:pt idx="12">
                  <c:v>C16</c:v>
                </c:pt>
              </c:strCache>
            </c:strRef>
          </c:cat>
          <c:val>
            <c:numRef>
              <c:f>Sheet1!$D$2:$D$14</c:f>
              <c:numCache>
                <c:formatCode>General</c:formatCode>
                <c:ptCount val="13"/>
                <c:pt idx="0">
                  <c:v>25</c:v>
                </c:pt>
                <c:pt idx="1">
                  <c:v>28</c:v>
                </c:pt>
                <c:pt idx="2">
                  <c:v>32</c:v>
                </c:pt>
                <c:pt idx="3">
                  <c:v>33</c:v>
                </c:pt>
                <c:pt idx="4">
                  <c:v>23</c:v>
                </c:pt>
                <c:pt idx="5">
                  <c:v>36</c:v>
                </c:pt>
                <c:pt idx="6">
                  <c:v>15</c:v>
                </c:pt>
                <c:pt idx="7">
                  <c:v>89</c:v>
                </c:pt>
                <c:pt idx="8">
                  <c:v>40</c:v>
                </c:pt>
                <c:pt idx="9">
                  <c:v>67</c:v>
                </c:pt>
                <c:pt idx="10">
                  <c:v>74</c:v>
                </c:pt>
                <c:pt idx="11">
                  <c:v>77</c:v>
                </c:pt>
                <c:pt idx="12">
                  <c:v>97</c:v>
                </c:pt>
              </c:numCache>
            </c:numRef>
          </c:val>
        </c:ser>
        <c:gapWidth val="40"/>
        <c:axId val="-2068027336"/>
        <c:axId val="-2113994440"/>
      </c:barChart>
      <c:catAx>
        <c:axId val="-2068027336"/>
        <c:scaling>
          <c:orientation val="minMax"/>
        </c:scaling>
        <c:delete val="0"/>
        <c:axPos val="b"/>
        <c:majorTickMark val="out"/>
        <c:minorTickMark val="none"/>
        <c:tickLblPos val="low"/>
        <c:spPr>
          <a:ln>
            <a:solidFill>
              <a:srgbClr val="8C8C8C"/>
            </a:solidFill>
          </a:ln>
        </c:spPr>
        <c:txPr>
          <a:bodyPr/>
          <a:lstStyle/>
          <a:p>
            <a:pPr>
              <a:defRPr sz="850">
                <a:solidFill>
                  <a:srgbClr val="414141"/>
                </a:solidFill>
                <a:latin typeface="Arial"/>
              </a:defRPr>
            </a:pPr>
          </a:p>
        </c:txPr>
        <c:crossAx val="-2113994440"/>
        <c:crosses val="autoZero"/>
        <c:auto val="1"/>
        <c:lblAlgn val="ctr"/>
        <c:lblOffset val="100"/>
        <c:noMultiLvlLbl val="0"/>
      </c:catAx>
      <c:valAx>
        <c:axId val="-2113994440"/>
        <c:scaling>
          <c:max val="120.0"/>
          <c:min val="0.0"/>
        </c:scaling>
        <c:delete val="0"/>
        <c:axPos val="l"/>
        <c:majorGridlines>
          <c:spPr>
            <a:ln w="6350">
              <a:solidFill>
                <a:srgbClr val="D9D9D9"/>
              </a:solidFill>
            </a:ln>
          </c:spPr>
        </c:majorGridlines>
        <c:title>
          <c:tx>
            <c:rich>
              <a:bodyPr/>
              <a:lstStyle/>
              <a:p>
                <a:r>
                  <a:rPr sz="900" b="0">
                    <a:solidFill>
                      <a:srgbClr val="8C8C8C"/>
                    </a:solidFill>
                    <a:latin typeface="Arial"/>
                  </a:rPr>
                  <a:t>Clips predicted as each class</a:t>
                </a:r>
              </a:p>
            </c:rich>
          </c:tx>
          <c:layout/>
          <c:overlay val="0"/>
        </c:title>
        <c:numFmt formatCode="0" sourceLinked="0"/>
        <c:majorTickMark val="out"/>
        <c:minorTickMark val="none"/>
        <c:tickLblPos val="nextTo"/>
        <c:spPr>
          <a:ln>
            <a:noFill/>
          </a:ln>
        </c:spPr>
        <c:txPr>
          <a:bodyPr/>
          <a:lstStyle/>
          <a:p>
            <a:pPr>
              <a:defRPr sz="800">
                <a:solidFill>
                  <a:srgbClr val="8C8C8C"/>
                </a:solidFill>
                <a:latin typeface="Arial"/>
              </a:defRPr>
            </a:pPr>
          </a:p>
        </c:txPr>
        <c:crossAx val="-2068027336"/>
        <c:crosses val="autoZero"/>
        <c:majorUnit val="20.0"/>
      </c:valAx>
    </c:plotArea>
    <c:legend>
      <c:legendPos val="b"/>
      <c:overlay val="0"/>
      <c:txPr>
        <a:bodyPr/>
        <a:lstStyle/>
        <a:p>
          <a:pPr>
            <a:defRPr sz="900"/>
          </a:pPr>
        </a:p>
      </c:txPr>
    </c:legend>
    <c:dispBlanksAs val="gap"/>
  </c:chart>
  <c:txPr>
    <a:bodyPr/>
    <a:lstStyle/>
    <a:p>
      <a:pPr>
        <a:defRPr sz="850">
          <a:solidFill>
            <a:srgbClr val="414141"/>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
          <p:cNvSpPr/>
          <p:nvPr/>
        </p:nvSpPr>
        <p:spPr>
          <a:xfrm>
            <a:off x="0" y="0"/>
            <a:ext cx="6858000" cy="9144000"/>
          </a:xfrm>
          <a:prstGeom prst="rect">
            <a:avLst/>
          </a:prstGeom>
          <a:solidFill>
            <a:srgbClr val="FFFFFF"/>
          </a:solidFill>
          <a:ln w="38160">
            <a:noFill/>
          </a:ln>
        </p:spPr>
        <p:txBody>
          <a:bodyPr lIns="90000" tIns="45000" rIns="90000" bIns="45000" anchor="ctr" anchorCtr="1">
            <a:noAutofit/>
          </a:bodyPr>
          <a:p>
            <a:endParaRPr lang="en-US" sz="2400" b="0" u="none" strike="noStrike">
              <a:solidFill>
                <a:srgbClr val="000000"/>
              </a:solidFill>
              <a:effectLst/>
              <a:uFillTx/>
              <a:latin typeface="Arial"/>
            </a:endParaRPr>
          </a:p>
        </p:txBody>
      </p:sp>
      <p:sp>
        <p:nvSpPr>
          <p:cNvPr id="8" name="PlaceHolder 1"/>
          <p:cNvSpPr>
            <a:spLocks noGrp="1"/>
          </p:cNvSpPr>
          <p:nvPr>
            <p:ph type="hdr"/>
          </p:nvPr>
        </p:nvSpPr>
        <p:spPr>
          <a:xfrm>
            <a:off x="-360" y="0"/>
            <a:ext cx="2971800" cy="457200"/>
          </a:xfrm>
          <a:prstGeom prst="rect">
            <a:avLst/>
          </a:prstGeom>
          <a:noFill/>
          <a:ln w="38160">
            <a:noFill/>
          </a:ln>
        </p:spPr>
        <p:txBody>
          <a:bodyPr lIns="90000" tIns="46800" rIns="90000" bIns="46800" anchor="t">
            <a:noAutofit/>
          </a:bodyPr>
          <a:p>
            <a:pPr indent="0" algn="l">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US" sz="2400" b="0" u="none" strike="noStrike">
              <a:solidFill>
                <a:srgbClr val="000000"/>
              </a:solidFill>
              <a:effectLst/>
              <a:uFillTx/>
              <a:latin typeface="Arial"/>
            </a:endParaRPr>
          </a:p>
        </p:txBody>
      </p:sp>
      <p:sp>
        <p:nvSpPr>
          <p:cNvPr id="9" name="PlaceHolder 2"/>
          <p:cNvSpPr>
            <a:spLocks noGrp="1"/>
          </p:cNvSpPr>
          <p:nvPr>
            <p:ph type="dt" idx="2"/>
          </p:nvPr>
        </p:nvSpPr>
        <p:spPr>
          <a:xfrm>
            <a:off x="3885840" y="0"/>
            <a:ext cx="2971800" cy="457200"/>
          </a:xfrm>
          <a:prstGeom prst="rect">
            <a:avLst/>
          </a:prstGeom>
          <a:noFill/>
          <a:ln w="38160">
            <a:noFill/>
          </a:ln>
        </p:spPr>
        <p:txBody>
          <a:bodyPr lIns="90000" tIns="46800" rIns="90000" bIns="46800" anchor="t">
            <a:noAutofit/>
          </a:bodyPr>
          <a:p>
            <a:pPr indent="0" algn="l">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US" sz="2400" b="0" u="none" strike="noStrike">
              <a:solidFill>
                <a:srgbClr val="000000"/>
              </a:solidFill>
              <a:effectLst/>
              <a:uFillTx/>
              <a:latin typeface="Arial"/>
            </a:endParaRPr>
          </a:p>
        </p:txBody>
      </p:sp>
      <p:sp>
        <p:nvSpPr>
          <p:cNvPr id="10" name="PlaceHolder 3"/>
          <p:cNvSpPr>
            <a:spLocks noGrp="1"/>
          </p:cNvSpPr>
          <p:nvPr>
            <p:ph type="sldImg"/>
          </p:nvPr>
        </p:nvSpPr>
        <p:spPr>
          <a:xfrm>
            <a:off x="1143000" y="685440"/>
            <a:ext cx="4572000" cy="3429000"/>
          </a:xfrm>
          <a:prstGeom prst="rect">
            <a:avLst/>
          </a:prstGeom>
          <a:noFill/>
          <a:ln w="9360">
            <a:solidFill>
              <a:srgbClr val="000000"/>
            </a:solidFill>
            <a:miter/>
          </a:ln>
        </p:spPr>
        <p:txBody>
          <a:bodyPr lIns="90000" tIns="46800" rIns="90000" bIns="46800" anchor="ctr">
            <a:noAutofit/>
          </a:bodyPr>
          <a:p>
            <a:pPr indent="0" algn="l">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US" sz="1800" b="1" u="none" strike="noStrike">
                <a:solidFill>
                  <a:srgbClr val="A8CC2F"/>
                </a:solidFill>
                <a:effectLst/>
                <a:uFillTx/>
                <a:latin typeface="Arial"/>
              </a:rPr>
              <a:t>Click to move the slide</a:t>
            </a:r>
            <a:endParaRPr lang="en-US" sz="1800" b="1" u="none" strike="noStrike">
              <a:solidFill>
                <a:srgbClr val="A8CC2F"/>
              </a:solidFill>
              <a:effectLst/>
              <a:uFillTx/>
              <a:latin typeface="Arial"/>
            </a:endParaRPr>
          </a:p>
        </p:txBody>
      </p:sp>
      <p:sp>
        <p:nvSpPr>
          <p:cNvPr id="11" name="PlaceHolder 4"/>
          <p:cNvSpPr>
            <a:spLocks noGrp="1"/>
          </p:cNvSpPr>
          <p:nvPr>
            <p:ph type="body"/>
          </p:nvPr>
        </p:nvSpPr>
        <p:spPr>
          <a:xfrm>
            <a:off x="914400" y="4343400"/>
            <a:ext cx="5029200" cy="4114800"/>
          </a:xfrm>
          <a:prstGeom prst="rect">
            <a:avLst/>
          </a:prstGeom>
          <a:noFill/>
          <a:ln w="0">
            <a:noFill/>
          </a:ln>
        </p:spPr>
        <p:txBody>
          <a:bodyPr lIns="90000" tIns="46800" rIns="90000" bIns="46800" anchor="t">
            <a:noAutofit/>
          </a:bodyPr>
          <a:p>
            <a:pPr indent="0" algn="l">
              <a:spcBef>
                <a:spcPts val="451"/>
              </a:spcBef>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US" sz="1200" b="0" u="none" strike="noStrike">
                <a:solidFill>
                  <a:srgbClr val="000000"/>
                </a:solidFill>
                <a:effectLst/>
                <a:uFillTx/>
                <a:latin typeface="Arial"/>
              </a:rPr>
              <a:t>Click to edit the notes format</a:t>
            </a:r>
            <a:endParaRPr lang="en-US" sz="1200" b="0" u="none" strike="noStrike">
              <a:solidFill>
                <a:srgbClr val="000000"/>
              </a:solidFill>
              <a:effectLst/>
              <a:uFillTx/>
              <a:latin typeface="Arial"/>
            </a:endParaRPr>
          </a:p>
        </p:txBody>
      </p:sp>
      <p:sp>
        <p:nvSpPr>
          <p:cNvPr id="12" name="PlaceHolder 5"/>
          <p:cNvSpPr>
            <a:spLocks noGrp="1"/>
          </p:cNvSpPr>
          <p:nvPr>
            <p:ph type="ftr" idx="3"/>
          </p:nvPr>
        </p:nvSpPr>
        <p:spPr>
          <a:xfrm>
            <a:off x="-360" y="8686800"/>
            <a:ext cx="2971800" cy="457200"/>
          </a:xfrm>
          <a:prstGeom prst="rect">
            <a:avLst/>
          </a:prstGeom>
          <a:noFill/>
          <a:ln w="38160">
            <a:noFill/>
          </a:ln>
        </p:spPr>
        <p:txBody>
          <a:bodyPr lIns="90000" tIns="46800" rIns="90000" bIns="46800" anchor="b">
            <a:noAutofit/>
          </a:bodyPr>
          <a:p>
            <a:pPr indent="0" algn="l">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en-US" sz="2400" b="0" u="none" strike="noStrike">
              <a:solidFill>
                <a:srgbClr val="000000"/>
              </a:solidFill>
              <a:effectLst/>
              <a:uFillTx/>
              <a:latin typeface="Arial"/>
            </a:endParaRPr>
          </a:p>
        </p:txBody>
      </p:sp>
      <p:sp>
        <p:nvSpPr>
          <p:cNvPr id="13" name="PlaceHolder 6"/>
          <p:cNvSpPr>
            <a:spLocks noGrp="1"/>
          </p:cNvSpPr>
          <p:nvPr>
            <p:ph type="sldNum" idx="4"/>
          </p:nvPr>
        </p:nvSpPr>
        <p:spPr>
          <a:xfrm>
            <a:off x="3885840" y="8686800"/>
            <a:ext cx="2971800" cy="457200"/>
          </a:xfrm>
          <a:prstGeom prst="rect">
            <a:avLst/>
          </a:prstGeom>
          <a:noFill/>
          <a:ln w="38160">
            <a:noFill/>
          </a:ln>
        </p:spPr>
        <p:txBody>
          <a:bodyPr lIns="90000" tIns="46800" rIns="90000" bIns="46800" anchor="b">
            <a:noAutofit/>
          </a:bodyPr>
          <a:lstStyle>
            <a:lvl1pPr indent="0" algn="r">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lang="de-DE" sz="1200" b="0" u="none" strike="noStrike">
                <a:solidFill>
                  <a:srgbClr val="000000"/>
                </a:solidFill>
                <a:effectLst/>
                <a:uFillTx/>
                <a:latin typeface="Arial"/>
              </a:defRPr>
            </a:lvl1pPr>
          </a:lstStyle>
          <a:p>
            <a:pPr indent="0" algn="r">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fld id="{6AD5263B-0FEB-496E-BABD-4BDDB597740F}" type="slidenum">
              <a:rPr lang="de-DE" sz="1200" b="0" u="none" strike="noStrike">
                <a:solidFill>
                  <a:srgbClr val="000000"/>
                </a:solidFill>
                <a:effectLst/>
                <a:uFillTx/>
                <a:latin typeface="Arial"/>
              </a:rPr>
              <a:t>&lt;number&gt;</a:t>
            </a:fld>
            <a:endParaRPr lang="en-US" sz="1200" b="0" u="none" strike="noStrike">
              <a:solidFill>
                <a:srgbClr val="000000"/>
              </a:solidFill>
              <a:effectLst/>
              <a:uFillTx/>
              <a:latin typeface="Arial"/>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Good morning, and thank you for attending my thesis defence. My thesis is titled "Improving Micro-Expression Recognition through Temporal and Motion Modeling".</a:t>
            </a:r>
          </a:p>
          <a:p/>
          <a:p>
            <a:r>
              <a:t>In one sentence: I took a standard micro-expression recognition pipeline, switched four of its components on and off in every valid combination, and measured what each component actually contributes on the CASME II dataset.</a:t>
            </a:r>
          </a:p>
          <a:p/>
          <a:p>
            <a:r>
              <a:t>I will first explain what micro-expressions are and why recognising them is difficult. Then I will present the research gap and my research questions, the method, the results, and finally the conclusions, limitations and future work.</a:t>
            </a:r>
          </a:p>
        </p:txBody>
      </p:sp>
      <p:sp>
        <p:nvSpPr>
          <p:cNvPr id="4" name="Slide Number Placeholder 3"/>
          <p:cNvSpPr>
            <a:spLocks noGrp="1"/>
          </p:cNvSpPr>
          <p:nvPr>
            <p:ph type="sldNum" idx="4"/>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 micro-expression is a brief, involuntary facial movement that reveals an emotion a person is trying to conceal.</a:t>
            </a:r>
          </a:p>
          <a:p/>
          <a:p>
            <a:r>
              <a:t>The figure shows an example from CASME II. The movement is a lowering of the inner brow, action units 4 and 9, labelled as disgust. The apex, the point of greatest intensity, occurs about 110 milliseconds after the onset.</a:t>
            </a:r>
          </a:p>
          <a:p/>
          <a:p>
            <a:r>
              <a:t>Three properties define the problem. First, micro-expressions are brief: they last no longer than about half a second. Second, they are faint: they are local, low-intensity movements close to the noise level of ordinary video. Third, they are involuntary: they cannot be produced on instruction, so data must be elicited in a laboratory.</a:t>
            </a:r>
          </a:p>
          <a:p/>
          <a:p>
            <a:r>
              <a:t>The field is motivated by possible applications such as police interrogation, clinical diagnosis and lie detection. I want to be clear that these are motivating claims in the literature, not records of deployed systems.</a:t>
            </a:r>
          </a:p>
        </p:txBody>
      </p:sp>
      <p:sp>
        <p:nvSpPr>
          <p:cNvPr id="4" name="Slide Number Placeholder 3"/>
          <p:cNvSpPr>
            <a:spLocks noGrp="1"/>
          </p:cNvSpPr>
          <p:nvPr>
            <p:ph type="sldNum" idx="4"/>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Those three properties, short, faint and scarce, work against simply applying a classifier to face images.</a:t>
            </a:r>
          </a:p>
          <a:p/>
          <a:p>
            <a:r>
              <a:t>The field has responded in a consistent way: systems are built as pipelines. The small motion is amplified. The video is re-expressed as a description of movement, typically optical flow and optical strain. The clip is resampled to a fixed length. A spatial feature extractor reduces each frame, and a temporal model processes the sequence.</a:t>
            </a:r>
          </a:p>
          <a:p/>
          <a:p>
            <a:r>
              <a:t>Each of these stages was introduced separately, with its own justification and its own reported gain, and the stages now tend to be adopted together.</a:t>
            </a:r>
          </a:p>
          <a:p/>
          <a:p>
            <a:r>
              <a:t>This creates a practical difficulty for anyone building such a system. Implementation and tuning effort is finite, so you have to decide which stages justify the investment. The published literature does not answer that, because each component is almost always evaluated inside a complete system that differs from its predecessor in more than one respect. That is the motivation of this thesis.</a:t>
            </a:r>
          </a:p>
        </p:txBody>
      </p:sp>
      <p:sp>
        <p:nvSpPr>
          <p:cNvPr id="4" name="Slide Number Placeholder 3"/>
          <p:cNvSpPr>
            <a:spLocks noGrp="1"/>
          </p:cNvSpPr>
          <p:nvPr>
            <p:ph type="sldNum" idx="4"/>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My literature review identified four limitations that are common to the reviewed studies.</a:t>
            </a:r>
          </a:p>
          <a:p/>
          <a:p>
            <a:r>
              <a:t>A: components are isolated one at a time, inside one proposed design. Nobody varies several components together, so interactions are never observed.</a:t>
            </a:r>
          </a:p>
          <a:p/>
          <a:p>
            <a:r>
              <a:t>B: evaluation protocols are inconsistent. For CASME II alone, three sample counts circulate, 247, 255 and 145, and studies differ in whether they leave out one subject, one video or one sample.</a:t>
            </a:r>
          </a:p>
          <a:p/>
          <a:p>
            <a:r>
              <a:t>C: the strongest results depend on training conditions that a single-dataset study cannot reproduce, namely composite-dataset training or ImageNet pre-training.</a:t>
            </a:r>
          </a:p>
          <a:p/>
          <a:p>
            <a:r>
              <a:t>D: preprocessing parameters such as the magnification factor, the sequence length and the input resolution have interior optima, but values are transferred between pipelines without re-validation.</a:t>
            </a:r>
          </a:p>
          <a:p/>
          <a:p>
            <a:r>
              <a:t>Together these define the research gap: no reviewed study varies several stages of the standard pipeline jointly under one protocol. So the literature cannot tell us which stages are necessary, which are inherited convention, and which depend on another.</a:t>
            </a:r>
          </a:p>
        </p:txBody>
      </p:sp>
      <p:sp>
        <p:nvSpPr>
          <p:cNvPr id="4" name="Slide Number Placeholder 3"/>
          <p:cNvSpPr>
            <a:spLocks noGrp="1"/>
          </p:cNvSpPr>
          <p:nvPr>
            <p:ph type="sldNum" idx="4"/>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central research question is: how can the modelling of temporal phases and motion cues improve recognition accuracy for subtle and short-lived facial expressions?</a:t>
            </a:r>
          </a:p>
          <a:p/>
          <a:p>
            <a:r>
              <a:t>I address it through three more specific questions, one for each kind of component.</a:t>
            </a:r>
          </a:p>
          <a:p/>
          <a:p>
            <a:r>
              <a:t>Question one concerns temporal modelling: to what extent does a transformer encoder improve recognition, compared with an otherwise identical pipeline without it?</a:t>
            </a:r>
          </a:p>
          <a:p/>
          <a:p>
            <a:r>
              <a:t>Question two concerns motion magnification: does amplifying subtle facial motion with Eulerian video magnification improve recognition?</a:t>
            </a:r>
          </a:p>
          <a:p/>
          <a:p>
            <a:r>
              <a:t>Question three concerns learned spatial processing: do a learned convolutional stem and parameter-free attention add anything beyond the hand-computed motion representation alone?</a:t>
            </a:r>
          </a:p>
          <a:p/>
          <a:p>
            <a:r>
              <a:t>The key phrase in all three is "otherwise identical". Every comparison in this thesis removes one component and nothing else.</a:t>
            </a:r>
          </a:p>
        </p:txBody>
      </p:sp>
      <p:sp>
        <p:nvSpPr>
          <p:cNvPr id="4" name="Slide Number Placeholder 3"/>
          <p:cNvSpPr>
            <a:spLocks noGrp="1"/>
          </p:cNvSpPr>
          <p:nvPr>
            <p:ph type="sldNum" idx="4"/>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All experiments use CASME II. It contains spontaneous micro-expressions recorded at 200 frames per second, with onset, apex and offset annotation. It has the highest temporal resolution among the spontaneous datasets of comparable size.</a:t>
            </a:r>
          </a:p>
          <a:p/>
          <a:p>
            <a:r>
              <a:t>The released coding contains 255 clips from 26 subjects. I exclude the "Others" category, which has 99 clips, because a class defined by exclusion gives no meaningful training signal. That also removes subject 18, who has only "Others" clips. The working set is 156 clips from 25 subjects.</a:t>
            </a:r>
          </a:p>
          <a:p/>
          <a:p>
            <a:r>
              <a:t>The emotions are grouped by valence into three classes: Negative with 99 clips, Positive with 32 and Surprise with 25.</a:t>
            </a:r>
          </a:p>
          <a:p/>
          <a:p>
            <a:r>
              <a:t>This imbalance matters. A classifier that always predicts Negative reaches 63 percent accuracy but a macro F1 of only 0.26. So accuracy alone is uninformative, and I use macro F1 as the primary metric.</a:t>
            </a:r>
          </a:p>
        </p:txBody>
      </p:sp>
      <p:sp>
        <p:nvSpPr>
          <p:cNvPr id="4" name="Slide Number Placeholder 3"/>
          <p:cNvSpPr>
            <a:spLocks noGrp="1"/>
          </p:cNvSpPr>
          <p:nvPr>
            <p:ph type="sldNum" idx="4"/>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pipeline has two stages. Stage one is preprocessing and runs once per clip.</a:t>
            </a:r>
          </a:p>
          <a:p/>
          <a:p>
            <a:r>
              <a:t>Each clip is loaded in greyscale and resized to 224 by 224 pixels. I then sample 33 frames uniformly between onset and offset. If magnification is enabled, Eulerian video magnification is applied here, with an amplification factor of 10 and a band of 5 to 25 hertz. Farnebäck optical flow is computed for the 32 adjacent frame pairs. Optical strain is derived from the spatial gradients of the flow. Finally the horizontal flow, vertical flow and strain magnitude are stacked and normalised.</a:t>
            </a:r>
          </a:p>
          <a:p/>
          <a:p>
            <a:r>
              <a:t>The result is a tensor of 3 by 32 by 224 by 224.</a:t>
            </a:r>
          </a:p>
          <a:p/>
          <a:p>
            <a:r>
              <a:t>Note that the network never sees pixel intensities, only displacement and deformation fields, and that I use the original frames, with no face detection, alignment or cropping.</a:t>
            </a:r>
          </a:p>
          <a:p/>
          <a:p>
            <a:r>
              <a:t>Because stage one finishes before any training, all configurations are compared on identical inputs.</a:t>
            </a:r>
          </a:p>
        </p:txBody>
      </p:sp>
      <p:sp>
        <p:nvSpPr>
          <p:cNvPr id="4" name="Slide Number Placeholder 3"/>
          <p:cNvSpPr>
            <a:spLocks noGrp="1"/>
          </p:cNvSpPr>
          <p:nvPr>
            <p:ph type="sldNum" idx="4"/>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These are the four components that the ablation switches on and off.</a:t>
            </a:r>
          </a:p>
          <a:p/>
          <a:p>
            <a:r>
              <a:t>The first three belong to motion modelling. Eulerian video magnification amplifies subtle motion before optical flow is computed. The convolutional stem has three streams with separate weights, one per input channel. Its kernels are spatial only. SimAM is a parameter-free attention module that re-weights the stem's activations; it needs the stem to act on.</a:t>
            </a:r>
          </a:p>
          <a:p/>
          <a:p>
            <a:r>
              <a:t>The fourth component is temporal modelling: a transformer encoder with sinusoidal positional encoding, four pre-norm layers and eight attention heads, applied to the sequence of 32 time steps.</a:t>
            </a:r>
          </a:p>
          <a:p/>
          <a:p>
            <a:r>
              <a:t>A disabled component is not simply deleted; it is replaced by a minimal operation. Without the stem, each frame is average-pooled to a four by four grid and projected linearly. Without the transformer, the sequence is averaged over time, which has no parameters and no notion of temporal order.</a:t>
            </a:r>
          </a:p>
        </p:txBody>
      </p:sp>
      <p:sp>
        <p:nvSpPr>
          <p:cNvPr id="4" name="Slide Number Placeholder 3"/>
          <p:cNvSpPr>
            <a:spLocks noGrp="1"/>
          </p:cNvSpPr>
          <p:nvPr>
            <p:ph type="sldNum" idx="4"/>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Stage two is training and evaluation. All twelve configurations are branches of a single model, in which each component is executed or skipped by a switch.</a:t>
            </a:r>
          </a:p>
          <a:p/>
          <a:p>
            <a:r>
              <a:t>The motion tensor passes through the convolutional stem and SimAM if they are enabled. Spatial pooling then removes the spatial dimensions and leaves a sequence of 32 time steps with 96 features each. The transformer processes this sequence, the result is averaged over time, and the classifier head produces three class scores.</a:t>
            </a:r>
          </a:p>
          <a:p/>
          <a:p>
            <a:r>
              <a:t>Because every configuration shares the same implementation, initialisation and layer order, two configurations that differ in one switch differ in nothing else.</a:t>
            </a:r>
          </a:p>
          <a:p/>
          <a:p>
            <a:r>
              <a:t>The parameter counts are on the slide. The stem has about 14,500 parameters, the transformer about 349,000. SimAM and magnification add none. So in the complete model the transformer holds about 96 percent of the parameters. So the transformer adds capacity as well as temporal modelling.</a:t>
            </a:r>
          </a:p>
        </p:txBody>
      </p:sp>
      <p:sp>
        <p:nvSpPr>
          <p:cNvPr id="4" name="Slide Number Placeholder 3"/>
          <p:cNvSpPr>
            <a:spLocks noGrp="1"/>
          </p:cNvSpPr>
          <p:nvPr>
            <p:ph type="sldNum" idx="4"/>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Four binary components give two to the power of four, sixteen combinations. Four of them enable SimAM without the convolutional stem. Without the stem, SimAM has nothing to act on, so those four are not trained. That leaves twelve valid configurations, shown in the table. The numbering skips the four excluded ones.</a:t>
            </a:r>
          </a:p>
          <a:p/>
          <a:p>
            <a:r>
              <a:t>The analysis rests on matched pairs. A matched pair is two configurations that differ in exactly one component. For example, C1 and C2 differ only in the transformer. The difference between their scores estimates the contribution of that component with everything else held fixed. The effect I report for a component is the mean over all of its pairs.</a:t>
            </a:r>
          </a:p>
          <a:p/>
          <a:p>
            <a:r>
              <a:t>The transformer and magnification each have six pairs. SimAM and the stem have four each, because SimAM requires the stem. In total there are twenty matched pairs.</a:t>
            </a:r>
          </a:p>
        </p:txBody>
      </p:sp>
      <p:sp>
        <p:nvSpPr>
          <p:cNvPr id="4" name="Slide Number Placeholder 3"/>
          <p:cNvSpPr>
            <a:spLocks noGrp="1"/>
          </p:cNvSpPr>
          <p:nvPr>
            <p:ph type="sldNum" idx="4"/>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Training is identical for all twelve configurations. Every model is trained from scratch, without pre-training or auxiliary data.</a:t>
            </a:r>
          </a:p>
          <a:p/>
          <a:p>
            <a:r>
              <a:t>The loss is focal loss with gamma equal to two, combined with label smoothing of 0.05. The class imbalance is corrected by a class-balanced sampler, and the loss carries no class weights, because applying both would correct the same imbalance twice. I use AdamW for fifty epochs with a batch size of eight, and one fixed random seed. No hyperparameter search was performed.</a:t>
            </a:r>
          </a:p>
          <a:p/>
          <a:p>
            <a:r>
              <a:t>Evaluation uses leave-one-subject-out cross-validation with 25 folds, so no subject appears in both training and test data.</a:t>
            </a:r>
          </a:p>
          <a:p/>
          <a:p>
            <a:r>
              <a:t>The primary metric is pooled macro F1: confusion matrices are summed over all folds first. I do not average per-fold scores, because many folds lack one or two classes, which caps a mean-of-folds macro F1 at 0.627.</a:t>
            </a:r>
          </a:p>
          <a:p/>
          <a:p>
            <a:r>
              <a:t>One declared limitation: the best epoch is chosen on the held-out subject.</a:t>
            </a:r>
          </a:p>
        </p:txBody>
      </p:sp>
      <p:sp>
        <p:nvSpPr>
          <p:cNvPr id="4" name="Slide Number Placeholder 3"/>
          <p:cNvSpPr>
            <a:spLocks noGrp="1"/>
          </p:cNvSpPr>
          <p:nvPr>
            <p:ph type="sldNum" idx="4"/>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chart ranks the twelve configurations by pooled macro F1.</a:t>
            </a:r>
          </a:p>
          <a:p/>
          <a:p>
            <a:r>
              <a:t>The most striking feature is the separation into two groups. The six teal bars are the configurations with the transformer. They score between 0.583 and 0.712. The six grey bars are the configurations without it. They score between 0.419 and 0.448.</a:t>
            </a:r>
          </a:p>
          <a:p/>
          <a:p>
            <a:r>
              <a:t>The two groups do not overlap. The closest members are separated by 0.135. No other component divides the configurations into non-overlapping groups.</a:t>
            </a:r>
          </a:p>
          <a:p/>
          <a:p>
            <a:r>
              <a:t>So the first result is simple: whether a configuration contains the temporal transformer determines which group it falls into.</a:t>
            </a:r>
          </a:p>
        </p:txBody>
      </p:sp>
      <p:sp>
        <p:nvSpPr>
          <p:cNvPr id="4" name="Slide Number Placeholder 3"/>
          <p:cNvSpPr>
            <a:spLocks noGrp="1"/>
          </p:cNvSpPr>
          <p:nvPr>
            <p:ph type="sldNum" idx="4"/>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best configuration is C2, which contains only the temporal transformer. It reaches a pooled macro F1 of 0.7122 and an accuracy of 0.7436.</a:t>
            </a:r>
          </a:p>
          <a:p/>
          <a:p>
            <a:r>
              <a:t>C8 enables all four components. It scores 0.6659, which is 0.0463 lower.</a:t>
            </a:r>
          </a:p>
          <a:p/>
          <a:p>
            <a:r>
              <a:t>Interestingly, C8 has a slightly higher accuracy: it classifies 117 clips correctly against 116 for C2. So the two metrics select different configurations. The reason is that C8 is stronger on the majority class, while C2 is stronger on the two minority classes, and macro F1 weights all classes equally.</a:t>
            </a:r>
          </a:p>
          <a:p/>
          <a:p>
            <a:r>
              <a:t>For reference, a classifier that always predicts Negative has a macro F1 of 0.2588. All twelve configurations exceed that.</a:t>
            </a:r>
          </a:p>
          <a:p/>
          <a:p>
            <a:r>
              <a:t>The difference is a point estimate from a single seed, not a statistically established advantage. But the finding matters: an evaluation of the complete system alone would have reported the lower figure, with no way of discovering that a subset of its own architecture performs better.</a:t>
            </a:r>
          </a:p>
        </p:txBody>
      </p:sp>
      <p:sp>
        <p:nvSpPr>
          <p:cNvPr id="4" name="Slide Number Placeholder 3"/>
          <p:cNvSpPr>
            <a:spLocks noGrp="1"/>
          </p:cNvSpPr>
          <p:nvPr>
            <p:ph type="sldNum" idx="4"/>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summarises the mean effect of each component over its matched pairs.</a:t>
            </a:r>
          </a:p>
          <a:p/>
          <a:p>
            <a:r>
              <a:t>The temporal transformer improves pooled macro F1 by 0.2173 on average, and all six of its pairs are positive, ranging from plus 0.158 to plus 0.279.</a:t>
            </a:r>
          </a:p>
          <a:p/>
          <a:p>
            <a:r>
              <a:t>Motion magnification has a mean effect of plus 0.0152. Four of six pairs improve, two decline.</a:t>
            </a:r>
          </a:p>
          <a:p/>
          <a:p>
            <a:r>
              <a:t>SimAM has a mean effect of plus 0.0034, the smallest of the four. Three of four pairs are positive.</a:t>
            </a:r>
          </a:p>
          <a:p/>
          <a:p>
            <a:r>
              <a:t>The convolutional stem is the only component with a negative mean effect, minus 0.0310. Two pairs are slightly positive and two are negative.</a:t>
            </a:r>
          </a:p>
          <a:p/>
          <a:p>
            <a:r>
              <a:t>Two observations. Even the smallest transformer gain is larger than the mean effect of any other component. And the effects are not additive: enabling every component does not maximise the score.</a:t>
            </a:r>
          </a:p>
          <a:p/>
          <a:p>
            <a:r>
              <a:t>So temporal modelling carries almost all of the measured effect in this pipeline.</a:t>
            </a:r>
          </a:p>
        </p:txBody>
      </p:sp>
      <p:sp>
        <p:nvSpPr>
          <p:cNvPr id="4" name="Slide Number Placeholder 3"/>
          <p:cNvSpPr>
            <a:spLocks noGrp="1"/>
          </p:cNvSpPr>
          <p:nvPr>
            <p:ph type="sldNum" idx="4"/>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Here are all twenty matched pairs behind those means. Each bar is one pair, labelled "off to on" by configuration number, and all four panels share the same vertical scale.</a:t>
            </a:r>
          </a:p>
          <a:p/>
          <a:p>
            <a:r>
              <a:t>For the transformer, every bar is clearly positive. The largest gain is from C1 to C2, plus 0.279.</a:t>
            </a:r>
          </a:p>
          <a:p/>
          <a:p>
            <a:r>
              <a:t>For magnification the picture is mixed. The largest gain, plus 0.080, is from C9 to C7, where the stem and the transformer are present. The largest loss, minus 0.054, occurs when magnification is added to the best configuration, C2 to C12.</a:t>
            </a:r>
          </a:p>
          <a:p/>
          <a:p>
            <a:r>
              <a:t>For the convolutional stem, three of the four differences are smaller than 0.01. The mean is dominated by one pair: adding the stem to the best configuration, C2 to C9, loses 0.129.</a:t>
            </a:r>
          </a:p>
          <a:p/>
          <a:p>
            <a:r>
              <a:t>So small means can hide considerable variation, and the two large losses both occur when a component is added to the transformer-only configuration.</a:t>
            </a:r>
          </a:p>
        </p:txBody>
      </p:sp>
      <p:sp>
        <p:nvSpPr>
          <p:cNvPr id="4" name="Slide Number Placeholder 3"/>
          <p:cNvSpPr>
            <a:spLocks noGrp="1"/>
          </p:cNvSpPr>
          <p:nvPr>
            <p:ph type="sldNum" idx="4"/>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Macro F1 is an average over the three classes, so it is worth looking at the classes separately.</a:t>
            </a:r>
          </a:p>
          <a:p/>
          <a:p>
            <a:r>
              <a:t>First, every configuration has a nonzero F1 on all three classes. No configuration abandons a class.</a:t>
            </a:r>
          </a:p>
          <a:p/>
          <a:p>
            <a:r>
              <a:t>Second, C2, the best configuration, has the highest Positive and Surprise scores, 0.65 and 0.68. Its advantage in macro F1 comes from the minority classes.</a:t>
            </a:r>
          </a:p>
          <a:p/>
          <a:p>
            <a:r>
              <a:t>Third, C9, the stem plus the transformer, has the highest Negative F1 of all, 0.85, but a Surprise F1 of only 0.30. Its accuracy is nevertheless 0.73. This shows that high accuracy can coincide with weak minority-class performance, which is exactly why accuracy is not my primary metric.</a:t>
            </a:r>
          </a:p>
          <a:p/>
          <a:p>
            <a:r>
              <a:t>Fourth, the Negative class separates the two groups most clearly: with the transformer, Negative F1 is between 0.75 and 0.85; without it, between 0.35 and 0.56.</a:t>
            </a:r>
          </a:p>
        </p:txBody>
      </p:sp>
      <p:sp>
        <p:nvSpPr>
          <p:cNvPr id="4" name="Slide Number Placeholder 3"/>
          <p:cNvSpPr>
            <a:spLocks noGrp="1"/>
          </p:cNvSpPr>
          <p:nvPr>
            <p:ph type="sldNum" idx="4"/>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confusion matrices show how the models fail. Rows are true classes and columns are predictions.</a:t>
            </a:r>
          </a:p>
          <a:p/>
          <a:p>
            <a:r>
              <a:t>On the left is C1, with no components. It over-predicts the minority classes. Of the 99 Negative clips, 35 are predicted as Surprise and 22 as Positive. This pattern holds for all six configurations without the transformer: their Negative recall is only 0.21 to 0.44. A likely cause is the balanced sampler: the model learns class frequencies near one third each, and when the features discriminate poorly, predictions follow that prior.</a:t>
            </a:r>
          </a:p>
          <a:p/>
          <a:p>
            <a:r>
              <a:t>In the centre is C8, with all components. The stem shifts transformer configurations towards the majority class: 13 of 32 Positive clips are predicted as Negative.</a:t>
            </a:r>
          </a:p>
          <a:p/>
          <a:p>
            <a:r>
              <a:t>On the right is C2. It recognises all three classes with similar recall: 0.72, 0.84 and 0.72. Its main error is predicting Positive for 20 Negative clips.</a:t>
            </a:r>
          </a:p>
        </p:txBody>
      </p:sp>
      <p:sp>
        <p:nvSpPr>
          <p:cNvPr id="4" name="Slide Number Placeholder 3"/>
          <p:cNvSpPr>
            <a:spLocks noGrp="1"/>
          </p:cNvSpPr>
          <p:nvPr>
            <p:ph type="sldNum" idx="4"/>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did the components behave this way? These are plausible explanations; none was isolated experimentally.</a:t>
            </a:r>
          </a:p>
          <a:p/>
          <a:p>
            <a:r>
              <a:t>The transformer: without it, the sequence is averaged over time. A micro-expression rises to its apex and returns towards neutral, so the displacements of the two phases partly cancel and their order is lost. The transformer can relate onset, apex and offset. But it also adds about 349,000 parameters, so I cannot separate temporal order from added capacity.</a:t>
            </a:r>
          </a:p>
          <a:p/>
          <a:p>
            <a:r>
              <a:t>Magnification: optical flow already recovers faint motion, and per-channel normalisation removes differences in amplitude. Without alignment, head movement is amplified too.</a:t>
            </a:r>
          </a:p>
          <a:p/>
          <a:p>
            <a:r>
              <a:t>SimAM: its weight is bounded between about 0.62 and 1, so it can only attenuate moderately, and its output is then averaged over the whole frame.</a:t>
            </a:r>
          </a:p>
          <a:p/>
          <a:p>
            <a:r>
              <a:t>The stem: its output is averaged over the whole frame, which discards where the movement occurs, whereas the replacement keeps a coarse four by four grid.</a:t>
            </a:r>
          </a:p>
        </p:txBody>
      </p:sp>
      <p:sp>
        <p:nvSpPr>
          <p:cNvPr id="4" name="Slide Number Placeholder 3"/>
          <p:cNvSpPr>
            <a:spLocks noGrp="1"/>
          </p:cNvSpPr>
          <p:nvPr>
            <p:ph type="sldNum" idx="4"/>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places my best result next to the results reported for the CASME II subset in the MEGC 2019 challenge.</a:t>
            </a:r>
          </a:p>
          <a:p/>
          <a:p>
            <a:r>
              <a:t>My best score, 0.7122, lies above LBP-TOP and the method of Quang et al., and below the other five entries.</a:t>
            </a:r>
          </a:p>
          <a:p/>
          <a:p>
            <a:r>
              <a:t>However, this is not a like-for-like comparison, for three reasons.</a:t>
            </a:r>
          </a:p>
          <a:p/>
          <a:p>
            <a:r>
              <a:t>First, training data. The published entries were trained on the composite dataset of 442 samples from 68 subjects, about 2.8 times more than my 156 clips from 25 subjects.</a:t>
            </a:r>
          </a:p>
          <a:p/>
          <a:p>
            <a:r>
              <a:t>Second, evaluation data. The MEGC subset has 145 clips; I use 156, because I include sadness and fear in the Negative class.</a:t>
            </a:r>
          </a:p>
          <a:p/>
          <a:p>
            <a:r>
              <a:t>Third, checkpoint selection. I select the epoch on the held-out subject. That bias can only raise my scores, so it cannot explain why they are lower.</a:t>
            </a:r>
          </a:p>
          <a:p/>
          <a:p>
            <a:r>
              <a:t>So the comparison locates my results within the published range. It does not claim state-of-the-art performance.</a:t>
            </a:r>
          </a:p>
        </p:txBody>
      </p:sp>
      <p:sp>
        <p:nvSpPr>
          <p:cNvPr id="4" name="Slide Number Placeholder 3"/>
          <p:cNvSpPr>
            <a:spLocks noGrp="1"/>
          </p:cNvSpPr>
          <p:nvPr>
            <p:ph type="sldNum" idx="4"/>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Let me now answer the research questions.</a:t>
            </a:r>
          </a:p>
          <a:p/>
          <a:p>
            <a:r>
              <a:t>Question one, temporal modelling. The transformer produced by far the largest improvement: plus 0.2173 on average, with all six pairs improving. The best configuration contains the transformer alone.</a:t>
            </a:r>
          </a:p>
          <a:p/>
          <a:p>
            <a:r>
              <a:t>Question two, motion magnification. In this pipeline it did not improve recognition reliably. The mean effect was plus 0.0152, four of six pairs improved, and adding it to the best configuration reduced the score by 0.0541.</a:t>
            </a:r>
          </a:p>
          <a:p/>
          <a:p>
            <a:r>
              <a:t>Question three, learned spatial features and attention. Neither added to the motion representation. The stem had a negative mean effect, and SimAM was indistinguishable from zero.</a:t>
            </a:r>
          </a:p>
          <a:p/>
          <a:p>
            <a:r>
              <a:t>For the central question: on a small dataset, the improvement comes from modelling the temporal evolution of an analytically computed motion representation, not from more preprocessing or learned spatial processing. I did not measure robustness to noise separately.</a:t>
            </a:r>
          </a:p>
        </p:txBody>
      </p:sp>
      <p:sp>
        <p:nvSpPr>
          <p:cNvPr id="4" name="Slide Number Placeholder 3"/>
          <p:cNvSpPr>
            <a:spLocks noGrp="1"/>
          </p:cNvSpPr>
          <p:nvPr>
            <p:ph type="sldNum" idx="4"/>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These results hold within clear limits.</a:t>
            </a:r>
          </a:p>
          <a:p/>
          <a:p>
            <a:r>
              <a:t>First, the evaluation protocol. Each configuration was trained once with one random seed, so there are no confidence intervals. The epoch was selected on the same held-out subject that was scored, which biases the scores upwards by an unknown amount. And per-clip predictions were not retained, so no paired significance test such as McNemar's test can be computed.</a:t>
            </a:r>
          </a:p>
          <a:p/>
          <a:p>
            <a:r>
              <a:t>Second, fixed settings. The magnification factor, the sequence length, the SimAM constant and the focal loss exponent were taken from the literature and not searched. Each component was varied only as present or absent.</a:t>
            </a:r>
          </a:p>
          <a:p/>
          <a:p>
            <a:r>
              <a:t>Third, departures from the reviewed methods. There are twelve declared divergences. For example, the stem has no temporal kernels, and magnification is applied after subsampling.</a:t>
            </a:r>
          </a:p>
          <a:p/>
          <a:p>
            <a:r>
              <a:t>Fourth, a single dataset: 156 clips from 25 subjects, one ethnicity, a narrow age range and laboratory recording. No claim extends beyond these conditions.</a:t>
            </a:r>
          </a:p>
        </p:txBody>
      </p:sp>
      <p:sp>
        <p:nvSpPr>
          <p:cNvPr id="4" name="Slide Number Placeholder 3"/>
          <p:cNvSpPr>
            <a:spLocks noGrp="1"/>
          </p:cNvSpPr>
          <p:nvPr>
            <p:ph type="sldNum" idx="4"/>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limitations point directly to future work.</a:t>
            </a:r>
          </a:p>
          <a:p/>
          <a:p>
            <a:r>
              <a:t>For the evaluation: select the training epoch on subjects withheld from the training set, keep per-clip predictions so that configurations can be compared with McNemar's test, and repeat the experiment with several seeds to obtain confidence intervals.</a:t>
            </a:r>
          </a:p>
          <a:p/>
          <a:p>
            <a:r>
              <a:t>For the convolutional stem: retrain it at lower resolutions, such as 28 by 28 and 56 by 56, and keep the spatial layout of its features instead of averaging them over the frame.</a:t>
            </a:r>
          </a:p>
          <a:p/>
          <a:p>
            <a:r>
              <a:t>For the motion representation: apply magnification before subsampling, vary the amplification factor, compare Farnebäck with TV-L1.</a:t>
            </a:r>
          </a:p>
          <a:p/>
          <a:p>
            <a:r>
              <a:t>For temporal modelling: test an LSTM aggregator, onset-referenced flow and learned positional embeddings, and add a control with a comparable number of parameters but no temporal modelling, to isolate self-attention from capacity.</a:t>
            </a:r>
          </a:p>
          <a:p/>
          <a:p>
            <a:r>
              <a:t>Finally, evaluate on a composite dataset and on SAMM, CAS(ME) cubed and DFME to test whether the effects hold beyond CASME II.</a:t>
            </a:r>
          </a:p>
        </p:txBody>
      </p:sp>
      <p:sp>
        <p:nvSpPr>
          <p:cNvPr id="4" name="Slide Number Placeholder 3"/>
          <p:cNvSpPr>
            <a:spLocks noGrp="1"/>
          </p:cNvSpPr>
          <p:nvPr>
            <p:ph type="sldNum" idx="4"/>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To conclude, the thesis makes three contributions.</a:t>
            </a:r>
          </a:p>
          <a:p/>
          <a:p>
            <a:r>
              <a:t>First, a factorial evaluation of a standard micro-expression recognition pipeline: all twelve valid combinations of four components, under one leave-one-subject-out protocol, so that each contribution is measured against an otherwise identical pipeline.</a:t>
            </a:r>
          </a:p>
          <a:p/>
          <a:p>
            <a:r>
              <a:t>Second, a measured account of temporal and motion modelling. The transformer carries almost all of the effect. Magnification and SimAM are small or indistinguishable from noise, and the convolutional stem is negative on average.</a:t>
            </a:r>
          </a:p>
          <a:p/>
          <a:p>
            <a:r>
              <a:t>Third, evidence that the full pipeline is not the best configuration. The transformer alone reaches 0.7122, against 0.6659 for all four components.</a:t>
            </a:r>
          </a:p>
          <a:p/>
          <a:p>
            <a:r>
              <a:t>The overall conclusion is that, within one dataset, one training protocol and one setting of the preprocessing parameters, modelling the temporal evolution of facial motion matters more than adding further preprocessing or spatial processing.</a:t>
            </a:r>
          </a:p>
        </p:txBody>
      </p:sp>
      <p:sp>
        <p:nvSpPr>
          <p:cNvPr id="4" name="Slide Number Placeholder 3"/>
          <p:cNvSpPr>
            <a:spLocks noGrp="1"/>
          </p:cNvSpPr>
          <p:nvPr>
            <p:ph type="sldNum" idx="4"/>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That concludes my presentation. Thank you for your attention.</a:t>
            </a:r>
          </a:p>
          <a:p/>
          <a:p>
            <a:r>
              <a:t>To summarise in two numbers: the best configuration, with the temporal transformer alone, reaches a pooled macro F1 of 0.7122, and the transformer improves the score by 0.2173 on average over six matched pairs.</a:t>
            </a:r>
          </a:p>
          <a:p/>
          <a:p>
            <a:r>
              <a:t>I am happy to answer your questions.</a:t>
            </a:r>
          </a:p>
        </p:txBody>
      </p:sp>
      <p:sp>
        <p:nvSpPr>
          <p:cNvPr id="4" name="Slide Number Placeholder 3"/>
          <p:cNvSpPr>
            <a:spLocks noGrp="1"/>
          </p:cNvSpPr>
          <p:nvPr>
            <p:ph type="sldNum" idx="4"/>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Backup slides. These are not part of the talk. Jump to one only when a question calls for it. They cover: datasets, CASME II labels, fold composition, magnification, optical flow and strain, temporal sampling, the convolutional stream and SimAM, the transformer and SLSTT, training settings, metrics, the published evidence, the full results table, the predicted class distribution, the twelve divergences, and the research gap per component.</a:t>
            </a:r>
          </a:p>
        </p:txBody>
      </p:sp>
      <p:sp>
        <p:nvSpPr>
          <p:cNvPr id="4" name="Slide Number Placeholder 3"/>
          <p:cNvSpPr>
            <a:spLocks noGrp="1"/>
          </p:cNvSpPr>
          <p:nvPr>
            <p:ph type="sldNum" idx="4"/>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why I chose CASME II or how it compares with other datasets.</a:t>
            </a:r>
          </a:p>
          <a:p/>
          <a:p>
            <a:r>
              <a:t>The table lists the spontaneous micro-expression datasets most widely used for recognition. CASME II has 26 subjects in the released coding, 200 frames per second and FACS coding. SMIC is not FACS-coded. SAMM addresses the demographic narrowness with 13 ethnicities. CAS(ME) squared and MMEW also contain macro-expressions. DFME is far larger, with 7,526 clips from 671 participants.</a:t>
            </a:r>
          </a:p>
          <a:p/>
          <a:p>
            <a:r>
              <a:t>I chose CASME II for three reasons: the highest temporal resolution among datasets of comparable size, well-defined onset and offset annotation, and its status as the most widely reported single-dataset benchmark. The price is that no result extends to other populations or datasets.</a:t>
            </a:r>
          </a:p>
        </p:txBody>
      </p:sp>
      <p:sp>
        <p:nvSpPr>
          <p:cNvPr id="4" name="Slide Number Placeholder 3"/>
          <p:cNvSpPr>
            <a:spLocks noGrp="1"/>
          </p:cNvSpPr>
          <p:nvPr>
            <p:ph type="sldNum" idx="4"/>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about the class grouping or why my sample count differs from other papers.</a:t>
            </a:r>
          </a:p>
          <a:p/>
          <a:p>
            <a:r>
              <a:t>The released coding has seven labels: disgust 63, repression 27, sadness 7, fear 2, happiness 32, surprise 25 and others 99. Seven-class recognition is not viable with two fear clips and seven sadness clips.</a:t>
            </a:r>
          </a:p>
          <a:p/>
          <a:p>
            <a:r>
              <a:t>Three sample counts circulate for CASME II. The paper reports 247. The released coding file contains 255. MEGC 2019 uses 145, because its Negative class is disgust and repression only.</a:t>
            </a:r>
          </a:p>
          <a:p/>
          <a:p>
            <a:r>
              <a:t>I use 156: I add sadness and fear to Negative, following the mapping MEGC gives for SAMM. Nine of the eleven extra clips are sadness and fear; two are unexplained, because disgust and repression number 90 in the released coding against 88 in the challenge.</a:t>
            </a:r>
          </a:p>
        </p:txBody>
      </p:sp>
      <p:sp>
        <p:nvSpPr>
          <p:cNvPr id="4" name="Slide Number Placeholder 3"/>
          <p:cNvSpPr>
            <a:spLocks noGrp="1"/>
          </p:cNvSpPr>
          <p:nvPr>
            <p:ph type="sldNum" idx="4"/>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why I pool the confusion matrices instead of averaging per-fold scores.</a:t>
            </a:r>
          </a:p>
          <a:p/>
          <a:p>
            <a:r>
              <a:t>Each bar is one held-out subject, and the number above it is how many of the three classes that subject has. The folds are very unequal: subject 17 alone contributes 33 clips, and three subjects contribute a single clip.</a:t>
            </a:r>
          </a:p>
          <a:p/>
          <a:p>
            <a:r>
              <a:t>Ten folds contain only one class, eight contain two, and seven contain all three. A class that is absent from a fold contributes an F1 of zero, so a one-class fold can score at most one third and a two-class fold at most two thirds.</a:t>
            </a:r>
          </a:p>
          <a:p/>
          <a:p>
            <a:r>
              <a:t>The mean-of-folds macro F1 is therefore capped at about 0.627, however good the model is. Pooling the counts over all 156 clips avoids this ceiling, and it is exactly how the UF1 of MEGC 2019 is defined.</a:t>
            </a:r>
          </a:p>
        </p:txBody>
      </p:sp>
      <p:sp>
        <p:nvSpPr>
          <p:cNvPr id="4" name="Slide Number Placeholder 3"/>
          <p:cNvSpPr>
            <a:spLocks noGrp="1"/>
          </p:cNvSpPr>
          <p:nvPr>
            <p:ph type="sldNum" idx="4"/>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how magnification works or how my implementation differs from the reference.</a:t>
            </a:r>
          </a:p>
          <a:p/>
          <a:p>
            <a:r>
              <a:t>The first equation is the small-motion approximation: a small displacement delta changes the intensity by delta times the spatial gradient. Amplifying that variation by alpha gives an intensity that resembles a displacement enlarged by one plus alpha.</a:t>
            </a:r>
          </a:p>
          <a:p/>
          <a:p>
            <a:r>
              <a:t>The table lists the implementation choices. The band is the full 5 to 25 hertz, where Bai et al. narrowed it to 15 to 25 to reduce noise. The filter is a hard Fourier mask, not a Butterworth filter. The same alpha of 10 is applied to every level of a four-level Laplacian pyramid. And, most importantly, magnification is applied after the clip is sampled to 33 frames, so the realised pass-band depends on the clip length: about 2.5 to 12.5 hertz at the median length.</a:t>
            </a:r>
          </a:p>
          <a:p/>
          <a:p>
            <a:r>
              <a:t>The filter separates frequencies, not causes, so head movement in the band is amplified too.</a:t>
            </a:r>
          </a:p>
        </p:txBody>
      </p:sp>
      <p:sp>
        <p:nvSpPr>
          <p:cNvPr id="4" name="Slide Number Placeholder 3"/>
          <p:cNvSpPr>
            <a:spLocks noGrp="1"/>
          </p:cNvSpPr>
          <p:nvPr>
            <p:ph type="sldNum" idx="4"/>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for the mathematics of the motion representation.</a:t>
            </a:r>
          </a:p>
          <a:p/>
          <a:p>
            <a:r>
              <a:t>Optical flow rests on brightness constancy: a moving point keeps its intensity. A first-order expansion gives the flow constraint equation, which is one equation in two unknowns. That is the aperture problem, and it is why estimators add neighbourhood assumptions. I use the Farnebäck estimator.</a:t>
            </a:r>
          </a:p>
          <a:p/>
          <a:p>
            <a:r>
              <a:t>Optical strain is the symmetric part of the gradient of the displacement field. Its normal components describe stretching and compression, and the off-diagonal component describes shear. A uniform translation has zero strain.</a:t>
            </a:r>
          </a:p>
          <a:p/>
          <a:p>
            <a:r>
              <a:t>My scalar magnitude counts the shear component once. The Frobenius norm used by Liong et al. counts it twice. This is a declared divergence and was not tested experimentally.</a:t>
            </a:r>
          </a:p>
          <a:p/>
          <a:p>
            <a:r>
              <a:t>The three fields, u, v and the strain magnitude, form the three input channels.</a:t>
            </a:r>
          </a:p>
        </p:txBody>
      </p:sp>
      <p:sp>
        <p:nvSpPr>
          <p:cNvPr id="4" name="Slide Number Placeholder 3"/>
          <p:cNvSpPr>
            <a:spLocks noGrp="1"/>
          </p:cNvSpPr>
          <p:nvPr>
            <p:ph type="sldNum" idx="4"/>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about the sequence length, the frame rate or the Temporal Interpolation Model.</a:t>
            </a:r>
          </a:p>
          <a:p/>
          <a:p>
            <a:r>
              <a:t>Clips are between 31 and 126 frames long, with a median of 66. I sample 33 frames uniformly, so the effective frame rate is 6600 divided by the clip length: 100 frames per second at the median, and about 52 for the longest clip. 81 of the 156 clips are downsampled by a factor of two or more. Three clips have only 31 frames, so indices repeat and give near-zero flow.</a:t>
            </a:r>
          </a:p>
          <a:p/>
          <a:p>
            <a:r>
              <a:t>I sample existing frames and do not use the Temporal Interpolation Model, because synthesised frames would produce synthesised displacements.</a:t>
            </a:r>
          </a:p>
          <a:p/>
          <a:p>
            <a:r>
              <a:t>In the literature, ten frames is a convention, and the studies that test the length disagree: Li et al. find ten frames best, Ben et al. find sixty. I did not vary the length.</a:t>
            </a:r>
          </a:p>
        </p:txBody>
      </p:sp>
      <p:sp>
        <p:nvSpPr>
          <p:cNvPr id="4" name="Slide Number Placeholder 3"/>
          <p:cNvSpPr>
            <a:spLocks noGrp="1"/>
          </p:cNvSpPr>
          <p:nvPr>
            <p:ph type="sldNum" idx="4"/>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for the exact layers of the stem or the SimAM formula.</a:t>
            </a:r>
          </a:p>
          <a:p/>
          <a:p>
            <a:r>
              <a:t>Each stream has two convolutions with spatial kernels of one by three by three, with 16 and then 32 filters, each followed by batch normalisation, ReLU and channel-wise dropout of 0.3, and a final max pooling that halves height and width. The three streams are concatenated to 96 channels. No kernel spans time.</a:t>
            </a:r>
          </a:p>
          <a:p/>
          <a:p>
            <a:r>
              <a:t>SimAM computes the mean and variance of each channel, here over the whole clip. For each activation it computes a reciprocal energy that grows with the squared distance from the mean, and multiplies the activation by the sigmoid of that value.</a:t>
            </a:r>
          </a:p>
          <a:p/>
          <a:p>
            <a:r>
              <a:t>Because the reciprocal energy is at least one half, the weight lies between about 0.62 and 1. So SimAM can only attenuate moderately, which is one reason its measured effect is small.</a:t>
            </a:r>
          </a:p>
        </p:txBody>
      </p:sp>
      <p:sp>
        <p:nvSpPr>
          <p:cNvPr id="4" name="Slide Number Placeholder 3"/>
          <p:cNvSpPr>
            <a:spLocks noGrp="1"/>
          </p:cNvSpPr>
          <p:nvPr>
            <p:ph type="sldNum" idx="4"/>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how my transformer relates to SLSTT.</a:t>
            </a:r>
          </a:p>
          <a:p/>
          <a:p>
            <a:r>
              <a:t>The top equation is scaled dot-product self-attention. The second is the fixed sinusoidal positional encoding added to the 32 tokens; the feature dimension is 96.</a:t>
            </a:r>
          </a:p>
          <a:p/>
          <a:p>
            <a:r>
              <a:t>The table lists the six differences from published SLSTT. In SLSTT, self-attention is spatial, over patches within a frame, and an LSTM models time. In my model, self-attention is temporal, over the tokens of a clip, followed by a mean. SLSTT uses an ImageNet-pre-trained ViT-B/16 with twelve layers; mine has four small layers trained from scratch. SLSTT uses learned positions and onset-referenced flow; I use sinusoidal positions and consecutive-frame flow.</a:t>
            </a:r>
          </a:p>
          <a:p/>
          <a:p>
            <a:r>
              <a:t>So my component is a small temporal transformer encoder, not a reproduction of SLSTT, and I do not claim to validate SLSTT.</a:t>
            </a:r>
          </a:p>
        </p:txBody>
      </p:sp>
      <p:sp>
        <p:nvSpPr>
          <p:cNvPr id="4" name="Slide Number Placeholder 3"/>
          <p:cNvSpPr>
            <a:spLocks noGrp="1"/>
          </p:cNvSpPr>
          <p:nvPr>
            <p:ph type="sldNum" idx="4"/>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for exact training settings or the loss.</a:t>
            </a:r>
          </a:p>
          <a:p/>
          <a:p>
            <a:r>
              <a:t>The table gives the full recipe, identical for all configurations and folds. Focal loss with gamma of two, label smoothing of 0.05, a class-balanced sampler, AdamW with a learning rate and weight decay of ten to the minus four, five warmup epochs and cosine annealing, fifty epochs, batch size eight, gradient clipping and mixed precision.</a:t>
            </a:r>
          </a:p>
          <a:p/>
          <a:p>
            <a:r>
              <a:t>On the right are the loss formulas. The focal term reduces the contribution of confidently classified examples. It depends on difficulty, not on class frequency, so the frequency correction must come from the sampler.</a:t>
            </a:r>
          </a:p>
          <a:p/>
          <a:p>
            <a:r>
              <a:t>The class-weighting rule says that loss weights are used only when the sampler is inactive. It was introduced after two failures in opposite directions during development. I report that as context: its causal effect was not isolated.</a:t>
            </a:r>
          </a:p>
        </p:txBody>
      </p:sp>
      <p:sp>
        <p:nvSpPr>
          <p:cNvPr id="4" name="Slide Number Placeholder 3"/>
          <p:cNvSpPr>
            <a:spLocks noGrp="1"/>
          </p:cNvSpPr>
          <p:nvPr>
            <p:ph type="sldNum" idx="4"/>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to define the metrics.</a:t>
            </a:r>
          </a:p>
          <a:p/>
          <a:p>
            <a:r>
              <a:t>Precision is the share of predictions of a class that are correct. Recall is the share of clips of a class that are found. F1 is their harmonic mean. Macro F1 is the mean of the three class F1 scores, so each class has equal weight.</a:t>
            </a:r>
          </a:p>
          <a:p/>
          <a:p>
            <a:r>
              <a:t>My primary metric is pooled macro F1: the confusion matrices of the 25 folds are summed first, and the class F1 scores are computed once. This is identical in construction to the UF1 of MEGC 2019.</a:t>
            </a:r>
          </a:p>
          <a:p/>
          <a:p>
            <a:r>
              <a:t>I reject the mean of per-fold scores because of the fold composition: it is capped at 0.627.</a:t>
            </a:r>
          </a:p>
          <a:p/>
          <a:p>
            <a:r>
              <a:t>I report pooled accuracy alongside, but accuracy equals micro F1 and is dominated by the majority class. Always predicting Negative gives 0.6346 accuracy and only 0.2588 macro F1.</a:t>
            </a:r>
          </a:p>
        </p:txBody>
      </p:sp>
      <p:sp>
        <p:nvSpPr>
          <p:cNvPr id="4" name="Slide Number Placeholder 3"/>
          <p:cNvSpPr>
            <a:spLocks noGrp="1"/>
          </p:cNvSpPr>
          <p:nvPr>
            <p:ph type="sldNum" idx="4"/>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what the literature says about magnification and strain.</a:t>
            </a:r>
          </a:p>
          <a:p/>
          <a:p>
            <a:r>
              <a:t>On the left is a controlled comparison with and without magnification, from Li et al. 2018, with descriptor and classifier held fixed. On CASME II, magnification raises accuracy by about 5 points for LBP, 6.5 for HOG and 10 for HIGO. The curve over alpha is non-monotonic, with the best range 8 to 16. But all of these descriptors are computed on magnified pixel intensities; none is an explicit motion field. That is the case my thesis tests on a single dataset. Xia et al. 2020 ran a similar check on the composite dataset with optical-flow input and found that magnification lowered the score of every model, which is consistent with my result.</a:t>
            </a:r>
          </a:p>
          <a:p/>
          <a:p>
            <a:r>
              <a:t>On the right is Liong et al. 2016. Strain features alone are below the texture baseline; combined with strain weighting they reach 63.16 percent on CASME II, against 55.87 for the matched flow descriptors. But CASME II is evaluated leave-one-video-out there, which is not subject-independent, and these are hand-crafted descriptors.</a:t>
            </a:r>
          </a:p>
        </p:txBody>
      </p:sp>
      <p:sp>
        <p:nvSpPr>
          <p:cNvPr id="4" name="Slide Number Placeholder 3"/>
          <p:cNvSpPr>
            <a:spLocks noGrp="1"/>
          </p:cNvSpPr>
          <p:nvPr>
            <p:ph type="sldNum" idx="4"/>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for an exact number for any configuration.</a:t>
            </a:r>
          </a:p>
          <a:p/>
          <a:p>
            <a:r>
              <a:t>The table gives, for all twelve configurations in rank order, the components that are enabled, the pooled macro F1, the pooled accuracy and the three per-class F1 scores.</a:t>
            </a:r>
          </a:p>
          <a:p/>
          <a:p>
            <a:r>
              <a:t>Points worth knowing. C2 is first in macro F1 with 0.7122. C8 has the highest accuracy, 0.7500. C9 has the highest Negative F1, 0.8491, but a Surprise F1 of 0.3000. The lowest single class score is the Surprise F1 of C4, 0.2462. The six configurations without the transformer all lie between 0.4192 and 0.4480 in macro F1.</a:t>
            </a:r>
          </a:p>
        </p:txBody>
      </p:sp>
      <p:sp>
        <p:nvSpPr>
          <p:cNvPr id="4" name="Slide Number Placeholder 3"/>
          <p:cNvSpPr>
            <a:spLocks noGrp="1"/>
          </p:cNvSpPr>
          <p:nvPr>
            <p:ph type="sldNum" idx="4"/>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why the models without a transformer have low accuracy.</a:t>
            </a:r>
          </a:p>
          <a:p/>
          <a:p>
            <a:r>
              <a:t>The chart shows how many clips each configuration predicts as each class. The first group shows the true class sizes: 99, 32 and 25.</a:t>
            </a:r>
          </a:p>
          <a:p/>
          <a:p>
            <a:r>
              <a:t>The six configurations on the right have no transformer. They predict Surprise between 40 and 97 times, although only 25 clips are Surprise, and they predict Positive more often than its 32 clips. Most Negative clips are therefore misclassified.</a:t>
            </a:r>
          </a:p>
          <a:p/>
          <a:p>
            <a:r>
              <a:t>A likely cause is the balanced sampler: the model learns class frequencies near one third each, and when the features are weak, predictions follow that prior.</a:t>
            </a:r>
          </a:p>
          <a:p/>
          <a:p>
            <a:r>
              <a:t>The configurations with the transformer are much closer to the true distribution. Those that also contain the stem predict Negative 82 to 113 times, a shift towards the majority class.</a:t>
            </a:r>
          </a:p>
        </p:txBody>
      </p:sp>
      <p:sp>
        <p:nvSpPr>
          <p:cNvPr id="4" name="Slide Number Placeholder 3"/>
          <p:cNvSpPr>
            <a:spLocks noGrp="1"/>
          </p:cNvSpPr>
          <p:nvPr>
            <p:ph type="sldNum" idx="4"/>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how my implementation differs from the methods it draws on.</a:t>
            </a:r>
          </a:p>
          <a:p/>
          <a:p>
            <a:r>
              <a:t>The literature review identified twelve points of departure, and I declare all of them so that no result rests on an unstated assumption.</a:t>
            </a:r>
          </a:p>
          <a:p/>
          <a:p>
            <a:r>
              <a:t>Three were identified by the review itself and were not deliberate design decisions: the strain formula, the order of magnification and sampling, and the input resolution.</a:t>
            </a:r>
          </a:p>
          <a:p/>
          <a:p>
            <a:r>
              <a:t>None of them invalidates the ablation, because every configuration shares them. What they do is constrain the wording of the conclusions. What I measure is the contribution of a spatial stem at 224 by 224 and of a temporal encoder within this pipeline. It is not a verdict on temporal convolution or on SLSTT.</a:t>
            </a:r>
          </a:p>
        </p:txBody>
      </p:sp>
      <p:sp>
        <p:nvSpPr>
          <p:cNvPr id="4" name="Slide Number Placeholder 3"/>
          <p:cNvSpPr>
            <a:spLocks noGrp="1"/>
          </p:cNvSpPr>
          <p:nvPr>
            <p:ph type="sldNum" idx="4"/>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if asked, for a specific component, what was unknown and what my study does not cover.</a:t>
            </a:r>
          </a:p>
          <a:p/>
          <a:p>
            <a:r>
              <a:t>For each component the table gives the research gap left by the reviewed literature and the limitation of my implementation. The first five rows are motion modelling; the last two are temporal modelling.</a:t>
            </a:r>
          </a:p>
          <a:p/>
          <a:p>
            <a:r>
              <a:t>For example, magnification has only been evaluated in front of appearance-based descriptors, and I fix alpha at 10. No study removes the learned spatial stem, and mine has spatial kernels only at 224 by 224. The best transformer results combine a pre-trained spatial transformer with an LSTM, and my ablation compares the complete encoder with mean pooling without isolating self-attention.</a:t>
            </a:r>
          </a:p>
          <a:p/>
          <a:p>
            <a:r>
              <a:t>For training, the imbalance treatment, gamma and label smoothing are identical in all configurations, so their effects are not measured.</a:t>
            </a:r>
          </a:p>
        </p:txBody>
      </p:sp>
      <p:sp>
        <p:nvSpPr>
          <p:cNvPr id="4" name="Slide Number Placeholder 3"/>
          <p:cNvSpPr>
            <a:spLocks noGrp="1"/>
          </p:cNvSpPr>
          <p:nvPr>
            <p:ph type="sldNum" idx="4"/>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BTU title only">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2D25E59F-6C3E-461B-AE14-B81088E6D32F}" type="slidenum">
              <a:t>&lt;#&gt;</a:t>
            </a:fld>
          </a:p>
        </p:txBody>
      </p:sp>
      <p:sp>
        <p:nvSpPr>
          <p:cNvPr id="3" name="Title 2"/>
          <p:cNvSpPr>
            <a:spLocks noGrp="1"/>
          </p:cNvSpPr>
          <p:nvPr>
            <p:ph type="title"/>
          </p:nvPr>
        </p:nvSpPr>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609120"/>
            <a:ext cx="4952880" cy="1143000"/>
          </a:xfrm>
          <a:prstGeom prst="rect">
            <a:avLst/>
          </a:prstGeom>
          <a:noFill/>
          <a:ln w="0">
            <a:noFill/>
          </a:ln>
        </p:spPr>
        <p:txBody>
          <a:bodyPr lIns="90000" tIns="46800" rIns="90000" bIns="46800" anchor="t">
            <a:noAutofit/>
          </a:bodyPr>
          <a:lstStyle>
            <a:lvl1pPr indent="0" algn="l">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lang="en-US" sz="1800" b="1" u="none" strike="noStrike">
                <a:solidFill>
                  <a:srgbClr val="A8CC2F"/>
                </a:solidFill>
                <a:effectLst/>
                <a:uFillTx/>
                <a:latin typeface="Arial"/>
              </a:defRPr>
            </a:lvl1pPr>
          </a:lstStyle>
          <a:p>
            <a:pPr indent="0" algn="l">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US" sz="1800" b="1" u="none" strike="noStrike">
                <a:solidFill>
                  <a:srgbClr val="A8CC2F"/>
                </a:solidFill>
                <a:effectLst/>
                <a:uFillTx/>
                <a:latin typeface="Arial"/>
              </a:rPr>
              <a:t>Click to edit the title text format</a:t>
            </a:r>
            <a:endParaRPr lang="en-US" sz="1800" b="1" u="none" strike="noStrike">
              <a:solidFill>
                <a:srgbClr val="A8CC2F"/>
              </a:solidFill>
              <a:effectLst/>
              <a:uFillTx/>
              <a:latin typeface="Arial"/>
            </a:endParaRPr>
          </a:p>
        </p:txBody>
      </p:sp>
      <p:sp>
        <p:nvSpPr>
          <p:cNvPr id="3" name="PlaceHolder 2"/>
          <p:cNvSpPr>
            <a:spLocks noGrp="1"/>
          </p:cNvSpPr>
          <p:nvPr>
            <p:ph type="body"/>
          </p:nvPr>
        </p:nvSpPr>
        <p:spPr>
          <a:xfrm>
            <a:off x="685440" y="1981080"/>
            <a:ext cx="8001000" cy="4114800"/>
          </a:xfrm>
          <a:prstGeom prst="rect">
            <a:avLst/>
          </a:prstGeom>
          <a:noFill/>
          <a:ln w="0">
            <a:noFill/>
          </a:ln>
        </p:spPr>
        <p:txBody>
          <a:bodyPr lIns="90000" tIns="46800" rIns="90000" bIns="46800" anchor="t">
            <a:normAutofit/>
          </a:bodyPr>
          <a:lstStyle>
            <a:lvl1pPr algn="l">
              <a:spcBef>
                <a:spcPts val="601"/>
              </a:spcBef>
              <a:buClr>
                <a:srgbClr val="414141"/>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defRPr lang="en-US" sz="2400" b="0" u="none" strike="noStrike">
                <a:solidFill>
                  <a:srgbClr val="414141"/>
                </a:solidFill>
                <a:effectLst/>
                <a:uFillTx/>
                <a:latin typeface="Arial"/>
              </a:defRPr>
            </a:lvl1pPr>
            <a:lvl2pPr lvl="1" algn="l">
              <a:spcBef>
                <a:spcPts val="601"/>
              </a:spcBef>
              <a:buClr>
                <a:srgbClr val="414141"/>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defRPr lang="en-US" sz="2400" b="0" u="none" strike="noStrike">
                <a:solidFill>
                  <a:srgbClr val="414141"/>
                </a:solidFill>
                <a:effectLst/>
                <a:uFillTx/>
                <a:latin typeface="Arial"/>
              </a:defRPr>
            </a:lvl2pPr>
            <a:lvl3pPr lvl="2" algn="l">
              <a:spcBef>
                <a:spcPts val="601"/>
              </a:spcBef>
              <a:buClr>
                <a:srgbClr val="414141"/>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defRPr lang="en-US" sz="2400" b="0" u="none" strike="noStrike">
                <a:solidFill>
                  <a:srgbClr val="414141"/>
                </a:solidFill>
                <a:effectLst/>
                <a:uFillTx/>
                <a:latin typeface="Arial"/>
              </a:defRPr>
            </a:lvl3pPr>
            <a:lvl4pPr lvl="3" algn="l">
              <a:spcBef>
                <a:spcPts val="601"/>
              </a:spcBef>
              <a:buClr>
                <a:srgbClr val="414141"/>
              </a:buClr>
              <a:buFont typeface="Courier New"/>
              <a:buChar char="–"/>
              <a:tabLst>
                <a:tab pos="914400" algn="l"/>
                <a:tab pos="1828800" algn="l"/>
                <a:tab pos="2743200" algn="l"/>
                <a:tab pos="3657600" algn="l"/>
                <a:tab pos="4572000" algn="l"/>
                <a:tab pos="5486400" algn="l"/>
                <a:tab pos="6400800" algn="l"/>
                <a:tab pos="7315200" algn="l"/>
                <a:tab pos="8229600" algn="l"/>
                <a:tab pos="9144000" algn="l"/>
                <a:tab pos="10058400" algn="l"/>
              </a:tabLst>
              <a:defRPr lang="en-US" sz="2400" b="0" u="none" strike="noStrike">
                <a:solidFill>
                  <a:srgbClr val="414141"/>
                </a:solidFill>
                <a:effectLst/>
                <a:uFillTx/>
                <a:latin typeface="Arial"/>
              </a:defRPr>
            </a:lvl4pPr>
            <a:lvl5pPr lvl="4" algn="l">
              <a:spcBef>
                <a:spcPts val="601"/>
              </a:spcBef>
              <a:buClr>
                <a:srgbClr val="A8CC2F"/>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defRPr lang="en-US" sz="2400" b="0" u="none" strike="noStrike">
                <a:solidFill>
                  <a:srgbClr val="414141"/>
                </a:solidFill>
                <a:effectLst/>
                <a:uFillTx/>
                <a:latin typeface="Arial"/>
              </a:defRPr>
            </a:lvl5pPr>
            <a:lvl6pPr lvl="5" algn="l">
              <a:spcBef>
                <a:spcPts val="601"/>
              </a:spcBef>
              <a:buClr>
                <a:srgbClr val="000000"/>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defRPr lang="en-US" sz="2400" b="0" u="none" strike="noStrike">
                <a:solidFill>
                  <a:srgbClr val="414141"/>
                </a:solidFill>
                <a:effectLst/>
                <a:uFillTx/>
                <a:latin typeface="Arial"/>
              </a:defRPr>
            </a:lvl6pPr>
            <a:lvl7pPr lvl="6" algn="l">
              <a:spcBef>
                <a:spcPts val="601"/>
              </a:spcBef>
              <a:buClr>
                <a:srgbClr val="000000"/>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defRPr lang="en-US" sz="2400" b="0" u="none" strike="noStrike">
                <a:solidFill>
                  <a:srgbClr val="414141"/>
                </a:solidFill>
                <a:effectLst/>
                <a:uFillTx/>
                <a:latin typeface="Arial"/>
              </a:defRPr>
            </a:lvl7pPr>
          </a:lstStyle>
          <a:p>
            <a:pPr marL="343080" indent="-343080" algn="l">
              <a:spcBef>
                <a:spcPts val="601"/>
              </a:spcBef>
              <a:buClr>
                <a:srgbClr val="414141"/>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pPr>
            <a:r>
              <a:rPr lang="en-US" sz="2400" b="0" u="none" strike="noStrike">
                <a:solidFill>
                  <a:srgbClr val="414141"/>
                </a:solidFill>
                <a:effectLst/>
                <a:uFillTx/>
                <a:latin typeface="Arial"/>
              </a:rPr>
              <a:t>Click to edit the outline text format</a:t>
            </a:r>
            <a:endParaRPr lang="en-US" sz="2400" b="0" u="none" strike="noStrike">
              <a:solidFill>
                <a:srgbClr val="414141"/>
              </a:solidFill>
              <a:effectLst/>
              <a:uFillTx/>
              <a:latin typeface="Arial"/>
            </a:endParaRPr>
          </a:p>
          <a:p>
            <a:pPr marL="743040" lvl="1" indent="-285840" algn="l">
              <a:spcBef>
                <a:spcPts val="601"/>
              </a:spcBef>
              <a:buClr>
                <a:srgbClr val="414141"/>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pPr>
            <a:r>
              <a:rPr lang="en-US" sz="2400" b="0" u="none" strike="noStrike">
                <a:solidFill>
                  <a:srgbClr val="414141"/>
                </a:solidFill>
                <a:effectLst/>
                <a:uFillTx/>
                <a:latin typeface="Arial"/>
              </a:rPr>
              <a:t>Second Outline Level</a:t>
            </a:r>
            <a:endParaRPr lang="en-US" sz="2400" b="0" u="none" strike="noStrike">
              <a:solidFill>
                <a:srgbClr val="414141"/>
              </a:solidFill>
              <a:effectLst/>
              <a:uFillTx/>
              <a:latin typeface="Arial"/>
            </a:endParaRPr>
          </a:p>
          <a:p>
            <a:pPr marL="1143000" lvl="2" indent="-228600" algn="l">
              <a:spcBef>
                <a:spcPts val="601"/>
              </a:spcBef>
              <a:buClr>
                <a:srgbClr val="414141"/>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pPr>
            <a:r>
              <a:rPr lang="en-US" sz="2400" b="0" u="none" strike="noStrike">
                <a:solidFill>
                  <a:srgbClr val="414141"/>
                </a:solidFill>
                <a:effectLst/>
                <a:uFillTx/>
                <a:latin typeface="Arial"/>
              </a:rPr>
              <a:t>Third Outline Level</a:t>
            </a:r>
            <a:endParaRPr lang="en-US" sz="2400" b="0" u="none" strike="noStrike">
              <a:solidFill>
                <a:srgbClr val="414141"/>
              </a:solidFill>
              <a:effectLst/>
              <a:uFillTx/>
              <a:latin typeface="Arial"/>
            </a:endParaRPr>
          </a:p>
          <a:p>
            <a:pPr marL="1144440" lvl="3" algn="l">
              <a:spcBef>
                <a:spcPts val="601"/>
              </a:spcBef>
              <a:buClr>
                <a:srgbClr val="414141"/>
              </a:buClr>
              <a:buFont typeface="Courier New"/>
              <a:buChar char="–"/>
              <a:tabLst>
                <a:tab pos="914400" algn="l"/>
                <a:tab pos="1828800" algn="l"/>
                <a:tab pos="2743200" algn="l"/>
                <a:tab pos="3657600" algn="l"/>
                <a:tab pos="4572000" algn="l"/>
                <a:tab pos="5486400" algn="l"/>
                <a:tab pos="6400800" algn="l"/>
                <a:tab pos="7315200" algn="l"/>
                <a:tab pos="8229600" algn="l"/>
                <a:tab pos="9144000" algn="l"/>
                <a:tab pos="10058400" algn="l"/>
              </a:tabLst>
            </a:pPr>
            <a:r>
              <a:rPr lang="en-US" sz="2400" b="0" u="none" strike="noStrike">
                <a:solidFill>
                  <a:srgbClr val="414141"/>
                </a:solidFill>
                <a:effectLst/>
                <a:uFillTx/>
                <a:latin typeface="Arial"/>
              </a:rPr>
              <a:t>Fourth Outline Level</a:t>
            </a:r>
            <a:endParaRPr lang="en-US" sz="2400" b="0" u="none" strike="noStrike">
              <a:solidFill>
                <a:srgbClr val="414141"/>
              </a:solidFill>
              <a:effectLst/>
              <a:uFillTx/>
              <a:latin typeface="Arial"/>
            </a:endParaRPr>
          </a:p>
          <a:p>
            <a:pPr marL="1144440" lvl="4" indent="-228600" algn="l">
              <a:spcBef>
                <a:spcPts val="601"/>
              </a:spcBef>
              <a:buClr>
                <a:srgbClr val="A8CC2F"/>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pPr>
            <a:r>
              <a:rPr lang="en-US" sz="2400" b="0" u="none" strike="noStrike">
                <a:solidFill>
                  <a:srgbClr val="414141"/>
                </a:solidFill>
                <a:effectLst/>
                <a:uFillTx/>
                <a:latin typeface="Arial"/>
              </a:rPr>
              <a:t>Fifth Outline Level</a:t>
            </a:r>
            <a:endParaRPr lang="en-US" sz="2400" b="0" u="none" strike="noStrike">
              <a:solidFill>
                <a:srgbClr val="414141"/>
              </a:solidFill>
              <a:effectLst/>
              <a:uFillTx/>
              <a:latin typeface="Arial"/>
            </a:endParaRPr>
          </a:p>
          <a:p>
            <a:pPr marL="1144440" lvl="5" indent="-228600" algn="l">
              <a:spcBef>
                <a:spcPts val="601"/>
              </a:spcBef>
              <a:buClr>
                <a:srgbClr val="000000"/>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pPr>
            <a:r>
              <a:rPr lang="en-US" sz="2400" b="0" u="none" strike="noStrike">
                <a:solidFill>
                  <a:srgbClr val="414141"/>
                </a:solidFill>
                <a:effectLst/>
                <a:uFillTx/>
                <a:latin typeface="Arial"/>
              </a:rPr>
              <a:t>Sixth Outline Level</a:t>
            </a:r>
            <a:endParaRPr lang="en-US" sz="2400" b="0" u="none" strike="noStrike">
              <a:solidFill>
                <a:srgbClr val="414141"/>
              </a:solidFill>
              <a:effectLst/>
              <a:uFillTx/>
              <a:latin typeface="Arial"/>
            </a:endParaRPr>
          </a:p>
          <a:p>
            <a:pPr marL="1144440" lvl="6" indent="-228600" algn="l">
              <a:spcBef>
                <a:spcPts val="601"/>
              </a:spcBef>
              <a:buClr>
                <a:srgbClr val="000000"/>
              </a:buClr>
              <a:buFont typeface="Lucida Grande"/>
              <a:buChar char="·"/>
              <a:tabLst>
                <a:tab pos="914400" algn="l"/>
                <a:tab pos="1828800" algn="l"/>
                <a:tab pos="2743200" algn="l"/>
                <a:tab pos="3657600" algn="l"/>
                <a:tab pos="4572000" algn="l"/>
                <a:tab pos="5486400" algn="l"/>
                <a:tab pos="6400800" algn="l"/>
                <a:tab pos="7315200" algn="l"/>
                <a:tab pos="8229600" algn="l"/>
                <a:tab pos="9144000" algn="l"/>
                <a:tab pos="10058400" algn="l"/>
              </a:tabLst>
            </a:pPr>
            <a:r>
              <a:rPr lang="en-US" sz="2400" b="0" u="none" strike="noStrike">
                <a:solidFill>
                  <a:srgbClr val="414141"/>
                </a:solidFill>
                <a:effectLst/>
                <a:uFillTx/>
                <a:latin typeface="Arial"/>
              </a:rPr>
              <a:t>Seventh Outline Level</a:t>
            </a:r>
            <a:endParaRPr lang="en-US" sz="2400" b="0" u="none" strike="noStrike">
              <a:solidFill>
                <a:srgbClr val="414141"/>
              </a:solidFill>
              <a:effectLst/>
              <a:uFillTx/>
              <a:latin typeface="Arial"/>
            </a:endParaRPr>
          </a:p>
        </p:txBody>
      </p:sp>
      <p:sp>
        <p:nvSpPr>
          <p:cNvPr id="4" name="PlaceHolder 3"/>
          <p:cNvSpPr>
            <a:spLocks noGrp="1"/>
          </p:cNvSpPr>
          <p:nvPr>
            <p:ph type="sldNum" idx="1"/>
          </p:nvPr>
        </p:nvSpPr>
        <p:spPr>
          <a:xfrm>
            <a:off x="6781680" y="6248160"/>
            <a:ext cx="1905120" cy="457200"/>
          </a:xfrm>
          <a:prstGeom prst="rect">
            <a:avLst/>
          </a:prstGeom>
          <a:noFill/>
          <a:ln w="38160">
            <a:noFill/>
          </a:ln>
        </p:spPr>
        <p:txBody>
          <a:bodyPr lIns="90000" tIns="46800" rIns="90000" bIns="46800" anchor="t">
            <a:noAutofit/>
          </a:bodyPr>
          <a:lstStyle>
            <a:lvl1pPr indent="0" algn="r">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lang="de-DE" sz="1000" b="0" u="none" strike="noStrike">
                <a:solidFill>
                  <a:srgbClr val="A8CC2F"/>
                </a:solidFill>
                <a:effectLst/>
                <a:uFillTx/>
                <a:latin typeface="Arial"/>
              </a:defRPr>
            </a:lvl1pPr>
          </a:lstStyle>
          <a:p>
            <a:pPr indent="0" algn="r">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fld id="{D49486EB-CA32-4495-A6FC-E34EE2716EDF}" type="slidenum">
              <a:rPr lang="de-DE" sz="1000" b="0" u="none" strike="noStrike">
                <a:solidFill>
                  <a:srgbClr val="A8CC2F"/>
                </a:solidFill>
                <a:effectLst/>
                <a:uFillTx/>
                <a:latin typeface="Arial"/>
              </a:rPr>
              <a:t>&lt;number&gt;</a:t>
            </a:fld>
            <a:endParaRPr lang="en-US" sz="1000" b="0" u="none" strike="noStrike">
              <a:solidFill>
                <a:srgbClr val="000000"/>
              </a:solidFill>
              <a:effectLst/>
              <a:uFillTx/>
              <a:latin typeface="Arial"/>
            </a:endParaRPr>
          </a:p>
        </p:txBody>
      </p:sp>
      <p:pic>
        <p:nvPicPr>
          <p:cNvPr id="5" name="Picture 8" descr="btu_logo_rz_horiz_rgbjpg"/>
          <p:cNvPicPr/>
          <p:nvPr/>
        </p:nvPicPr>
        <p:blipFill>
          <a:blip r:embed="rId2"/>
          <a:stretch/>
        </p:blipFill>
        <p:spPr>
          <a:xfrm>
            <a:off x="5883120" y="420480"/>
            <a:ext cx="2762280" cy="1104840"/>
          </a:xfrm>
          <a:prstGeom prst="rect">
            <a:avLst/>
          </a:prstGeom>
          <a:noFill/>
          <a:ln w="38160">
            <a:noFill/>
          </a:ln>
        </p:spPr>
      </p:pic>
    </p:spTree>
  </p:cSld>
  <p:clrMap bg1="lt1" tx1="dk1" bg2="lt2" tx2="dk2" accent1="accent1" accent2="accent2" accent3="accent3" accent4="accent4" accent5="accent5" accent6="accent6" hlink="hlink" folHlink="folHlink"/>
  <p:sldLayoutIdLst>
    <p:sldLayoutId id="2147483649"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chart" Target="../charts/char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chart" Target="../charts/chart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266720" y="2286000"/>
            <a:ext cx="4419720" cy="3581280"/>
          </a:xfrm>
        </p:spPr>
        <p:txBody>
          <a:bodyPr anchor="ctr" wrap="square"/>
          <a:lstStyle/>
          <a:p>
            <a:pPr algn="l" marL="0" indent="0">
              <a:spcBef>
                <a:spcPts val="0"/>
              </a:spcBef>
              <a:spcAft>
                <a:spcPts val="600"/>
              </a:spcAft>
              <a:buNone/>
            </a:pPr>
            <a:r>
              <a:rPr sz="1600" b="0" i="0">
                <a:solidFill>
                  <a:srgbClr val="414141"/>
                </a:solidFill>
                <a:latin typeface="Arial"/>
              </a:rPr>
              <a:t>[DATE]</a:t>
            </a:r>
          </a:p>
          <a:p>
            <a:pPr algn="l" marL="0" indent="0">
              <a:spcBef>
                <a:spcPts val="0"/>
              </a:spcBef>
              <a:spcAft>
                <a:spcPts val="600"/>
              </a:spcAft>
              <a:buNone/>
            </a:pPr>
            <a:r>
              <a:rPr sz="1800" b="1" i="0">
                <a:solidFill>
                  <a:srgbClr val="414141"/>
                </a:solidFill>
                <a:latin typeface="Arial"/>
              </a:rPr>
              <a:t>IMPROVING MICRO-EXPRESSION RECOGNITION THROUGH TEMPORAL AND MOTION MODELING</a:t>
            </a:r>
          </a:p>
          <a:p>
            <a:pPr algn="l" marL="0" indent="0">
              <a:spcBef>
                <a:spcPts val="0"/>
              </a:spcBef>
              <a:spcAft>
                <a:spcPts val="1400"/>
              </a:spcAft>
              <a:buNone/>
            </a:pPr>
            <a:r>
              <a:rPr sz="1400" b="0" i="0">
                <a:solidFill>
                  <a:srgbClr val="414141"/>
                </a:solidFill>
                <a:latin typeface="Arial"/>
              </a:rPr>
              <a:t>A FACTORIAL ABLATION OF A STANDARD RECOGNITION PIPELINE ON CASME II</a:t>
            </a:r>
          </a:p>
          <a:p>
            <a:pPr algn="l" marL="0" indent="0">
              <a:spcBef>
                <a:spcPts val="0"/>
              </a:spcBef>
              <a:spcAft>
                <a:spcPts val="200"/>
              </a:spcAft>
              <a:buNone/>
            </a:pPr>
            <a:r>
              <a:rPr sz="1200" b="1" i="0">
                <a:solidFill>
                  <a:srgbClr val="A8CC2F"/>
                </a:solidFill>
                <a:latin typeface="Arial"/>
              </a:rPr>
              <a:t>Master's thesis defence</a:t>
            </a:r>
          </a:p>
          <a:p>
            <a:pPr algn="l" marL="0" indent="0">
              <a:spcBef>
                <a:spcPts val="0"/>
              </a:spcBef>
              <a:spcAft>
                <a:spcPts val="0"/>
              </a:spcAft>
              <a:buNone/>
            </a:pPr>
            <a:r>
              <a:rPr sz="1100" b="0" i="0">
                <a:solidFill>
                  <a:srgbClr val="414141"/>
                </a:solidFill>
                <a:latin typeface="Arial"/>
              </a:rPr>
              <a:t>[Your name]  |  Supervisor: [name]</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MASTER'S THESIS DEFENCE</a:t>
            </a:r>
          </a:p>
        </p:txBody>
      </p:sp>
      <p:pic>
        <p:nvPicPr>
          <p:cNvPr id="4" name="Picture 3" descr="image2.jpeg"/>
          <p:cNvPicPr>
            <a:picLocks noChangeAspect="1"/>
          </p:cNvPicPr>
          <p:nvPr/>
        </p:nvPicPr>
        <p:blipFill>
          <a:blip r:embed="rId3"/>
          <a:stretch>
            <a:fillRect/>
          </a:stretch>
        </p:blipFill>
        <p:spPr>
          <a:xfrm>
            <a:off x="0" y="2361960"/>
            <a:ext cx="4038480" cy="3387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MICRO-EXPRESSIONS ARE BRIEF, FAINT AND INVOLUNTARY</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01 · INTRODUCTION AND RESEARCH GAP</a:t>
            </a:r>
          </a:p>
        </p:txBody>
      </p:sp>
      <p:sp>
        <p:nvSpPr>
          <p:cNvPr id="902"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a:t>
            </a:fld>
          </a:p>
        </p:txBody>
      </p:sp>
      <p:pic>
        <p:nvPicPr>
          <p:cNvPr id="903" name="Picture 902" descr="s2.png"/>
          <p:cNvPicPr>
            <a:picLocks noChangeAspect="1"/>
          </p:cNvPicPr>
          <p:nvPr/>
        </p:nvPicPr>
        <p:blipFill>
          <a:blip r:embed="rId3"/>
          <a:stretch>
            <a:fillRect/>
          </a:stretch>
        </p:blipFill>
        <p:spPr>
          <a:xfrm>
            <a:off x="685800" y="1783080"/>
            <a:ext cx="5074920" cy="1696667"/>
          </a:xfrm>
          <a:prstGeom prst="rect">
            <a:avLst/>
          </a:prstGeom>
        </p:spPr>
      </p:pic>
      <p:sp>
        <p:nvSpPr>
          <p:cNvPr id="904" name="TextBox 903"/>
          <p:cNvSpPr txBox="1"/>
          <p:nvPr/>
        </p:nvSpPr>
        <p:spPr>
          <a:xfrm>
            <a:off x="685800" y="3520440"/>
            <a:ext cx="5074920" cy="457200"/>
          </a:xfrm>
          <a:prstGeom prst="rect">
            <a:avLst/>
          </a:prstGeom>
          <a:noFill/>
        </p:spPr>
        <p:txBody>
          <a:bodyPr wrap="square" lIns="45720" rIns="45720" tIns="27432" bIns="27432" anchor="t"/>
          <a:lstStyle/>
          <a:p>
            <a:pPr algn="l" marL="0" indent="0">
              <a:spcBef>
                <a:spcPts val="0"/>
              </a:spcBef>
              <a:spcAft>
                <a:spcPts val="300"/>
              </a:spcAft>
              <a:buNone/>
            </a:pPr>
            <a:r>
              <a:rPr sz="900" b="0" i="1">
                <a:solidFill>
                  <a:srgbClr val="8C8C8C"/>
                </a:solidFill>
                <a:latin typeface="Arial"/>
              </a:rPr>
              <a:t>A CASME II micro-expression: AU 4 and AU 9, labelled as disgust. The apex occurs about 110 ms after onset (Yan et al., 2014).</a:t>
            </a:r>
          </a:p>
        </p:txBody>
      </p:sp>
      <p:sp>
        <p:nvSpPr>
          <p:cNvPr id="905" name="Rectangle 904"/>
          <p:cNvSpPr/>
          <p:nvPr/>
        </p:nvSpPr>
        <p:spPr>
          <a:xfrm>
            <a:off x="5943600" y="1783080"/>
            <a:ext cx="26974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TextBox 905"/>
          <p:cNvSpPr txBox="1"/>
          <p:nvPr/>
        </p:nvSpPr>
        <p:spPr>
          <a:xfrm>
            <a:off x="6035040" y="1847088"/>
            <a:ext cx="2514600" cy="530352"/>
          </a:xfrm>
          <a:prstGeom prst="rect">
            <a:avLst/>
          </a:prstGeom>
          <a:noFill/>
        </p:spPr>
        <p:txBody>
          <a:bodyPr wrap="square" lIns="45720" rIns="45720" tIns="27432" bIns="27432" anchor="t"/>
          <a:lstStyle/>
          <a:p>
            <a:pPr algn="l" marL="0" indent="0">
              <a:spcBef>
                <a:spcPts val="0"/>
              </a:spcBef>
              <a:spcAft>
                <a:spcPts val="100"/>
              </a:spcAft>
              <a:buNone/>
            </a:pPr>
            <a:r>
              <a:rPr sz="1150" b="1" i="0">
                <a:solidFill>
                  <a:srgbClr val="004CA0"/>
                </a:solidFill>
                <a:latin typeface="Arial"/>
              </a:rPr>
              <a:t>Brief</a:t>
            </a:r>
          </a:p>
          <a:p>
            <a:pPr algn="l" marL="0" indent="0">
              <a:spcBef>
                <a:spcPts val="0"/>
              </a:spcBef>
              <a:spcAft>
                <a:spcPts val="300"/>
              </a:spcAft>
              <a:buNone/>
            </a:pPr>
            <a:r>
              <a:rPr sz="1000" b="0" i="0">
                <a:solidFill>
                  <a:srgbClr val="414141"/>
                </a:solidFill>
                <a:latin typeface="Arial"/>
              </a:rPr>
              <a:t>They last no longer than about half a second.</a:t>
            </a:r>
          </a:p>
        </p:txBody>
      </p:sp>
      <p:sp>
        <p:nvSpPr>
          <p:cNvPr id="907" name="Rectangle 906"/>
          <p:cNvSpPr/>
          <p:nvPr/>
        </p:nvSpPr>
        <p:spPr>
          <a:xfrm>
            <a:off x="5943600" y="2532888"/>
            <a:ext cx="26974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TextBox 907"/>
          <p:cNvSpPr txBox="1"/>
          <p:nvPr/>
        </p:nvSpPr>
        <p:spPr>
          <a:xfrm>
            <a:off x="6035040" y="2596896"/>
            <a:ext cx="2514600" cy="530352"/>
          </a:xfrm>
          <a:prstGeom prst="rect">
            <a:avLst/>
          </a:prstGeom>
          <a:noFill/>
        </p:spPr>
        <p:txBody>
          <a:bodyPr wrap="square" lIns="45720" rIns="45720" tIns="27432" bIns="27432" anchor="t"/>
          <a:lstStyle/>
          <a:p>
            <a:pPr algn="l" marL="0" indent="0">
              <a:spcBef>
                <a:spcPts val="0"/>
              </a:spcBef>
              <a:spcAft>
                <a:spcPts val="100"/>
              </a:spcAft>
              <a:buNone/>
            </a:pPr>
            <a:r>
              <a:rPr sz="1150" b="1" i="0">
                <a:solidFill>
                  <a:srgbClr val="004CA0"/>
                </a:solidFill>
                <a:latin typeface="Arial"/>
              </a:rPr>
              <a:t>Faint</a:t>
            </a:r>
          </a:p>
          <a:p>
            <a:pPr algn="l" marL="0" indent="0">
              <a:spcBef>
                <a:spcPts val="0"/>
              </a:spcBef>
              <a:spcAft>
                <a:spcPts val="300"/>
              </a:spcAft>
              <a:buNone/>
            </a:pPr>
            <a:r>
              <a:rPr sz="1000" b="0" i="0">
                <a:solidFill>
                  <a:srgbClr val="414141"/>
                </a:solidFill>
                <a:latin typeface="Arial"/>
              </a:rPr>
              <a:t>Local, low-intensity movements close to the noise level of video.</a:t>
            </a:r>
          </a:p>
        </p:txBody>
      </p:sp>
      <p:sp>
        <p:nvSpPr>
          <p:cNvPr id="909" name="Rectangle 908"/>
          <p:cNvSpPr/>
          <p:nvPr/>
        </p:nvSpPr>
        <p:spPr>
          <a:xfrm>
            <a:off x="5943600" y="3282696"/>
            <a:ext cx="26974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TextBox 909"/>
          <p:cNvSpPr txBox="1"/>
          <p:nvPr/>
        </p:nvSpPr>
        <p:spPr>
          <a:xfrm>
            <a:off x="6035040" y="3346704"/>
            <a:ext cx="2514600" cy="530352"/>
          </a:xfrm>
          <a:prstGeom prst="rect">
            <a:avLst/>
          </a:prstGeom>
          <a:noFill/>
        </p:spPr>
        <p:txBody>
          <a:bodyPr wrap="square" lIns="45720" rIns="45720" tIns="27432" bIns="27432" anchor="t"/>
          <a:lstStyle/>
          <a:p>
            <a:pPr algn="l" marL="0" indent="0">
              <a:spcBef>
                <a:spcPts val="0"/>
              </a:spcBef>
              <a:spcAft>
                <a:spcPts val="100"/>
              </a:spcAft>
              <a:buNone/>
            </a:pPr>
            <a:r>
              <a:rPr sz="1150" b="1" i="0">
                <a:solidFill>
                  <a:srgbClr val="004CA0"/>
                </a:solidFill>
                <a:latin typeface="Arial"/>
              </a:rPr>
              <a:t>Involuntary</a:t>
            </a:r>
          </a:p>
          <a:p>
            <a:pPr algn="l" marL="0" indent="0">
              <a:spcBef>
                <a:spcPts val="0"/>
              </a:spcBef>
              <a:spcAft>
                <a:spcPts val="300"/>
              </a:spcAft>
              <a:buNone/>
            </a:pPr>
            <a:r>
              <a:rPr sz="1000" b="0" i="0">
                <a:solidFill>
                  <a:srgbClr val="414141"/>
                </a:solidFill>
                <a:latin typeface="Arial"/>
              </a:rPr>
              <a:t>They cannot be posed, so data must be elicited in the laboratory.</a:t>
            </a:r>
          </a:p>
        </p:txBody>
      </p:sp>
      <p:sp>
        <p:nvSpPr>
          <p:cNvPr id="911" name="Rectangle 910"/>
          <p:cNvSpPr/>
          <p:nvPr/>
        </p:nvSpPr>
        <p:spPr>
          <a:xfrm>
            <a:off x="685800" y="4160520"/>
            <a:ext cx="7955279" cy="132588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TextBox 911"/>
          <p:cNvSpPr txBox="1"/>
          <p:nvPr/>
        </p:nvSpPr>
        <p:spPr>
          <a:xfrm>
            <a:off x="822960" y="4215383"/>
            <a:ext cx="7680959" cy="1216152"/>
          </a:xfrm>
          <a:prstGeom prst="rect">
            <a:avLst/>
          </a:prstGeom>
          <a:noFill/>
        </p:spPr>
        <p:txBody>
          <a:bodyPr wrap="square" lIns="45720" rIns="45720" tIns="27432" bIns="27432" anchor="ctr"/>
          <a:lstStyle/>
          <a:p>
            <a:pPr algn="l" marL="0" indent="0">
              <a:spcBef>
                <a:spcPts val="0"/>
              </a:spcBef>
              <a:spcAft>
                <a:spcPts val="300"/>
              </a:spcAft>
              <a:buNone/>
            </a:pPr>
            <a:r>
              <a:rPr sz="1150" b="1" i="0">
                <a:solidFill>
                  <a:srgbClr val="A8CC2F"/>
                </a:solidFill>
                <a:latin typeface="Arial"/>
              </a:rPr>
              <a:t>Why it matters</a:t>
            </a:r>
          </a:p>
          <a:p>
            <a:pPr algn="l" marL="0" indent="0">
              <a:spcBef>
                <a:spcPts val="0"/>
              </a:spcBef>
              <a:spcAft>
                <a:spcPts val="300"/>
              </a:spcAft>
              <a:buNone/>
            </a:pPr>
            <a:r>
              <a:rPr sz="1200" b="0" i="0">
                <a:solidFill>
                  <a:srgbClr val="FFFFFF"/>
                </a:solidFill>
                <a:latin typeface="Arial"/>
              </a:rPr>
              <a:t>A micro-expression reveals an emotion that a person is trying to conceal. Reported motivations include national safety, police interrogation, clinical diagnosis, lie detection and negotiation. These are motivating claims of the field, not deployed systems.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RECOGNITION SYSTEMS ARE PIPELINES OF SEPARATE STAGES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01 · INTRODUCTION AND RESEARCH GAP</a:t>
            </a:r>
          </a:p>
        </p:txBody>
      </p:sp>
      <p:sp>
        <p:nvSpPr>
          <p:cNvPr id="903"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a:t>
            </a:fld>
          </a:p>
        </p:txBody>
      </p:sp>
      <p:sp>
        <p:nvSpPr>
          <p:cNvPr id="904" name="Rectangle 903"/>
          <p:cNvSpPr/>
          <p:nvPr/>
        </p:nvSpPr>
        <p:spPr>
          <a:xfrm>
            <a:off x="685800" y="1783080"/>
            <a:ext cx="13716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TextBox 904"/>
          <p:cNvSpPr txBox="1"/>
          <p:nvPr/>
        </p:nvSpPr>
        <p:spPr>
          <a:xfrm>
            <a:off x="722376" y="1783080"/>
            <a:ext cx="1298448" cy="914400"/>
          </a:xfrm>
          <a:prstGeom prst="rect">
            <a:avLst/>
          </a:prstGeom>
          <a:noFill/>
        </p:spPr>
        <p:txBody>
          <a:bodyPr wrap="square" lIns="18288" rIns="18288" tIns="27432" bIns="27432" anchor="ctr"/>
          <a:lstStyle/>
          <a:p>
            <a:pPr algn="ctr" marL="0" indent="0">
              <a:spcBef>
                <a:spcPts val="0"/>
              </a:spcBef>
              <a:spcAft>
                <a:spcPts val="200"/>
              </a:spcAft>
              <a:buNone/>
            </a:pPr>
            <a:r>
              <a:rPr sz="1050" b="1" i="0">
                <a:solidFill>
                  <a:srgbClr val="004CA0"/>
                </a:solidFill>
                <a:latin typeface="Arial"/>
              </a:rPr>
              <a:t>Magnify</a:t>
            </a:r>
          </a:p>
          <a:p>
            <a:pPr algn="ctr" marL="0" indent="0">
              <a:spcBef>
                <a:spcPts val="0"/>
              </a:spcBef>
              <a:spcAft>
                <a:spcPts val="0"/>
              </a:spcAft>
              <a:buNone/>
            </a:pPr>
            <a:r>
              <a:rPr sz="950" b="0" i="0">
                <a:solidFill>
                  <a:srgbClr val="414141"/>
                </a:solidFill>
                <a:latin typeface="Arial"/>
              </a:rPr>
              <a:t>amplify the small facial motion</a:t>
            </a:r>
          </a:p>
        </p:txBody>
      </p:sp>
      <p:cxnSp>
        <p:nvCxnSpPr>
          <p:cNvPr id="906" name="Connector 905"/>
          <p:cNvCxnSpPr/>
          <p:nvPr/>
        </p:nvCxnSpPr>
        <p:spPr>
          <a:xfrm>
            <a:off x="2093976" y="2240280"/>
            <a:ext cx="201168"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07" name="Rectangle 906"/>
          <p:cNvSpPr/>
          <p:nvPr/>
        </p:nvSpPr>
        <p:spPr>
          <a:xfrm>
            <a:off x="2331720" y="1783080"/>
            <a:ext cx="13716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TextBox 907"/>
          <p:cNvSpPr txBox="1"/>
          <p:nvPr/>
        </p:nvSpPr>
        <p:spPr>
          <a:xfrm>
            <a:off x="2368296" y="1783080"/>
            <a:ext cx="1298448" cy="914400"/>
          </a:xfrm>
          <a:prstGeom prst="rect">
            <a:avLst/>
          </a:prstGeom>
          <a:noFill/>
        </p:spPr>
        <p:txBody>
          <a:bodyPr wrap="square" lIns="18288" rIns="18288" tIns="27432" bIns="27432" anchor="ctr"/>
          <a:lstStyle/>
          <a:p>
            <a:pPr algn="ctr" marL="0" indent="0">
              <a:spcBef>
                <a:spcPts val="0"/>
              </a:spcBef>
              <a:spcAft>
                <a:spcPts val="200"/>
              </a:spcAft>
              <a:buNone/>
            </a:pPr>
            <a:r>
              <a:rPr sz="1050" b="1" i="0">
                <a:solidFill>
                  <a:srgbClr val="004CA0"/>
                </a:solidFill>
                <a:latin typeface="Arial"/>
              </a:rPr>
              <a:t>Describe motion</a:t>
            </a:r>
          </a:p>
          <a:p>
            <a:pPr algn="ctr" marL="0" indent="0">
              <a:spcBef>
                <a:spcPts val="0"/>
              </a:spcBef>
              <a:spcAft>
                <a:spcPts val="0"/>
              </a:spcAft>
              <a:buNone/>
            </a:pPr>
            <a:r>
              <a:rPr sz="950" b="0" i="0">
                <a:solidFill>
                  <a:srgbClr val="414141"/>
                </a:solidFill>
                <a:latin typeface="Arial"/>
              </a:rPr>
              <a:t>optical flow and optical strain</a:t>
            </a:r>
          </a:p>
        </p:txBody>
      </p:sp>
      <p:cxnSp>
        <p:nvCxnSpPr>
          <p:cNvPr id="909" name="Connector 908"/>
          <p:cNvCxnSpPr/>
          <p:nvPr/>
        </p:nvCxnSpPr>
        <p:spPr>
          <a:xfrm>
            <a:off x="3739896" y="2240280"/>
            <a:ext cx="201167"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0" name="Rectangle 909"/>
          <p:cNvSpPr/>
          <p:nvPr/>
        </p:nvSpPr>
        <p:spPr>
          <a:xfrm>
            <a:off x="3977639" y="1783080"/>
            <a:ext cx="13716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TextBox 910"/>
          <p:cNvSpPr txBox="1"/>
          <p:nvPr/>
        </p:nvSpPr>
        <p:spPr>
          <a:xfrm>
            <a:off x="4014215" y="1783080"/>
            <a:ext cx="1298448" cy="914400"/>
          </a:xfrm>
          <a:prstGeom prst="rect">
            <a:avLst/>
          </a:prstGeom>
          <a:noFill/>
        </p:spPr>
        <p:txBody>
          <a:bodyPr wrap="square" lIns="18288" rIns="18288" tIns="27432" bIns="27432" anchor="ctr"/>
          <a:lstStyle/>
          <a:p>
            <a:pPr algn="ctr" marL="0" indent="0">
              <a:spcBef>
                <a:spcPts val="0"/>
              </a:spcBef>
              <a:spcAft>
                <a:spcPts val="200"/>
              </a:spcAft>
              <a:buNone/>
            </a:pPr>
            <a:r>
              <a:rPr sz="1050" b="1" i="0">
                <a:solidFill>
                  <a:srgbClr val="004CA0"/>
                </a:solidFill>
                <a:latin typeface="Arial"/>
              </a:rPr>
              <a:t>Normalise duration</a:t>
            </a:r>
          </a:p>
          <a:p>
            <a:pPr algn="ctr" marL="0" indent="0">
              <a:spcBef>
                <a:spcPts val="0"/>
              </a:spcBef>
              <a:spcAft>
                <a:spcPts val="0"/>
              </a:spcAft>
              <a:buNone/>
            </a:pPr>
            <a:r>
              <a:rPr sz="950" b="0" i="0">
                <a:solidFill>
                  <a:srgbClr val="414141"/>
                </a:solidFill>
                <a:latin typeface="Arial"/>
              </a:rPr>
              <a:t>resample to a fixed length</a:t>
            </a:r>
          </a:p>
        </p:txBody>
      </p:sp>
      <p:cxnSp>
        <p:nvCxnSpPr>
          <p:cNvPr id="912" name="Connector 911"/>
          <p:cNvCxnSpPr/>
          <p:nvPr/>
        </p:nvCxnSpPr>
        <p:spPr>
          <a:xfrm>
            <a:off x="5385816" y="2240280"/>
            <a:ext cx="201167"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3" name="Rectangle 912"/>
          <p:cNvSpPr/>
          <p:nvPr/>
        </p:nvSpPr>
        <p:spPr>
          <a:xfrm>
            <a:off x="5623559" y="1783080"/>
            <a:ext cx="13716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TextBox 913"/>
          <p:cNvSpPr txBox="1"/>
          <p:nvPr/>
        </p:nvSpPr>
        <p:spPr>
          <a:xfrm>
            <a:off x="5660136" y="1783080"/>
            <a:ext cx="1298448" cy="914400"/>
          </a:xfrm>
          <a:prstGeom prst="rect">
            <a:avLst/>
          </a:prstGeom>
          <a:noFill/>
        </p:spPr>
        <p:txBody>
          <a:bodyPr wrap="square" lIns="18288" rIns="18288" tIns="27432" bIns="27432" anchor="ctr"/>
          <a:lstStyle/>
          <a:p>
            <a:pPr algn="ctr" marL="0" indent="0">
              <a:spcBef>
                <a:spcPts val="0"/>
              </a:spcBef>
              <a:spcAft>
                <a:spcPts val="200"/>
              </a:spcAft>
              <a:buNone/>
            </a:pPr>
            <a:r>
              <a:rPr sz="1050" b="1" i="0">
                <a:solidFill>
                  <a:srgbClr val="004CA0"/>
                </a:solidFill>
                <a:latin typeface="Arial"/>
              </a:rPr>
              <a:t>Spatial features</a:t>
            </a:r>
          </a:p>
          <a:p>
            <a:pPr algn="ctr" marL="0" indent="0">
              <a:spcBef>
                <a:spcPts val="0"/>
              </a:spcBef>
              <a:spcAft>
                <a:spcPts val="0"/>
              </a:spcAft>
              <a:buNone/>
            </a:pPr>
            <a:r>
              <a:rPr sz="950" b="0" i="0">
                <a:solidFill>
                  <a:srgbClr val="414141"/>
                </a:solidFill>
                <a:latin typeface="Arial"/>
              </a:rPr>
              <a:t>reduce each frame</a:t>
            </a:r>
          </a:p>
        </p:txBody>
      </p:sp>
      <p:cxnSp>
        <p:nvCxnSpPr>
          <p:cNvPr id="915" name="Connector 914"/>
          <p:cNvCxnSpPr/>
          <p:nvPr/>
        </p:nvCxnSpPr>
        <p:spPr>
          <a:xfrm>
            <a:off x="7031736" y="2240280"/>
            <a:ext cx="201167"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6" name="Rectangle 915"/>
          <p:cNvSpPr/>
          <p:nvPr/>
        </p:nvSpPr>
        <p:spPr>
          <a:xfrm>
            <a:off x="7269479" y="1783080"/>
            <a:ext cx="13716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TextBox 916"/>
          <p:cNvSpPr txBox="1"/>
          <p:nvPr/>
        </p:nvSpPr>
        <p:spPr>
          <a:xfrm>
            <a:off x="7306055" y="1783080"/>
            <a:ext cx="1298448" cy="914400"/>
          </a:xfrm>
          <a:prstGeom prst="rect">
            <a:avLst/>
          </a:prstGeom>
          <a:noFill/>
        </p:spPr>
        <p:txBody>
          <a:bodyPr wrap="square" lIns="18288" rIns="18288" tIns="27432" bIns="27432" anchor="ctr"/>
          <a:lstStyle/>
          <a:p>
            <a:pPr algn="ctr" marL="0" indent="0">
              <a:spcBef>
                <a:spcPts val="0"/>
              </a:spcBef>
              <a:spcAft>
                <a:spcPts val="200"/>
              </a:spcAft>
              <a:buNone/>
            </a:pPr>
            <a:r>
              <a:rPr sz="1050" b="1" i="0">
                <a:solidFill>
                  <a:srgbClr val="004CA0"/>
                </a:solidFill>
                <a:latin typeface="Arial"/>
              </a:rPr>
              <a:t>Temporal model</a:t>
            </a:r>
          </a:p>
          <a:p>
            <a:pPr algn="ctr" marL="0" indent="0">
              <a:spcBef>
                <a:spcPts val="0"/>
              </a:spcBef>
              <a:spcAft>
                <a:spcPts val="0"/>
              </a:spcAft>
              <a:buNone/>
            </a:pPr>
            <a:r>
              <a:rPr sz="950" b="0" i="0">
                <a:solidFill>
                  <a:srgbClr val="414141"/>
                </a:solidFill>
                <a:latin typeface="Arial"/>
              </a:rPr>
              <a:t>process the sequence</a:t>
            </a:r>
          </a:p>
        </p:txBody>
      </p:sp>
      <p:sp>
        <p:nvSpPr>
          <p:cNvPr id="918" name="Rectangle 917"/>
          <p:cNvSpPr/>
          <p:nvPr/>
        </p:nvSpPr>
        <p:spPr>
          <a:xfrm>
            <a:off x="685800" y="2971800"/>
            <a:ext cx="2529839"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TextBox 918"/>
          <p:cNvSpPr txBox="1"/>
          <p:nvPr/>
        </p:nvSpPr>
        <p:spPr>
          <a:xfrm>
            <a:off x="795528" y="3054096"/>
            <a:ext cx="2310383" cy="2350008"/>
          </a:xfrm>
          <a:prstGeom prst="rect">
            <a:avLst/>
          </a:prstGeom>
          <a:noFill/>
        </p:spPr>
        <p:txBody>
          <a:bodyPr wrap="square" lIns="45720" rIns="45720" tIns="27432" bIns="27432" anchor="t"/>
          <a:lstStyle/>
          <a:p>
            <a:pPr algn="l" marL="0" indent="0">
              <a:spcBef>
                <a:spcPts val="0"/>
              </a:spcBef>
              <a:spcAft>
                <a:spcPts val="800"/>
              </a:spcAft>
              <a:buNone/>
            </a:pPr>
            <a:r>
              <a:rPr sz="1250" b="1" i="0">
                <a:solidFill>
                  <a:srgbClr val="004CA0"/>
                </a:solidFill>
                <a:latin typeface="Arial"/>
              </a:rPr>
              <a:t>Three constraints</a:t>
            </a:r>
          </a:p>
          <a:p>
            <a:pPr algn="l" marL="155448" indent="-155448">
              <a:spcBef>
                <a:spcPts val="0"/>
              </a:spcBef>
              <a:spcAft>
                <a:spcPts val="600"/>
              </a:spcAft>
              <a:buClr>
                <a:srgbClr val="A8CC2F"/>
              </a:buClr>
              <a:buFont typeface="Arial"/>
              <a:buChar char="•"/>
            </a:pPr>
            <a:r>
              <a:rPr sz="1150" b="0" i="0">
                <a:solidFill>
                  <a:srgbClr val="414141"/>
                </a:solidFill>
                <a:latin typeface="Arial"/>
              </a:rPr>
              <a:t>Short: few frames carry the information</a:t>
            </a:r>
          </a:p>
          <a:p>
            <a:pPr algn="l" marL="155448" indent="-155448">
              <a:spcBef>
                <a:spcPts val="0"/>
              </a:spcBef>
              <a:spcAft>
                <a:spcPts val="600"/>
              </a:spcAft>
              <a:buClr>
                <a:srgbClr val="A8CC2F"/>
              </a:buClr>
              <a:buFont typeface="Arial"/>
              <a:buChar char="•"/>
            </a:pPr>
            <a:r>
              <a:rPr sz="1150" b="0" i="0">
                <a:solidFill>
                  <a:srgbClr val="414141"/>
                </a:solidFill>
                <a:latin typeface="Arial"/>
              </a:rPr>
              <a:t>Faint: the signal lies close to the noise level</a:t>
            </a:r>
          </a:p>
          <a:p>
            <a:pPr algn="l" marL="155448" indent="-155448">
              <a:spcBef>
                <a:spcPts val="0"/>
              </a:spcBef>
              <a:spcAft>
                <a:spcPts val="600"/>
              </a:spcAft>
              <a:buClr>
                <a:srgbClr val="A8CC2F"/>
              </a:buClr>
              <a:buFont typeface="Arial"/>
              <a:buChar char="•"/>
            </a:pPr>
            <a:r>
              <a:rPr sz="1150" b="0" i="0">
                <a:solidFill>
                  <a:srgbClr val="414141"/>
                </a:solidFill>
                <a:latin typeface="Arial"/>
              </a:rPr>
              <a:t>Scarce: laboratory elicitation keeps datasets small</a:t>
            </a:r>
          </a:p>
        </p:txBody>
      </p:sp>
      <p:sp>
        <p:nvSpPr>
          <p:cNvPr id="920" name="Rectangle 919"/>
          <p:cNvSpPr/>
          <p:nvPr/>
        </p:nvSpPr>
        <p:spPr>
          <a:xfrm>
            <a:off x="3398519" y="2971800"/>
            <a:ext cx="2529839"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TextBox 920"/>
          <p:cNvSpPr txBox="1"/>
          <p:nvPr/>
        </p:nvSpPr>
        <p:spPr>
          <a:xfrm>
            <a:off x="3508248" y="3054096"/>
            <a:ext cx="2310383" cy="2350008"/>
          </a:xfrm>
          <a:prstGeom prst="rect">
            <a:avLst/>
          </a:prstGeom>
          <a:noFill/>
        </p:spPr>
        <p:txBody>
          <a:bodyPr wrap="square" lIns="45720" rIns="45720" tIns="27432" bIns="27432" anchor="t"/>
          <a:lstStyle/>
          <a:p>
            <a:pPr algn="l" marL="0" indent="0">
              <a:spcBef>
                <a:spcPts val="0"/>
              </a:spcBef>
              <a:spcAft>
                <a:spcPts val="800"/>
              </a:spcAft>
              <a:buNone/>
            </a:pPr>
            <a:r>
              <a:rPr sz="1250" b="1" i="0">
                <a:solidFill>
                  <a:srgbClr val="004CA0"/>
                </a:solidFill>
                <a:latin typeface="Arial"/>
              </a:rPr>
              <a:t>How the field responded</a:t>
            </a:r>
          </a:p>
          <a:p>
            <a:pPr algn="l" marL="155448" indent="-155448">
              <a:spcBef>
                <a:spcPts val="0"/>
              </a:spcBef>
              <a:spcAft>
                <a:spcPts val="600"/>
              </a:spcAft>
              <a:buClr>
                <a:srgbClr val="A8CC2F"/>
              </a:buClr>
              <a:buFont typeface="Arial"/>
              <a:buChar char="•"/>
            </a:pPr>
            <a:r>
              <a:rPr sz="1150" b="0" i="0">
                <a:solidFill>
                  <a:srgbClr val="414141"/>
                </a:solidFill>
                <a:latin typeface="Arial"/>
              </a:rPr>
              <a:t>Each stage was introduced with its own justification and its own reported gain</a:t>
            </a:r>
          </a:p>
          <a:p>
            <a:pPr algn="l" marL="155448" indent="-155448">
              <a:spcBef>
                <a:spcPts val="0"/>
              </a:spcBef>
              <a:spcAft>
                <a:spcPts val="600"/>
              </a:spcAft>
              <a:buClr>
                <a:srgbClr val="A8CC2F"/>
              </a:buClr>
              <a:buFont typeface="Arial"/>
              <a:buChar char="•"/>
            </a:pPr>
            <a:r>
              <a:rPr sz="1150" b="0" i="0">
                <a:solidFill>
                  <a:srgbClr val="414141"/>
                </a:solidFill>
                <a:latin typeface="Arial"/>
              </a:rPr>
              <a:t>The stages tend to be adopted together</a:t>
            </a:r>
          </a:p>
        </p:txBody>
      </p:sp>
      <p:sp>
        <p:nvSpPr>
          <p:cNvPr id="922" name="Rectangle 921"/>
          <p:cNvSpPr/>
          <p:nvPr/>
        </p:nvSpPr>
        <p:spPr>
          <a:xfrm>
            <a:off x="6111239" y="2971800"/>
            <a:ext cx="2529839"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TextBox 922"/>
          <p:cNvSpPr txBox="1"/>
          <p:nvPr/>
        </p:nvSpPr>
        <p:spPr>
          <a:xfrm>
            <a:off x="6220967" y="3054096"/>
            <a:ext cx="2310383" cy="2350008"/>
          </a:xfrm>
          <a:prstGeom prst="rect">
            <a:avLst/>
          </a:prstGeom>
          <a:noFill/>
        </p:spPr>
        <p:txBody>
          <a:bodyPr wrap="square" lIns="45720" rIns="45720" tIns="27432" bIns="27432" anchor="t"/>
          <a:lstStyle/>
          <a:p>
            <a:pPr algn="l" marL="0" indent="0">
              <a:spcBef>
                <a:spcPts val="0"/>
              </a:spcBef>
              <a:spcAft>
                <a:spcPts val="800"/>
              </a:spcAft>
              <a:buNone/>
            </a:pPr>
            <a:r>
              <a:rPr sz="1250" b="1" i="0">
                <a:solidFill>
                  <a:srgbClr val="004CA0"/>
                </a:solidFill>
                <a:latin typeface="Arial"/>
              </a:rPr>
              <a:t>The practical difficulty</a:t>
            </a:r>
          </a:p>
          <a:p>
            <a:pPr algn="l" marL="155448" indent="-155448">
              <a:spcBef>
                <a:spcPts val="0"/>
              </a:spcBef>
              <a:spcAft>
                <a:spcPts val="600"/>
              </a:spcAft>
              <a:buClr>
                <a:srgbClr val="A8CC2F"/>
              </a:buClr>
              <a:buFont typeface="Arial"/>
              <a:buChar char="•"/>
            </a:pPr>
            <a:r>
              <a:rPr sz="1150" b="0" i="0">
                <a:solidFill>
                  <a:srgbClr val="414141"/>
                </a:solidFill>
                <a:latin typeface="Arial"/>
              </a:rPr>
              <a:t>Implementation and tuning effort is finite</a:t>
            </a:r>
          </a:p>
          <a:p>
            <a:pPr algn="l" marL="155448" indent="-155448">
              <a:spcBef>
                <a:spcPts val="0"/>
              </a:spcBef>
              <a:spcAft>
                <a:spcPts val="600"/>
              </a:spcAft>
              <a:buClr>
                <a:srgbClr val="A8CC2F"/>
              </a:buClr>
              <a:buFont typeface="Arial"/>
              <a:buChar char="•"/>
            </a:pPr>
            <a:r>
              <a:rPr sz="1150" b="0" i="0">
                <a:solidFill>
                  <a:srgbClr val="414141"/>
                </a:solidFill>
                <a:latin typeface="Arial"/>
              </a:rPr>
              <a:t>Each component is almost always evaluated inside a complete system that differs from its predecessor in more than one respect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RESEARCH GAP: PIPELINE STAGES ARE NEVER VARIED JOINTLY</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01 · INTRODUCTION AND RESEARCH GAP</a:t>
            </a:r>
          </a:p>
        </p:txBody>
      </p:sp>
      <p:sp>
        <p:nvSpPr>
          <p:cNvPr id="904"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4</a:t>
            </a:fld>
          </a:p>
        </p:txBody>
      </p:sp>
      <p:sp>
        <p:nvSpPr>
          <p:cNvPr id="905" name="Rectangle 904"/>
          <p:cNvSpPr/>
          <p:nvPr/>
        </p:nvSpPr>
        <p:spPr>
          <a:xfrm>
            <a:off x="685800" y="1783080"/>
            <a:ext cx="3886200" cy="11887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Oval 905"/>
          <p:cNvSpPr/>
          <p:nvPr/>
        </p:nvSpPr>
        <p:spPr>
          <a:xfrm>
            <a:off x="822960" y="1938528"/>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a</a:t>
            </a:r>
          </a:p>
        </p:txBody>
      </p:sp>
      <p:sp>
        <p:nvSpPr>
          <p:cNvPr id="907" name="TextBox 906"/>
          <p:cNvSpPr txBox="1"/>
          <p:nvPr/>
        </p:nvSpPr>
        <p:spPr>
          <a:xfrm>
            <a:off x="1325880" y="1874519"/>
            <a:ext cx="3154680" cy="1051560"/>
          </a:xfrm>
          <a:prstGeom prst="rect">
            <a:avLst/>
          </a:prstGeom>
          <a:noFill/>
        </p:spPr>
        <p:txBody>
          <a:bodyPr wrap="square" lIns="45720" rIns="45720" tIns="27432" bIns="27432" anchor="t"/>
          <a:lstStyle/>
          <a:p>
            <a:pPr algn="l" marL="0" indent="0">
              <a:spcBef>
                <a:spcPts val="0"/>
              </a:spcBef>
              <a:spcAft>
                <a:spcPts val="300"/>
              </a:spcAft>
              <a:buNone/>
            </a:pPr>
            <a:r>
              <a:rPr sz="1200" b="1" i="0">
                <a:solidFill>
                  <a:srgbClr val="004CA0"/>
                </a:solidFill>
                <a:latin typeface="Arial"/>
              </a:rPr>
              <a:t>One component at a time</a:t>
            </a:r>
          </a:p>
          <a:p>
            <a:pPr algn="l" marL="0" indent="0">
              <a:spcBef>
                <a:spcPts val="0"/>
              </a:spcBef>
              <a:spcAft>
                <a:spcPts val="300"/>
              </a:spcAft>
              <a:buNone/>
            </a:pPr>
            <a:r>
              <a:rPr sz="1050" b="0" i="0">
                <a:solidFill>
                  <a:srgbClr val="414141"/>
                </a:solidFill>
                <a:latin typeface="Arial"/>
              </a:rPr>
              <a:t>Ablations stay inside one proposed design and change one factor from its defaults. Interactions between components are never observed.</a:t>
            </a:r>
          </a:p>
        </p:txBody>
      </p:sp>
      <p:sp>
        <p:nvSpPr>
          <p:cNvPr id="908" name="Rectangle 907"/>
          <p:cNvSpPr/>
          <p:nvPr/>
        </p:nvSpPr>
        <p:spPr>
          <a:xfrm>
            <a:off x="4754880" y="1783080"/>
            <a:ext cx="3886200" cy="11887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Oval 908"/>
          <p:cNvSpPr/>
          <p:nvPr/>
        </p:nvSpPr>
        <p:spPr>
          <a:xfrm>
            <a:off x="4892040" y="1938528"/>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b</a:t>
            </a:r>
          </a:p>
        </p:txBody>
      </p:sp>
      <p:sp>
        <p:nvSpPr>
          <p:cNvPr id="910" name="TextBox 909"/>
          <p:cNvSpPr txBox="1"/>
          <p:nvPr/>
        </p:nvSpPr>
        <p:spPr>
          <a:xfrm>
            <a:off x="5394960" y="1874519"/>
            <a:ext cx="3154680" cy="1051560"/>
          </a:xfrm>
          <a:prstGeom prst="rect">
            <a:avLst/>
          </a:prstGeom>
          <a:noFill/>
        </p:spPr>
        <p:txBody>
          <a:bodyPr wrap="square" lIns="45720" rIns="45720" tIns="27432" bIns="27432" anchor="t"/>
          <a:lstStyle/>
          <a:p>
            <a:pPr algn="l" marL="0" indent="0">
              <a:spcBef>
                <a:spcPts val="0"/>
              </a:spcBef>
              <a:spcAft>
                <a:spcPts val="300"/>
              </a:spcAft>
              <a:buNone/>
            </a:pPr>
            <a:r>
              <a:rPr sz="1200" b="1" i="0">
                <a:solidFill>
                  <a:srgbClr val="004CA0"/>
                </a:solidFill>
                <a:latin typeface="Arial"/>
              </a:rPr>
              <a:t>Inconsistent protocols</a:t>
            </a:r>
          </a:p>
          <a:p>
            <a:pPr algn="l" marL="0" indent="0">
              <a:spcBef>
                <a:spcPts val="0"/>
              </a:spcBef>
              <a:spcAft>
                <a:spcPts val="300"/>
              </a:spcAft>
              <a:buNone/>
            </a:pPr>
            <a:r>
              <a:rPr sz="1050" b="0" i="0">
                <a:solidFill>
                  <a:srgbClr val="414141"/>
                </a:solidFill>
                <a:latin typeface="Arial"/>
              </a:rPr>
              <a:t>Sample counts (247, 255, 145), label sets and the choice of leave-one-subject, video or sample out differ between studies.</a:t>
            </a:r>
          </a:p>
        </p:txBody>
      </p:sp>
      <p:sp>
        <p:nvSpPr>
          <p:cNvPr id="911" name="Rectangle 910"/>
          <p:cNvSpPr/>
          <p:nvPr/>
        </p:nvSpPr>
        <p:spPr>
          <a:xfrm>
            <a:off x="685800" y="3108960"/>
            <a:ext cx="3886200" cy="11887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Oval 911"/>
          <p:cNvSpPr/>
          <p:nvPr/>
        </p:nvSpPr>
        <p:spPr>
          <a:xfrm>
            <a:off x="822960" y="3264408"/>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c</a:t>
            </a:r>
          </a:p>
        </p:txBody>
      </p:sp>
      <p:sp>
        <p:nvSpPr>
          <p:cNvPr id="913" name="TextBox 912"/>
          <p:cNvSpPr txBox="1"/>
          <p:nvPr/>
        </p:nvSpPr>
        <p:spPr>
          <a:xfrm>
            <a:off x="1325880" y="3200400"/>
            <a:ext cx="3154680" cy="1051560"/>
          </a:xfrm>
          <a:prstGeom prst="rect">
            <a:avLst/>
          </a:prstGeom>
          <a:noFill/>
        </p:spPr>
        <p:txBody>
          <a:bodyPr wrap="square" lIns="45720" rIns="45720" tIns="27432" bIns="27432" anchor="t"/>
          <a:lstStyle/>
          <a:p>
            <a:pPr algn="l" marL="0" indent="0">
              <a:spcBef>
                <a:spcPts val="0"/>
              </a:spcBef>
              <a:spcAft>
                <a:spcPts val="300"/>
              </a:spcAft>
              <a:buNone/>
            </a:pPr>
            <a:r>
              <a:rPr sz="1200" b="1" i="0">
                <a:solidFill>
                  <a:srgbClr val="004CA0"/>
                </a:solidFill>
                <a:latin typeface="Arial"/>
              </a:rPr>
              <a:t>Richer training conditions</a:t>
            </a:r>
          </a:p>
          <a:p>
            <a:pPr algn="l" marL="0" indent="0">
              <a:spcBef>
                <a:spcPts val="0"/>
              </a:spcBef>
              <a:spcAft>
                <a:spcPts val="300"/>
              </a:spcAft>
              <a:buNone/>
            </a:pPr>
            <a:r>
              <a:rPr sz="1050" b="0" i="0">
                <a:solidFill>
                  <a:srgbClr val="414141"/>
                </a:solidFill>
                <a:latin typeface="Arial"/>
              </a:rPr>
              <a:t>The strongest CASME II results rely on composite-dataset training or ImageNet pre-training, not on one small dataset.</a:t>
            </a:r>
          </a:p>
        </p:txBody>
      </p:sp>
      <p:sp>
        <p:nvSpPr>
          <p:cNvPr id="914" name="Rectangle 913"/>
          <p:cNvSpPr/>
          <p:nvPr/>
        </p:nvSpPr>
        <p:spPr>
          <a:xfrm>
            <a:off x="4754880" y="3108960"/>
            <a:ext cx="3886200" cy="11887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Oval 914"/>
          <p:cNvSpPr/>
          <p:nvPr/>
        </p:nvSpPr>
        <p:spPr>
          <a:xfrm>
            <a:off x="4892040" y="3264408"/>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d</a:t>
            </a:r>
          </a:p>
        </p:txBody>
      </p:sp>
      <p:sp>
        <p:nvSpPr>
          <p:cNvPr id="916" name="TextBox 915"/>
          <p:cNvSpPr txBox="1"/>
          <p:nvPr/>
        </p:nvSpPr>
        <p:spPr>
          <a:xfrm>
            <a:off x="5394960" y="3200400"/>
            <a:ext cx="3154680" cy="1051560"/>
          </a:xfrm>
          <a:prstGeom prst="rect">
            <a:avLst/>
          </a:prstGeom>
          <a:noFill/>
        </p:spPr>
        <p:txBody>
          <a:bodyPr wrap="square" lIns="45720" rIns="45720" tIns="27432" bIns="27432" anchor="t"/>
          <a:lstStyle/>
          <a:p>
            <a:pPr algn="l" marL="0" indent="0">
              <a:spcBef>
                <a:spcPts val="0"/>
              </a:spcBef>
              <a:spcAft>
                <a:spcPts val="300"/>
              </a:spcAft>
              <a:buNone/>
            </a:pPr>
            <a:r>
              <a:rPr sz="1200" b="1" i="0">
                <a:solidFill>
                  <a:srgbClr val="004CA0"/>
                </a:solidFill>
                <a:latin typeface="Arial"/>
              </a:rPr>
              <a:t>Transferred parameters</a:t>
            </a:r>
          </a:p>
          <a:p>
            <a:pPr algn="l" marL="0" indent="0">
              <a:spcBef>
                <a:spcPts val="0"/>
              </a:spcBef>
              <a:spcAft>
                <a:spcPts val="300"/>
              </a:spcAft>
              <a:buNone/>
            </a:pPr>
            <a:r>
              <a:rPr sz="1050" b="0" i="0">
                <a:solidFill>
                  <a:srgbClr val="414141"/>
                </a:solidFill>
                <a:latin typeface="Arial"/>
              </a:rPr>
              <a:t>Magnification factor, sequence length and input resolution have interior optima but are reused without re-validation.</a:t>
            </a:r>
          </a:p>
        </p:txBody>
      </p:sp>
      <p:sp>
        <p:nvSpPr>
          <p:cNvPr id="917" name="Rectangle 916"/>
          <p:cNvSpPr/>
          <p:nvPr/>
        </p:nvSpPr>
        <p:spPr>
          <a:xfrm>
            <a:off x="685800" y="4480560"/>
            <a:ext cx="7955279" cy="137160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TextBox 917"/>
          <p:cNvSpPr txBox="1"/>
          <p:nvPr/>
        </p:nvSpPr>
        <p:spPr>
          <a:xfrm>
            <a:off x="822960" y="4535424"/>
            <a:ext cx="7680959" cy="1261872"/>
          </a:xfrm>
          <a:prstGeom prst="rect">
            <a:avLst/>
          </a:prstGeom>
          <a:noFill/>
        </p:spPr>
        <p:txBody>
          <a:bodyPr wrap="square" lIns="45720" rIns="45720" tIns="27432" bIns="27432" anchor="ctr"/>
          <a:lstStyle/>
          <a:p>
            <a:pPr algn="l" marL="0" indent="0">
              <a:spcBef>
                <a:spcPts val="0"/>
              </a:spcBef>
              <a:spcAft>
                <a:spcPts val="300"/>
              </a:spcAft>
              <a:buNone/>
            </a:pPr>
            <a:r>
              <a:rPr sz="1150" b="1" i="0">
                <a:solidFill>
                  <a:srgbClr val="A8CC2F"/>
                </a:solidFill>
                <a:latin typeface="Arial"/>
              </a:rPr>
              <a:t>The gap</a:t>
            </a:r>
          </a:p>
          <a:p>
            <a:pPr algn="l" marL="0" indent="0">
              <a:spcBef>
                <a:spcPts val="0"/>
              </a:spcBef>
              <a:spcAft>
                <a:spcPts val="300"/>
              </a:spcAft>
              <a:buNone/>
            </a:pPr>
            <a:r>
              <a:rPr sz="1200" b="0" i="0">
                <a:solidFill>
                  <a:srgbClr val="FFFFFF"/>
                </a:solidFill>
                <a:latin typeface="Arial"/>
              </a:rPr>
              <a:t>No reviewed study varies several stages of the standard pipeline jointly under one protocol, so the literature cannot show which stages are necessary, which are inherited convention, and which depend on the presence of another.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AIM AND RESEARCH QUESTIONS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01 · INTRODUCTION AND RESEARCH GAP</a:t>
            </a:r>
          </a:p>
        </p:txBody>
      </p:sp>
      <p:sp>
        <p:nvSpPr>
          <p:cNvPr id="905"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5</a:t>
            </a:fld>
          </a:p>
        </p:txBody>
      </p:sp>
      <p:sp>
        <p:nvSpPr>
          <p:cNvPr id="906" name="Rectangle 905"/>
          <p:cNvSpPr/>
          <p:nvPr/>
        </p:nvSpPr>
        <p:spPr>
          <a:xfrm>
            <a:off x="685800" y="1783080"/>
            <a:ext cx="7955279" cy="109728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TextBox 906"/>
          <p:cNvSpPr txBox="1"/>
          <p:nvPr/>
        </p:nvSpPr>
        <p:spPr>
          <a:xfrm>
            <a:off x="822960" y="1837943"/>
            <a:ext cx="7680959" cy="987552"/>
          </a:xfrm>
          <a:prstGeom prst="rect">
            <a:avLst/>
          </a:prstGeom>
          <a:noFill/>
        </p:spPr>
        <p:txBody>
          <a:bodyPr wrap="square" lIns="45720" rIns="45720" tIns="27432" bIns="27432" anchor="ctr"/>
          <a:lstStyle/>
          <a:p>
            <a:pPr algn="l" marL="0" indent="0">
              <a:spcBef>
                <a:spcPts val="0"/>
              </a:spcBef>
              <a:spcAft>
                <a:spcPts val="300"/>
              </a:spcAft>
              <a:buNone/>
            </a:pPr>
            <a:r>
              <a:rPr sz="1150" b="1" i="0">
                <a:solidFill>
                  <a:srgbClr val="A8CC2F"/>
                </a:solidFill>
                <a:latin typeface="Arial"/>
              </a:rPr>
              <a:t>Central research question</a:t>
            </a:r>
          </a:p>
          <a:p>
            <a:pPr algn="l" marL="0" indent="0">
              <a:spcBef>
                <a:spcPts val="0"/>
              </a:spcBef>
              <a:spcAft>
                <a:spcPts val="300"/>
              </a:spcAft>
              <a:buNone/>
            </a:pPr>
            <a:r>
              <a:rPr sz="1500" b="0" i="1">
                <a:solidFill>
                  <a:srgbClr val="FFFFFF"/>
                </a:solidFill>
                <a:latin typeface="Arial"/>
              </a:rPr>
              <a:t>How can the modelling of temporal phases and motion cues improve recognition accuracy for subtle and short-lived facial expressions?</a:t>
            </a:r>
          </a:p>
        </p:txBody>
      </p:sp>
      <p:sp>
        <p:nvSpPr>
          <p:cNvPr id="908" name="Rectangle 907"/>
          <p:cNvSpPr/>
          <p:nvPr/>
        </p:nvSpPr>
        <p:spPr>
          <a:xfrm>
            <a:off x="685800" y="3063240"/>
            <a:ext cx="7955279" cy="8412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Oval 908"/>
          <p:cNvSpPr/>
          <p:nvPr/>
        </p:nvSpPr>
        <p:spPr>
          <a:xfrm>
            <a:off x="822960" y="3282696"/>
            <a:ext cx="402336" cy="402336"/>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1</a:t>
            </a:r>
          </a:p>
        </p:txBody>
      </p:sp>
      <p:sp>
        <p:nvSpPr>
          <p:cNvPr id="910" name="TextBox 909"/>
          <p:cNvSpPr txBox="1"/>
          <p:nvPr/>
        </p:nvSpPr>
        <p:spPr>
          <a:xfrm>
            <a:off x="1371600" y="3063240"/>
            <a:ext cx="2103120" cy="841248"/>
          </a:xfrm>
          <a:prstGeom prst="rect">
            <a:avLst/>
          </a:prstGeom>
          <a:noFill/>
        </p:spPr>
        <p:txBody>
          <a:bodyPr wrap="square" lIns="45720" rIns="45720" tIns="27432" bIns="27432" anchor="ctr"/>
          <a:lstStyle/>
          <a:p>
            <a:pPr algn="l" marL="0" indent="0">
              <a:spcBef>
                <a:spcPts val="0"/>
              </a:spcBef>
              <a:spcAft>
                <a:spcPts val="0"/>
              </a:spcAft>
              <a:buNone/>
            </a:pPr>
            <a:r>
              <a:rPr sz="1300" b="1" i="0">
                <a:solidFill>
                  <a:srgbClr val="004CA0"/>
                </a:solidFill>
                <a:latin typeface="Arial"/>
              </a:rPr>
              <a:t>Temporal modelling</a:t>
            </a:r>
          </a:p>
        </p:txBody>
      </p:sp>
      <p:sp>
        <p:nvSpPr>
          <p:cNvPr id="911" name="TextBox 910"/>
          <p:cNvSpPr txBox="1"/>
          <p:nvPr/>
        </p:nvSpPr>
        <p:spPr>
          <a:xfrm>
            <a:off x="3520440" y="3063240"/>
            <a:ext cx="5029200" cy="841248"/>
          </a:xfrm>
          <a:prstGeom prst="rect">
            <a:avLst/>
          </a:prstGeom>
          <a:noFill/>
        </p:spPr>
        <p:txBody>
          <a:bodyPr wrap="square" lIns="45720" rIns="45720" tIns="27432" bIns="27432" anchor="ctr"/>
          <a:lstStyle/>
          <a:p>
            <a:pPr algn="l" marL="0" indent="0">
              <a:spcBef>
                <a:spcPts val="0"/>
              </a:spcBef>
              <a:spcAft>
                <a:spcPts val="0"/>
              </a:spcAft>
              <a:buNone/>
            </a:pPr>
            <a:r>
              <a:rPr sz="1150" b="0" i="0">
                <a:solidFill>
                  <a:srgbClr val="414141"/>
                </a:solidFill>
                <a:latin typeface="Arial"/>
              </a:rPr>
              <a:t>To what extent does a transformer encoder improve recognition, compared with an otherwise identical pipeline without it?</a:t>
            </a:r>
          </a:p>
        </p:txBody>
      </p:sp>
      <p:sp>
        <p:nvSpPr>
          <p:cNvPr id="912" name="Rectangle 911"/>
          <p:cNvSpPr/>
          <p:nvPr/>
        </p:nvSpPr>
        <p:spPr>
          <a:xfrm>
            <a:off x="685800" y="4023360"/>
            <a:ext cx="7955279" cy="8412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Oval 912"/>
          <p:cNvSpPr/>
          <p:nvPr/>
        </p:nvSpPr>
        <p:spPr>
          <a:xfrm>
            <a:off x="822960" y="4242816"/>
            <a:ext cx="402336" cy="402336"/>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2</a:t>
            </a:r>
          </a:p>
        </p:txBody>
      </p:sp>
      <p:sp>
        <p:nvSpPr>
          <p:cNvPr id="914" name="TextBox 913"/>
          <p:cNvSpPr txBox="1"/>
          <p:nvPr/>
        </p:nvSpPr>
        <p:spPr>
          <a:xfrm>
            <a:off x="1371600" y="4023360"/>
            <a:ext cx="2103120" cy="841248"/>
          </a:xfrm>
          <a:prstGeom prst="rect">
            <a:avLst/>
          </a:prstGeom>
          <a:noFill/>
        </p:spPr>
        <p:txBody>
          <a:bodyPr wrap="square" lIns="45720" rIns="45720" tIns="27432" bIns="27432" anchor="ctr"/>
          <a:lstStyle/>
          <a:p>
            <a:pPr algn="l" marL="0" indent="0">
              <a:spcBef>
                <a:spcPts val="0"/>
              </a:spcBef>
              <a:spcAft>
                <a:spcPts val="0"/>
              </a:spcAft>
              <a:buNone/>
            </a:pPr>
            <a:r>
              <a:rPr sz="1300" b="1" i="0">
                <a:solidFill>
                  <a:srgbClr val="004CA0"/>
                </a:solidFill>
                <a:latin typeface="Arial"/>
              </a:rPr>
              <a:t>Motion magnification</a:t>
            </a:r>
          </a:p>
        </p:txBody>
      </p:sp>
      <p:sp>
        <p:nvSpPr>
          <p:cNvPr id="915" name="TextBox 914"/>
          <p:cNvSpPr txBox="1"/>
          <p:nvPr/>
        </p:nvSpPr>
        <p:spPr>
          <a:xfrm>
            <a:off x="3520440" y="4023360"/>
            <a:ext cx="5029200" cy="841248"/>
          </a:xfrm>
          <a:prstGeom prst="rect">
            <a:avLst/>
          </a:prstGeom>
          <a:noFill/>
        </p:spPr>
        <p:txBody>
          <a:bodyPr wrap="square" lIns="45720" rIns="45720" tIns="27432" bIns="27432" anchor="ctr"/>
          <a:lstStyle/>
          <a:p>
            <a:pPr algn="l" marL="0" indent="0">
              <a:spcBef>
                <a:spcPts val="0"/>
              </a:spcBef>
              <a:spcAft>
                <a:spcPts val="0"/>
              </a:spcAft>
              <a:buNone/>
            </a:pPr>
            <a:r>
              <a:rPr sz="1150" b="0" i="0">
                <a:solidFill>
                  <a:srgbClr val="414141"/>
                </a:solidFill>
                <a:latin typeface="Arial"/>
              </a:rPr>
              <a:t>Does amplifying subtle facial motion through Eulerian video magnification, before the motion representation is computed, improve recognition?</a:t>
            </a:r>
          </a:p>
        </p:txBody>
      </p:sp>
      <p:sp>
        <p:nvSpPr>
          <p:cNvPr id="916" name="Rectangle 915"/>
          <p:cNvSpPr/>
          <p:nvPr/>
        </p:nvSpPr>
        <p:spPr>
          <a:xfrm>
            <a:off x="685800" y="4983480"/>
            <a:ext cx="7955279" cy="8412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Oval 916"/>
          <p:cNvSpPr/>
          <p:nvPr/>
        </p:nvSpPr>
        <p:spPr>
          <a:xfrm>
            <a:off x="822960" y="5202936"/>
            <a:ext cx="402336" cy="402336"/>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3</a:t>
            </a:r>
          </a:p>
        </p:txBody>
      </p:sp>
      <p:sp>
        <p:nvSpPr>
          <p:cNvPr id="918" name="TextBox 917"/>
          <p:cNvSpPr txBox="1"/>
          <p:nvPr/>
        </p:nvSpPr>
        <p:spPr>
          <a:xfrm>
            <a:off x="1371600" y="4983480"/>
            <a:ext cx="2103120" cy="841248"/>
          </a:xfrm>
          <a:prstGeom prst="rect">
            <a:avLst/>
          </a:prstGeom>
          <a:noFill/>
        </p:spPr>
        <p:txBody>
          <a:bodyPr wrap="square" lIns="45720" rIns="45720" tIns="27432" bIns="27432" anchor="ctr"/>
          <a:lstStyle/>
          <a:p>
            <a:pPr algn="l" marL="0" indent="0">
              <a:spcBef>
                <a:spcPts val="0"/>
              </a:spcBef>
              <a:spcAft>
                <a:spcPts val="0"/>
              </a:spcAft>
              <a:buNone/>
            </a:pPr>
            <a:r>
              <a:rPr sz="1300" b="1" i="0">
                <a:solidFill>
                  <a:srgbClr val="004CA0"/>
                </a:solidFill>
                <a:latin typeface="Arial"/>
              </a:rPr>
              <a:t>Learned spatial features</a:t>
            </a:r>
          </a:p>
        </p:txBody>
      </p:sp>
      <p:sp>
        <p:nvSpPr>
          <p:cNvPr id="919" name="TextBox 918"/>
          <p:cNvSpPr txBox="1"/>
          <p:nvPr/>
        </p:nvSpPr>
        <p:spPr>
          <a:xfrm>
            <a:off x="3520440" y="4983480"/>
            <a:ext cx="5029200" cy="841248"/>
          </a:xfrm>
          <a:prstGeom prst="rect">
            <a:avLst/>
          </a:prstGeom>
          <a:noFill/>
        </p:spPr>
        <p:txBody>
          <a:bodyPr wrap="square" lIns="45720" rIns="45720" tIns="27432" bIns="27432" anchor="ctr"/>
          <a:lstStyle/>
          <a:p>
            <a:pPr algn="l" marL="0" indent="0">
              <a:spcBef>
                <a:spcPts val="0"/>
              </a:spcBef>
              <a:spcAft>
                <a:spcPts val="0"/>
              </a:spcAft>
              <a:buNone/>
            </a:pPr>
            <a:r>
              <a:rPr sz="1150" b="0" i="0">
                <a:solidFill>
                  <a:srgbClr val="414141"/>
                </a:solidFill>
                <a:latin typeface="Arial"/>
              </a:rPr>
              <a:t>Do a learned convolutional stem and parameter-free attention add to the performance of the hand-computed motion representation alone?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DATASET: CASME II, 156 CLIPS IN THREE CLASSES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02 · METHOD</a:t>
            </a:r>
          </a:p>
        </p:txBody>
      </p:sp>
      <p:sp>
        <p:nvSpPr>
          <p:cNvPr id="906"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6</a:t>
            </a:fld>
          </a:p>
        </p:txBody>
      </p:sp>
      <p:sp>
        <p:nvSpPr>
          <p:cNvPr id="907" name="TextBox 906"/>
          <p:cNvSpPr txBox="1"/>
          <p:nvPr/>
        </p:nvSpPr>
        <p:spPr>
          <a:xfrm>
            <a:off x="685800" y="1783080"/>
            <a:ext cx="4343400" cy="2560320"/>
          </a:xfrm>
          <a:prstGeom prst="rect">
            <a:avLst/>
          </a:prstGeom>
          <a:noFill/>
        </p:spPr>
        <p:txBody>
          <a:bodyPr wrap="square" lIns="45720" rIns="45720" tIns="27432" bIns="27432" anchor="t"/>
          <a:lstStyle/>
          <a:p>
            <a:pPr algn="l" marL="155448" indent="-155448">
              <a:spcBef>
                <a:spcPts val="0"/>
              </a:spcBef>
              <a:spcAft>
                <a:spcPts val="600"/>
              </a:spcAft>
              <a:buClr>
                <a:srgbClr val="A8CC2F"/>
              </a:buClr>
              <a:buFont typeface="Arial"/>
              <a:buChar char="•"/>
            </a:pPr>
            <a:r>
              <a:rPr sz="1200" b="0" i="0">
                <a:solidFill>
                  <a:srgbClr val="414141"/>
                </a:solidFill>
                <a:latin typeface="Arial"/>
              </a:rPr>
              <a:t>Spontaneous micro-expressions recorded at 200 fps and 640 × 480 pixels, with onset, apex and offset annotation</a:t>
            </a:r>
          </a:p>
          <a:p>
            <a:pPr algn="l" marL="155448" indent="-155448">
              <a:spcBef>
                <a:spcPts val="0"/>
              </a:spcBef>
              <a:spcAft>
                <a:spcPts val="600"/>
              </a:spcAft>
              <a:buClr>
                <a:srgbClr val="A8CC2F"/>
              </a:buClr>
              <a:buFont typeface="Arial"/>
              <a:buChar char="•"/>
            </a:pPr>
            <a:r>
              <a:rPr sz="1200" b="0" i="0">
                <a:solidFill>
                  <a:srgbClr val="414141"/>
                </a:solidFill>
                <a:latin typeface="Arial"/>
              </a:rPr>
              <a:t>The released coding contains 255 clips from 26 subjects</a:t>
            </a:r>
          </a:p>
          <a:p>
            <a:pPr algn="l" marL="155448" indent="-155448">
              <a:spcBef>
                <a:spcPts val="0"/>
              </a:spcBef>
              <a:spcAft>
                <a:spcPts val="600"/>
              </a:spcAft>
              <a:buClr>
                <a:srgbClr val="A8CC2F"/>
              </a:buClr>
              <a:buFont typeface="Arial"/>
              <a:buChar char="•"/>
            </a:pPr>
            <a:r>
              <a:rPr sz="1200" b="0" i="0">
                <a:solidFill>
                  <a:srgbClr val="414141"/>
                </a:solidFill>
                <a:latin typeface="Arial"/>
              </a:rPr>
              <a:t>The residual Others category (99 clips) is excluded, which also removes subject 18</a:t>
            </a:r>
          </a:p>
          <a:p>
            <a:pPr algn="l" marL="155448" indent="-155448">
              <a:spcBef>
                <a:spcPts val="0"/>
              </a:spcBef>
              <a:spcAft>
                <a:spcPts val="600"/>
              </a:spcAft>
              <a:buClr>
                <a:srgbClr val="A8CC2F"/>
              </a:buClr>
              <a:buFont typeface="Arial"/>
              <a:buChar char="•"/>
            </a:pPr>
            <a:r>
              <a:rPr sz="1200" b="0" i="0">
                <a:solidFill>
                  <a:srgbClr val="414141"/>
                </a:solidFill>
                <a:latin typeface="Arial"/>
              </a:rPr>
              <a:t>Working set: 156 clips from 25 subjects</a:t>
            </a:r>
          </a:p>
          <a:p>
            <a:pPr algn="l" marL="155448" indent="-155448">
              <a:spcBef>
                <a:spcPts val="0"/>
              </a:spcBef>
              <a:spcAft>
                <a:spcPts val="600"/>
              </a:spcAft>
              <a:buClr>
                <a:srgbClr val="A8CC2F"/>
              </a:buClr>
              <a:buFont typeface="Arial"/>
              <a:buChar char="•"/>
            </a:pPr>
            <a:r>
              <a:rPr sz="1200" b="0" i="0">
                <a:solidFill>
                  <a:srgbClr val="414141"/>
                </a:solidFill>
                <a:latin typeface="Arial"/>
              </a:rPr>
              <a:t>Negative = disgust, repression, sadness, fear; Positive = happiness; Surprise = surprise</a:t>
            </a:r>
          </a:p>
        </p:txBody>
      </p:sp>
      <p:sp>
        <p:nvSpPr>
          <p:cNvPr id="908" name="Rectangle 907"/>
          <p:cNvSpPr/>
          <p:nvPr/>
        </p:nvSpPr>
        <p:spPr>
          <a:xfrm>
            <a:off x="685800" y="4480560"/>
            <a:ext cx="4343400" cy="12801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TextBox 908"/>
          <p:cNvSpPr txBox="1"/>
          <p:nvPr/>
        </p:nvSpPr>
        <p:spPr>
          <a:xfrm>
            <a:off x="795528" y="4562856"/>
            <a:ext cx="4123944" cy="1115568"/>
          </a:xfrm>
          <a:prstGeom prst="rect">
            <a:avLst/>
          </a:prstGeom>
          <a:noFill/>
        </p:spPr>
        <p:txBody>
          <a:bodyPr wrap="square" lIns="45720" rIns="45720" tIns="27432" bIns="27432" anchor="t"/>
          <a:lstStyle/>
          <a:p>
            <a:pPr algn="l" marL="0" indent="0">
              <a:spcBef>
                <a:spcPts val="0"/>
              </a:spcBef>
              <a:spcAft>
                <a:spcPts val="400"/>
              </a:spcAft>
              <a:buNone/>
            </a:pPr>
            <a:r>
              <a:rPr sz="1200" b="1" i="0">
                <a:solidFill>
                  <a:srgbClr val="004CA0"/>
                </a:solidFill>
                <a:latin typeface="Arial"/>
              </a:rPr>
              <a:t>Majority-class reference</a:t>
            </a:r>
          </a:p>
          <a:p>
            <a:pPr algn="l" marL="0" indent="0">
              <a:spcBef>
                <a:spcPts val="0"/>
              </a:spcBef>
              <a:spcAft>
                <a:spcPts val="300"/>
              </a:spcAft>
              <a:buNone/>
            </a:pPr>
            <a:r>
              <a:rPr sz="1100" b="0" i="0">
                <a:solidFill>
                  <a:srgbClr val="414141"/>
                </a:solidFill>
                <a:latin typeface="Arial"/>
              </a:rPr>
              <a:t>Always predicting Negative gives an accuracy of 0.6346 but a macro F1 of only 0.2588. Accuracy alone is therefore uninformative.</a:t>
            </a:r>
          </a:p>
        </p:txBody>
      </p:sp>
      <p:graphicFrame>
        <p:nvGraphicFramePr>
          <p:cNvPr id="910" name="Chart 909"/>
          <p:cNvGraphicFramePr>
            <a:graphicFrameLocks noGrp="1"/>
          </p:cNvGraphicFramePr>
          <p:nvPr/>
        </p:nvGraphicFramePr>
        <p:xfrm>
          <a:off x="5212080" y="1691640"/>
          <a:ext cx="3429000" cy="3840480"/>
        </p:xfrm>
        <a:graphic>
          <a:graphicData uri="http://schemas.openxmlformats.org/drawingml/2006/chart">
            <c:chart xmlns:c="http://schemas.openxmlformats.org/drawingml/2006/chart" r:id="rId3"/>
          </a:graphicData>
        </a:graphic>
      </p:graphicFrame>
      <p:sp>
        <p:nvSpPr>
          <p:cNvPr id="911" name="TextBox 910"/>
          <p:cNvSpPr txBox="1"/>
          <p:nvPr/>
        </p:nvSpPr>
        <p:spPr>
          <a:xfrm>
            <a:off x="5212080" y="5559552"/>
            <a:ext cx="3429000" cy="365760"/>
          </a:xfrm>
          <a:prstGeom prst="rect">
            <a:avLst/>
          </a:prstGeom>
          <a:noFill/>
        </p:spPr>
        <p:txBody>
          <a:bodyPr wrap="square" lIns="45720" rIns="45720" tIns="27432" bIns="27432" anchor="t"/>
          <a:lstStyle/>
          <a:p>
            <a:pPr algn="ctr" marL="0" indent="0">
              <a:spcBef>
                <a:spcPts val="0"/>
              </a:spcBef>
              <a:spcAft>
                <a:spcPts val="300"/>
              </a:spcAft>
              <a:buNone/>
            </a:pPr>
            <a:r>
              <a:rPr sz="900" b="0" i="1">
                <a:solidFill>
                  <a:srgbClr val="8C8C8C"/>
                </a:solidFill>
                <a:latin typeface="Arial"/>
              </a:rPr>
              <a:t>Class distribution of the working set: a ratio of about 4 : 1.3 :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STAGE 1: FROM VIDEO CLIP TO MOTION TENSOR</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02 · METHOD</a:t>
            </a:r>
          </a:p>
        </p:txBody>
      </p:sp>
      <p:sp>
        <p:nvSpPr>
          <p:cNvPr id="907"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7</a:t>
            </a:fld>
          </a:p>
        </p:txBody>
      </p:sp>
      <p:sp>
        <p:nvSpPr>
          <p:cNvPr id="908" name="Rectangle 907"/>
          <p:cNvSpPr/>
          <p:nvPr/>
        </p:nvSpPr>
        <p:spPr>
          <a:xfrm>
            <a:off x="685800" y="1783080"/>
            <a:ext cx="1170432"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TextBox 908"/>
          <p:cNvSpPr txBox="1"/>
          <p:nvPr/>
        </p:nvSpPr>
        <p:spPr>
          <a:xfrm>
            <a:off x="722376" y="1783080"/>
            <a:ext cx="1097280" cy="96012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Frame preparation</a:t>
            </a:r>
          </a:p>
          <a:p>
            <a:pPr algn="ctr" marL="0" indent="0">
              <a:spcBef>
                <a:spcPts val="0"/>
              </a:spcBef>
              <a:spcAft>
                <a:spcPts val="0"/>
              </a:spcAft>
              <a:buNone/>
            </a:pPr>
            <a:r>
              <a:rPr sz="900" b="0" i="0">
                <a:solidFill>
                  <a:srgbClr val="414141"/>
                </a:solidFill>
                <a:latin typeface="Arial"/>
              </a:rPr>
              <a:t>greyscale, 224 × 224</a:t>
            </a:r>
          </a:p>
        </p:txBody>
      </p:sp>
      <p:cxnSp>
        <p:nvCxnSpPr>
          <p:cNvPr id="910" name="Connector 909"/>
          <p:cNvCxnSpPr/>
          <p:nvPr/>
        </p:nvCxnSpPr>
        <p:spPr>
          <a:xfrm>
            <a:off x="1892808" y="2263140"/>
            <a:ext cx="113385"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1" name="Rectangle 910"/>
          <p:cNvSpPr/>
          <p:nvPr/>
        </p:nvSpPr>
        <p:spPr>
          <a:xfrm>
            <a:off x="2042769" y="1783080"/>
            <a:ext cx="1170432"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TextBox 911"/>
          <p:cNvSpPr txBox="1"/>
          <p:nvPr/>
        </p:nvSpPr>
        <p:spPr>
          <a:xfrm>
            <a:off x="2079345" y="1783080"/>
            <a:ext cx="1097280" cy="96012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Uniform sampling</a:t>
            </a:r>
          </a:p>
          <a:p>
            <a:pPr algn="ctr" marL="0" indent="0">
              <a:spcBef>
                <a:spcPts val="0"/>
              </a:spcBef>
              <a:spcAft>
                <a:spcPts val="0"/>
              </a:spcAft>
              <a:buNone/>
            </a:pPr>
            <a:r>
              <a:rPr sz="900" b="0" i="0">
                <a:solidFill>
                  <a:srgbClr val="414141"/>
                </a:solidFill>
                <a:latin typeface="Arial"/>
              </a:rPr>
              <a:t>33 frames, onset to offset</a:t>
            </a:r>
          </a:p>
        </p:txBody>
      </p:sp>
      <p:cxnSp>
        <p:nvCxnSpPr>
          <p:cNvPr id="913" name="Connector 912"/>
          <p:cNvCxnSpPr/>
          <p:nvPr/>
        </p:nvCxnSpPr>
        <p:spPr>
          <a:xfrm>
            <a:off x="3249777" y="2263140"/>
            <a:ext cx="113386"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4" name="Rectangle 913"/>
          <p:cNvSpPr/>
          <p:nvPr/>
        </p:nvSpPr>
        <p:spPr>
          <a:xfrm>
            <a:off x="3399739" y="1783080"/>
            <a:ext cx="1170432" cy="960120"/>
          </a:xfrm>
          <a:prstGeom prst="rect">
            <a:avLst/>
          </a:prstGeom>
          <a:solidFill>
            <a:srgbClr val="F2F2F2"/>
          </a:solidFill>
          <a:ln w="19050">
            <a:solidFill>
              <a:srgbClr val="D2007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TextBox 914"/>
          <p:cNvSpPr txBox="1"/>
          <p:nvPr/>
        </p:nvSpPr>
        <p:spPr>
          <a:xfrm>
            <a:off x="3436315" y="1783080"/>
            <a:ext cx="1097280" cy="96012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Magnification</a:t>
            </a:r>
          </a:p>
          <a:p>
            <a:pPr algn="ctr" marL="0" indent="0">
              <a:spcBef>
                <a:spcPts val="0"/>
              </a:spcBef>
              <a:spcAft>
                <a:spcPts val="0"/>
              </a:spcAft>
              <a:buNone/>
            </a:pPr>
            <a:r>
              <a:rPr sz="900" b="0" i="0">
                <a:solidFill>
                  <a:srgbClr val="414141"/>
                </a:solidFill>
                <a:latin typeface="Arial"/>
              </a:rPr>
              <a:t>Eulerian, α = 10, 5–25 Hz</a:t>
            </a:r>
          </a:p>
        </p:txBody>
      </p:sp>
      <p:cxnSp>
        <p:nvCxnSpPr>
          <p:cNvPr id="916" name="Connector 915"/>
          <p:cNvCxnSpPr/>
          <p:nvPr/>
        </p:nvCxnSpPr>
        <p:spPr>
          <a:xfrm>
            <a:off x="4606747" y="2263140"/>
            <a:ext cx="113385"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7" name="Rectangle 916"/>
          <p:cNvSpPr/>
          <p:nvPr/>
        </p:nvSpPr>
        <p:spPr>
          <a:xfrm>
            <a:off x="4756708" y="1783080"/>
            <a:ext cx="1170432"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TextBox 917"/>
          <p:cNvSpPr txBox="1"/>
          <p:nvPr/>
        </p:nvSpPr>
        <p:spPr>
          <a:xfrm>
            <a:off x="4793284" y="1783080"/>
            <a:ext cx="1097280" cy="96012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Optical flow</a:t>
            </a:r>
          </a:p>
          <a:p>
            <a:pPr algn="ctr" marL="0" indent="0">
              <a:spcBef>
                <a:spcPts val="0"/>
              </a:spcBef>
              <a:spcAft>
                <a:spcPts val="0"/>
              </a:spcAft>
              <a:buNone/>
            </a:pPr>
            <a:r>
              <a:rPr sz="900" b="0" i="0">
                <a:solidFill>
                  <a:srgbClr val="414141"/>
                </a:solidFill>
                <a:latin typeface="Arial"/>
              </a:rPr>
              <a:t>Farnebäck, 32 frame pairs</a:t>
            </a:r>
          </a:p>
        </p:txBody>
      </p:sp>
      <p:cxnSp>
        <p:nvCxnSpPr>
          <p:cNvPr id="919" name="Connector 918"/>
          <p:cNvCxnSpPr/>
          <p:nvPr/>
        </p:nvCxnSpPr>
        <p:spPr>
          <a:xfrm>
            <a:off x="5963716" y="2263140"/>
            <a:ext cx="113386"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20" name="Rectangle 919"/>
          <p:cNvSpPr/>
          <p:nvPr/>
        </p:nvSpPr>
        <p:spPr>
          <a:xfrm>
            <a:off x="6113678" y="1783080"/>
            <a:ext cx="1170432"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TextBox 920"/>
          <p:cNvSpPr txBox="1"/>
          <p:nvPr/>
        </p:nvSpPr>
        <p:spPr>
          <a:xfrm>
            <a:off x="6150254" y="1783080"/>
            <a:ext cx="1097280" cy="96012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Optical strain</a:t>
            </a:r>
          </a:p>
          <a:p>
            <a:pPr algn="ctr" marL="0" indent="0">
              <a:spcBef>
                <a:spcPts val="0"/>
              </a:spcBef>
              <a:spcAft>
                <a:spcPts val="0"/>
              </a:spcAft>
              <a:buNone/>
            </a:pPr>
            <a:r>
              <a:rPr sz="900" b="0" i="0">
                <a:solidFill>
                  <a:srgbClr val="414141"/>
                </a:solidFill>
                <a:latin typeface="Arial"/>
              </a:rPr>
              <a:t>from spatial gradients</a:t>
            </a:r>
          </a:p>
        </p:txBody>
      </p:sp>
      <p:cxnSp>
        <p:nvCxnSpPr>
          <p:cNvPr id="922" name="Connector 921"/>
          <p:cNvCxnSpPr/>
          <p:nvPr/>
        </p:nvCxnSpPr>
        <p:spPr>
          <a:xfrm>
            <a:off x="7320686" y="2263140"/>
            <a:ext cx="113386"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23" name="Rectangle 922"/>
          <p:cNvSpPr/>
          <p:nvPr/>
        </p:nvSpPr>
        <p:spPr>
          <a:xfrm>
            <a:off x="7470648" y="1783080"/>
            <a:ext cx="1170432"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TextBox 923"/>
          <p:cNvSpPr txBox="1"/>
          <p:nvPr/>
        </p:nvSpPr>
        <p:spPr>
          <a:xfrm>
            <a:off x="7507223" y="1783080"/>
            <a:ext cx="1097280" cy="96012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Stack and normalise</a:t>
            </a:r>
          </a:p>
          <a:p>
            <a:pPr algn="ctr" marL="0" indent="0">
              <a:spcBef>
                <a:spcPts val="0"/>
              </a:spcBef>
              <a:spcAft>
                <a:spcPts val="0"/>
              </a:spcAft>
              <a:buNone/>
            </a:pPr>
            <a:r>
              <a:rPr sz="900" b="0" i="0">
                <a:solidFill>
                  <a:srgbClr val="414141"/>
                </a:solidFill>
                <a:latin typeface="Arial"/>
              </a:rPr>
              <a:t>[u, v, ε] to [0, 1]</a:t>
            </a:r>
          </a:p>
        </p:txBody>
      </p:sp>
      <p:sp>
        <p:nvSpPr>
          <p:cNvPr id="925" name="TextBox 924"/>
          <p:cNvSpPr txBox="1"/>
          <p:nvPr/>
        </p:nvSpPr>
        <p:spPr>
          <a:xfrm>
            <a:off x="685800" y="2788920"/>
            <a:ext cx="7955279" cy="274320"/>
          </a:xfrm>
          <a:prstGeom prst="rect">
            <a:avLst/>
          </a:prstGeom>
          <a:noFill/>
        </p:spPr>
        <p:txBody>
          <a:bodyPr wrap="square" lIns="45720" rIns="45720" tIns="27432" bIns="27432" anchor="t"/>
          <a:lstStyle/>
          <a:p>
            <a:pPr algn="l" marL="0" indent="0">
              <a:spcBef>
                <a:spcPts val="0"/>
              </a:spcBef>
              <a:spcAft>
                <a:spcPts val="300"/>
              </a:spcAft>
              <a:buNone/>
            </a:pPr>
            <a:r>
              <a:rPr sz="900" b="0" i="1">
                <a:solidFill>
                  <a:srgbClr val="D2007E"/>
                </a:solidFill>
                <a:latin typeface="Arial"/>
              </a:rPr>
              <a:t>Dashed box: component switched on and off in the ablation</a:t>
            </a:r>
          </a:p>
        </p:txBody>
      </p:sp>
      <p:sp>
        <p:nvSpPr>
          <p:cNvPr id="926" name="Rectangle 925"/>
          <p:cNvSpPr/>
          <p:nvPr/>
        </p:nvSpPr>
        <p:spPr>
          <a:xfrm>
            <a:off x="685800" y="3200400"/>
            <a:ext cx="3017520" cy="228600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TextBox 926"/>
          <p:cNvSpPr txBox="1"/>
          <p:nvPr/>
        </p:nvSpPr>
        <p:spPr>
          <a:xfrm>
            <a:off x="822960" y="3255264"/>
            <a:ext cx="2743200" cy="2176272"/>
          </a:xfrm>
          <a:prstGeom prst="rect">
            <a:avLst/>
          </a:prstGeom>
          <a:noFill/>
        </p:spPr>
        <p:txBody>
          <a:bodyPr wrap="square" lIns="45720" rIns="45720" tIns="27432" bIns="27432" anchor="t"/>
          <a:lstStyle/>
          <a:p>
            <a:pPr algn="l" marL="0" indent="0">
              <a:spcBef>
                <a:spcPts val="0"/>
              </a:spcBef>
              <a:spcAft>
                <a:spcPts val="300"/>
              </a:spcAft>
              <a:buNone/>
            </a:pPr>
            <a:r>
              <a:rPr sz="1150" b="1" i="0">
                <a:solidFill>
                  <a:srgbClr val="A8CC2F"/>
                </a:solidFill>
                <a:latin typeface="Arial"/>
              </a:rPr>
              <a:t>Input tensor</a:t>
            </a:r>
          </a:p>
          <a:p>
            <a:pPr algn="l" marL="0" indent="0">
              <a:spcBef>
                <a:spcPts val="0"/>
              </a:spcBef>
              <a:spcAft>
                <a:spcPts val="400"/>
              </a:spcAft>
              <a:buNone/>
            </a:pPr>
            <a:r>
              <a:rPr sz="2200" b="1" i="0">
                <a:solidFill>
                  <a:srgbClr val="FFFFFF"/>
                </a:solidFill>
                <a:latin typeface="Arial"/>
              </a:rPr>
              <a:t>3 × 32 × 224 × 224</a:t>
            </a:r>
          </a:p>
          <a:p>
            <a:pPr algn="l" marL="0" indent="0">
              <a:spcBef>
                <a:spcPts val="0"/>
              </a:spcBef>
              <a:spcAft>
                <a:spcPts val="800"/>
              </a:spcAft>
              <a:buNone/>
            </a:pPr>
            <a:r>
              <a:rPr sz="1000" b="0" i="0">
                <a:solidFill>
                  <a:srgbClr val="FFFFFF"/>
                </a:solidFill>
                <a:latin typeface="Arial"/>
              </a:rPr>
              <a:t>channels × frame pairs × height × width</a:t>
            </a:r>
          </a:p>
          <a:p>
            <a:pPr algn="l" marL="0" indent="0">
              <a:spcBef>
                <a:spcPts val="0"/>
              </a:spcBef>
              <a:spcAft>
                <a:spcPts val="300"/>
              </a:spcAft>
              <a:buNone/>
            </a:pPr>
            <a:r>
              <a:rPr sz="1050" b="0" i="0">
                <a:solidFill>
                  <a:srgbClr val="FFFFFF"/>
                </a:solidFill>
                <a:latin typeface="Arial"/>
              </a:rPr>
              <a:t>Channels: horizontal flow u, vertical flow v and strain magnitude ε</a:t>
            </a:r>
          </a:p>
        </p:txBody>
      </p:sp>
      <p:sp>
        <p:nvSpPr>
          <p:cNvPr id="928" name="TextBox 927"/>
          <p:cNvSpPr txBox="1"/>
          <p:nvPr/>
        </p:nvSpPr>
        <p:spPr>
          <a:xfrm>
            <a:off x="3931920" y="3200400"/>
            <a:ext cx="4709160" cy="2697480"/>
          </a:xfrm>
          <a:prstGeom prst="rect">
            <a:avLst/>
          </a:prstGeom>
          <a:noFill/>
        </p:spPr>
        <p:txBody>
          <a:bodyPr wrap="square" lIns="45720" rIns="45720" tIns="27432" bIns="27432" anchor="t"/>
          <a:lstStyle/>
          <a:p>
            <a:pPr algn="l" marL="155448" indent="-155448">
              <a:spcBef>
                <a:spcPts val="0"/>
              </a:spcBef>
              <a:spcAft>
                <a:spcPts val="700"/>
              </a:spcAft>
              <a:buClr>
                <a:srgbClr val="A8CC2F"/>
              </a:buClr>
              <a:buFont typeface="Arial"/>
              <a:buChar char="•"/>
            </a:pPr>
            <a:r>
              <a:rPr sz="1200" b="0" i="0">
                <a:solidFill>
                  <a:srgbClr val="414141"/>
                </a:solidFill>
                <a:latin typeface="Arial"/>
              </a:rPr>
              <a:t>The network never receives pixel intensities, only displacement and deformation fields</a:t>
            </a:r>
          </a:p>
          <a:p>
            <a:pPr algn="l" marL="155448" indent="-155448">
              <a:spcBef>
                <a:spcPts val="0"/>
              </a:spcBef>
              <a:spcAft>
                <a:spcPts val="700"/>
              </a:spcAft>
              <a:buClr>
                <a:srgbClr val="A8CC2F"/>
              </a:buClr>
              <a:buFont typeface="Arial"/>
              <a:buChar char="•"/>
            </a:pPr>
            <a:r>
              <a:rPr sz="1200" b="0" i="0">
                <a:solidFill>
                  <a:srgbClr val="414141"/>
                </a:solidFill>
                <a:latin typeface="Arial"/>
              </a:rPr>
              <a:t>The original frames are used: no face detection, alignment or cropping</a:t>
            </a:r>
          </a:p>
          <a:p>
            <a:pPr algn="l" marL="155448" indent="-155448">
              <a:spcBef>
                <a:spcPts val="0"/>
              </a:spcBef>
              <a:spcAft>
                <a:spcPts val="700"/>
              </a:spcAft>
              <a:buClr>
                <a:srgbClr val="A8CC2F"/>
              </a:buClr>
              <a:buFont typeface="Arial"/>
              <a:buChar char="•"/>
            </a:pPr>
            <a:r>
              <a:rPr sz="1200" b="0" i="0">
                <a:solidFill>
                  <a:srgbClr val="414141"/>
                </a:solidFill>
                <a:latin typeface="Arial"/>
              </a:rPr>
              <a:t>Existing frames are sampled; no frames are synthesised by interpolation</a:t>
            </a:r>
          </a:p>
          <a:p>
            <a:pPr algn="l" marL="155448" indent="-155448">
              <a:spcBef>
                <a:spcPts val="0"/>
              </a:spcBef>
              <a:spcAft>
                <a:spcPts val="700"/>
              </a:spcAft>
              <a:buClr>
                <a:srgbClr val="A8CC2F"/>
              </a:buClr>
              <a:buFont typeface="Arial"/>
              <a:buChar char="•"/>
            </a:pPr>
            <a:r>
              <a:rPr sz="1200" b="0" i="0">
                <a:solidFill>
                  <a:srgbClr val="414141"/>
                </a:solidFill>
                <a:latin typeface="Arial"/>
              </a:rPr>
              <a:t>Stage 1 runs once per clip, so all configurations are compared on identical inputs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FOUR COMPONENTS ARE SWITCHED ON AND OFF</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02 · METHOD</a:t>
            </a:r>
          </a:p>
        </p:txBody>
      </p:sp>
      <p:sp>
        <p:nvSpPr>
          <p:cNvPr id="908"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8</a:t>
            </a:fld>
          </a:p>
        </p:txBody>
      </p:sp>
      <p:sp>
        <p:nvSpPr>
          <p:cNvPr id="909" name="TextBox 908"/>
          <p:cNvSpPr txBox="1"/>
          <p:nvPr/>
        </p:nvSpPr>
        <p:spPr>
          <a:xfrm>
            <a:off x="685800" y="1737360"/>
            <a:ext cx="5931484" cy="274320"/>
          </a:xfrm>
          <a:prstGeom prst="rect">
            <a:avLst/>
          </a:prstGeom>
          <a:noFill/>
        </p:spPr>
        <p:txBody>
          <a:bodyPr wrap="square" lIns="45720" rIns="45720" tIns="27432" bIns="27432" anchor="t"/>
          <a:lstStyle/>
          <a:p>
            <a:pPr algn="l" marL="0" indent="0">
              <a:spcBef>
                <a:spcPts val="0"/>
              </a:spcBef>
              <a:spcAft>
                <a:spcPts val="300"/>
              </a:spcAft>
              <a:buNone/>
            </a:pPr>
            <a:r>
              <a:rPr sz="900" b="1" i="0" spc="100">
                <a:solidFill>
                  <a:srgbClr val="8C8C8C"/>
                </a:solidFill>
                <a:latin typeface="Arial"/>
              </a:rPr>
              <a:t>MOTION MODELLING</a:t>
            </a:r>
          </a:p>
        </p:txBody>
      </p:sp>
      <p:sp>
        <p:nvSpPr>
          <p:cNvPr id="910" name="TextBox 909"/>
          <p:cNvSpPr txBox="1"/>
          <p:nvPr/>
        </p:nvSpPr>
        <p:spPr>
          <a:xfrm>
            <a:off x="6757187" y="1737360"/>
            <a:ext cx="1883892" cy="274320"/>
          </a:xfrm>
          <a:prstGeom prst="rect">
            <a:avLst/>
          </a:prstGeom>
          <a:noFill/>
        </p:spPr>
        <p:txBody>
          <a:bodyPr wrap="square" lIns="45720" rIns="45720" tIns="27432" bIns="27432" anchor="t"/>
          <a:lstStyle/>
          <a:p>
            <a:pPr algn="l" marL="0" indent="0">
              <a:spcBef>
                <a:spcPts val="0"/>
              </a:spcBef>
              <a:spcAft>
                <a:spcPts val="300"/>
              </a:spcAft>
              <a:buNone/>
            </a:pPr>
            <a:r>
              <a:rPr sz="900" b="1" i="0" spc="100">
                <a:solidFill>
                  <a:srgbClr val="8C8C8C"/>
                </a:solidFill>
                <a:latin typeface="Arial"/>
              </a:rPr>
              <a:t>TEMPORAL MODELLING</a:t>
            </a:r>
          </a:p>
        </p:txBody>
      </p:sp>
      <p:sp>
        <p:nvSpPr>
          <p:cNvPr id="911" name="Rectangle 910"/>
          <p:cNvSpPr/>
          <p:nvPr/>
        </p:nvSpPr>
        <p:spPr>
          <a:xfrm>
            <a:off x="685800" y="2057400"/>
            <a:ext cx="1883892" cy="3840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Oval 911"/>
          <p:cNvSpPr/>
          <p:nvPr/>
        </p:nvSpPr>
        <p:spPr>
          <a:xfrm>
            <a:off x="813816" y="219456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1</a:t>
            </a:r>
          </a:p>
        </p:txBody>
      </p:sp>
      <p:sp>
        <p:nvSpPr>
          <p:cNvPr id="913" name="TextBox 912"/>
          <p:cNvSpPr txBox="1"/>
          <p:nvPr/>
        </p:nvSpPr>
        <p:spPr>
          <a:xfrm>
            <a:off x="777240" y="2679192"/>
            <a:ext cx="1701012" cy="566928"/>
          </a:xfrm>
          <a:prstGeom prst="rect">
            <a:avLst/>
          </a:prstGeom>
          <a:noFill/>
        </p:spPr>
        <p:txBody>
          <a:bodyPr wrap="square" lIns="45720" rIns="45720" tIns="27432" bIns="27432" anchor="t"/>
          <a:lstStyle/>
          <a:p>
            <a:pPr algn="l" marL="0" indent="0">
              <a:spcBef>
                <a:spcPts val="0"/>
              </a:spcBef>
              <a:spcAft>
                <a:spcPts val="0"/>
              </a:spcAft>
              <a:buNone/>
            </a:pPr>
            <a:r>
              <a:rPr sz="1200" b="1" i="0">
                <a:solidFill>
                  <a:srgbClr val="004CA0"/>
                </a:solidFill>
                <a:latin typeface="Arial"/>
              </a:rPr>
              <a:t>Eulerian video magnification</a:t>
            </a:r>
          </a:p>
        </p:txBody>
      </p:sp>
      <p:sp>
        <p:nvSpPr>
          <p:cNvPr id="914" name="TextBox 913"/>
          <p:cNvSpPr txBox="1"/>
          <p:nvPr/>
        </p:nvSpPr>
        <p:spPr>
          <a:xfrm>
            <a:off x="777240" y="3264408"/>
            <a:ext cx="1701012" cy="1280160"/>
          </a:xfrm>
          <a:prstGeom prst="rect">
            <a:avLst/>
          </a:prstGeom>
          <a:noFill/>
        </p:spPr>
        <p:txBody>
          <a:bodyPr wrap="square" lIns="45720" rIns="45720" tIns="27432" bIns="27432" anchor="t"/>
          <a:lstStyle/>
          <a:p>
            <a:pPr algn="l" marL="0" indent="0">
              <a:spcBef>
                <a:spcPts val="0"/>
              </a:spcBef>
              <a:spcAft>
                <a:spcPts val="300"/>
              </a:spcAft>
              <a:buNone/>
            </a:pPr>
            <a:r>
              <a:rPr sz="1050" b="0" i="0">
                <a:solidFill>
                  <a:srgbClr val="414141"/>
                </a:solidFill>
                <a:latin typeface="Arial"/>
              </a:rPr>
              <a:t>Amplifies subtle motion in a temporal frequency band before optical flow is computed.</a:t>
            </a:r>
          </a:p>
        </p:txBody>
      </p:sp>
      <p:sp>
        <p:nvSpPr>
          <p:cNvPr id="915" name="TextBox 914"/>
          <p:cNvSpPr txBox="1"/>
          <p:nvPr/>
        </p:nvSpPr>
        <p:spPr>
          <a:xfrm>
            <a:off x="777240" y="4617720"/>
            <a:ext cx="1701012" cy="1234440"/>
          </a:xfrm>
          <a:prstGeom prst="rect">
            <a:avLst/>
          </a:prstGeom>
          <a:noFill/>
        </p:spPr>
        <p:txBody>
          <a:bodyPr wrap="square" lIns="45720" rIns="45720" tIns="27432" bIns="27432" anchor="t"/>
          <a:lstStyle/>
          <a:p>
            <a:pPr algn="l" marL="0" indent="0">
              <a:spcBef>
                <a:spcPts val="0"/>
              </a:spcBef>
              <a:spcAft>
                <a:spcPts val="200"/>
              </a:spcAft>
              <a:buNone/>
            </a:pPr>
            <a:r>
              <a:rPr sz="1000" b="1" i="0">
                <a:solidFill>
                  <a:srgbClr val="004CA0"/>
                </a:solidFill>
                <a:latin typeface="Arial"/>
              </a:rPr>
              <a:t>When disabled</a:t>
            </a:r>
          </a:p>
          <a:p>
            <a:pPr algn="l" marL="0" indent="0">
              <a:spcBef>
                <a:spcPts val="0"/>
              </a:spcBef>
              <a:spcAft>
                <a:spcPts val="300"/>
              </a:spcAft>
              <a:buNone/>
            </a:pPr>
            <a:r>
              <a:rPr sz="1050" b="0" i="0">
                <a:solidFill>
                  <a:srgbClr val="414141"/>
                </a:solidFill>
                <a:latin typeface="Arial"/>
              </a:rPr>
              <a:t>No magnification</a:t>
            </a:r>
          </a:p>
        </p:txBody>
      </p:sp>
      <p:sp>
        <p:nvSpPr>
          <p:cNvPr id="916" name="Rectangle 915"/>
          <p:cNvSpPr/>
          <p:nvPr/>
        </p:nvSpPr>
        <p:spPr>
          <a:xfrm>
            <a:off x="2709595" y="2057400"/>
            <a:ext cx="1883892" cy="3840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Oval 916"/>
          <p:cNvSpPr/>
          <p:nvPr/>
        </p:nvSpPr>
        <p:spPr>
          <a:xfrm>
            <a:off x="2837611" y="219456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2</a:t>
            </a:r>
          </a:p>
        </p:txBody>
      </p:sp>
      <p:sp>
        <p:nvSpPr>
          <p:cNvPr id="918" name="TextBox 917"/>
          <p:cNvSpPr txBox="1"/>
          <p:nvPr/>
        </p:nvSpPr>
        <p:spPr>
          <a:xfrm>
            <a:off x="2801035" y="2679192"/>
            <a:ext cx="1701012" cy="566928"/>
          </a:xfrm>
          <a:prstGeom prst="rect">
            <a:avLst/>
          </a:prstGeom>
          <a:noFill/>
        </p:spPr>
        <p:txBody>
          <a:bodyPr wrap="square" lIns="45720" rIns="45720" tIns="27432" bIns="27432" anchor="t"/>
          <a:lstStyle/>
          <a:p>
            <a:pPr algn="l" marL="0" indent="0">
              <a:spcBef>
                <a:spcPts val="0"/>
              </a:spcBef>
              <a:spcAft>
                <a:spcPts val="0"/>
              </a:spcAft>
              <a:buNone/>
            </a:pPr>
            <a:r>
              <a:rPr sz="1200" b="1" i="0">
                <a:solidFill>
                  <a:srgbClr val="004CA0"/>
                </a:solidFill>
                <a:latin typeface="Arial"/>
              </a:rPr>
              <a:t>Convolutional stem</a:t>
            </a:r>
          </a:p>
        </p:txBody>
      </p:sp>
      <p:sp>
        <p:nvSpPr>
          <p:cNvPr id="919" name="TextBox 918"/>
          <p:cNvSpPr txBox="1"/>
          <p:nvPr/>
        </p:nvSpPr>
        <p:spPr>
          <a:xfrm>
            <a:off x="2801035" y="3264408"/>
            <a:ext cx="1701012" cy="1280160"/>
          </a:xfrm>
          <a:prstGeom prst="rect">
            <a:avLst/>
          </a:prstGeom>
          <a:noFill/>
        </p:spPr>
        <p:txBody>
          <a:bodyPr wrap="square" lIns="45720" rIns="45720" tIns="27432" bIns="27432" anchor="t"/>
          <a:lstStyle/>
          <a:p>
            <a:pPr algn="l" marL="0" indent="0">
              <a:spcBef>
                <a:spcPts val="0"/>
              </a:spcBef>
              <a:spcAft>
                <a:spcPts val="300"/>
              </a:spcAft>
              <a:buNone/>
            </a:pPr>
            <a:r>
              <a:rPr sz="1050" b="0" i="0">
                <a:solidFill>
                  <a:srgbClr val="414141"/>
                </a:solidFill>
                <a:latin typeface="Arial"/>
              </a:rPr>
              <a:t>Three streams with unshared weights, one per channel, using spatial-only kernels (1, 3, 3).</a:t>
            </a:r>
          </a:p>
        </p:txBody>
      </p:sp>
      <p:sp>
        <p:nvSpPr>
          <p:cNvPr id="920" name="TextBox 919"/>
          <p:cNvSpPr txBox="1"/>
          <p:nvPr/>
        </p:nvSpPr>
        <p:spPr>
          <a:xfrm>
            <a:off x="2801035" y="4617720"/>
            <a:ext cx="1701012" cy="1234440"/>
          </a:xfrm>
          <a:prstGeom prst="rect">
            <a:avLst/>
          </a:prstGeom>
          <a:noFill/>
        </p:spPr>
        <p:txBody>
          <a:bodyPr wrap="square" lIns="45720" rIns="45720" tIns="27432" bIns="27432" anchor="t"/>
          <a:lstStyle/>
          <a:p>
            <a:pPr algn="l" marL="0" indent="0">
              <a:spcBef>
                <a:spcPts val="0"/>
              </a:spcBef>
              <a:spcAft>
                <a:spcPts val="200"/>
              </a:spcAft>
              <a:buNone/>
            </a:pPr>
            <a:r>
              <a:rPr sz="1000" b="1" i="0">
                <a:solidFill>
                  <a:srgbClr val="004CA0"/>
                </a:solidFill>
                <a:latin typeface="Arial"/>
              </a:rPr>
              <a:t>When disabled</a:t>
            </a:r>
          </a:p>
          <a:p>
            <a:pPr algn="l" marL="0" indent="0">
              <a:spcBef>
                <a:spcPts val="0"/>
              </a:spcBef>
              <a:spcAft>
                <a:spcPts val="300"/>
              </a:spcAft>
              <a:buNone/>
            </a:pPr>
            <a:r>
              <a:rPr sz="1050" b="0" i="0">
                <a:solidFill>
                  <a:srgbClr val="414141"/>
                </a:solidFill>
                <a:latin typeface="Arial"/>
              </a:rPr>
              <a:t>4 × 4 average pooling per frame and a linear projection 48 → 96</a:t>
            </a:r>
          </a:p>
        </p:txBody>
      </p:sp>
      <p:sp>
        <p:nvSpPr>
          <p:cNvPr id="921" name="Rectangle 920"/>
          <p:cNvSpPr/>
          <p:nvPr/>
        </p:nvSpPr>
        <p:spPr>
          <a:xfrm>
            <a:off x="4733391" y="2057400"/>
            <a:ext cx="1883892" cy="3840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Oval 921"/>
          <p:cNvSpPr/>
          <p:nvPr/>
        </p:nvSpPr>
        <p:spPr>
          <a:xfrm>
            <a:off x="4861407" y="219456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3</a:t>
            </a:r>
          </a:p>
        </p:txBody>
      </p:sp>
      <p:sp>
        <p:nvSpPr>
          <p:cNvPr id="923" name="TextBox 922"/>
          <p:cNvSpPr txBox="1"/>
          <p:nvPr/>
        </p:nvSpPr>
        <p:spPr>
          <a:xfrm>
            <a:off x="4824831" y="2679192"/>
            <a:ext cx="1701012" cy="566928"/>
          </a:xfrm>
          <a:prstGeom prst="rect">
            <a:avLst/>
          </a:prstGeom>
          <a:noFill/>
        </p:spPr>
        <p:txBody>
          <a:bodyPr wrap="square" lIns="45720" rIns="45720" tIns="27432" bIns="27432" anchor="t"/>
          <a:lstStyle/>
          <a:p>
            <a:pPr algn="l" marL="0" indent="0">
              <a:spcBef>
                <a:spcPts val="0"/>
              </a:spcBef>
              <a:spcAft>
                <a:spcPts val="0"/>
              </a:spcAft>
              <a:buNone/>
            </a:pPr>
            <a:r>
              <a:rPr sz="1200" b="1" i="0">
                <a:solidFill>
                  <a:srgbClr val="004CA0"/>
                </a:solidFill>
                <a:latin typeface="Arial"/>
              </a:rPr>
              <a:t>SimAM attention</a:t>
            </a:r>
          </a:p>
        </p:txBody>
      </p:sp>
      <p:sp>
        <p:nvSpPr>
          <p:cNvPr id="924" name="TextBox 923"/>
          <p:cNvSpPr txBox="1"/>
          <p:nvPr/>
        </p:nvSpPr>
        <p:spPr>
          <a:xfrm>
            <a:off x="4824831" y="3264408"/>
            <a:ext cx="1701012" cy="1280160"/>
          </a:xfrm>
          <a:prstGeom prst="rect">
            <a:avLst/>
          </a:prstGeom>
          <a:noFill/>
        </p:spPr>
        <p:txBody>
          <a:bodyPr wrap="square" lIns="45720" rIns="45720" tIns="27432" bIns="27432" anchor="t"/>
          <a:lstStyle/>
          <a:p>
            <a:pPr algn="l" marL="0" indent="0">
              <a:spcBef>
                <a:spcPts val="0"/>
              </a:spcBef>
              <a:spcAft>
                <a:spcPts val="300"/>
              </a:spcAft>
              <a:buNone/>
            </a:pPr>
            <a:r>
              <a:rPr sz="1050" b="0" i="0">
                <a:solidFill>
                  <a:srgbClr val="414141"/>
                </a:solidFill>
                <a:latin typeface="Arial"/>
              </a:rPr>
              <a:t>Parameter-free re-weighting of the stem's activations. Requires the stem.</a:t>
            </a:r>
          </a:p>
        </p:txBody>
      </p:sp>
      <p:sp>
        <p:nvSpPr>
          <p:cNvPr id="925" name="TextBox 924"/>
          <p:cNvSpPr txBox="1"/>
          <p:nvPr/>
        </p:nvSpPr>
        <p:spPr>
          <a:xfrm>
            <a:off x="4824831" y="4617720"/>
            <a:ext cx="1701012" cy="1234440"/>
          </a:xfrm>
          <a:prstGeom prst="rect">
            <a:avLst/>
          </a:prstGeom>
          <a:noFill/>
        </p:spPr>
        <p:txBody>
          <a:bodyPr wrap="square" lIns="45720" rIns="45720" tIns="27432" bIns="27432" anchor="t"/>
          <a:lstStyle/>
          <a:p>
            <a:pPr algn="l" marL="0" indent="0">
              <a:spcBef>
                <a:spcPts val="0"/>
              </a:spcBef>
              <a:spcAft>
                <a:spcPts val="200"/>
              </a:spcAft>
              <a:buNone/>
            </a:pPr>
            <a:r>
              <a:rPr sz="1000" b="1" i="0">
                <a:solidFill>
                  <a:srgbClr val="004CA0"/>
                </a:solidFill>
                <a:latin typeface="Arial"/>
              </a:rPr>
              <a:t>When disabled</a:t>
            </a:r>
          </a:p>
          <a:p>
            <a:pPr algn="l" marL="0" indent="0">
              <a:spcBef>
                <a:spcPts val="0"/>
              </a:spcBef>
              <a:spcAft>
                <a:spcPts val="300"/>
              </a:spcAft>
              <a:buNone/>
            </a:pPr>
            <a:r>
              <a:rPr sz="1050" b="0" i="0">
                <a:solidFill>
                  <a:srgbClr val="414141"/>
                </a:solidFill>
                <a:latin typeface="Arial"/>
              </a:rPr>
              <a:t>Unmodified stream outputs</a:t>
            </a:r>
          </a:p>
        </p:txBody>
      </p:sp>
      <p:sp>
        <p:nvSpPr>
          <p:cNvPr id="926" name="Rectangle 925"/>
          <p:cNvSpPr/>
          <p:nvPr/>
        </p:nvSpPr>
        <p:spPr>
          <a:xfrm>
            <a:off x="6757187" y="2057400"/>
            <a:ext cx="1883892" cy="384048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Oval 926"/>
          <p:cNvSpPr/>
          <p:nvPr/>
        </p:nvSpPr>
        <p:spPr>
          <a:xfrm>
            <a:off x="6885203" y="2194560"/>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004CA0"/>
                </a:solidFill>
                <a:latin typeface="Arial"/>
              </a:rPr>
              <a:t>4</a:t>
            </a:r>
          </a:p>
        </p:txBody>
      </p:sp>
      <p:sp>
        <p:nvSpPr>
          <p:cNvPr id="928" name="TextBox 927"/>
          <p:cNvSpPr txBox="1"/>
          <p:nvPr/>
        </p:nvSpPr>
        <p:spPr>
          <a:xfrm>
            <a:off x="6848627" y="2679192"/>
            <a:ext cx="1701012" cy="566928"/>
          </a:xfrm>
          <a:prstGeom prst="rect">
            <a:avLst/>
          </a:prstGeom>
          <a:noFill/>
        </p:spPr>
        <p:txBody>
          <a:bodyPr wrap="square" lIns="45720" rIns="45720" tIns="27432" bIns="27432" anchor="t"/>
          <a:lstStyle/>
          <a:p>
            <a:pPr algn="l" marL="0" indent="0">
              <a:spcBef>
                <a:spcPts val="0"/>
              </a:spcBef>
              <a:spcAft>
                <a:spcPts val="0"/>
              </a:spcAft>
              <a:buNone/>
            </a:pPr>
            <a:r>
              <a:rPr sz="1200" b="1" i="0">
                <a:solidFill>
                  <a:srgbClr val="FFFFFF"/>
                </a:solidFill>
                <a:latin typeface="Arial"/>
              </a:rPr>
              <a:t>Temporal transformer</a:t>
            </a:r>
          </a:p>
        </p:txBody>
      </p:sp>
      <p:sp>
        <p:nvSpPr>
          <p:cNvPr id="929" name="TextBox 928"/>
          <p:cNvSpPr txBox="1"/>
          <p:nvPr/>
        </p:nvSpPr>
        <p:spPr>
          <a:xfrm>
            <a:off x="6848627" y="3264408"/>
            <a:ext cx="1701012" cy="1280160"/>
          </a:xfrm>
          <a:prstGeom prst="rect">
            <a:avLst/>
          </a:prstGeom>
          <a:noFill/>
        </p:spPr>
        <p:txBody>
          <a:bodyPr wrap="square" lIns="45720" rIns="45720" tIns="27432" bIns="27432" anchor="t"/>
          <a:lstStyle/>
          <a:p>
            <a:pPr algn="l" marL="0" indent="0">
              <a:spcBef>
                <a:spcPts val="0"/>
              </a:spcBef>
              <a:spcAft>
                <a:spcPts val="300"/>
              </a:spcAft>
              <a:buNone/>
            </a:pPr>
            <a:r>
              <a:rPr sz="1050" b="0" i="0">
                <a:solidFill>
                  <a:srgbClr val="FFFFFF"/>
                </a:solidFill>
                <a:latin typeface="Arial"/>
              </a:rPr>
              <a:t>Sinusoidal positions, four pre-norm layers and eight heads over 32 time steps.</a:t>
            </a:r>
          </a:p>
        </p:txBody>
      </p:sp>
      <p:sp>
        <p:nvSpPr>
          <p:cNvPr id="930" name="TextBox 929"/>
          <p:cNvSpPr txBox="1"/>
          <p:nvPr/>
        </p:nvSpPr>
        <p:spPr>
          <a:xfrm>
            <a:off x="6848627" y="4617720"/>
            <a:ext cx="1701012" cy="1234440"/>
          </a:xfrm>
          <a:prstGeom prst="rect">
            <a:avLst/>
          </a:prstGeom>
          <a:noFill/>
        </p:spPr>
        <p:txBody>
          <a:bodyPr wrap="square" lIns="45720" rIns="45720" tIns="27432" bIns="27432" anchor="t"/>
          <a:lstStyle/>
          <a:p>
            <a:pPr algn="l" marL="0" indent="0">
              <a:spcBef>
                <a:spcPts val="0"/>
              </a:spcBef>
              <a:spcAft>
                <a:spcPts val="200"/>
              </a:spcAft>
              <a:buNone/>
            </a:pPr>
            <a:r>
              <a:rPr sz="1000" b="1" i="0">
                <a:solidFill>
                  <a:srgbClr val="A8CC2F"/>
                </a:solidFill>
                <a:latin typeface="Arial"/>
              </a:rPr>
              <a:t>When disabled</a:t>
            </a:r>
          </a:p>
          <a:p>
            <a:pPr algn="l" marL="0" indent="0">
              <a:spcBef>
                <a:spcPts val="0"/>
              </a:spcBef>
              <a:spcAft>
                <a:spcPts val="300"/>
              </a:spcAft>
              <a:buNone/>
            </a:pPr>
            <a:r>
              <a:rPr sz="1050" b="0" i="0">
                <a:solidFill>
                  <a:srgbClr val="FFFFFF"/>
                </a:solidFill>
                <a:latin typeface="Arial"/>
              </a:rPr>
              <a:t>Mean over time: no parameters, no temporal order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STAGE 2: ONE MODEL WITH FOUR SWITCHES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02 · METHOD</a:t>
            </a:r>
          </a:p>
        </p:txBody>
      </p:sp>
      <p:sp>
        <p:nvSpPr>
          <p:cNvPr id="909"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9</a:t>
            </a:fld>
          </a:p>
        </p:txBody>
      </p:sp>
      <p:sp>
        <p:nvSpPr>
          <p:cNvPr id="910" name="Rectangle 909"/>
          <p:cNvSpPr/>
          <p:nvPr/>
        </p:nvSpPr>
        <p:spPr>
          <a:xfrm>
            <a:off x="685800" y="1783080"/>
            <a:ext cx="1170432"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TextBox 910"/>
          <p:cNvSpPr txBox="1"/>
          <p:nvPr/>
        </p:nvSpPr>
        <p:spPr>
          <a:xfrm>
            <a:off x="722376" y="1783080"/>
            <a:ext cx="1097280" cy="91440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Motion tensor</a:t>
            </a:r>
          </a:p>
          <a:p>
            <a:pPr algn="ctr" marL="0" indent="0">
              <a:spcBef>
                <a:spcPts val="0"/>
              </a:spcBef>
              <a:spcAft>
                <a:spcPts val="0"/>
              </a:spcAft>
              <a:buNone/>
            </a:pPr>
            <a:r>
              <a:rPr sz="900" b="0" i="0">
                <a:solidFill>
                  <a:srgbClr val="414141"/>
                </a:solidFill>
                <a:latin typeface="Arial"/>
              </a:rPr>
              <a:t>3 × 32 × 224 × 224</a:t>
            </a:r>
          </a:p>
        </p:txBody>
      </p:sp>
      <p:cxnSp>
        <p:nvCxnSpPr>
          <p:cNvPr id="912" name="Connector 911"/>
          <p:cNvCxnSpPr/>
          <p:nvPr/>
        </p:nvCxnSpPr>
        <p:spPr>
          <a:xfrm>
            <a:off x="1892808" y="2240280"/>
            <a:ext cx="113385"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3" name="Rectangle 912"/>
          <p:cNvSpPr/>
          <p:nvPr/>
        </p:nvSpPr>
        <p:spPr>
          <a:xfrm>
            <a:off x="2042769" y="1783080"/>
            <a:ext cx="1170432" cy="914400"/>
          </a:xfrm>
          <a:prstGeom prst="rect">
            <a:avLst/>
          </a:prstGeom>
          <a:solidFill>
            <a:srgbClr val="F2F2F2"/>
          </a:solidFill>
          <a:ln w="19050">
            <a:solidFill>
              <a:srgbClr val="D2007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TextBox 913"/>
          <p:cNvSpPr txBox="1"/>
          <p:nvPr/>
        </p:nvSpPr>
        <p:spPr>
          <a:xfrm>
            <a:off x="2079345" y="1783080"/>
            <a:ext cx="1097280" cy="91440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Convolutional stem</a:t>
            </a:r>
          </a:p>
          <a:p>
            <a:pPr algn="ctr" marL="0" indent="0">
              <a:spcBef>
                <a:spcPts val="0"/>
              </a:spcBef>
              <a:spcAft>
                <a:spcPts val="0"/>
              </a:spcAft>
              <a:buNone/>
            </a:pPr>
            <a:r>
              <a:rPr sz="900" b="0" i="0">
                <a:solidFill>
                  <a:srgbClr val="414141"/>
                </a:solidFill>
                <a:latin typeface="Arial"/>
              </a:rPr>
              <a:t>three streams</a:t>
            </a:r>
          </a:p>
        </p:txBody>
      </p:sp>
      <p:cxnSp>
        <p:nvCxnSpPr>
          <p:cNvPr id="915" name="Connector 914"/>
          <p:cNvCxnSpPr/>
          <p:nvPr/>
        </p:nvCxnSpPr>
        <p:spPr>
          <a:xfrm>
            <a:off x="3249777" y="2240280"/>
            <a:ext cx="113386"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6" name="Rectangle 915"/>
          <p:cNvSpPr/>
          <p:nvPr/>
        </p:nvSpPr>
        <p:spPr>
          <a:xfrm>
            <a:off x="3399739" y="1783080"/>
            <a:ext cx="1170432" cy="914400"/>
          </a:xfrm>
          <a:prstGeom prst="rect">
            <a:avLst/>
          </a:prstGeom>
          <a:solidFill>
            <a:srgbClr val="F2F2F2"/>
          </a:solidFill>
          <a:ln w="19050">
            <a:solidFill>
              <a:srgbClr val="D2007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TextBox 916"/>
          <p:cNvSpPr txBox="1"/>
          <p:nvPr/>
        </p:nvSpPr>
        <p:spPr>
          <a:xfrm>
            <a:off x="3436315" y="1783080"/>
            <a:ext cx="1097280" cy="91440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SimAM</a:t>
            </a:r>
          </a:p>
          <a:p>
            <a:pPr algn="ctr" marL="0" indent="0">
              <a:spcBef>
                <a:spcPts val="0"/>
              </a:spcBef>
              <a:spcAft>
                <a:spcPts val="0"/>
              </a:spcAft>
              <a:buNone/>
            </a:pPr>
            <a:r>
              <a:rPr sz="900" b="0" i="0">
                <a:solidFill>
                  <a:srgbClr val="414141"/>
                </a:solidFill>
                <a:latin typeface="Arial"/>
              </a:rPr>
              <a:t>parameter-free gate</a:t>
            </a:r>
          </a:p>
        </p:txBody>
      </p:sp>
      <p:cxnSp>
        <p:nvCxnSpPr>
          <p:cNvPr id="918" name="Connector 917"/>
          <p:cNvCxnSpPr/>
          <p:nvPr/>
        </p:nvCxnSpPr>
        <p:spPr>
          <a:xfrm>
            <a:off x="4606747" y="2240280"/>
            <a:ext cx="113385"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19" name="Rectangle 918"/>
          <p:cNvSpPr/>
          <p:nvPr/>
        </p:nvSpPr>
        <p:spPr>
          <a:xfrm>
            <a:off x="4756708" y="1783080"/>
            <a:ext cx="1170432"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TextBox 919"/>
          <p:cNvSpPr txBox="1"/>
          <p:nvPr/>
        </p:nvSpPr>
        <p:spPr>
          <a:xfrm>
            <a:off x="4793284" y="1783080"/>
            <a:ext cx="1097280" cy="91440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Spatial pooling</a:t>
            </a:r>
          </a:p>
          <a:p>
            <a:pPr algn="ctr" marL="0" indent="0">
              <a:spcBef>
                <a:spcPts val="0"/>
              </a:spcBef>
              <a:spcAft>
                <a:spcPts val="0"/>
              </a:spcAft>
              <a:buNone/>
            </a:pPr>
            <a:r>
              <a:rPr sz="900" b="0" i="0">
                <a:solidFill>
                  <a:srgbClr val="414141"/>
                </a:solidFill>
                <a:latin typeface="Arial"/>
              </a:rPr>
              <a:t>sequence of 32 × 96</a:t>
            </a:r>
          </a:p>
        </p:txBody>
      </p:sp>
      <p:cxnSp>
        <p:nvCxnSpPr>
          <p:cNvPr id="921" name="Connector 920"/>
          <p:cNvCxnSpPr/>
          <p:nvPr/>
        </p:nvCxnSpPr>
        <p:spPr>
          <a:xfrm>
            <a:off x="5963716" y="2240280"/>
            <a:ext cx="113386"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22" name="Rectangle 921"/>
          <p:cNvSpPr/>
          <p:nvPr/>
        </p:nvSpPr>
        <p:spPr>
          <a:xfrm>
            <a:off x="6113678" y="1783080"/>
            <a:ext cx="1170432" cy="914400"/>
          </a:xfrm>
          <a:prstGeom prst="rect">
            <a:avLst/>
          </a:prstGeom>
          <a:solidFill>
            <a:srgbClr val="F2F2F2"/>
          </a:solidFill>
          <a:ln w="19050">
            <a:solidFill>
              <a:srgbClr val="D2007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TextBox 922"/>
          <p:cNvSpPr txBox="1"/>
          <p:nvPr/>
        </p:nvSpPr>
        <p:spPr>
          <a:xfrm>
            <a:off x="6150254" y="1783080"/>
            <a:ext cx="1097280" cy="91440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Transformer</a:t>
            </a:r>
          </a:p>
          <a:p>
            <a:pPr algn="ctr" marL="0" indent="0">
              <a:spcBef>
                <a:spcPts val="0"/>
              </a:spcBef>
              <a:spcAft>
                <a:spcPts val="0"/>
              </a:spcAft>
              <a:buNone/>
            </a:pPr>
            <a:r>
              <a:rPr sz="900" b="0" i="0">
                <a:solidFill>
                  <a:srgbClr val="414141"/>
                </a:solidFill>
                <a:latin typeface="Arial"/>
              </a:rPr>
              <a:t>4 layers, 8 heads</a:t>
            </a:r>
          </a:p>
        </p:txBody>
      </p:sp>
      <p:cxnSp>
        <p:nvCxnSpPr>
          <p:cNvPr id="924" name="Connector 923"/>
          <p:cNvCxnSpPr/>
          <p:nvPr/>
        </p:nvCxnSpPr>
        <p:spPr>
          <a:xfrm>
            <a:off x="7320686" y="2240280"/>
            <a:ext cx="113386" cy="0"/>
          </a:xfrm>
          <a:prstGeom prst="line">
            <a:avLst/>
          </a:prstGeom>
          <a:ln w="15875">
            <a:solidFill>
              <a:srgbClr val="8C8C8C"/>
            </a:solidFill>
            <a:tailEnd type="triangle"/>
          </a:ln>
        </p:spPr>
        <p:style>
          <a:lnRef idx="2">
            <a:schemeClr val="accent1"/>
          </a:lnRef>
          <a:fillRef idx="0">
            <a:schemeClr val="accent1"/>
          </a:fillRef>
          <a:effectRef idx="1">
            <a:schemeClr val="accent1"/>
          </a:effectRef>
          <a:fontRef idx="minor">
            <a:schemeClr val="tx1"/>
          </a:fontRef>
        </p:style>
      </p:cxnSp>
      <p:sp>
        <p:nvSpPr>
          <p:cNvPr id="925" name="Rectangle 924"/>
          <p:cNvSpPr/>
          <p:nvPr/>
        </p:nvSpPr>
        <p:spPr>
          <a:xfrm>
            <a:off x="7470648" y="1783080"/>
            <a:ext cx="1170432"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TextBox 925"/>
          <p:cNvSpPr txBox="1"/>
          <p:nvPr/>
        </p:nvSpPr>
        <p:spPr>
          <a:xfrm>
            <a:off x="7507223" y="1783080"/>
            <a:ext cx="1097280" cy="914400"/>
          </a:xfrm>
          <a:prstGeom prst="rect">
            <a:avLst/>
          </a:prstGeom>
          <a:noFill/>
        </p:spPr>
        <p:txBody>
          <a:bodyPr wrap="square" lIns="18288" rIns="18288" tIns="27432" bIns="27432" anchor="ctr"/>
          <a:lstStyle/>
          <a:p>
            <a:pPr algn="ctr" marL="0" indent="0">
              <a:spcBef>
                <a:spcPts val="0"/>
              </a:spcBef>
              <a:spcAft>
                <a:spcPts val="200"/>
              </a:spcAft>
              <a:buNone/>
            </a:pPr>
            <a:r>
              <a:rPr sz="1000" b="1" i="0">
                <a:solidFill>
                  <a:srgbClr val="004CA0"/>
                </a:solidFill>
                <a:latin typeface="Arial"/>
              </a:rPr>
              <a:t>Classifier head</a:t>
            </a:r>
          </a:p>
          <a:p>
            <a:pPr algn="ctr" marL="0" indent="0">
              <a:spcBef>
                <a:spcPts val="0"/>
              </a:spcBef>
              <a:spcAft>
                <a:spcPts val="0"/>
              </a:spcAft>
              <a:buNone/>
            </a:pPr>
            <a:r>
              <a:rPr sz="900" b="0" i="0">
                <a:solidFill>
                  <a:srgbClr val="414141"/>
                </a:solidFill>
                <a:latin typeface="Arial"/>
              </a:rPr>
              <a:t>three class logits</a:t>
            </a:r>
          </a:p>
        </p:txBody>
      </p:sp>
      <p:sp>
        <p:nvSpPr>
          <p:cNvPr id="927" name="TextBox 926"/>
          <p:cNvSpPr txBox="1"/>
          <p:nvPr/>
        </p:nvSpPr>
        <p:spPr>
          <a:xfrm>
            <a:off x="685800" y="2743200"/>
            <a:ext cx="7955279" cy="274320"/>
          </a:xfrm>
          <a:prstGeom prst="rect">
            <a:avLst/>
          </a:prstGeom>
          <a:noFill/>
        </p:spPr>
        <p:txBody>
          <a:bodyPr wrap="square" lIns="45720" rIns="45720" tIns="27432" bIns="27432" anchor="t"/>
          <a:lstStyle/>
          <a:p>
            <a:pPr algn="l" marL="0" indent="0">
              <a:spcBef>
                <a:spcPts val="0"/>
              </a:spcBef>
              <a:spcAft>
                <a:spcPts val="300"/>
              </a:spcAft>
              <a:buNone/>
            </a:pPr>
            <a:r>
              <a:rPr sz="900" b="0" i="1">
                <a:solidFill>
                  <a:srgbClr val="D2007E"/>
                </a:solidFill>
                <a:latin typeface="Arial"/>
              </a:rPr>
              <a:t>Dashed boxes: ablated components. Each is replaced by a defined operation when disabled.</a:t>
            </a:r>
          </a:p>
        </p:txBody>
      </p:sp>
      <p:graphicFrame>
        <p:nvGraphicFramePr>
          <p:cNvPr id="928" name="Table 927"/>
          <p:cNvGraphicFramePr>
            <a:graphicFrameLocks noGrp="1"/>
          </p:cNvGraphicFramePr>
          <p:nvPr/>
        </p:nvGraphicFramePr>
        <p:xfrm>
          <a:off x="685800" y="3154680"/>
          <a:ext cx="3840480" cy="1755648"/>
        </p:xfrm>
        <a:graphic>
          <a:graphicData uri="http://schemas.openxmlformats.org/drawingml/2006/table">
            <a:tbl>
              <a:tblPr firstRow="0" bandRow="0">
                <a:tableStyleId>{2D5ABB26-0587-4C30-8999-92F81FD0307C}</a:tableStyleId>
              </a:tblPr>
              <a:tblGrid>
                <a:gridCol w="2743200"/>
                <a:gridCol w="1097280"/>
              </a:tblGrid>
              <a:tr h="292608">
                <a:tc>
                  <a:txBody>
                    <a:bodyPr wrap="square"/>
                    <a:lstStyle/>
                    <a:p>
                      <a:pPr algn="l" marL="0" indent="0">
                        <a:spcBef>
                          <a:spcPts val="0"/>
                        </a:spcBef>
                        <a:spcAft>
                          <a:spcPts val="0"/>
                        </a:spcAft>
                        <a:buNone/>
                      </a:pPr>
                      <a:r>
                        <a:rPr sz="1050" b="1" i="0">
                          <a:solidFill>
                            <a:srgbClr val="FFFFFF"/>
                          </a:solidFill>
                          <a:latin typeface="Arial"/>
                        </a:rPr>
                        <a:t>Component</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r" marL="0" indent="0">
                        <a:spcBef>
                          <a:spcPts val="0"/>
                        </a:spcBef>
                        <a:spcAft>
                          <a:spcPts val="0"/>
                        </a:spcAft>
                        <a:buNone/>
                      </a:pPr>
                      <a:r>
                        <a:rPr sz="1050" b="1" i="0">
                          <a:solidFill>
                            <a:srgbClr val="FFFFFF"/>
                          </a:solidFill>
                          <a:latin typeface="Arial"/>
                        </a:rPr>
                        <a:t>Parameters</a:t>
                      </a:r>
                    </a:p>
                  </a:txBody>
                  <a:tcPr marL="54864" marR="54864" marT="18288" marB="18288" anchor="ctr">
                    <a:lnL w="9525">
                      <a:noFill/>
                    </a:lnL>
                    <a:lnR w="9525">
                      <a:noFill/>
                    </a:lnR>
                    <a:lnT w="9525">
                      <a:noFill/>
                    </a:lnT>
                    <a:lnB w="9525">
                      <a:solidFill>
                        <a:srgbClr val="D9D9D9"/>
                      </a:solidFill>
                    </a:lnB>
                    <a:solidFill>
                      <a:srgbClr val="004CA0"/>
                    </a:solidFill>
                  </a:tcPr>
                </a:tc>
              </a:tr>
              <a:tr h="292608">
                <a:tc>
                  <a:txBody>
                    <a:bodyPr wrap="square"/>
                    <a:lstStyle/>
                    <a:p>
                      <a:pPr algn="l" marL="0" indent="0">
                        <a:spcBef>
                          <a:spcPts val="0"/>
                        </a:spcBef>
                        <a:spcAft>
                          <a:spcPts val="0"/>
                        </a:spcAft>
                        <a:buNone/>
                      </a:pPr>
                      <a:r>
                        <a:rPr sz="1050" b="0" i="0">
                          <a:solidFill>
                            <a:srgbClr val="414141"/>
                          </a:solidFill>
                          <a:latin typeface="Arial"/>
                        </a:rPr>
                        <a:t>Convolutional stem (3 streams)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r" marL="0" indent="0">
                        <a:spcBef>
                          <a:spcPts val="0"/>
                        </a:spcBef>
                        <a:spcAft>
                          <a:spcPts val="0"/>
                        </a:spcAft>
                        <a:buNone/>
                      </a:pPr>
                      <a:r>
                        <a:rPr sz="1050" b="0" i="0">
                          <a:solidFill>
                            <a:srgbClr val="414141"/>
                          </a:solidFill>
                          <a:latin typeface="Arial"/>
                        </a:rPr>
                        <a:t>14,544</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l" marL="0" indent="0">
                        <a:spcBef>
                          <a:spcPts val="0"/>
                        </a:spcBef>
                        <a:spcAft>
                          <a:spcPts val="0"/>
                        </a:spcAft>
                        <a:buNone/>
                      </a:pPr>
                      <a:r>
                        <a:rPr sz="1050" b="0" i="0">
                          <a:solidFill>
                            <a:srgbClr val="414141"/>
                          </a:solidFill>
                          <a:latin typeface="Arial"/>
                        </a:rPr>
                        <a:t>Temporal transformer</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r" marL="0" indent="0">
                        <a:spcBef>
                          <a:spcPts val="0"/>
                        </a:spcBef>
                        <a:spcAft>
                          <a:spcPts val="0"/>
                        </a:spcAft>
                        <a:buNone/>
                      </a:pPr>
                      <a:r>
                        <a:rPr sz="1050" b="0" i="0">
                          <a:solidFill>
                            <a:srgbClr val="414141"/>
                          </a:solidFill>
                          <a:latin typeface="Arial"/>
                        </a:rPr>
                        <a:t>348,736</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l" marL="0" indent="0">
                        <a:spcBef>
                          <a:spcPts val="0"/>
                        </a:spcBef>
                        <a:spcAft>
                          <a:spcPts val="0"/>
                        </a:spcAft>
                        <a:buNone/>
                      </a:pPr>
                      <a:r>
                        <a:rPr sz="1050" b="0" i="0">
                          <a:solidFill>
                            <a:srgbClr val="414141"/>
                          </a:solidFill>
                          <a:latin typeface="Arial"/>
                        </a:rPr>
                        <a:t>Replacement projection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r" marL="0" indent="0">
                        <a:spcBef>
                          <a:spcPts val="0"/>
                        </a:spcBef>
                        <a:spcAft>
                          <a:spcPts val="0"/>
                        </a:spcAft>
                        <a:buNone/>
                      </a:pPr>
                      <a:r>
                        <a:rPr sz="1050" b="0" i="0">
                          <a:solidFill>
                            <a:srgbClr val="414141"/>
                          </a:solidFill>
                          <a:latin typeface="Arial"/>
                        </a:rPr>
                        <a:t>4,704</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l" marL="0" indent="0">
                        <a:spcBef>
                          <a:spcPts val="0"/>
                        </a:spcBef>
                        <a:spcAft>
                          <a:spcPts val="0"/>
                        </a:spcAft>
                        <a:buNone/>
                      </a:pPr>
                      <a:r>
                        <a:rPr sz="1050" b="0" i="0">
                          <a:solidFill>
                            <a:srgbClr val="414141"/>
                          </a:solidFill>
                          <a:latin typeface="Arial"/>
                        </a:rPr>
                        <a:t>Classifier head</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r" marL="0" indent="0">
                        <a:spcBef>
                          <a:spcPts val="0"/>
                        </a:spcBef>
                        <a:spcAft>
                          <a:spcPts val="0"/>
                        </a:spcAft>
                        <a:buNone/>
                      </a:pPr>
                      <a:r>
                        <a:rPr sz="1050" b="0" i="0">
                          <a:solidFill>
                            <a:srgbClr val="414141"/>
                          </a:solidFill>
                          <a:latin typeface="Arial"/>
                        </a:rPr>
                        <a:t>483</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l" marL="0" indent="0">
                        <a:spcBef>
                          <a:spcPts val="0"/>
                        </a:spcBef>
                        <a:spcAft>
                          <a:spcPts val="0"/>
                        </a:spcAft>
                        <a:buNone/>
                      </a:pPr>
                      <a:r>
                        <a:rPr sz="1050" b="0" i="0">
                          <a:solidFill>
                            <a:srgbClr val="414141"/>
                          </a:solidFill>
                          <a:latin typeface="Arial"/>
                        </a:rPr>
                        <a:t>SimAM, magnification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r" marL="0" indent="0">
                        <a:spcBef>
                          <a:spcPts val="0"/>
                        </a:spcBef>
                        <a:spcAft>
                          <a:spcPts val="0"/>
                        </a:spcAft>
                        <a:buNone/>
                      </a:pPr>
                      <a:r>
                        <a:rPr sz="1050" b="0" i="0">
                          <a:solidFill>
                            <a:srgbClr val="414141"/>
                          </a:solidFill>
                          <a:latin typeface="Arial"/>
                        </a:rPr>
                        <a:t>0</a:t>
                      </a:r>
                    </a:p>
                  </a:txBody>
                  <a:tcPr marL="54864" marR="54864" marT="18288" marB="18288" anchor="ctr">
                    <a:lnL w="9525">
                      <a:noFill/>
                    </a:lnL>
                    <a:lnR w="9525">
                      <a:noFill/>
                    </a:lnR>
                    <a:lnT w="9525">
                      <a:noFill/>
                    </a:lnT>
                    <a:lnB w="9525">
                      <a:solidFill>
                        <a:srgbClr val="D9D9D9"/>
                      </a:solidFill>
                    </a:lnB>
                    <a:solidFill>
                      <a:srgbClr val="FFFFFF"/>
                    </a:solidFill>
                  </a:tcPr>
                </a:tc>
              </a:tr>
            </a:tbl>
          </a:graphicData>
        </a:graphic>
      </p:graphicFrame>
      <p:graphicFrame>
        <p:nvGraphicFramePr>
          <p:cNvPr id="929" name="Table 928"/>
          <p:cNvGraphicFramePr>
            <a:graphicFrameLocks noGrp="1"/>
          </p:cNvGraphicFramePr>
          <p:nvPr/>
        </p:nvGraphicFramePr>
        <p:xfrm>
          <a:off x="4800600" y="3154680"/>
          <a:ext cx="3840480" cy="1463040"/>
        </p:xfrm>
        <a:graphic>
          <a:graphicData uri="http://schemas.openxmlformats.org/drawingml/2006/table">
            <a:tbl>
              <a:tblPr firstRow="0" bandRow="0">
                <a:tableStyleId>{2D5ABB26-0587-4C30-8999-92F81FD0307C}</a:tableStyleId>
              </a:tblPr>
              <a:tblGrid>
                <a:gridCol w="2651760"/>
                <a:gridCol w="1188720"/>
              </a:tblGrid>
              <a:tr h="292608">
                <a:tc>
                  <a:txBody>
                    <a:bodyPr wrap="square"/>
                    <a:lstStyle/>
                    <a:p>
                      <a:pPr algn="l" marL="0" indent="0">
                        <a:spcBef>
                          <a:spcPts val="0"/>
                        </a:spcBef>
                        <a:spcAft>
                          <a:spcPts val="0"/>
                        </a:spcAft>
                        <a:buNone/>
                      </a:pPr>
                      <a:r>
                        <a:rPr sz="1050" b="1" i="0">
                          <a:solidFill>
                            <a:srgbClr val="FFFFFF"/>
                          </a:solidFill>
                          <a:latin typeface="Arial"/>
                        </a:rPr>
                        <a:t>Combination</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r" marL="0" indent="0">
                        <a:spcBef>
                          <a:spcPts val="0"/>
                        </a:spcBef>
                        <a:spcAft>
                          <a:spcPts val="0"/>
                        </a:spcAft>
                        <a:buNone/>
                      </a:pPr>
                      <a:r>
                        <a:rPr sz="1050" b="1" i="0">
                          <a:solidFill>
                            <a:srgbClr val="FFFFFF"/>
                          </a:solidFill>
                          <a:latin typeface="Arial"/>
                        </a:rPr>
                        <a:t>Total</a:t>
                      </a:r>
                    </a:p>
                  </a:txBody>
                  <a:tcPr marL="54864" marR="54864" marT="18288" marB="18288" anchor="ctr">
                    <a:lnL w="9525">
                      <a:noFill/>
                    </a:lnL>
                    <a:lnR w="9525">
                      <a:noFill/>
                    </a:lnR>
                    <a:lnT w="9525">
                      <a:noFill/>
                    </a:lnT>
                    <a:lnB w="9525">
                      <a:solidFill>
                        <a:srgbClr val="D9D9D9"/>
                      </a:solidFill>
                    </a:lnB>
                    <a:solidFill>
                      <a:srgbClr val="004CA0"/>
                    </a:solidFill>
                  </a:tcPr>
                </a:tc>
              </a:tr>
              <a:tr h="292608">
                <a:tc>
                  <a:txBody>
                    <a:bodyPr wrap="square"/>
                    <a:lstStyle/>
                    <a:p>
                      <a:pPr algn="l" marL="0" indent="0">
                        <a:spcBef>
                          <a:spcPts val="0"/>
                        </a:spcBef>
                        <a:spcAft>
                          <a:spcPts val="0"/>
                        </a:spcAft>
                        <a:buNone/>
                      </a:pPr>
                      <a:r>
                        <a:rPr sz="1050" b="0" i="0">
                          <a:solidFill>
                            <a:srgbClr val="414141"/>
                          </a:solidFill>
                          <a:latin typeface="Arial"/>
                        </a:rPr>
                        <a:t>No stem, no transformer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r" marL="0" indent="0">
                        <a:spcBef>
                          <a:spcPts val="0"/>
                        </a:spcBef>
                        <a:spcAft>
                          <a:spcPts val="0"/>
                        </a:spcAft>
                        <a:buNone/>
                      </a:pPr>
                      <a:r>
                        <a:rPr sz="1050" b="0" i="0">
                          <a:solidFill>
                            <a:srgbClr val="414141"/>
                          </a:solidFill>
                          <a:latin typeface="Arial"/>
                        </a:rPr>
                        <a:t>5,187</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l" marL="0" indent="0">
                        <a:spcBef>
                          <a:spcPts val="0"/>
                        </a:spcBef>
                        <a:spcAft>
                          <a:spcPts val="0"/>
                        </a:spcAft>
                        <a:buNone/>
                      </a:pPr>
                      <a:r>
                        <a:rPr sz="1050" b="0" i="0">
                          <a:solidFill>
                            <a:srgbClr val="414141"/>
                          </a:solidFill>
                          <a:latin typeface="Arial"/>
                        </a:rPr>
                        <a:t>Stem only</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r" marL="0" indent="0">
                        <a:spcBef>
                          <a:spcPts val="0"/>
                        </a:spcBef>
                        <a:spcAft>
                          <a:spcPts val="0"/>
                        </a:spcAft>
                        <a:buNone/>
                      </a:pPr>
                      <a:r>
                        <a:rPr sz="1050" b="0" i="0">
                          <a:solidFill>
                            <a:srgbClr val="414141"/>
                          </a:solidFill>
                          <a:latin typeface="Arial"/>
                        </a:rPr>
                        <a:t>15,027</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l" marL="0" indent="0">
                        <a:spcBef>
                          <a:spcPts val="0"/>
                        </a:spcBef>
                        <a:spcAft>
                          <a:spcPts val="0"/>
                        </a:spcAft>
                        <a:buNone/>
                      </a:pPr>
                      <a:r>
                        <a:rPr sz="1050" b="0" i="0">
                          <a:solidFill>
                            <a:srgbClr val="414141"/>
                          </a:solidFill>
                          <a:latin typeface="Arial"/>
                        </a:rPr>
                        <a:t>Transformer only</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r" marL="0" indent="0">
                        <a:spcBef>
                          <a:spcPts val="0"/>
                        </a:spcBef>
                        <a:spcAft>
                          <a:spcPts val="0"/>
                        </a:spcAft>
                        <a:buNone/>
                      </a:pPr>
                      <a:r>
                        <a:rPr sz="1050" b="1" i="0">
                          <a:solidFill>
                            <a:srgbClr val="414141"/>
                          </a:solidFill>
                          <a:latin typeface="Arial"/>
                        </a:rPr>
                        <a:t>353,923</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l" marL="0" indent="0">
                        <a:spcBef>
                          <a:spcPts val="0"/>
                        </a:spcBef>
                        <a:spcAft>
                          <a:spcPts val="0"/>
                        </a:spcAft>
                        <a:buNone/>
                      </a:pPr>
                      <a:r>
                        <a:rPr sz="1050" b="0" i="0">
                          <a:solidFill>
                            <a:srgbClr val="414141"/>
                          </a:solidFill>
                          <a:latin typeface="Arial"/>
                        </a:rPr>
                        <a:t>Stem and transformer</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r" marL="0" indent="0">
                        <a:spcBef>
                          <a:spcPts val="0"/>
                        </a:spcBef>
                        <a:spcAft>
                          <a:spcPts val="0"/>
                        </a:spcAft>
                        <a:buNone/>
                      </a:pPr>
                      <a:r>
                        <a:rPr sz="1050" b="0" i="0">
                          <a:solidFill>
                            <a:srgbClr val="414141"/>
                          </a:solidFill>
                          <a:latin typeface="Arial"/>
                        </a:rPr>
                        <a:t>363,763</a:t>
                      </a:r>
                    </a:p>
                  </a:txBody>
                  <a:tcPr marL="54864" marR="54864" marT="18288" marB="18288" anchor="ctr">
                    <a:lnL w="9525">
                      <a:noFill/>
                    </a:lnL>
                    <a:lnR w="9525">
                      <a:noFill/>
                    </a:lnR>
                    <a:lnT w="9525">
                      <a:noFill/>
                    </a:lnT>
                    <a:lnB w="9525">
                      <a:solidFill>
                        <a:srgbClr val="D9D9D9"/>
                      </a:solidFill>
                    </a:lnB>
                    <a:solidFill>
                      <a:srgbClr val="F2F2F2"/>
                    </a:solidFill>
                  </a:tcPr>
                </a:tc>
              </a:tr>
            </a:tbl>
          </a:graphicData>
        </a:graphic>
      </p:graphicFrame>
      <p:sp>
        <p:nvSpPr>
          <p:cNvPr id="930" name="TextBox 929"/>
          <p:cNvSpPr txBox="1"/>
          <p:nvPr/>
        </p:nvSpPr>
        <p:spPr>
          <a:xfrm>
            <a:off x="4800600" y="4754880"/>
            <a:ext cx="3840480" cy="1005840"/>
          </a:xfrm>
          <a:prstGeom prst="rect">
            <a:avLst/>
          </a:prstGeom>
          <a:noFill/>
        </p:spPr>
        <p:txBody>
          <a:bodyPr wrap="square" lIns="45720" rIns="45720" tIns="27432" bIns="27432" anchor="t"/>
          <a:lstStyle/>
          <a:p>
            <a:pPr algn="l" marL="0" indent="0">
              <a:spcBef>
                <a:spcPts val="0"/>
              </a:spcBef>
              <a:spcAft>
                <a:spcPts val="300"/>
              </a:spcAft>
              <a:buNone/>
            </a:pPr>
            <a:r>
              <a:rPr sz="1050" b="0" i="0">
                <a:solidFill>
                  <a:srgbClr val="414141"/>
                </a:solidFill>
                <a:latin typeface="Arial"/>
              </a:rPr>
              <a:t>The transformer holds about 96 % of the parameters of the complete model. All configurations share the same implementation, initialisation and layer order.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FACTORIAL DESIGN: 12 CONFIGURATIONS, 20 MATCHED PAIRS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02 · METHOD</a:t>
            </a:r>
          </a:p>
        </p:txBody>
      </p:sp>
      <p:sp>
        <p:nvSpPr>
          <p:cNvPr id="910"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10</a:t>
            </a:fld>
          </a:p>
        </p:txBody>
      </p:sp>
      <p:graphicFrame>
        <p:nvGraphicFramePr>
          <p:cNvPr id="911" name="Table 910"/>
          <p:cNvGraphicFramePr>
            <a:graphicFrameLocks noGrp="1"/>
          </p:cNvGraphicFramePr>
          <p:nvPr/>
        </p:nvGraphicFramePr>
        <p:xfrm>
          <a:off x="685800" y="1783080"/>
          <a:ext cx="3291840" cy="3566160"/>
        </p:xfrm>
        <a:graphic>
          <a:graphicData uri="http://schemas.openxmlformats.org/drawingml/2006/table">
            <a:tbl>
              <a:tblPr firstRow="0" bandRow="0">
                <a:tableStyleId>{2D5ABB26-0587-4C30-8999-92F81FD0307C}</a:tableStyleId>
              </a:tblPr>
              <a:tblGrid>
                <a:gridCol w="731520"/>
                <a:gridCol w="640080"/>
                <a:gridCol w="640080"/>
                <a:gridCol w="640080"/>
                <a:gridCol w="640080"/>
              </a:tblGrid>
              <a:tr h="274320">
                <a:tc>
                  <a:txBody>
                    <a:bodyPr wrap="square"/>
                    <a:lstStyle/>
                    <a:p>
                      <a:pPr algn="ctr" marL="0" indent="0">
                        <a:spcBef>
                          <a:spcPts val="0"/>
                        </a:spcBef>
                        <a:spcAft>
                          <a:spcPts val="0"/>
                        </a:spcAft>
                        <a:buNone/>
                      </a:pPr>
                      <a:r>
                        <a:rPr sz="1000" b="1" i="0">
                          <a:solidFill>
                            <a:srgbClr val="FFFFFF"/>
                          </a:solidFill>
                          <a:latin typeface="Arial"/>
                        </a:rPr>
                        <a:t>Config.</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EVM</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SimAM</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CNN</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TF</a:t>
                      </a:r>
                    </a:p>
                  </a:txBody>
                  <a:tcPr marL="54864" marR="54864" marT="18288" marB="18288" anchor="ctr">
                    <a:lnL w="9525">
                      <a:noFill/>
                    </a:lnL>
                    <a:lnR w="9525">
                      <a:noFill/>
                    </a:lnR>
                    <a:lnT w="9525">
                      <a:noFill/>
                    </a:lnT>
                    <a:lnB w="9525">
                      <a:solidFill>
                        <a:srgbClr val="D9D9D9"/>
                      </a:solidFill>
                    </a:lnB>
                    <a:solidFill>
                      <a:srgbClr val="004CA0"/>
                    </a:solidFill>
                  </a:tcPr>
                </a:tc>
              </a:tr>
              <a:tr h="274320">
                <a:tc>
                  <a:txBody>
                    <a:bodyPr wrap="square"/>
                    <a:lstStyle/>
                    <a:p>
                      <a:pPr algn="ctr" marL="0" indent="0">
                        <a:spcBef>
                          <a:spcPts val="0"/>
                        </a:spcBef>
                        <a:spcAft>
                          <a:spcPts val="0"/>
                        </a:spcAft>
                        <a:buNone/>
                      </a:pPr>
                      <a:r>
                        <a:rPr sz="1000" b="1" i="0">
                          <a:solidFill>
                            <a:srgbClr val="414141"/>
                          </a:solidFill>
                          <a:latin typeface="Arial"/>
                        </a:rPr>
                        <a:t>C1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r>
              <a:tr h="274320">
                <a:tc>
                  <a:txBody>
                    <a:bodyPr wrap="square"/>
                    <a:lstStyle/>
                    <a:p>
                      <a:pPr algn="ctr" marL="0" indent="0">
                        <a:spcBef>
                          <a:spcPts val="0"/>
                        </a:spcBef>
                        <a:spcAft>
                          <a:spcPts val="0"/>
                        </a:spcAft>
                        <a:buNone/>
                      </a:pPr>
                      <a:r>
                        <a:rPr sz="1000" b="1" i="0">
                          <a:solidFill>
                            <a:srgbClr val="414141"/>
                          </a:solidFill>
                          <a:latin typeface="Arial"/>
                        </a:rPr>
                        <a:t>C2</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r>
              <a:tr h="274320">
                <a:tc>
                  <a:txBody>
                    <a:bodyPr wrap="square"/>
                    <a:lstStyle/>
                    <a:p>
                      <a:pPr algn="ctr" marL="0" indent="0">
                        <a:spcBef>
                          <a:spcPts val="0"/>
                        </a:spcBef>
                        <a:spcAft>
                          <a:spcPts val="0"/>
                        </a:spcAft>
                        <a:buNone/>
                      </a:pPr>
                      <a:r>
                        <a:rPr sz="1000" b="1" i="0">
                          <a:solidFill>
                            <a:srgbClr val="414141"/>
                          </a:solidFill>
                          <a:latin typeface="Arial"/>
                        </a:rPr>
                        <a:t>C3</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r>
              <a:tr h="274320">
                <a:tc>
                  <a:txBody>
                    <a:bodyPr wrap="square"/>
                    <a:lstStyle/>
                    <a:p>
                      <a:pPr algn="ctr" marL="0" indent="0">
                        <a:spcBef>
                          <a:spcPts val="0"/>
                        </a:spcBef>
                        <a:spcAft>
                          <a:spcPts val="0"/>
                        </a:spcAft>
                        <a:buNone/>
                      </a:pPr>
                      <a:r>
                        <a:rPr sz="1000" b="1" i="0">
                          <a:solidFill>
                            <a:srgbClr val="414141"/>
                          </a:solidFill>
                          <a:latin typeface="Arial"/>
                        </a:rPr>
                        <a:t>C4</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r>
              <a:tr h="274320">
                <a:tc>
                  <a:txBody>
                    <a:bodyPr wrap="square"/>
                    <a:lstStyle/>
                    <a:p>
                      <a:pPr algn="ctr" marL="0" indent="0">
                        <a:spcBef>
                          <a:spcPts val="0"/>
                        </a:spcBef>
                        <a:spcAft>
                          <a:spcPts val="0"/>
                        </a:spcAft>
                        <a:buNone/>
                      </a:pPr>
                      <a:r>
                        <a:rPr sz="1000" b="1" i="0">
                          <a:solidFill>
                            <a:srgbClr val="414141"/>
                          </a:solidFill>
                          <a:latin typeface="Arial"/>
                        </a:rPr>
                        <a:t>C5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r>
              <a:tr h="274320">
                <a:tc>
                  <a:txBody>
                    <a:bodyPr wrap="square"/>
                    <a:lstStyle/>
                    <a:p>
                      <a:pPr algn="ctr" marL="0" indent="0">
                        <a:spcBef>
                          <a:spcPts val="0"/>
                        </a:spcBef>
                        <a:spcAft>
                          <a:spcPts val="0"/>
                        </a:spcAft>
                        <a:buNone/>
                      </a:pPr>
                      <a:r>
                        <a:rPr sz="1000" b="1" i="0">
                          <a:solidFill>
                            <a:srgbClr val="414141"/>
                          </a:solidFill>
                          <a:latin typeface="Arial"/>
                        </a:rPr>
                        <a:t>C6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r>
              <a:tr h="274320">
                <a:tc>
                  <a:txBody>
                    <a:bodyPr wrap="square"/>
                    <a:lstStyle/>
                    <a:p>
                      <a:pPr algn="ctr" marL="0" indent="0">
                        <a:spcBef>
                          <a:spcPts val="0"/>
                        </a:spcBef>
                        <a:spcAft>
                          <a:spcPts val="0"/>
                        </a:spcAft>
                        <a:buNone/>
                      </a:pPr>
                      <a:r>
                        <a:rPr sz="1000" b="1" i="0">
                          <a:solidFill>
                            <a:srgbClr val="414141"/>
                          </a:solidFill>
                          <a:latin typeface="Arial"/>
                        </a:rPr>
                        <a:t>C7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r>
              <a:tr h="274320">
                <a:tc>
                  <a:txBody>
                    <a:bodyPr wrap="square"/>
                    <a:lstStyle/>
                    <a:p>
                      <a:pPr algn="ctr" marL="0" indent="0">
                        <a:spcBef>
                          <a:spcPts val="0"/>
                        </a:spcBef>
                        <a:spcAft>
                          <a:spcPts val="0"/>
                        </a:spcAft>
                        <a:buNone/>
                      </a:pPr>
                      <a:r>
                        <a:rPr sz="1000" b="1" i="0">
                          <a:solidFill>
                            <a:srgbClr val="414141"/>
                          </a:solidFill>
                          <a:latin typeface="Arial"/>
                        </a:rPr>
                        <a:t>C8</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r>
              <a:tr h="274320">
                <a:tc>
                  <a:txBody>
                    <a:bodyPr wrap="square"/>
                    <a:lstStyle/>
                    <a:p>
                      <a:pPr algn="ctr" marL="0" indent="0">
                        <a:spcBef>
                          <a:spcPts val="0"/>
                        </a:spcBef>
                        <a:spcAft>
                          <a:spcPts val="0"/>
                        </a:spcAft>
                        <a:buNone/>
                      </a:pPr>
                      <a:r>
                        <a:rPr sz="1000" b="1" i="0">
                          <a:solidFill>
                            <a:srgbClr val="414141"/>
                          </a:solidFill>
                          <a:latin typeface="Arial"/>
                        </a:rPr>
                        <a:t>C9</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r>
              <a:tr h="274320">
                <a:tc>
                  <a:txBody>
                    <a:bodyPr wrap="square"/>
                    <a:lstStyle/>
                    <a:p>
                      <a:pPr algn="ctr" marL="0" indent="0">
                        <a:spcBef>
                          <a:spcPts val="0"/>
                        </a:spcBef>
                        <a:spcAft>
                          <a:spcPts val="0"/>
                        </a:spcAft>
                        <a:buNone/>
                      </a:pPr>
                      <a:r>
                        <a:rPr sz="1000" b="1" i="0">
                          <a:solidFill>
                            <a:srgbClr val="414141"/>
                          </a:solidFill>
                          <a:latin typeface="Arial"/>
                        </a:rPr>
                        <a:t>C12</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r>
              <a:tr h="274320">
                <a:tc>
                  <a:txBody>
                    <a:bodyPr wrap="square"/>
                    <a:lstStyle/>
                    <a:p>
                      <a:pPr algn="ctr" marL="0" indent="0">
                        <a:spcBef>
                          <a:spcPts val="0"/>
                        </a:spcBef>
                        <a:spcAft>
                          <a:spcPts val="0"/>
                        </a:spcAft>
                        <a:buNone/>
                      </a:pPr>
                      <a:r>
                        <a:rPr sz="1000" b="1" i="0">
                          <a:solidFill>
                            <a:srgbClr val="414141"/>
                          </a:solidFill>
                          <a:latin typeface="Arial"/>
                        </a:rPr>
                        <a:t>C13</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r>
              <a:tr h="274320">
                <a:tc>
                  <a:txBody>
                    <a:bodyPr wrap="square"/>
                    <a:lstStyle/>
                    <a:p>
                      <a:pPr algn="ctr" marL="0" indent="0">
                        <a:spcBef>
                          <a:spcPts val="0"/>
                        </a:spcBef>
                        <a:spcAft>
                          <a:spcPts val="0"/>
                        </a:spcAft>
                        <a:buNone/>
                      </a:pPr>
                      <a:r>
                        <a:rPr sz="1000" b="1" i="0">
                          <a:solidFill>
                            <a:srgbClr val="414141"/>
                          </a:solidFill>
                          <a:latin typeface="Arial"/>
                        </a:rPr>
                        <a:t>C16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r>
            </a:tbl>
          </a:graphicData>
        </a:graphic>
      </p:graphicFrame>
      <p:sp>
        <p:nvSpPr>
          <p:cNvPr id="912" name="TextBox 911"/>
          <p:cNvSpPr txBox="1"/>
          <p:nvPr/>
        </p:nvSpPr>
        <p:spPr>
          <a:xfrm>
            <a:off x="685800" y="5394960"/>
            <a:ext cx="3291840" cy="274320"/>
          </a:xfrm>
          <a:prstGeom prst="rect">
            <a:avLst/>
          </a:prstGeom>
          <a:noFill/>
        </p:spPr>
        <p:txBody>
          <a:bodyPr wrap="square" lIns="45720" rIns="45720" tIns="27432" bIns="27432" anchor="t"/>
          <a:lstStyle/>
          <a:p>
            <a:pPr algn="l" marL="0" indent="0">
              <a:spcBef>
                <a:spcPts val="0"/>
              </a:spcBef>
              <a:spcAft>
                <a:spcPts val="300"/>
              </a:spcAft>
              <a:buNone/>
            </a:pPr>
            <a:r>
              <a:rPr sz="850" b="0" i="1">
                <a:solidFill>
                  <a:srgbClr val="8C8C8C"/>
                </a:solidFill>
                <a:latin typeface="Arial"/>
              </a:rPr>
              <a:t>EVM: magnification; CNN: convolutional stem; TF: transformer</a:t>
            </a:r>
          </a:p>
        </p:txBody>
      </p:sp>
      <p:sp>
        <p:nvSpPr>
          <p:cNvPr id="913" name="TextBox 912"/>
          <p:cNvSpPr txBox="1"/>
          <p:nvPr/>
        </p:nvSpPr>
        <p:spPr>
          <a:xfrm>
            <a:off x="4206240" y="1783080"/>
            <a:ext cx="4434840" cy="1188720"/>
          </a:xfrm>
          <a:prstGeom prst="rect">
            <a:avLst/>
          </a:prstGeom>
          <a:noFill/>
        </p:spPr>
        <p:txBody>
          <a:bodyPr wrap="square" lIns="45720" rIns="45720" tIns="27432" bIns="27432" anchor="t"/>
          <a:lstStyle/>
          <a:p>
            <a:pPr algn="l" marL="155448" indent="-155448">
              <a:spcBef>
                <a:spcPts val="0"/>
              </a:spcBef>
              <a:spcAft>
                <a:spcPts val="500"/>
              </a:spcAft>
              <a:buClr>
                <a:srgbClr val="A8CC2F"/>
              </a:buClr>
              <a:buFont typeface="Arial"/>
              <a:buChar char="•"/>
            </a:pPr>
            <a:r>
              <a:rPr sz="1150" b="0" i="0">
                <a:solidFill>
                  <a:srgbClr val="414141"/>
                </a:solidFill>
                <a:latin typeface="Arial"/>
              </a:rPr>
              <a:t>Four binary components give 2</a:t>
            </a:r>
            <a:r>
              <a:rPr sz="1150" b="0" i="0" baseline="30000">
                <a:solidFill>
                  <a:srgbClr val="414141"/>
                </a:solidFill>
                <a:latin typeface="Arial"/>
              </a:rPr>
              <a:t>4</a:t>
            </a:r>
            <a:r>
              <a:rPr sz="1150" b="0" i="0">
                <a:solidFill>
                  <a:srgbClr val="414141"/>
                </a:solidFill>
                <a:latin typeface="Arial"/>
              </a:rPr>
              <a:t> = 16 combinations</a:t>
            </a:r>
          </a:p>
          <a:p>
            <a:pPr algn="l" marL="155448" indent="-155448">
              <a:spcBef>
                <a:spcPts val="0"/>
              </a:spcBef>
              <a:spcAft>
                <a:spcPts val="500"/>
              </a:spcAft>
              <a:buClr>
                <a:srgbClr val="A8CC2F"/>
              </a:buClr>
              <a:buFont typeface="Arial"/>
              <a:buChar char="•"/>
            </a:pPr>
            <a:r>
              <a:rPr sz="1150" b="0" i="0">
                <a:solidFill>
                  <a:srgbClr val="414141"/>
                </a:solidFill>
                <a:latin typeface="Arial"/>
              </a:rPr>
              <a:t>Four enable SimAM without the stem: ill-formed, so not trained</a:t>
            </a:r>
          </a:p>
          <a:p>
            <a:pPr algn="l" marL="155448" indent="-155448">
              <a:spcBef>
                <a:spcPts val="0"/>
              </a:spcBef>
              <a:spcAft>
                <a:spcPts val="500"/>
              </a:spcAft>
              <a:buClr>
                <a:srgbClr val="A8CC2F"/>
              </a:buClr>
              <a:buFont typeface="Arial"/>
              <a:buChar char="•"/>
            </a:pPr>
            <a:r>
              <a:rPr sz="1150" b="0" i="0">
                <a:solidFill>
                  <a:srgbClr val="414141"/>
                </a:solidFill>
                <a:latin typeface="Arial"/>
              </a:rPr>
              <a:t>Each of the 12 valid configurations is trained from scratch</a:t>
            </a:r>
          </a:p>
        </p:txBody>
      </p:sp>
      <p:sp>
        <p:nvSpPr>
          <p:cNvPr id="914" name="Rectangle 913"/>
          <p:cNvSpPr/>
          <p:nvPr/>
        </p:nvSpPr>
        <p:spPr>
          <a:xfrm>
            <a:off x="4206240" y="3017520"/>
            <a:ext cx="4434840" cy="123444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TextBox 914"/>
          <p:cNvSpPr txBox="1"/>
          <p:nvPr/>
        </p:nvSpPr>
        <p:spPr>
          <a:xfrm>
            <a:off x="4343400" y="3072384"/>
            <a:ext cx="4160520" cy="1124712"/>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A8CC2F"/>
                </a:solidFill>
                <a:latin typeface="Arial"/>
              </a:rPr>
              <a:t>Matched pair</a:t>
            </a:r>
          </a:p>
          <a:p>
            <a:pPr algn="l" marL="0" indent="0">
              <a:spcBef>
                <a:spcPts val="0"/>
              </a:spcBef>
              <a:spcAft>
                <a:spcPts val="300"/>
              </a:spcAft>
              <a:buNone/>
            </a:pPr>
            <a:r>
              <a:rPr sz="1050" b="0" i="0">
                <a:solidFill>
                  <a:srgbClr val="FFFFFF"/>
                </a:solidFill>
                <a:latin typeface="Arial"/>
              </a:rPr>
              <a:t>Two configurations that differ in exactly one component. The difference between their scores estimates the contribution of that component; its effect is the mean over all of its pairs.</a:t>
            </a:r>
          </a:p>
        </p:txBody>
      </p:sp>
      <p:sp>
        <p:nvSpPr>
          <p:cNvPr id="916" name="Rectangle 915"/>
          <p:cNvSpPr/>
          <p:nvPr/>
        </p:nvSpPr>
        <p:spPr>
          <a:xfrm>
            <a:off x="4206240" y="4434840"/>
            <a:ext cx="100584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TextBox 916"/>
          <p:cNvSpPr txBox="1"/>
          <p:nvPr/>
        </p:nvSpPr>
        <p:spPr>
          <a:xfrm>
            <a:off x="4206240" y="4462272"/>
            <a:ext cx="1005840" cy="548640"/>
          </a:xfrm>
          <a:prstGeom prst="rect">
            <a:avLst/>
          </a:prstGeom>
          <a:noFill/>
        </p:spPr>
        <p:txBody>
          <a:bodyPr wrap="square" lIns="45720" rIns="45720" tIns="27432" bIns="27432" anchor="ctr"/>
          <a:lstStyle/>
          <a:p>
            <a:pPr algn="ctr" marL="0" indent="0">
              <a:spcBef>
                <a:spcPts val="0"/>
              </a:spcBef>
              <a:spcAft>
                <a:spcPts val="0"/>
              </a:spcAft>
              <a:buNone/>
            </a:pPr>
            <a:r>
              <a:rPr sz="2600" b="1" i="0">
                <a:solidFill>
                  <a:srgbClr val="004CA0"/>
                </a:solidFill>
                <a:latin typeface="Arial"/>
              </a:rPr>
              <a:t>6</a:t>
            </a:r>
          </a:p>
        </p:txBody>
      </p:sp>
      <p:sp>
        <p:nvSpPr>
          <p:cNvPr id="918" name="TextBox 917"/>
          <p:cNvSpPr txBox="1"/>
          <p:nvPr/>
        </p:nvSpPr>
        <p:spPr>
          <a:xfrm>
            <a:off x="4206240" y="4983480"/>
            <a:ext cx="1005840" cy="411480"/>
          </a:xfrm>
          <a:prstGeom prst="rect">
            <a:avLst/>
          </a:prstGeom>
          <a:noFill/>
        </p:spPr>
        <p:txBody>
          <a:bodyPr wrap="square" lIns="27432" rIns="27432" tIns="27432" bIns="27432" anchor="ctr"/>
          <a:lstStyle/>
          <a:p>
            <a:pPr algn="ctr" marL="0" indent="0">
              <a:spcBef>
                <a:spcPts val="0"/>
              </a:spcBef>
              <a:spcAft>
                <a:spcPts val="0"/>
              </a:spcAft>
              <a:buNone/>
            </a:pPr>
            <a:r>
              <a:rPr sz="900" b="0" i="0">
                <a:solidFill>
                  <a:srgbClr val="414141"/>
                </a:solidFill>
                <a:latin typeface="Arial"/>
              </a:rPr>
              <a:t>Transformer pairs</a:t>
            </a:r>
          </a:p>
        </p:txBody>
      </p:sp>
      <p:sp>
        <p:nvSpPr>
          <p:cNvPr id="919" name="Rectangle 918"/>
          <p:cNvSpPr/>
          <p:nvPr/>
        </p:nvSpPr>
        <p:spPr>
          <a:xfrm>
            <a:off x="5349240" y="4434840"/>
            <a:ext cx="100584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TextBox 919"/>
          <p:cNvSpPr txBox="1"/>
          <p:nvPr/>
        </p:nvSpPr>
        <p:spPr>
          <a:xfrm>
            <a:off x="5349240" y="4462272"/>
            <a:ext cx="1005840" cy="548640"/>
          </a:xfrm>
          <a:prstGeom prst="rect">
            <a:avLst/>
          </a:prstGeom>
          <a:noFill/>
        </p:spPr>
        <p:txBody>
          <a:bodyPr wrap="square" lIns="45720" rIns="45720" tIns="27432" bIns="27432" anchor="ctr"/>
          <a:lstStyle/>
          <a:p>
            <a:pPr algn="ctr" marL="0" indent="0">
              <a:spcBef>
                <a:spcPts val="0"/>
              </a:spcBef>
              <a:spcAft>
                <a:spcPts val="0"/>
              </a:spcAft>
              <a:buNone/>
            </a:pPr>
            <a:r>
              <a:rPr sz="2600" b="1" i="0">
                <a:solidFill>
                  <a:srgbClr val="004CA0"/>
                </a:solidFill>
                <a:latin typeface="Arial"/>
              </a:rPr>
              <a:t>6</a:t>
            </a:r>
          </a:p>
        </p:txBody>
      </p:sp>
      <p:sp>
        <p:nvSpPr>
          <p:cNvPr id="921" name="TextBox 920"/>
          <p:cNvSpPr txBox="1"/>
          <p:nvPr/>
        </p:nvSpPr>
        <p:spPr>
          <a:xfrm>
            <a:off x="5349240" y="4983480"/>
            <a:ext cx="1005840" cy="411480"/>
          </a:xfrm>
          <a:prstGeom prst="rect">
            <a:avLst/>
          </a:prstGeom>
          <a:noFill/>
        </p:spPr>
        <p:txBody>
          <a:bodyPr wrap="square" lIns="27432" rIns="27432" tIns="27432" bIns="27432" anchor="ctr"/>
          <a:lstStyle/>
          <a:p>
            <a:pPr algn="ctr" marL="0" indent="0">
              <a:spcBef>
                <a:spcPts val="0"/>
              </a:spcBef>
              <a:spcAft>
                <a:spcPts val="0"/>
              </a:spcAft>
              <a:buNone/>
            </a:pPr>
            <a:r>
              <a:rPr sz="900" b="0" i="0">
                <a:solidFill>
                  <a:srgbClr val="414141"/>
                </a:solidFill>
                <a:latin typeface="Arial"/>
              </a:rPr>
              <a:t>EVM pairs</a:t>
            </a:r>
          </a:p>
        </p:txBody>
      </p:sp>
      <p:sp>
        <p:nvSpPr>
          <p:cNvPr id="922" name="Rectangle 921"/>
          <p:cNvSpPr/>
          <p:nvPr/>
        </p:nvSpPr>
        <p:spPr>
          <a:xfrm>
            <a:off x="6492240" y="4434840"/>
            <a:ext cx="100584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TextBox 922"/>
          <p:cNvSpPr txBox="1"/>
          <p:nvPr/>
        </p:nvSpPr>
        <p:spPr>
          <a:xfrm>
            <a:off x="6492240" y="4462272"/>
            <a:ext cx="1005840" cy="548640"/>
          </a:xfrm>
          <a:prstGeom prst="rect">
            <a:avLst/>
          </a:prstGeom>
          <a:noFill/>
        </p:spPr>
        <p:txBody>
          <a:bodyPr wrap="square" lIns="45720" rIns="45720" tIns="27432" bIns="27432" anchor="ctr"/>
          <a:lstStyle/>
          <a:p>
            <a:pPr algn="ctr" marL="0" indent="0">
              <a:spcBef>
                <a:spcPts val="0"/>
              </a:spcBef>
              <a:spcAft>
                <a:spcPts val="0"/>
              </a:spcAft>
              <a:buNone/>
            </a:pPr>
            <a:r>
              <a:rPr sz="2600" b="1" i="0">
                <a:solidFill>
                  <a:srgbClr val="004CA0"/>
                </a:solidFill>
                <a:latin typeface="Arial"/>
              </a:rPr>
              <a:t>4</a:t>
            </a:r>
          </a:p>
        </p:txBody>
      </p:sp>
      <p:sp>
        <p:nvSpPr>
          <p:cNvPr id="924" name="TextBox 923"/>
          <p:cNvSpPr txBox="1"/>
          <p:nvPr/>
        </p:nvSpPr>
        <p:spPr>
          <a:xfrm>
            <a:off x="6492240" y="4983480"/>
            <a:ext cx="1005840" cy="411480"/>
          </a:xfrm>
          <a:prstGeom prst="rect">
            <a:avLst/>
          </a:prstGeom>
          <a:noFill/>
        </p:spPr>
        <p:txBody>
          <a:bodyPr wrap="square" lIns="27432" rIns="27432" tIns="27432" bIns="27432" anchor="ctr"/>
          <a:lstStyle/>
          <a:p>
            <a:pPr algn="ctr" marL="0" indent="0">
              <a:spcBef>
                <a:spcPts val="0"/>
              </a:spcBef>
              <a:spcAft>
                <a:spcPts val="0"/>
              </a:spcAft>
              <a:buNone/>
            </a:pPr>
            <a:r>
              <a:rPr sz="900" b="0" i="0">
                <a:solidFill>
                  <a:srgbClr val="414141"/>
                </a:solidFill>
                <a:latin typeface="Arial"/>
              </a:rPr>
              <a:t>SimAM pairs</a:t>
            </a:r>
          </a:p>
        </p:txBody>
      </p:sp>
      <p:sp>
        <p:nvSpPr>
          <p:cNvPr id="925" name="Rectangle 924"/>
          <p:cNvSpPr/>
          <p:nvPr/>
        </p:nvSpPr>
        <p:spPr>
          <a:xfrm>
            <a:off x="7635240" y="4434840"/>
            <a:ext cx="100584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TextBox 925"/>
          <p:cNvSpPr txBox="1"/>
          <p:nvPr/>
        </p:nvSpPr>
        <p:spPr>
          <a:xfrm>
            <a:off x="7635240" y="4462272"/>
            <a:ext cx="1005840" cy="548640"/>
          </a:xfrm>
          <a:prstGeom prst="rect">
            <a:avLst/>
          </a:prstGeom>
          <a:noFill/>
        </p:spPr>
        <p:txBody>
          <a:bodyPr wrap="square" lIns="45720" rIns="45720" tIns="27432" bIns="27432" anchor="ctr"/>
          <a:lstStyle/>
          <a:p>
            <a:pPr algn="ctr" marL="0" indent="0">
              <a:spcBef>
                <a:spcPts val="0"/>
              </a:spcBef>
              <a:spcAft>
                <a:spcPts val="0"/>
              </a:spcAft>
              <a:buNone/>
            </a:pPr>
            <a:r>
              <a:rPr sz="2600" b="1" i="0">
                <a:solidFill>
                  <a:srgbClr val="004CA0"/>
                </a:solidFill>
                <a:latin typeface="Arial"/>
              </a:rPr>
              <a:t>4</a:t>
            </a:r>
          </a:p>
        </p:txBody>
      </p:sp>
      <p:sp>
        <p:nvSpPr>
          <p:cNvPr id="927" name="TextBox 926"/>
          <p:cNvSpPr txBox="1"/>
          <p:nvPr/>
        </p:nvSpPr>
        <p:spPr>
          <a:xfrm>
            <a:off x="7635240" y="4983480"/>
            <a:ext cx="1005840" cy="411480"/>
          </a:xfrm>
          <a:prstGeom prst="rect">
            <a:avLst/>
          </a:prstGeom>
          <a:noFill/>
        </p:spPr>
        <p:txBody>
          <a:bodyPr wrap="square" lIns="27432" rIns="27432" tIns="27432" bIns="27432" anchor="ctr"/>
          <a:lstStyle/>
          <a:p>
            <a:pPr algn="ctr" marL="0" indent="0">
              <a:spcBef>
                <a:spcPts val="0"/>
              </a:spcBef>
              <a:spcAft>
                <a:spcPts val="0"/>
              </a:spcAft>
              <a:buNone/>
            </a:pPr>
            <a:r>
              <a:rPr sz="900" b="0" i="0">
                <a:solidFill>
                  <a:srgbClr val="414141"/>
                </a:solidFill>
                <a:latin typeface="Arial"/>
              </a:rPr>
              <a:t>CNN stem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TRAINING AND EVALUATION PROTOCOL</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02 · METHOD</a:t>
            </a:r>
          </a:p>
        </p:txBody>
      </p:sp>
      <p:sp>
        <p:nvSpPr>
          <p:cNvPr id="911"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11</a:t>
            </a:fld>
          </a:p>
        </p:txBody>
      </p:sp>
      <p:sp>
        <p:nvSpPr>
          <p:cNvPr id="912" name="Rectangle 911"/>
          <p:cNvSpPr/>
          <p:nvPr/>
        </p:nvSpPr>
        <p:spPr>
          <a:xfrm>
            <a:off x="685800" y="1783080"/>
            <a:ext cx="3886200" cy="41148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TextBox 912"/>
          <p:cNvSpPr txBox="1"/>
          <p:nvPr/>
        </p:nvSpPr>
        <p:spPr>
          <a:xfrm>
            <a:off x="795528" y="1865376"/>
            <a:ext cx="3666744" cy="3950207"/>
          </a:xfrm>
          <a:prstGeom prst="rect">
            <a:avLst/>
          </a:prstGeom>
          <a:noFill/>
        </p:spPr>
        <p:txBody>
          <a:bodyPr wrap="square" lIns="45720" rIns="45720" tIns="27432" bIns="27432" anchor="t"/>
          <a:lstStyle/>
          <a:p>
            <a:pPr algn="l" marL="0" indent="0">
              <a:spcBef>
                <a:spcPts val="0"/>
              </a:spcBef>
              <a:spcAft>
                <a:spcPts val="800"/>
              </a:spcAft>
              <a:buNone/>
            </a:pPr>
            <a:r>
              <a:rPr sz="1250" b="1" i="0">
                <a:solidFill>
                  <a:srgbClr val="004CA0"/>
                </a:solidFill>
                <a:latin typeface="Arial"/>
              </a:rPr>
              <a:t>Training (identical for all configurations)</a:t>
            </a:r>
          </a:p>
          <a:p>
            <a:pPr algn="l" marL="155448" indent="-155448">
              <a:spcBef>
                <a:spcPts val="0"/>
              </a:spcBef>
              <a:spcAft>
                <a:spcPts val="500"/>
              </a:spcAft>
              <a:buClr>
                <a:srgbClr val="A8CC2F"/>
              </a:buClr>
              <a:buFont typeface="Arial"/>
              <a:buChar char="•"/>
            </a:pPr>
            <a:r>
              <a:rPr sz="1100" b="0" i="0">
                <a:solidFill>
                  <a:srgbClr val="414141"/>
                </a:solidFill>
                <a:latin typeface="Arial"/>
              </a:rPr>
              <a:t>Trained from scratch: no pre-training, no auxiliary data</a:t>
            </a:r>
          </a:p>
          <a:p>
            <a:pPr algn="l" marL="155448" indent="-155448">
              <a:spcBef>
                <a:spcPts val="0"/>
              </a:spcBef>
              <a:spcAft>
                <a:spcPts val="500"/>
              </a:spcAft>
              <a:buClr>
                <a:srgbClr val="A8CC2F"/>
              </a:buClr>
              <a:buFont typeface="Arial"/>
              <a:buChar char="•"/>
            </a:pPr>
            <a:r>
              <a:rPr sz="1100" b="0" i="0">
                <a:solidFill>
                  <a:srgbClr val="414141"/>
                </a:solidFill>
                <a:latin typeface="Arial"/>
              </a:rPr>
              <a:t>Focal loss (γ = 2) with label smoothing 0.05, no class weights</a:t>
            </a:r>
          </a:p>
          <a:p>
            <a:pPr algn="l" marL="155448" indent="-155448">
              <a:spcBef>
                <a:spcPts val="0"/>
              </a:spcBef>
              <a:spcAft>
                <a:spcPts val="500"/>
              </a:spcAft>
              <a:buClr>
                <a:srgbClr val="A8CC2F"/>
              </a:buClr>
              <a:buFont typeface="Arial"/>
              <a:buChar char="•"/>
            </a:pPr>
            <a:r>
              <a:rPr sz="1100" b="0" i="0">
                <a:solidFill>
                  <a:srgbClr val="414141"/>
                </a:solidFill>
                <a:latin typeface="Arial"/>
              </a:rPr>
              <a:t>Class-balanced sampler corrects the imbalance</a:t>
            </a:r>
          </a:p>
          <a:p>
            <a:pPr algn="l" marL="155448" indent="-155448">
              <a:spcBef>
                <a:spcPts val="0"/>
              </a:spcBef>
              <a:spcAft>
                <a:spcPts val="500"/>
              </a:spcAft>
              <a:buClr>
                <a:srgbClr val="A8CC2F"/>
              </a:buClr>
              <a:buFont typeface="Arial"/>
              <a:buChar char="•"/>
            </a:pPr>
            <a:r>
              <a:rPr sz="1100" b="0" i="0">
                <a:solidFill>
                  <a:srgbClr val="414141"/>
                </a:solidFill>
                <a:latin typeface="Arial"/>
              </a:rPr>
              <a:t>Random horizontal flip, with the horizontal flow negated</a:t>
            </a:r>
          </a:p>
          <a:p>
            <a:pPr algn="l" marL="155448" indent="-155448">
              <a:spcBef>
                <a:spcPts val="0"/>
              </a:spcBef>
              <a:spcAft>
                <a:spcPts val="500"/>
              </a:spcAft>
              <a:buClr>
                <a:srgbClr val="A8CC2F"/>
              </a:buClr>
              <a:buFont typeface="Arial"/>
              <a:buChar char="•"/>
            </a:pPr>
            <a:r>
              <a:rPr sz="1100" b="0" i="0">
                <a:solidFill>
                  <a:srgbClr val="414141"/>
                </a:solidFill>
                <a:latin typeface="Arial"/>
              </a:rPr>
              <a:t>AdamW, learning rate 10</a:t>
            </a:r>
            <a:r>
              <a:rPr sz="1100" b="0" i="0" baseline="30000">
                <a:solidFill>
                  <a:srgbClr val="414141"/>
                </a:solidFill>
                <a:latin typeface="Arial"/>
              </a:rPr>
              <a:t>−4</a:t>
            </a:r>
            <a:r>
              <a:rPr sz="1100" b="0" i="0">
                <a:solidFill>
                  <a:srgbClr val="414141"/>
                </a:solidFill>
                <a:latin typeface="Arial"/>
              </a:rPr>
              <a:t>, weight decay 10</a:t>
            </a:r>
            <a:r>
              <a:rPr sz="1100" b="0" i="0" baseline="30000">
                <a:solidFill>
                  <a:srgbClr val="414141"/>
                </a:solidFill>
                <a:latin typeface="Arial"/>
              </a:rPr>
              <a:t>−4</a:t>
            </a:r>
          </a:p>
          <a:p>
            <a:pPr algn="l" marL="155448" indent="-155448">
              <a:spcBef>
                <a:spcPts val="0"/>
              </a:spcBef>
              <a:spcAft>
                <a:spcPts val="500"/>
              </a:spcAft>
              <a:buClr>
                <a:srgbClr val="A8CC2F"/>
              </a:buClr>
              <a:buFont typeface="Arial"/>
              <a:buChar char="•"/>
            </a:pPr>
            <a:r>
              <a:rPr sz="1100" b="0" i="0">
                <a:solidFill>
                  <a:srgbClr val="414141"/>
                </a:solidFill>
                <a:latin typeface="Arial"/>
              </a:rPr>
              <a:t>Five warmup epochs, then cosine annealing; 50 epochs, batch 8</a:t>
            </a:r>
          </a:p>
          <a:p>
            <a:pPr algn="l" marL="155448" indent="-155448">
              <a:spcBef>
                <a:spcPts val="0"/>
              </a:spcBef>
              <a:spcAft>
                <a:spcPts val="500"/>
              </a:spcAft>
              <a:buClr>
                <a:srgbClr val="A8CC2F"/>
              </a:buClr>
              <a:buFont typeface="Arial"/>
              <a:buChar char="•"/>
            </a:pPr>
            <a:r>
              <a:rPr sz="1100" b="0" i="0">
                <a:solidFill>
                  <a:srgbClr val="414141"/>
                </a:solidFill>
                <a:latin typeface="Arial"/>
              </a:rPr>
              <a:t>Random seed 42, reset for every configuration and fold</a:t>
            </a:r>
          </a:p>
        </p:txBody>
      </p:sp>
      <p:sp>
        <p:nvSpPr>
          <p:cNvPr id="914" name="Rectangle 913"/>
          <p:cNvSpPr/>
          <p:nvPr/>
        </p:nvSpPr>
        <p:spPr>
          <a:xfrm>
            <a:off x="4754880" y="1783080"/>
            <a:ext cx="3886200" cy="41148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TextBox 914"/>
          <p:cNvSpPr txBox="1"/>
          <p:nvPr/>
        </p:nvSpPr>
        <p:spPr>
          <a:xfrm>
            <a:off x="4864608" y="1865376"/>
            <a:ext cx="3666744" cy="3950207"/>
          </a:xfrm>
          <a:prstGeom prst="rect">
            <a:avLst/>
          </a:prstGeom>
          <a:noFill/>
        </p:spPr>
        <p:txBody>
          <a:bodyPr wrap="square" lIns="45720" rIns="45720" tIns="27432" bIns="27432" anchor="t"/>
          <a:lstStyle/>
          <a:p>
            <a:pPr algn="l" marL="0" indent="0">
              <a:spcBef>
                <a:spcPts val="0"/>
              </a:spcBef>
              <a:spcAft>
                <a:spcPts val="800"/>
              </a:spcAft>
              <a:buNone/>
            </a:pPr>
            <a:r>
              <a:rPr sz="1250" b="1" i="0">
                <a:solidFill>
                  <a:srgbClr val="004CA0"/>
                </a:solidFill>
                <a:latin typeface="Arial"/>
              </a:rPr>
              <a:t>Evaluation</a:t>
            </a:r>
          </a:p>
          <a:p>
            <a:pPr algn="l" marL="155448" indent="-155448">
              <a:spcBef>
                <a:spcPts val="0"/>
              </a:spcBef>
              <a:spcAft>
                <a:spcPts val="500"/>
              </a:spcAft>
              <a:buClr>
                <a:srgbClr val="A8CC2F"/>
              </a:buClr>
              <a:buFont typeface="Arial"/>
              <a:buChar char="•"/>
            </a:pPr>
            <a:r>
              <a:rPr sz="1100" b="0" i="0">
                <a:solidFill>
                  <a:srgbClr val="414141"/>
                </a:solidFill>
                <a:latin typeface="Arial"/>
              </a:rPr>
              <a:t>Leave-one-subject-out cross-validation: 25 folds</a:t>
            </a:r>
          </a:p>
          <a:p>
            <a:pPr algn="l" marL="155448" indent="-155448">
              <a:spcBef>
                <a:spcPts val="0"/>
              </a:spcBef>
              <a:spcAft>
                <a:spcPts val="500"/>
              </a:spcAft>
              <a:buClr>
                <a:srgbClr val="A8CC2F"/>
              </a:buClr>
              <a:buFont typeface="Arial"/>
              <a:buChar char="•"/>
            </a:pPr>
            <a:r>
              <a:rPr sz="1100" b="0" i="0">
                <a:solidFill>
                  <a:srgbClr val="414141"/>
                </a:solidFill>
                <a:latin typeface="Arial"/>
              </a:rPr>
              <a:t>Confusion matrices are summed over all folds</a:t>
            </a:r>
          </a:p>
          <a:p>
            <a:pPr algn="l" marL="155448" indent="-155448">
              <a:spcBef>
                <a:spcPts val="0"/>
              </a:spcBef>
              <a:spcAft>
                <a:spcPts val="500"/>
              </a:spcAft>
              <a:buClr>
                <a:srgbClr val="A8CC2F"/>
              </a:buClr>
              <a:buFont typeface="Arial"/>
              <a:buChar char="•"/>
            </a:pPr>
            <a:r>
              <a:rPr sz="1100" b="0" i="0">
                <a:solidFill>
                  <a:srgbClr val="414141"/>
                </a:solidFill>
                <a:latin typeface="Arial"/>
              </a:rPr>
              <a:t>Primary metric: pooled macro F1, identical in construction to the UF1 of MEGC 2019</a:t>
            </a:r>
          </a:p>
          <a:p>
            <a:pPr algn="l" marL="155448" indent="-155448">
              <a:spcBef>
                <a:spcPts val="0"/>
              </a:spcBef>
              <a:spcAft>
                <a:spcPts val="500"/>
              </a:spcAft>
              <a:buClr>
                <a:srgbClr val="A8CC2F"/>
              </a:buClr>
              <a:buFont typeface="Arial"/>
              <a:buChar char="•"/>
            </a:pPr>
            <a:r>
              <a:rPr sz="1100" b="0" i="0">
                <a:solidFill>
                  <a:srgbClr val="414141"/>
                </a:solidFill>
                <a:latin typeface="Arial"/>
              </a:rPr>
              <a:t>Best epoch selected on the held-out subject (no inner validation split: a declared limitation)</a:t>
            </a:r>
          </a:p>
        </p:txBody>
      </p:sp>
      <p:sp>
        <p:nvSpPr>
          <p:cNvPr id="916" name="Rectangle 915"/>
          <p:cNvSpPr/>
          <p:nvPr/>
        </p:nvSpPr>
        <p:spPr>
          <a:xfrm>
            <a:off x="4892040" y="4434840"/>
            <a:ext cx="3611880" cy="132588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TextBox 916"/>
          <p:cNvSpPr txBox="1"/>
          <p:nvPr/>
        </p:nvSpPr>
        <p:spPr>
          <a:xfrm>
            <a:off x="5029200" y="4489703"/>
            <a:ext cx="3337560" cy="1216152"/>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A8CC2F"/>
                </a:solidFill>
                <a:latin typeface="Arial"/>
              </a:rPr>
              <a:t>Why pooled, not mean of folds</a:t>
            </a:r>
          </a:p>
          <a:p>
            <a:pPr algn="l" marL="0" indent="0">
              <a:spcBef>
                <a:spcPts val="0"/>
              </a:spcBef>
              <a:spcAft>
                <a:spcPts val="300"/>
              </a:spcAft>
              <a:buNone/>
            </a:pPr>
            <a:r>
              <a:rPr sz="1050" b="0" i="0">
                <a:solidFill>
                  <a:srgbClr val="FFFFFF"/>
                </a:solidFill>
                <a:latin typeface="Arial"/>
              </a:rPr>
              <a:t>10 folds contain one class, 8 contain two and 7 contain three, so a mean-of-folds macro F1 cannot exceed 0.627.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THE TRANSFORMER SEPARATES THE TWELVE CONFIGURATIONS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2"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12</a:t>
            </a:fld>
          </a:p>
        </p:txBody>
      </p:sp>
      <p:graphicFrame>
        <p:nvGraphicFramePr>
          <p:cNvPr id="913" name="Chart 912"/>
          <p:cNvGraphicFramePr>
            <a:graphicFrameLocks noGrp="1"/>
          </p:cNvGraphicFramePr>
          <p:nvPr/>
        </p:nvGraphicFramePr>
        <p:xfrm>
          <a:off x="594360" y="1691640"/>
          <a:ext cx="5486400" cy="4251960"/>
        </p:xfrm>
        <a:graphic>
          <a:graphicData uri="http://schemas.openxmlformats.org/drawingml/2006/chart">
            <c:chart xmlns:c="http://schemas.openxmlformats.org/drawingml/2006/chart" r:id="rId3"/>
          </a:graphicData>
        </a:graphic>
      </p:graphicFrame>
      <p:sp>
        <p:nvSpPr>
          <p:cNvPr id="914" name="Rectangle 913"/>
          <p:cNvSpPr/>
          <p:nvPr/>
        </p:nvSpPr>
        <p:spPr>
          <a:xfrm>
            <a:off x="6217920" y="1783080"/>
            <a:ext cx="2423160" cy="91440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TextBox 914"/>
          <p:cNvSpPr txBox="1"/>
          <p:nvPr/>
        </p:nvSpPr>
        <p:spPr>
          <a:xfrm>
            <a:off x="6327648" y="1783080"/>
            <a:ext cx="2240280" cy="914400"/>
          </a:xfrm>
          <a:prstGeom prst="rect">
            <a:avLst/>
          </a:prstGeom>
          <a:noFill/>
        </p:spPr>
        <p:txBody>
          <a:bodyPr wrap="square" lIns="45720" rIns="45720" tIns="27432" bIns="27432" anchor="ctr"/>
          <a:lstStyle/>
          <a:p>
            <a:pPr algn="l" marL="0" indent="0">
              <a:spcBef>
                <a:spcPts val="0"/>
              </a:spcBef>
              <a:spcAft>
                <a:spcPts val="200"/>
              </a:spcAft>
              <a:buNone/>
            </a:pPr>
            <a:r>
              <a:rPr sz="1050" b="1" i="0">
                <a:solidFill>
                  <a:srgbClr val="A8CC2F"/>
                </a:solidFill>
                <a:latin typeface="Arial"/>
              </a:rPr>
              <a:t>With transformer</a:t>
            </a:r>
          </a:p>
          <a:p>
            <a:pPr algn="l" marL="0" indent="0">
              <a:spcBef>
                <a:spcPts val="0"/>
              </a:spcBef>
              <a:spcAft>
                <a:spcPts val="300"/>
              </a:spcAft>
              <a:buNone/>
            </a:pPr>
            <a:r>
              <a:rPr sz="1600" b="1" i="0">
                <a:solidFill>
                  <a:srgbClr val="FFFFFF"/>
                </a:solidFill>
                <a:latin typeface="Arial"/>
              </a:rPr>
              <a:t>0.5830 to 0.7122</a:t>
            </a:r>
          </a:p>
        </p:txBody>
      </p:sp>
      <p:sp>
        <p:nvSpPr>
          <p:cNvPr id="916" name="Rectangle 915"/>
          <p:cNvSpPr/>
          <p:nvPr/>
        </p:nvSpPr>
        <p:spPr>
          <a:xfrm>
            <a:off x="6217920" y="2834640"/>
            <a:ext cx="2423160" cy="91440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TextBox 916"/>
          <p:cNvSpPr txBox="1"/>
          <p:nvPr/>
        </p:nvSpPr>
        <p:spPr>
          <a:xfrm>
            <a:off x="6327648" y="2834640"/>
            <a:ext cx="2240280" cy="914400"/>
          </a:xfrm>
          <a:prstGeom prst="rect">
            <a:avLst/>
          </a:prstGeom>
          <a:noFill/>
        </p:spPr>
        <p:txBody>
          <a:bodyPr wrap="square" lIns="45720" rIns="45720" tIns="27432" bIns="27432" anchor="ctr"/>
          <a:lstStyle/>
          <a:p>
            <a:pPr algn="l" marL="0" indent="0">
              <a:spcBef>
                <a:spcPts val="0"/>
              </a:spcBef>
              <a:spcAft>
                <a:spcPts val="200"/>
              </a:spcAft>
              <a:buNone/>
            </a:pPr>
            <a:r>
              <a:rPr sz="1050" b="1" i="0">
                <a:solidFill>
                  <a:srgbClr val="FFFFFF"/>
                </a:solidFill>
                <a:latin typeface="Arial"/>
              </a:rPr>
              <a:t>Without transformer</a:t>
            </a:r>
          </a:p>
          <a:p>
            <a:pPr algn="l" marL="0" indent="0">
              <a:spcBef>
                <a:spcPts val="0"/>
              </a:spcBef>
              <a:spcAft>
                <a:spcPts val="300"/>
              </a:spcAft>
              <a:buNone/>
            </a:pPr>
            <a:r>
              <a:rPr sz="1600" b="1" i="0">
                <a:solidFill>
                  <a:srgbClr val="FFFFFF"/>
                </a:solidFill>
                <a:latin typeface="Arial"/>
              </a:rPr>
              <a:t>0.4192 to 0.4480</a:t>
            </a:r>
          </a:p>
        </p:txBody>
      </p:sp>
      <p:sp>
        <p:nvSpPr>
          <p:cNvPr id="918" name="TextBox 917"/>
          <p:cNvSpPr txBox="1"/>
          <p:nvPr/>
        </p:nvSpPr>
        <p:spPr>
          <a:xfrm>
            <a:off x="6217920" y="3931920"/>
            <a:ext cx="2423160" cy="2011680"/>
          </a:xfrm>
          <a:prstGeom prst="rect">
            <a:avLst/>
          </a:prstGeom>
          <a:noFill/>
        </p:spPr>
        <p:txBody>
          <a:bodyPr wrap="square" lIns="45720" rIns="45720" tIns="27432" bIns="27432" anchor="t"/>
          <a:lstStyle/>
          <a:p>
            <a:pPr algn="l" marL="155448" indent="-155448">
              <a:spcBef>
                <a:spcPts val="0"/>
              </a:spcBef>
              <a:spcAft>
                <a:spcPts val="600"/>
              </a:spcAft>
              <a:buClr>
                <a:srgbClr val="A8CC2F"/>
              </a:buClr>
              <a:buFont typeface="Arial"/>
              <a:buChar char="•"/>
            </a:pPr>
            <a:r>
              <a:rPr sz="1100" b="0" i="0">
                <a:solidFill>
                  <a:srgbClr val="414141"/>
                </a:solidFill>
                <a:latin typeface="Arial"/>
              </a:rPr>
              <a:t>The two groups do not overlap: the closest members are 0.1350 apart</a:t>
            </a:r>
          </a:p>
          <a:p>
            <a:pPr algn="l" marL="155448" indent="-155448">
              <a:spcBef>
                <a:spcPts val="0"/>
              </a:spcBef>
              <a:spcAft>
                <a:spcPts val="600"/>
              </a:spcAft>
              <a:buClr>
                <a:srgbClr val="A8CC2F"/>
              </a:buClr>
              <a:buFont typeface="Arial"/>
              <a:buChar char="•"/>
            </a:pPr>
            <a:r>
              <a:rPr sz="1100" b="0" i="0">
                <a:solidFill>
                  <a:srgbClr val="414141"/>
                </a:solidFill>
                <a:latin typeface="Arial"/>
              </a:rPr>
              <a:t>No other component divides the configurations in this 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THE BEST CONFIGURATION IS NOT THE FULL PIPELINE</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3"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13</a:t>
            </a:fld>
          </a:p>
        </p:txBody>
      </p:sp>
      <p:sp>
        <p:nvSpPr>
          <p:cNvPr id="914" name="Rectangle 913"/>
          <p:cNvSpPr/>
          <p:nvPr/>
        </p:nvSpPr>
        <p:spPr>
          <a:xfrm>
            <a:off x="685800" y="1783080"/>
            <a:ext cx="2529839" cy="196596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TextBox 914"/>
          <p:cNvSpPr txBox="1"/>
          <p:nvPr/>
        </p:nvSpPr>
        <p:spPr>
          <a:xfrm>
            <a:off x="795528" y="1856231"/>
            <a:ext cx="2310383" cy="1828800"/>
          </a:xfrm>
          <a:prstGeom prst="rect">
            <a:avLst/>
          </a:prstGeom>
          <a:noFill/>
        </p:spPr>
        <p:txBody>
          <a:bodyPr wrap="square" lIns="45720" rIns="45720" tIns="27432" bIns="27432" anchor="t"/>
          <a:lstStyle/>
          <a:p>
            <a:pPr algn="l" marL="0" indent="0">
              <a:spcBef>
                <a:spcPts val="0"/>
              </a:spcBef>
              <a:spcAft>
                <a:spcPts val="400"/>
              </a:spcAft>
              <a:buNone/>
            </a:pPr>
            <a:r>
              <a:rPr sz="1150" b="1" i="0">
                <a:solidFill>
                  <a:srgbClr val="FFFFFF"/>
                </a:solidFill>
                <a:latin typeface="Arial"/>
              </a:rPr>
              <a:t>C2: transformer only</a:t>
            </a:r>
          </a:p>
          <a:p>
            <a:pPr algn="l" marL="0" indent="0">
              <a:spcBef>
                <a:spcPts val="0"/>
              </a:spcBef>
              <a:spcAft>
                <a:spcPts val="400"/>
              </a:spcAft>
              <a:buNone/>
            </a:pPr>
            <a:r>
              <a:rPr sz="3400" b="1" i="0">
                <a:solidFill>
                  <a:srgbClr val="A8CC2F"/>
                </a:solidFill>
                <a:latin typeface="Arial"/>
              </a:rPr>
              <a:t>0.7122</a:t>
            </a:r>
          </a:p>
          <a:p>
            <a:pPr algn="l" marL="0" indent="0">
              <a:spcBef>
                <a:spcPts val="0"/>
              </a:spcBef>
              <a:spcAft>
                <a:spcPts val="400"/>
              </a:spcAft>
              <a:buNone/>
            </a:pPr>
            <a:r>
              <a:rPr sz="1050" b="0" i="0">
                <a:solidFill>
                  <a:srgbClr val="FFFFFF"/>
                </a:solidFill>
                <a:latin typeface="Arial"/>
              </a:rPr>
              <a:t>pooled macro F1</a:t>
            </a:r>
          </a:p>
          <a:p>
            <a:pPr algn="l" marL="0" indent="0">
              <a:spcBef>
                <a:spcPts val="0"/>
              </a:spcBef>
              <a:spcAft>
                <a:spcPts val="300"/>
              </a:spcAft>
              <a:buNone/>
            </a:pPr>
            <a:r>
              <a:rPr sz="1050" b="0" i="0">
                <a:solidFill>
                  <a:srgbClr val="FFFFFF"/>
                </a:solidFill>
                <a:latin typeface="Arial"/>
              </a:rPr>
              <a:t>accuracy 0.7436 (116 of 156 clips)</a:t>
            </a:r>
          </a:p>
        </p:txBody>
      </p:sp>
      <p:sp>
        <p:nvSpPr>
          <p:cNvPr id="916" name="Rectangle 915"/>
          <p:cNvSpPr/>
          <p:nvPr/>
        </p:nvSpPr>
        <p:spPr>
          <a:xfrm>
            <a:off x="3398519" y="1783080"/>
            <a:ext cx="2529839" cy="1965960"/>
          </a:xfrm>
          <a:prstGeom prst="rect">
            <a:avLst/>
          </a:prstGeom>
          <a:solidFill>
            <a:srgbClr val="0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TextBox 916"/>
          <p:cNvSpPr txBox="1"/>
          <p:nvPr/>
        </p:nvSpPr>
        <p:spPr>
          <a:xfrm>
            <a:off x="3508248" y="1856231"/>
            <a:ext cx="2310383" cy="1828800"/>
          </a:xfrm>
          <a:prstGeom prst="rect">
            <a:avLst/>
          </a:prstGeom>
          <a:noFill/>
        </p:spPr>
        <p:txBody>
          <a:bodyPr wrap="square" lIns="45720" rIns="45720" tIns="27432" bIns="27432" anchor="t"/>
          <a:lstStyle/>
          <a:p>
            <a:pPr algn="l" marL="0" indent="0">
              <a:spcBef>
                <a:spcPts val="0"/>
              </a:spcBef>
              <a:spcAft>
                <a:spcPts val="400"/>
              </a:spcAft>
              <a:buNone/>
            </a:pPr>
            <a:r>
              <a:rPr sz="1150" b="1" i="0">
                <a:solidFill>
                  <a:srgbClr val="FFFFFF"/>
                </a:solidFill>
                <a:latin typeface="Arial"/>
              </a:rPr>
              <a:t>C8: all four components</a:t>
            </a:r>
          </a:p>
          <a:p>
            <a:pPr algn="l" marL="0" indent="0">
              <a:spcBef>
                <a:spcPts val="0"/>
              </a:spcBef>
              <a:spcAft>
                <a:spcPts val="400"/>
              </a:spcAft>
              <a:buNone/>
            </a:pPr>
            <a:r>
              <a:rPr sz="3400" b="1" i="0">
                <a:solidFill>
                  <a:srgbClr val="FFFFFF"/>
                </a:solidFill>
                <a:latin typeface="Arial"/>
              </a:rPr>
              <a:t>0.6659</a:t>
            </a:r>
          </a:p>
          <a:p>
            <a:pPr algn="l" marL="0" indent="0">
              <a:spcBef>
                <a:spcPts val="0"/>
              </a:spcBef>
              <a:spcAft>
                <a:spcPts val="400"/>
              </a:spcAft>
              <a:buNone/>
            </a:pPr>
            <a:r>
              <a:rPr sz="1050" b="0" i="0">
                <a:solidFill>
                  <a:srgbClr val="FFFFFF"/>
                </a:solidFill>
                <a:latin typeface="Arial"/>
              </a:rPr>
              <a:t>pooled macro F1</a:t>
            </a:r>
          </a:p>
          <a:p>
            <a:pPr algn="l" marL="0" indent="0">
              <a:spcBef>
                <a:spcPts val="0"/>
              </a:spcBef>
              <a:spcAft>
                <a:spcPts val="300"/>
              </a:spcAft>
              <a:buNone/>
            </a:pPr>
            <a:r>
              <a:rPr sz="1050" b="0" i="0">
                <a:solidFill>
                  <a:srgbClr val="FFFFFF"/>
                </a:solidFill>
                <a:latin typeface="Arial"/>
              </a:rPr>
              <a:t>accuracy 0.7500 (117 of 156 clips)</a:t>
            </a:r>
          </a:p>
        </p:txBody>
      </p:sp>
      <p:sp>
        <p:nvSpPr>
          <p:cNvPr id="918" name="Rectangle 917"/>
          <p:cNvSpPr/>
          <p:nvPr/>
        </p:nvSpPr>
        <p:spPr>
          <a:xfrm>
            <a:off x="6111239" y="1783080"/>
            <a:ext cx="2529839" cy="196596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TextBox 918"/>
          <p:cNvSpPr txBox="1"/>
          <p:nvPr/>
        </p:nvSpPr>
        <p:spPr>
          <a:xfrm>
            <a:off x="6220967" y="1856231"/>
            <a:ext cx="2310383" cy="1828800"/>
          </a:xfrm>
          <a:prstGeom prst="rect">
            <a:avLst/>
          </a:prstGeom>
          <a:noFill/>
        </p:spPr>
        <p:txBody>
          <a:bodyPr wrap="square" lIns="45720" rIns="45720" tIns="27432" bIns="27432" anchor="t"/>
          <a:lstStyle/>
          <a:p>
            <a:pPr algn="l" marL="0" indent="0">
              <a:spcBef>
                <a:spcPts val="0"/>
              </a:spcBef>
              <a:spcAft>
                <a:spcPts val="400"/>
              </a:spcAft>
              <a:buNone/>
            </a:pPr>
            <a:r>
              <a:rPr sz="1150" b="1" i="0">
                <a:solidFill>
                  <a:srgbClr val="FFFFFF"/>
                </a:solidFill>
                <a:latin typeface="Arial"/>
              </a:rPr>
              <a:t>All-Negative reference</a:t>
            </a:r>
          </a:p>
          <a:p>
            <a:pPr algn="l" marL="0" indent="0">
              <a:spcBef>
                <a:spcPts val="0"/>
              </a:spcBef>
              <a:spcAft>
                <a:spcPts val="400"/>
              </a:spcAft>
              <a:buNone/>
            </a:pPr>
            <a:r>
              <a:rPr sz="3400" b="1" i="0">
                <a:solidFill>
                  <a:srgbClr val="FFFFFF"/>
                </a:solidFill>
                <a:latin typeface="Arial"/>
              </a:rPr>
              <a:t>0.2588</a:t>
            </a:r>
          </a:p>
          <a:p>
            <a:pPr algn="l" marL="0" indent="0">
              <a:spcBef>
                <a:spcPts val="0"/>
              </a:spcBef>
              <a:spcAft>
                <a:spcPts val="400"/>
              </a:spcAft>
              <a:buNone/>
            </a:pPr>
            <a:r>
              <a:rPr sz="1050" b="0" i="0">
                <a:solidFill>
                  <a:srgbClr val="FFFFFF"/>
                </a:solidFill>
                <a:latin typeface="Arial"/>
              </a:rPr>
              <a:t>pooled macro F1</a:t>
            </a:r>
          </a:p>
          <a:p>
            <a:pPr algn="l" marL="0" indent="0">
              <a:spcBef>
                <a:spcPts val="0"/>
              </a:spcBef>
              <a:spcAft>
                <a:spcPts val="300"/>
              </a:spcAft>
              <a:buNone/>
            </a:pPr>
            <a:r>
              <a:rPr sz="1050" b="0" i="0">
                <a:solidFill>
                  <a:srgbClr val="FFFFFF"/>
                </a:solidFill>
                <a:latin typeface="Arial"/>
              </a:rPr>
              <a:t>accuracy 0.6346</a:t>
            </a:r>
          </a:p>
        </p:txBody>
      </p:sp>
      <p:sp>
        <p:nvSpPr>
          <p:cNvPr id="920" name="TextBox 919"/>
          <p:cNvSpPr txBox="1"/>
          <p:nvPr/>
        </p:nvSpPr>
        <p:spPr>
          <a:xfrm>
            <a:off x="685800" y="3977639"/>
            <a:ext cx="7955279" cy="1920240"/>
          </a:xfrm>
          <a:prstGeom prst="rect">
            <a:avLst/>
          </a:prstGeom>
          <a:noFill/>
        </p:spPr>
        <p:txBody>
          <a:bodyPr wrap="square" lIns="45720" rIns="45720" tIns="27432" bIns="27432" anchor="t"/>
          <a:lstStyle/>
          <a:p>
            <a:pPr algn="l" marL="155448" indent="-155448">
              <a:spcBef>
                <a:spcPts val="0"/>
              </a:spcBef>
              <a:spcAft>
                <a:spcPts val="600"/>
              </a:spcAft>
              <a:buClr>
                <a:srgbClr val="A8CC2F"/>
              </a:buClr>
              <a:buFont typeface="Arial"/>
              <a:buChar char="•"/>
            </a:pPr>
            <a:r>
              <a:rPr sz="1200" b="0" i="0">
                <a:solidFill>
                  <a:srgbClr val="414141"/>
                </a:solidFill>
                <a:latin typeface="Arial"/>
              </a:rPr>
              <a:t>A transformer applied directly to the motion representation outperforms the complete pipeline by 0.0463</a:t>
            </a:r>
          </a:p>
          <a:p>
            <a:pPr algn="l" marL="155448" indent="-155448">
              <a:spcBef>
                <a:spcPts val="0"/>
              </a:spcBef>
              <a:spcAft>
                <a:spcPts val="600"/>
              </a:spcAft>
              <a:buClr>
                <a:srgbClr val="A8CC2F"/>
              </a:buClr>
              <a:buFont typeface="Arial"/>
              <a:buChar char="•"/>
            </a:pPr>
            <a:r>
              <a:rPr sz="1200" b="0" i="0">
                <a:solidFill>
                  <a:srgbClr val="414141"/>
                </a:solidFill>
                <a:latin typeface="Arial"/>
              </a:rPr>
              <a:t>The two metrics select different configurations: C8 classifies one more clip correctly, but C2 is better on the minority classes</a:t>
            </a:r>
          </a:p>
          <a:p>
            <a:pPr algn="l" marL="155448" indent="-155448">
              <a:spcBef>
                <a:spcPts val="0"/>
              </a:spcBef>
              <a:spcAft>
                <a:spcPts val="600"/>
              </a:spcAft>
              <a:buClr>
                <a:srgbClr val="A8CC2F"/>
              </a:buClr>
              <a:buFont typeface="Arial"/>
              <a:buChar char="•"/>
            </a:pPr>
            <a:r>
              <a:rPr sz="1200" b="0" i="0">
                <a:solidFill>
                  <a:srgbClr val="414141"/>
                </a:solidFill>
                <a:latin typeface="Arial"/>
              </a:rPr>
              <a:t>All twelve configurations exceed the majority-class reference in macro F1</a:t>
            </a:r>
          </a:p>
          <a:p>
            <a:pPr algn="l" marL="155448" indent="-155448">
              <a:spcBef>
                <a:spcPts val="0"/>
              </a:spcBef>
              <a:spcAft>
                <a:spcPts val="600"/>
              </a:spcAft>
              <a:buClr>
                <a:srgbClr val="A8CC2F"/>
              </a:buClr>
              <a:buFont typeface="Arial"/>
              <a:buChar char="•"/>
            </a:pPr>
            <a:r>
              <a:rPr sz="1200" b="0" i="0">
                <a:solidFill>
                  <a:srgbClr val="414141"/>
                </a:solidFill>
                <a:latin typeface="Arial"/>
              </a:rPr>
              <a:t>The difference is a point estimate from a single seed, not a statistically established advantage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TEMPORAL MODELLING CARRIES ALMOST ALL OF THE MEASURED EFFECT</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4"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14</a:t>
            </a:fld>
          </a:p>
        </p:txBody>
      </p:sp>
      <p:graphicFrame>
        <p:nvGraphicFramePr>
          <p:cNvPr id="915" name="Chart 914"/>
          <p:cNvGraphicFramePr>
            <a:graphicFrameLocks noGrp="1"/>
          </p:cNvGraphicFramePr>
          <p:nvPr/>
        </p:nvGraphicFramePr>
        <p:xfrm>
          <a:off x="594360" y="1691640"/>
          <a:ext cx="4343400" cy="4251960"/>
        </p:xfrm>
        <a:graphic>
          <a:graphicData uri="http://schemas.openxmlformats.org/drawingml/2006/chart">
            <c:chart xmlns:c="http://schemas.openxmlformats.org/drawingml/2006/chart" r:id="rId3"/>
          </a:graphicData>
        </a:graphic>
      </p:graphicFrame>
      <p:graphicFrame>
        <p:nvGraphicFramePr>
          <p:cNvPr id="916" name="Table 915"/>
          <p:cNvGraphicFramePr>
            <a:graphicFrameLocks noGrp="1"/>
          </p:cNvGraphicFramePr>
          <p:nvPr/>
        </p:nvGraphicFramePr>
        <p:xfrm>
          <a:off x="5074920" y="1783080"/>
          <a:ext cx="3566160" cy="1645920"/>
        </p:xfrm>
        <a:graphic>
          <a:graphicData uri="http://schemas.openxmlformats.org/drawingml/2006/table">
            <a:tbl>
              <a:tblPr firstRow="0" bandRow="0">
                <a:tableStyleId>{2D5ABB26-0587-4C30-8999-92F81FD0307C}</a:tableStyleId>
              </a:tblPr>
              <a:tblGrid>
                <a:gridCol w="1234440"/>
                <a:gridCol w="1005840"/>
                <a:gridCol w="1325880"/>
              </a:tblGrid>
              <a:tr h="329184">
                <a:tc>
                  <a:txBody>
                    <a:bodyPr wrap="square"/>
                    <a:lstStyle/>
                    <a:p>
                      <a:pPr algn="l" marL="0" indent="0">
                        <a:spcBef>
                          <a:spcPts val="0"/>
                        </a:spcBef>
                        <a:spcAft>
                          <a:spcPts val="0"/>
                        </a:spcAft>
                        <a:buNone/>
                      </a:pPr>
                      <a:r>
                        <a:rPr sz="950" b="1" i="0">
                          <a:solidFill>
                            <a:srgbClr val="FFFFFF"/>
                          </a:solidFill>
                          <a:latin typeface="Arial"/>
                        </a:rPr>
                        <a:t>Component</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50" b="1" i="0">
                          <a:solidFill>
                            <a:srgbClr val="FFFFFF"/>
                          </a:solidFill>
                          <a:latin typeface="Arial"/>
                        </a:rPr>
                        <a:t>Positive pairs</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50" b="1" i="0">
                          <a:solidFill>
                            <a:srgbClr val="FFFFFF"/>
                          </a:solidFill>
                          <a:latin typeface="Arial"/>
                        </a:rPr>
                        <a:t>Range</a:t>
                      </a:r>
                    </a:p>
                  </a:txBody>
                  <a:tcPr marL="54864" marR="54864" marT="18288" marB="18288" anchor="ctr">
                    <a:lnL w="9525">
                      <a:noFill/>
                    </a:lnL>
                    <a:lnR w="9525">
                      <a:noFill/>
                    </a:lnR>
                    <a:lnT w="9525">
                      <a:noFill/>
                    </a:lnT>
                    <a:lnB w="9525">
                      <a:solidFill>
                        <a:srgbClr val="D9D9D9"/>
                      </a:solidFill>
                    </a:lnB>
                    <a:solidFill>
                      <a:srgbClr val="004CA0"/>
                    </a:solidFill>
                  </a:tcPr>
                </a:tc>
              </a:tr>
              <a:tr h="329184">
                <a:tc>
                  <a:txBody>
                    <a:bodyPr wrap="square"/>
                    <a:lstStyle/>
                    <a:p>
                      <a:pPr algn="l" marL="0" indent="0">
                        <a:spcBef>
                          <a:spcPts val="0"/>
                        </a:spcBef>
                        <a:spcAft>
                          <a:spcPts val="0"/>
                        </a:spcAft>
                        <a:buNone/>
                      </a:pPr>
                      <a:r>
                        <a:rPr sz="950" b="1" i="0">
                          <a:solidFill>
                            <a:srgbClr val="414141"/>
                          </a:solidFill>
                          <a:latin typeface="Arial"/>
                        </a:rPr>
                        <a:t>Transformer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50" b="0" i="0">
                          <a:solidFill>
                            <a:srgbClr val="414141"/>
                          </a:solidFill>
                          <a:latin typeface="Arial"/>
                        </a:rPr>
                        <a:t>6 / 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50" b="0" i="0">
                          <a:solidFill>
                            <a:srgbClr val="414141"/>
                          </a:solidFill>
                          <a:latin typeface="Arial"/>
                        </a:rPr>
                        <a:t>+0.1578 to +0.2786</a:t>
                      </a:r>
                    </a:p>
                  </a:txBody>
                  <a:tcPr marL="54864" marR="54864" marT="18288" marB="18288" anchor="ctr">
                    <a:lnL w="9525">
                      <a:noFill/>
                    </a:lnL>
                    <a:lnR w="9525">
                      <a:noFill/>
                    </a:lnR>
                    <a:lnT w="9525">
                      <a:noFill/>
                    </a:lnT>
                    <a:lnB w="9525">
                      <a:solidFill>
                        <a:srgbClr val="D9D9D9"/>
                      </a:solidFill>
                    </a:lnB>
                    <a:solidFill>
                      <a:srgbClr val="FFFFFF"/>
                    </a:solidFill>
                  </a:tcPr>
                </a:tc>
              </a:tr>
              <a:tr h="329184">
                <a:tc>
                  <a:txBody>
                    <a:bodyPr wrap="square"/>
                    <a:lstStyle/>
                    <a:p>
                      <a:pPr algn="l" marL="0" indent="0">
                        <a:spcBef>
                          <a:spcPts val="0"/>
                        </a:spcBef>
                        <a:spcAft>
                          <a:spcPts val="0"/>
                        </a:spcAft>
                        <a:buNone/>
                      </a:pPr>
                      <a:r>
                        <a:rPr sz="950" b="1" i="0">
                          <a:solidFill>
                            <a:srgbClr val="414141"/>
                          </a:solidFill>
                          <a:latin typeface="Arial"/>
                        </a:rPr>
                        <a:t>Magnification</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50" b="0" i="0">
                          <a:solidFill>
                            <a:srgbClr val="414141"/>
                          </a:solidFill>
                          <a:latin typeface="Arial"/>
                        </a:rPr>
                        <a:t>4 / 6</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50" b="0" i="0">
                          <a:solidFill>
                            <a:srgbClr val="414141"/>
                          </a:solidFill>
                          <a:latin typeface="Arial"/>
                        </a:rPr>
                        <a:t>−0.0541 to +0.0795</a:t>
                      </a:r>
                    </a:p>
                  </a:txBody>
                  <a:tcPr marL="54864" marR="54864" marT="18288" marB="18288" anchor="ctr">
                    <a:lnL w="9525">
                      <a:noFill/>
                    </a:lnL>
                    <a:lnR w="9525">
                      <a:noFill/>
                    </a:lnR>
                    <a:lnT w="9525">
                      <a:noFill/>
                    </a:lnT>
                    <a:lnB w="9525">
                      <a:solidFill>
                        <a:srgbClr val="D9D9D9"/>
                      </a:solidFill>
                    </a:lnB>
                    <a:solidFill>
                      <a:srgbClr val="F2F2F2"/>
                    </a:solidFill>
                  </a:tcPr>
                </a:tc>
              </a:tr>
              <a:tr h="329184">
                <a:tc>
                  <a:txBody>
                    <a:bodyPr wrap="square"/>
                    <a:lstStyle/>
                    <a:p>
                      <a:pPr algn="l" marL="0" indent="0">
                        <a:spcBef>
                          <a:spcPts val="0"/>
                        </a:spcBef>
                        <a:spcAft>
                          <a:spcPts val="0"/>
                        </a:spcAft>
                        <a:buNone/>
                      </a:pPr>
                      <a:r>
                        <a:rPr sz="950" b="1" i="0">
                          <a:solidFill>
                            <a:srgbClr val="414141"/>
                          </a:solidFill>
                          <a:latin typeface="Arial"/>
                        </a:rPr>
                        <a:t>SimAM</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50" b="0" i="0">
                          <a:solidFill>
                            <a:srgbClr val="414141"/>
                          </a:solidFill>
                          <a:latin typeface="Arial"/>
                        </a:rPr>
                        <a:t>3 / 4</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50" b="0" i="0">
                          <a:solidFill>
                            <a:srgbClr val="414141"/>
                          </a:solidFill>
                          <a:latin typeface="Arial"/>
                        </a:rPr>
                        <a:t>−0.0288 to +0.0341</a:t>
                      </a:r>
                    </a:p>
                  </a:txBody>
                  <a:tcPr marL="54864" marR="54864" marT="18288" marB="18288" anchor="ctr">
                    <a:lnL w="9525">
                      <a:noFill/>
                    </a:lnL>
                    <a:lnR w="9525">
                      <a:noFill/>
                    </a:lnR>
                    <a:lnT w="9525">
                      <a:noFill/>
                    </a:lnT>
                    <a:lnB w="9525">
                      <a:solidFill>
                        <a:srgbClr val="D9D9D9"/>
                      </a:solidFill>
                    </a:lnB>
                    <a:solidFill>
                      <a:srgbClr val="FFFFFF"/>
                    </a:solidFill>
                  </a:tcPr>
                </a:tc>
              </a:tr>
              <a:tr h="329184">
                <a:tc>
                  <a:txBody>
                    <a:bodyPr wrap="square"/>
                    <a:lstStyle/>
                    <a:p>
                      <a:pPr algn="l" marL="0" indent="0">
                        <a:spcBef>
                          <a:spcPts val="0"/>
                        </a:spcBef>
                        <a:spcAft>
                          <a:spcPts val="0"/>
                        </a:spcAft>
                        <a:buNone/>
                      </a:pPr>
                      <a:r>
                        <a:rPr sz="950" b="1" i="0">
                          <a:solidFill>
                            <a:srgbClr val="414141"/>
                          </a:solidFill>
                          <a:latin typeface="Arial"/>
                        </a:rPr>
                        <a:t>Conv. stem</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50" b="0" i="0">
                          <a:solidFill>
                            <a:srgbClr val="414141"/>
                          </a:solidFill>
                          <a:latin typeface="Arial"/>
                        </a:rPr>
                        <a:t>2 / 4</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50" b="0" i="0">
                          <a:solidFill>
                            <a:srgbClr val="414141"/>
                          </a:solidFill>
                          <a:latin typeface="Arial"/>
                        </a:rPr>
                        <a:t>−0.1292 to +0.0094</a:t>
                      </a:r>
                    </a:p>
                  </a:txBody>
                  <a:tcPr marL="54864" marR="54864" marT="18288" marB="18288" anchor="ctr">
                    <a:lnL w="9525">
                      <a:noFill/>
                    </a:lnL>
                    <a:lnR w="9525">
                      <a:noFill/>
                    </a:lnR>
                    <a:lnT w="9525">
                      <a:noFill/>
                    </a:lnT>
                    <a:lnB w="9525">
                      <a:solidFill>
                        <a:srgbClr val="D9D9D9"/>
                      </a:solidFill>
                    </a:lnB>
                    <a:solidFill>
                      <a:srgbClr val="F2F2F2"/>
                    </a:solidFill>
                  </a:tcPr>
                </a:tc>
              </a:tr>
            </a:tbl>
          </a:graphicData>
        </a:graphic>
      </p:graphicFrame>
      <p:sp>
        <p:nvSpPr>
          <p:cNvPr id="917" name="TextBox 916"/>
          <p:cNvSpPr txBox="1"/>
          <p:nvPr/>
        </p:nvSpPr>
        <p:spPr>
          <a:xfrm>
            <a:off x="5074920" y="3657600"/>
            <a:ext cx="3566160" cy="2240280"/>
          </a:xfrm>
          <a:prstGeom prst="rect">
            <a:avLst/>
          </a:prstGeom>
          <a:noFill/>
        </p:spPr>
        <p:txBody>
          <a:bodyPr wrap="square" lIns="45720" rIns="45720" tIns="27432" bIns="27432" anchor="t"/>
          <a:lstStyle/>
          <a:p>
            <a:pPr algn="l" marL="155448" indent="-155448">
              <a:spcBef>
                <a:spcPts val="0"/>
              </a:spcBef>
              <a:spcAft>
                <a:spcPts val="600"/>
              </a:spcAft>
              <a:buClr>
                <a:srgbClr val="A8CC2F"/>
              </a:buClr>
              <a:buFont typeface="Arial"/>
              <a:buChar char="•"/>
            </a:pPr>
            <a:r>
              <a:rPr sz="1150" b="0" i="0">
                <a:solidFill>
                  <a:srgbClr val="414141"/>
                </a:solidFill>
                <a:latin typeface="Arial"/>
              </a:rPr>
              <a:t>Even the smallest transformer gain exceeds the mean effect of every other component</a:t>
            </a:r>
          </a:p>
          <a:p>
            <a:pPr algn="l" marL="155448" indent="-155448">
              <a:spcBef>
                <a:spcPts val="0"/>
              </a:spcBef>
              <a:spcAft>
                <a:spcPts val="600"/>
              </a:spcAft>
              <a:buClr>
                <a:srgbClr val="A8CC2F"/>
              </a:buClr>
              <a:buFont typeface="Arial"/>
              <a:buChar char="•"/>
            </a:pPr>
            <a:r>
              <a:rPr sz="1150" b="0" i="0">
                <a:solidFill>
                  <a:srgbClr val="414141"/>
                </a:solidFill>
                <a:latin typeface="Arial"/>
              </a:rPr>
              <a:t>The stem is the only component with a negative mean effect</a:t>
            </a:r>
          </a:p>
          <a:p>
            <a:pPr algn="l" marL="155448" indent="-155448">
              <a:spcBef>
                <a:spcPts val="0"/>
              </a:spcBef>
              <a:spcAft>
                <a:spcPts val="600"/>
              </a:spcAft>
              <a:buClr>
                <a:srgbClr val="A8CC2F"/>
              </a:buClr>
              <a:buFont typeface="Arial"/>
              <a:buChar char="•"/>
            </a:pPr>
            <a:r>
              <a:rPr sz="1150" b="0" i="0">
                <a:solidFill>
                  <a:srgbClr val="414141"/>
                </a:solidFill>
                <a:latin typeface="Arial"/>
              </a:rPr>
              <a:t>The effects are not additive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ALL TWENTY MATCHED PAIRS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5"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15</a:t>
            </a:fld>
          </a:p>
        </p:txBody>
      </p:sp>
      <p:sp>
        <p:nvSpPr>
          <p:cNvPr id="916" name="TextBox 915"/>
          <p:cNvSpPr txBox="1"/>
          <p:nvPr/>
        </p:nvSpPr>
        <p:spPr>
          <a:xfrm>
            <a:off x="685800" y="1783080"/>
            <a:ext cx="3886200" cy="274320"/>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004CA0"/>
                </a:solidFill>
                <a:latin typeface="Arial"/>
              </a:rPr>
              <a:t>Transformer   </a:t>
            </a:r>
          </a:p>
        </p:txBody>
      </p:sp>
      <p:sp>
        <p:nvSpPr>
          <p:cNvPr id="917" name="TextBox 916"/>
          <p:cNvSpPr txBox="1"/>
          <p:nvPr/>
        </p:nvSpPr>
        <p:spPr>
          <a:xfrm>
            <a:off x="2697480" y="1783080"/>
            <a:ext cx="1874519" cy="274320"/>
          </a:xfrm>
          <a:prstGeom prst="rect">
            <a:avLst/>
          </a:prstGeom>
          <a:noFill/>
        </p:spPr>
        <p:txBody>
          <a:bodyPr wrap="square" lIns="45720" rIns="45720" tIns="27432" bIns="27432" anchor="ctr"/>
          <a:lstStyle/>
          <a:p>
            <a:pPr algn="r" marL="0" indent="0">
              <a:spcBef>
                <a:spcPts val="0"/>
              </a:spcBef>
              <a:spcAft>
                <a:spcPts val="300"/>
              </a:spcAft>
              <a:buNone/>
            </a:pPr>
            <a:r>
              <a:rPr sz="1000" b="0" i="0">
                <a:solidFill>
                  <a:srgbClr val="8C8C8C"/>
                </a:solidFill>
                <a:latin typeface="Arial"/>
              </a:rPr>
              <a:t>mean +0.2173</a:t>
            </a:r>
          </a:p>
        </p:txBody>
      </p:sp>
      <p:graphicFrame>
        <p:nvGraphicFramePr>
          <p:cNvPr id="918" name="Chart 917"/>
          <p:cNvGraphicFramePr>
            <a:graphicFrameLocks noGrp="1"/>
          </p:cNvGraphicFramePr>
          <p:nvPr/>
        </p:nvGraphicFramePr>
        <p:xfrm>
          <a:off x="640080" y="2039112"/>
          <a:ext cx="3931920" cy="1691640"/>
        </p:xfrm>
        <a:graphic>
          <a:graphicData uri="http://schemas.openxmlformats.org/drawingml/2006/chart">
            <c:chart xmlns:c="http://schemas.openxmlformats.org/drawingml/2006/chart" r:id="rId3"/>
          </a:graphicData>
        </a:graphic>
      </p:graphicFrame>
      <p:sp>
        <p:nvSpPr>
          <p:cNvPr id="919" name="TextBox 918"/>
          <p:cNvSpPr txBox="1"/>
          <p:nvPr/>
        </p:nvSpPr>
        <p:spPr>
          <a:xfrm>
            <a:off x="4754880" y="1783080"/>
            <a:ext cx="3886200" cy="274320"/>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004CA0"/>
                </a:solidFill>
                <a:latin typeface="Arial"/>
              </a:rPr>
              <a:t>Magnification   </a:t>
            </a:r>
          </a:p>
        </p:txBody>
      </p:sp>
      <p:sp>
        <p:nvSpPr>
          <p:cNvPr id="920" name="TextBox 919"/>
          <p:cNvSpPr txBox="1"/>
          <p:nvPr/>
        </p:nvSpPr>
        <p:spPr>
          <a:xfrm>
            <a:off x="6766560" y="1783080"/>
            <a:ext cx="1874519" cy="274320"/>
          </a:xfrm>
          <a:prstGeom prst="rect">
            <a:avLst/>
          </a:prstGeom>
          <a:noFill/>
        </p:spPr>
        <p:txBody>
          <a:bodyPr wrap="square" lIns="45720" rIns="45720" tIns="27432" bIns="27432" anchor="ctr"/>
          <a:lstStyle/>
          <a:p>
            <a:pPr algn="r" marL="0" indent="0">
              <a:spcBef>
                <a:spcPts val="0"/>
              </a:spcBef>
              <a:spcAft>
                <a:spcPts val="300"/>
              </a:spcAft>
              <a:buNone/>
            </a:pPr>
            <a:r>
              <a:rPr sz="1000" b="0" i="0">
                <a:solidFill>
                  <a:srgbClr val="8C8C8C"/>
                </a:solidFill>
                <a:latin typeface="Arial"/>
              </a:rPr>
              <a:t>mean +0.0152</a:t>
            </a:r>
          </a:p>
        </p:txBody>
      </p:sp>
      <p:graphicFrame>
        <p:nvGraphicFramePr>
          <p:cNvPr id="921" name="Chart 920"/>
          <p:cNvGraphicFramePr>
            <a:graphicFrameLocks noGrp="1"/>
          </p:cNvGraphicFramePr>
          <p:nvPr/>
        </p:nvGraphicFramePr>
        <p:xfrm>
          <a:off x="4709160" y="2039112"/>
          <a:ext cx="3931920" cy="1691640"/>
        </p:xfrm>
        <a:graphic>
          <a:graphicData uri="http://schemas.openxmlformats.org/drawingml/2006/chart">
            <c:chart xmlns:c="http://schemas.openxmlformats.org/drawingml/2006/chart" r:id="rId4"/>
          </a:graphicData>
        </a:graphic>
      </p:graphicFrame>
      <p:sp>
        <p:nvSpPr>
          <p:cNvPr id="922" name="TextBox 921"/>
          <p:cNvSpPr txBox="1"/>
          <p:nvPr/>
        </p:nvSpPr>
        <p:spPr>
          <a:xfrm>
            <a:off x="685800" y="3794760"/>
            <a:ext cx="3886200" cy="274320"/>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004CA0"/>
                </a:solidFill>
                <a:latin typeface="Arial"/>
              </a:rPr>
              <a:t>SimAM   </a:t>
            </a:r>
          </a:p>
        </p:txBody>
      </p:sp>
      <p:sp>
        <p:nvSpPr>
          <p:cNvPr id="923" name="TextBox 922"/>
          <p:cNvSpPr txBox="1"/>
          <p:nvPr/>
        </p:nvSpPr>
        <p:spPr>
          <a:xfrm>
            <a:off x="2697480" y="3794760"/>
            <a:ext cx="1874519" cy="274320"/>
          </a:xfrm>
          <a:prstGeom prst="rect">
            <a:avLst/>
          </a:prstGeom>
          <a:noFill/>
        </p:spPr>
        <p:txBody>
          <a:bodyPr wrap="square" lIns="45720" rIns="45720" tIns="27432" bIns="27432" anchor="ctr"/>
          <a:lstStyle/>
          <a:p>
            <a:pPr algn="r" marL="0" indent="0">
              <a:spcBef>
                <a:spcPts val="0"/>
              </a:spcBef>
              <a:spcAft>
                <a:spcPts val="300"/>
              </a:spcAft>
              <a:buNone/>
            </a:pPr>
            <a:r>
              <a:rPr sz="1000" b="0" i="0">
                <a:solidFill>
                  <a:srgbClr val="8C8C8C"/>
                </a:solidFill>
                <a:latin typeface="Arial"/>
              </a:rPr>
              <a:t>mean +0.0034</a:t>
            </a:r>
          </a:p>
        </p:txBody>
      </p:sp>
      <p:graphicFrame>
        <p:nvGraphicFramePr>
          <p:cNvPr id="924" name="Chart 923"/>
          <p:cNvGraphicFramePr>
            <a:graphicFrameLocks noGrp="1"/>
          </p:cNvGraphicFramePr>
          <p:nvPr/>
        </p:nvGraphicFramePr>
        <p:xfrm>
          <a:off x="640080" y="4050792"/>
          <a:ext cx="3931920" cy="1691640"/>
        </p:xfrm>
        <a:graphic>
          <a:graphicData uri="http://schemas.openxmlformats.org/drawingml/2006/chart">
            <c:chart xmlns:c="http://schemas.openxmlformats.org/drawingml/2006/chart" r:id="rId5"/>
          </a:graphicData>
        </a:graphic>
      </p:graphicFrame>
      <p:sp>
        <p:nvSpPr>
          <p:cNvPr id="925" name="TextBox 924"/>
          <p:cNvSpPr txBox="1"/>
          <p:nvPr/>
        </p:nvSpPr>
        <p:spPr>
          <a:xfrm>
            <a:off x="4754880" y="3794760"/>
            <a:ext cx="3886200" cy="274320"/>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004CA0"/>
                </a:solidFill>
                <a:latin typeface="Arial"/>
              </a:rPr>
              <a:t>Convolutional stem   </a:t>
            </a:r>
          </a:p>
        </p:txBody>
      </p:sp>
      <p:sp>
        <p:nvSpPr>
          <p:cNvPr id="926" name="TextBox 925"/>
          <p:cNvSpPr txBox="1"/>
          <p:nvPr/>
        </p:nvSpPr>
        <p:spPr>
          <a:xfrm>
            <a:off x="6766560" y="3794760"/>
            <a:ext cx="1874519" cy="274320"/>
          </a:xfrm>
          <a:prstGeom prst="rect">
            <a:avLst/>
          </a:prstGeom>
          <a:noFill/>
        </p:spPr>
        <p:txBody>
          <a:bodyPr wrap="square" lIns="45720" rIns="45720" tIns="27432" bIns="27432" anchor="ctr"/>
          <a:lstStyle/>
          <a:p>
            <a:pPr algn="r" marL="0" indent="0">
              <a:spcBef>
                <a:spcPts val="0"/>
              </a:spcBef>
              <a:spcAft>
                <a:spcPts val="300"/>
              </a:spcAft>
              <a:buNone/>
            </a:pPr>
            <a:r>
              <a:rPr sz="1000" b="0" i="0">
                <a:solidFill>
                  <a:srgbClr val="8C8C8C"/>
                </a:solidFill>
                <a:latin typeface="Arial"/>
              </a:rPr>
              <a:t>mean −0.0310</a:t>
            </a:r>
          </a:p>
        </p:txBody>
      </p:sp>
      <p:graphicFrame>
        <p:nvGraphicFramePr>
          <p:cNvPr id="927" name="Chart 926"/>
          <p:cNvGraphicFramePr>
            <a:graphicFrameLocks noGrp="1"/>
          </p:cNvGraphicFramePr>
          <p:nvPr/>
        </p:nvGraphicFramePr>
        <p:xfrm>
          <a:off x="4709160" y="4050792"/>
          <a:ext cx="3931920" cy="1691640"/>
        </p:xfrm>
        <a:graphic>
          <a:graphicData uri="http://schemas.openxmlformats.org/drawingml/2006/chart">
            <c:chart xmlns:c="http://schemas.openxmlformats.org/drawingml/2006/chart" r:id="rId6"/>
          </a:graphicData>
        </a:graphic>
      </p:graphicFrame>
      <p:sp>
        <p:nvSpPr>
          <p:cNvPr id="928" name="TextBox 927"/>
          <p:cNvSpPr txBox="1"/>
          <p:nvPr/>
        </p:nvSpPr>
        <p:spPr>
          <a:xfrm>
            <a:off x="685800" y="5806440"/>
            <a:ext cx="7955279" cy="365760"/>
          </a:xfrm>
          <a:prstGeom prst="rect">
            <a:avLst/>
          </a:prstGeom>
          <a:noFill/>
        </p:spPr>
        <p:txBody>
          <a:bodyPr wrap="square" lIns="45720" rIns="45720" tIns="27432" bIns="27432" anchor="t"/>
          <a:lstStyle/>
          <a:p>
            <a:pPr algn="l" marL="0" indent="0">
              <a:spcBef>
                <a:spcPts val="0"/>
              </a:spcBef>
              <a:spcAft>
                <a:spcPts val="300"/>
              </a:spcAft>
              <a:buNone/>
            </a:pPr>
            <a:r>
              <a:rPr sz="900" b="0" i="1">
                <a:solidFill>
                  <a:srgbClr val="8C8C8C"/>
                </a:solidFill>
                <a:latin typeface="Arial"/>
              </a:rPr>
              <a:t>Each bar is one pair of configurations (off → on) that differ in exactly one component. All four panels share the same vertical scale: change in pooled macro F1.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PER-CLASS F1: MINORITY CLASSES DECIDE THE RANKING</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6"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16</a:t>
            </a:fld>
          </a:p>
        </p:txBody>
      </p:sp>
      <p:graphicFrame>
        <p:nvGraphicFramePr>
          <p:cNvPr id="917" name="Chart 916"/>
          <p:cNvGraphicFramePr>
            <a:graphicFrameLocks noGrp="1"/>
          </p:cNvGraphicFramePr>
          <p:nvPr/>
        </p:nvGraphicFramePr>
        <p:xfrm>
          <a:off x="594360" y="1691640"/>
          <a:ext cx="5715000" cy="4297680"/>
        </p:xfrm>
        <a:graphic>
          <a:graphicData uri="http://schemas.openxmlformats.org/drawingml/2006/chart">
            <c:chart xmlns:c="http://schemas.openxmlformats.org/drawingml/2006/chart" r:id="rId3"/>
          </a:graphicData>
        </a:graphic>
      </p:graphicFrame>
      <p:sp>
        <p:nvSpPr>
          <p:cNvPr id="918" name="TextBox 917"/>
          <p:cNvSpPr txBox="1"/>
          <p:nvPr/>
        </p:nvSpPr>
        <p:spPr>
          <a:xfrm>
            <a:off x="6446520" y="1783080"/>
            <a:ext cx="2194560" cy="4114800"/>
          </a:xfrm>
          <a:prstGeom prst="rect">
            <a:avLst/>
          </a:prstGeom>
          <a:noFill/>
        </p:spPr>
        <p:txBody>
          <a:bodyPr wrap="square" lIns="45720" rIns="45720" tIns="27432" bIns="27432" anchor="t"/>
          <a:lstStyle/>
          <a:p>
            <a:pPr algn="l" marL="155448" indent="-155448">
              <a:spcBef>
                <a:spcPts val="0"/>
              </a:spcBef>
              <a:spcAft>
                <a:spcPts val="600"/>
              </a:spcAft>
              <a:buClr>
                <a:srgbClr val="A8CC2F"/>
              </a:buClr>
              <a:buFont typeface="Arial"/>
              <a:buChar char="•"/>
            </a:pPr>
            <a:r>
              <a:rPr sz="1050" b="0" i="0">
                <a:solidFill>
                  <a:srgbClr val="414141"/>
                </a:solidFill>
                <a:latin typeface="Arial"/>
              </a:rPr>
              <a:t>Every configuration achieves a nonzero F1 on all three classes</a:t>
            </a:r>
          </a:p>
          <a:p>
            <a:pPr algn="l" marL="155448" indent="-155448">
              <a:spcBef>
                <a:spcPts val="0"/>
              </a:spcBef>
              <a:spcAft>
                <a:spcPts val="600"/>
              </a:spcAft>
              <a:buClr>
                <a:srgbClr val="A8CC2F"/>
              </a:buClr>
              <a:buFont typeface="Arial"/>
              <a:buChar char="•"/>
            </a:pPr>
            <a:r>
              <a:rPr sz="1050" b="0" i="0">
                <a:solidFill>
                  <a:srgbClr val="414141"/>
                </a:solidFill>
                <a:latin typeface="Arial"/>
              </a:rPr>
              <a:t>C2 has the highest Positive and Surprise F1 (0.6506 and 0.6792)</a:t>
            </a:r>
          </a:p>
          <a:p>
            <a:pPr algn="l" marL="155448" indent="-155448">
              <a:spcBef>
                <a:spcPts val="0"/>
              </a:spcBef>
              <a:spcAft>
                <a:spcPts val="600"/>
              </a:spcAft>
              <a:buClr>
                <a:srgbClr val="A8CC2F"/>
              </a:buClr>
              <a:buFont typeface="Arial"/>
              <a:buChar char="•"/>
            </a:pPr>
            <a:r>
              <a:rPr sz="1050" b="0" i="0">
                <a:solidFill>
                  <a:srgbClr val="414141"/>
                </a:solidFill>
                <a:latin typeface="Arial"/>
              </a:rPr>
              <a:t>C9 has the highest Negative F1 (0.8491) but a Surprise F1 of only 0.3000, with an accuracy of 0.7308</a:t>
            </a:r>
          </a:p>
          <a:p>
            <a:pPr algn="l" marL="155448" indent="-155448">
              <a:spcBef>
                <a:spcPts val="0"/>
              </a:spcBef>
              <a:spcAft>
                <a:spcPts val="600"/>
              </a:spcAft>
              <a:buClr>
                <a:srgbClr val="A8CC2F"/>
              </a:buClr>
              <a:buFont typeface="Arial"/>
              <a:buChar char="•"/>
            </a:pPr>
            <a:r>
              <a:rPr sz="1050" b="0" i="0">
                <a:solidFill>
                  <a:srgbClr val="414141"/>
                </a:solidFill>
                <a:latin typeface="Arial"/>
              </a:rPr>
              <a:t>Negative F1 separates the groups: 0.75 to 0.85 with the transformer, 0.35 to 0.56 without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CONFUSION MATRICES SHOW HOW THE MODELS FAIL</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7"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17</a:t>
            </a:fld>
          </a:p>
        </p:txBody>
      </p:sp>
      <p:sp>
        <p:nvSpPr>
          <p:cNvPr id="918" name="TextBox 917"/>
          <p:cNvSpPr txBox="1"/>
          <p:nvPr/>
        </p:nvSpPr>
        <p:spPr>
          <a:xfrm>
            <a:off x="685800" y="1783080"/>
            <a:ext cx="2514600" cy="292608"/>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004CA0"/>
                </a:solidFill>
                <a:latin typeface="Arial"/>
              </a:rPr>
              <a:t>C1: no components</a:t>
            </a:r>
          </a:p>
        </p:txBody>
      </p:sp>
      <p:graphicFrame>
        <p:nvGraphicFramePr>
          <p:cNvPr id="919" name="Table 918"/>
          <p:cNvGraphicFramePr>
            <a:graphicFrameLocks noGrp="1"/>
          </p:cNvGraphicFramePr>
          <p:nvPr/>
        </p:nvGraphicFramePr>
        <p:xfrm>
          <a:off x="685800" y="2103120"/>
          <a:ext cx="2514600" cy="2011680"/>
        </p:xfrm>
        <a:graphic>
          <a:graphicData uri="http://schemas.openxmlformats.org/drawingml/2006/table">
            <a:tbl>
              <a:tblPr firstRow="0" bandRow="0">
                <a:tableStyleId>{2D5ABB26-0587-4C30-8999-92F81FD0307C}</a:tableStyleId>
              </a:tblPr>
              <a:tblGrid>
                <a:gridCol w="594360"/>
                <a:gridCol w="640080"/>
                <a:gridCol w="640080"/>
                <a:gridCol w="640080"/>
              </a:tblGrid>
              <a:tr h="502920">
                <a:tc>
                  <a:txBody>
                    <a:bodyPr wrap="square"/>
                    <a:lstStyle/>
                    <a:p>
                      <a:pPr algn="ctr" marL="0" indent="0">
                        <a:spcBef>
                          <a:spcPts val="0"/>
                        </a:spcBef>
                        <a:spcAft>
                          <a:spcPts val="0"/>
                        </a:spcAft>
                        <a:buNone/>
                      </a:pPr>
                      <a:r>
                        <a:rPr sz="700" b="0" i="0">
                          <a:solidFill>
                            <a:srgbClr val="8C8C8C"/>
                          </a:solidFill>
                          <a:latin typeface="Arial"/>
                        </a:rPr>
                        <a:t>true\pred.</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Neg.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Pos.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Sur.</a:t>
                      </a:r>
                    </a:p>
                  </a:txBody>
                  <a:tcPr marL="54864" marR="54864" marT="18288" marB="18288" anchor="ctr">
                    <a:lnL w="9525">
                      <a:noFill/>
                    </a:lnL>
                    <a:lnR w="9525">
                      <a:noFill/>
                    </a:lnR>
                    <a:lnT w="9525">
                      <a:noFill/>
                    </a:lnT>
                    <a:lnB w="9525">
                      <a:solidFill>
                        <a:srgbClr val="D9D9D9"/>
                      </a:solidFill>
                    </a:lnB>
                    <a:solidFill>
                      <a:srgbClr val="FFFFFF"/>
                    </a:solidFill>
                  </a:tcPr>
                </a:tc>
              </a:tr>
              <a:tr h="502920">
                <a:tc>
                  <a:txBody>
                    <a:bodyPr wrap="square"/>
                    <a:lstStyle/>
                    <a:p>
                      <a:pPr algn="ctr" marL="0" indent="0">
                        <a:spcBef>
                          <a:spcPts val="0"/>
                        </a:spcBef>
                        <a:spcAft>
                          <a:spcPts val="0"/>
                        </a:spcAft>
                        <a:buNone/>
                      </a:pPr>
                      <a:r>
                        <a:rPr sz="900" b="0" i="0">
                          <a:solidFill>
                            <a:srgbClr val="8C8C8C"/>
                          </a:solidFill>
                          <a:latin typeface="Arial"/>
                        </a:rPr>
                        <a:t>Neg.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414141"/>
                          </a:solidFill>
                          <a:latin typeface="Arial"/>
                        </a:rPr>
                        <a:t>42</a:t>
                      </a:r>
                    </a:p>
                    <a:p>
                      <a:pPr algn="ctr" marL="0" indent="0">
                        <a:spcBef>
                          <a:spcPts val="0"/>
                        </a:spcBef>
                        <a:spcAft>
                          <a:spcPts val="0"/>
                        </a:spcAft>
                        <a:buNone/>
                      </a:pPr>
                      <a:r>
                        <a:rPr sz="800" b="0" i="0">
                          <a:solidFill>
                            <a:srgbClr val="414141"/>
                          </a:solidFill>
                          <a:latin typeface="Arial"/>
                        </a:rPr>
                        <a:t>42 %</a:t>
                      </a:r>
                    </a:p>
                  </a:txBody>
                  <a:tcPr marL="54864" marR="54864" marT="18288" marB="18288" anchor="ctr">
                    <a:lnL w="9525">
                      <a:noFill/>
                    </a:lnL>
                    <a:lnR w="9525">
                      <a:noFill/>
                    </a:lnR>
                    <a:lnT w="9525">
                      <a:noFill/>
                    </a:lnT>
                    <a:lnB w="9525">
                      <a:solidFill>
                        <a:srgbClr val="D9D9D9"/>
                      </a:solidFill>
                    </a:lnB>
                    <a:solidFill>
                      <a:srgbClr val="8CAED4"/>
                    </a:solidFill>
                  </a:tcPr>
                </a:tc>
                <a:tc>
                  <a:txBody>
                    <a:bodyPr wrap="square"/>
                    <a:lstStyle/>
                    <a:p>
                      <a:pPr algn="ctr" marL="0" indent="0">
                        <a:spcBef>
                          <a:spcPts val="0"/>
                        </a:spcBef>
                        <a:spcAft>
                          <a:spcPts val="0"/>
                        </a:spcAft>
                        <a:buNone/>
                      </a:pPr>
                      <a:r>
                        <a:rPr sz="1200" b="1" i="0">
                          <a:solidFill>
                            <a:srgbClr val="414141"/>
                          </a:solidFill>
                          <a:latin typeface="Arial"/>
                        </a:rPr>
                        <a:t>22</a:t>
                      </a:r>
                    </a:p>
                    <a:p>
                      <a:pPr algn="ctr" marL="0" indent="0">
                        <a:spcBef>
                          <a:spcPts val="0"/>
                        </a:spcBef>
                        <a:spcAft>
                          <a:spcPts val="0"/>
                        </a:spcAft>
                        <a:buNone/>
                      </a:pPr>
                      <a:r>
                        <a:rPr sz="800" b="0" i="0">
                          <a:solidFill>
                            <a:srgbClr val="414141"/>
                          </a:solidFill>
                          <a:latin typeface="Arial"/>
                        </a:rPr>
                        <a:t>22 %</a:t>
                      </a:r>
                    </a:p>
                  </a:txBody>
                  <a:tcPr marL="54864" marR="54864" marT="18288" marB="18288" anchor="ctr">
                    <a:lnL w="9525">
                      <a:noFill/>
                    </a:lnL>
                    <a:lnR w="9525">
                      <a:noFill/>
                    </a:lnR>
                    <a:lnT w="9525">
                      <a:noFill/>
                    </a:lnT>
                    <a:lnB w="9525">
                      <a:solidFill>
                        <a:srgbClr val="D9D9D9"/>
                      </a:solidFill>
                    </a:lnB>
                    <a:solidFill>
                      <a:srgbClr val="B4CAE3"/>
                    </a:solidFill>
                  </a:tcPr>
                </a:tc>
                <a:tc>
                  <a:txBody>
                    <a:bodyPr wrap="square"/>
                    <a:lstStyle/>
                    <a:p>
                      <a:pPr algn="ctr" marL="0" indent="0">
                        <a:spcBef>
                          <a:spcPts val="0"/>
                        </a:spcBef>
                        <a:spcAft>
                          <a:spcPts val="0"/>
                        </a:spcAft>
                        <a:buNone/>
                      </a:pPr>
                      <a:r>
                        <a:rPr sz="1200" b="1" i="0">
                          <a:solidFill>
                            <a:srgbClr val="414141"/>
                          </a:solidFill>
                          <a:latin typeface="Arial"/>
                        </a:rPr>
                        <a:t>35</a:t>
                      </a:r>
                    </a:p>
                    <a:p>
                      <a:pPr algn="ctr" marL="0" indent="0">
                        <a:spcBef>
                          <a:spcPts val="0"/>
                        </a:spcBef>
                        <a:spcAft>
                          <a:spcPts val="0"/>
                        </a:spcAft>
                        <a:buNone/>
                      </a:pPr>
                      <a:r>
                        <a:rPr sz="800" b="0" i="0">
                          <a:solidFill>
                            <a:srgbClr val="414141"/>
                          </a:solidFill>
                          <a:latin typeface="Arial"/>
                        </a:rPr>
                        <a:t>35 %</a:t>
                      </a:r>
                    </a:p>
                  </a:txBody>
                  <a:tcPr marL="54864" marR="54864" marT="18288" marB="18288" anchor="ctr">
                    <a:lnL w="9525">
                      <a:noFill/>
                    </a:lnL>
                    <a:lnR w="9525">
                      <a:noFill/>
                    </a:lnR>
                    <a:lnT w="9525">
                      <a:noFill/>
                    </a:lnT>
                    <a:lnB w="9525">
                      <a:solidFill>
                        <a:srgbClr val="D9D9D9"/>
                      </a:solidFill>
                    </a:lnB>
                    <a:solidFill>
                      <a:srgbClr val="9AB8D9"/>
                    </a:solidFill>
                  </a:tcPr>
                </a:tc>
              </a:tr>
              <a:tr h="502920">
                <a:tc>
                  <a:txBody>
                    <a:bodyPr wrap="square"/>
                    <a:lstStyle/>
                    <a:p>
                      <a:pPr algn="ctr" marL="0" indent="0">
                        <a:spcBef>
                          <a:spcPts val="0"/>
                        </a:spcBef>
                        <a:spcAft>
                          <a:spcPts val="0"/>
                        </a:spcAft>
                        <a:buNone/>
                      </a:pPr>
                      <a:r>
                        <a:rPr sz="900" b="0" i="0">
                          <a:solidFill>
                            <a:srgbClr val="8C8C8C"/>
                          </a:solidFill>
                          <a:latin typeface="Arial"/>
                        </a:rPr>
                        <a:t>Pos.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414141"/>
                          </a:solidFill>
                          <a:latin typeface="Arial"/>
                        </a:rPr>
                        <a:t>4</a:t>
                      </a:r>
                    </a:p>
                    <a:p>
                      <a:pPr algn="ctr" marL="0" indent="0">
                        <a:spcBef>
                          <a:spcPts val="0"/>
                        </a:spcBef>
                        <a:spcAft>
                          <a:spcPts val="0"/>
                        </a:spcAft>
                        <a:buNone/>
                      </a:pPr>
                      <a:r>
                        <a:rPr sz="800" b="0" i="0">
                          <a:solidFill>
                            <a:srgbClr val="414141"/>
                          </a:solidFill>
                          <a:latin typeface="Arial"/>
                        </a:rPr>
                        <a:t>12 %</a:t>
                      </a:r>
                    </a:p>
                  </a:txBody>
                  <a:tcPr marL="54864" marR="54864" marT="18288" marB="18288" anchor="ctr">
                    <a:lnL w="9525">
                      <a:noFill/>
                    </a:lnL>
                    <a:lnR w="9525">
                      <a:noFill/>
                    </a:lnR>
                    <a:lnT w="9525">
                      <a:noFill/>
                    </a:lnT>
                    <a:lnB w="9525">
                      <a:solidFill>
                        <a:srgbClr val="D9D9D9"/>
                      </a:solidFill>
                    </a:lnB>
                    <a:solidFill>
                      <a:srgbClr val="C8D8EA"/>
                    </a:solidFill>
                  </a:tcPr>
                </a:tc>
                <a:tc>
                  <a:txBody>
                    <a:bodyPr wrap="square"/>
                    <a:lstStyle/>
                    <a:p>
                      <a:pPr algn="ctr" marL="0" indent="0">
                        <a:spcBef>
                          <a:spcPts val="0"/>
                        </a:spcBef>
                        <a:spcAft>
                          <a:spcPts val="0"/>
                        </a:spcAft>
                        <a:buNone/>
                      </a:pPr>
                      <a:r>
                        <a:rPr sz="1200" b="1" i="0">
                          <a:solidFill>
                            <a:srgbClr val="414141"/>
                          </a:solidFill>
                          <a:latin typeface="Arial"/>
                        </a:rPr>
                        <a:t>13</a:t>
                      </a:r>
                    </a:p>
                    <a:p>
                      <a:pPr algn="ctr" marL="0" indent="0">
                        <a:spcBef>
                          <a:spcPts val="0"/>
                        </a:spcBef>
                        <a:spcAft>
                          <a:spcPts val="0"/>
                        </a:spcAft>
                        <a:buNone/>
                      </a:pPr>
                      <a:r>
                        <a:rPr sz="800" b="0" i="0">
                          <a:solidFill>
                            <a:srgbClr val="414141"/>
                          </a:solidFill>
                          <a:latin typeface="Arial"/>
                        </a:rPr>
                        <a:t>41 %</a:t>
                      </a:r>
                    </a:p>
                  </a:txBody>
                  <a:tcPr marL="54864" marR="54864" marT="18288" marB="18288" anchor="ctr">
                    <a:lnL w="9525">
                      <a:noFill/>
                    </a:lnL>
                    <a:lnR w="9525">
                      <a:noFill/>
                    </a:lnR>
                    <a:lnT w="9525">
                      <a:noFill/>
                    </a:lnT>
                    <a:lnB w="9525">
                      <a:solidFill>
                        <a:srgbClr val="D9D9D9"/>
                      </a:solidFill>
                    </a:lnB>
                    <a:solidFill>
                      <a:srgbClr val="90B1D5"/>
                    </a:solidFill>
                  </a:tcPr>
                </a:tc>
                <a:tc>
                  <a:txBody>
                    <a:bodyPr wrap="square"/>
                    <a:lstStyle/>
                    <a:p>
                      <a:pPr algn="ctr" marL="0" indent="0">
                        <a:spcBef>
                          <a:spcPts val="0"/>
                        </a:spcBef>
                        <a:spcAft>
                          <a:spcPts val="0"/>
                        </a:spcAft>
                        <a:buNone/>
                      </a:pPr>
                      <a:r>
                        <a:rPr sz="1200" b="1" i="0">
                          <a:solidFill>
                            <a:srgbClr val="414141"/>
                          </a:solidFill>
                          <a:latin typeface="Arial"/>
                        </a:rPr>
                        <a:t>15</a:t>
                      </a:r>
                    </a:p>
                    <a:p>
                      <a:pPr algn="ctr" marL="0" indent="0">
                        <a:spcBef>
                          <a:spcPts val="0"/>
                        </a:spcBef>
                        <a:spcAft>
                          <a:spcPts val="0"/>
                        </a:spcAft>
                        <a:buNone/>
                      </a:pPr>
                      <a:r>
                        <a:rPr sz="800" b="0" i="0">
                          <a:solidFill>
                            <a:srgbClr val="414141"/>
                          </a:solidFill>
                          <a:latin typeface="Arial"/>
                        </a:rPr>
                        <a:t>47 %</a:t>
                      </a:r>
                    </a:p>
                  </a:txBody>
                  <a:tcPr marL="54864" marR="54864" marT="18288" marB="18288" anchor="ctr">
                    <a:lnL w="9525">
                      <a:noFill/>
                    </a:lnL>
                    <a:lnR w="9525">
                      <a:noFill/>
                    </a:lnR>
                    <a:lnT w="9525">
                      <a:noFill/>
                    </a:lnT>
                    <a:lnB w="9525">
                      <a:solidFill>
                        <a:srgbClr val="D9D9D9"/>
                      </a:solidFill>
                    </a:lnB>
                    <a:solidFill>
                      <a:srgbClr val="83A8D1"/>
                    </a:solidFill>
                  </a:tcPr>
                </a:tc>
              </a:tr>
              <a:tr h="502920">
                <a:tc>
                  <a:txBody>
                    <a:bodyPr wrap="square"/>
                    <a:lstStyle/>
                    <a:p>
                      <a:pPr algn="ctr" marL="0" indent="0">
                        <a:spcBef>
                          <a:spcPts val="0"/>
                        </a:spcBef>
                        <a:spcAft>
                          <a:spcPts val="0"/>
                        </a:spcAft>
                        <a:buNone/>
                      </a:pPr>
                      <a:r>
                        <a:rPr sz="900" b="0" i="0">
                          <a:solidFill>
                            <a:srgbClr val="8C8C8C"/>
                          </a:solidFill>
                          <a:latin typeface="Arial"/>
                        </a:rPr>
                        <a:t>Sur.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414141"/>
                          </a:solidFill>
                          <a:latin typeface="Arial"/>
                        </a:rPr>
                        <a:t>5</a:t>
                      </a:r>
                    </a:p>
                    <a:p>
                      <a:pPr algn="ctr" marL="0" indent="0">
                        <a:spcBef>
                          <a:spcPts val="0"/>
                        </a:spcBef>
                        <a:spcAft>
                          <a:spcPts val="0"/>
                        </a:spcAft>
                        <a:buNone/>
                      </a:pPr>
                      <a:r>
                        <a:rPr sz="800" b="0" i="0">
                          <a:solidFill>
                            <a:srgbClr val="414141"/>
                          </a:solidFill>
                          <a:latin typeface="Arial"/>
                        </a:rPr>
                        <a:t>20 %</a:t>
                      </a:r>
                    </a:p>
                  </a:txBody>
                  <a:tcPr marL="54864" marR="54864" marT="18288" marB="18288" anchor="ctr">
                    <a:lnL w="9525">
                      <a:noFill/>
                    </a:lnL>
                    <a:lnR w="9525">
                      <a:noFill/>
                    </a:lnR>
                    <a:lnT w="9525">
                      <a:noFill/>
                    </a:lnT>
                    <a:lnB w="9525">
                      <a:solidFill>
                        <a:srgbClr val="D9D9D9"/>
                      </a:solidFill>
                    </a:lnB>
                    <a:solidFill>
                      <a:srgbClr val="B9CEE5"/>
                    </a:solidFill>
                  </a:tcPr>
                </a:tc>
                <a:tc>
                  <a:txBody>
                    <a:bodyPr wrap="square"/>
                    <a:lstStyle/>
                    <a:p>
                      <a:pPr algn="ctr" marL="0" indent="0">
                        <a:spcBef>
                          <a:spcPts val="0"/>
                        </a:spcBef>
                        <a:spcAft>
                          <a:spcPts val="0"/>
                        </a:spcAft>
                        <a:buNone/>
                      </a:pPr>
                      <a:r>
                        <a:rPr sz="1200" b="1" i="0">
                          <a:solidFill>
                            <a:srgbClr val="414141"/>
                          </a:solidFill>
                          <a:latin typeface="Arial"/>
                        </a:rPr>
                        <a:t>3</a:t>
                      </a:r>
                    </a:p>
                    <a:p>
                      <a:pPr algn="ctr" marL="0" indent="0">
                        <a:spcBef>
                          <a:spcPts val="0"/>
                        </a:spcBef>
                        <a:spcAft>
                          <a:spcPts val="0"/>
                        </a:spcAft>
                        <a:buNone/>
                      </a:pPr>
                      <a:r>
                        <a:rPr sz="800" b="0" i="0">
                          <a:solidFill>
                            <a:srgbClr val="414141"/>
                          </a:solidFill>
                          <a:latin typeface="Arial"/>
                        </a:rPr>
                        <a:t>12 %</a:t>
                      </a:r>
                    </a:p>
                  </a:txBody>
                  <a:tcPr marL="54864" marR="54864" marT="18288" marB="18288" anchor="ctr">
                    <a:lnL w="9525">
                      <a:noFill/>
                    </a:lnL>
                    <a:lnR w="9525">
                      <a:noFill/>
                    </a:lnR>
                    <a:lnT w="9525">
                      <a:noFill/>
                    </a:lnT>
                    <a:lnB w="9525">
                      <a:solidFill>
                        <a:srgbClr val="D9D9D9"/>
                      </a:solidFill>
                    </a:lnB>
                    <a:solidFill>
                      <a:srgbClr val="C9D9EB"/>
                    </a:solidFill>
                  </a:tcPr>
                </a:tc>
                <a:tc>
                  <a:txBody>
                    <a:bodyPr wrap="square"/>
                    <a:lstStyle/>
                    <a:p>
                      <a:pPr algn="ctr" marL="0" indent="0">
                        <a:spcBef>
                          <a:spcPts val="0"/>
                        </a:spcBef>
                        <a:spcAft>
                          <a:spcPts val="0"/>
                        </a:spcAft>
                        <a:buNone/>
                      </a:pPr>
                      <a:r>
                        <a:rPr sz="1200" b="1" i="0">
                          <a:solidFill>
                            <a:srgbClr val="FFFFFF"/>
                          </a:solidFill>
                          <a:latin typeface="Arial"/>
                        </a:rPr>
                        <a:t>17</a:t>
                      </a:r>
                    </a:p>
                    <a:p>
                      <a:pPr algn="ctr" marL="0" indent="0">
                        <a:spcBef>
                          <a:spcPts val="0"/>
                        </a:spcBef>
                        <a:spcAft>
                          <a:spcPts val="0"/>
                        </a:spcAft>
                        <a:buNone/>
                      </a:pPr>
                      <a:r>
                        <a:rPr sz="800" b="0" i="0">
                          <a:solidFill>
                            <a:srgbClr val="FFFFFF"/>
                          </a:solidFill>
                          <a:latin typeface="Arial"/>
                        </a:rPr>
                        <a:t>68 %</a:t>
                      </a:r>
                    </a:p>
                  </a:txBody>
                  <a:tcPr marL="54864" marR="54864" marT="18288" marB="18288" anchor="ctr">
                    <a:lnL w="9525">
                      <a:noFill/>
                    </a:lnL>
                    <a:lnR w="9525">
                      <a:noFill/>
                    </a:lnR>
                    <a:lnT w="9525">
                      <a:noFill/>
                    </a:lnT>
                    <a:lnB w="9525">
                      <a:solidFill>
                        <a:srgbClr val="D9D9D9"/>
                      </a:solidFill>
                    </a:lnB>
                    <a:solidFill>
                      <a:srgbClr val="598BC1"/>
                    </a:solidFill>
                  </a:tcPr>
                </a:tc>
              </a:tr>
            </a:tbl>
          </a:graphicData>
        </a:graphic>
      </p:graphicFrame>
      <p:sp>
        <p:nvSpPr>
          <p:cNvPr id="920" name="TextBox 919"/>
          <p:cNvSpPr txBox="1"/>
          <p:nvPr/>
        </p:nvSpPr>
        <p:spPr>
          <a:xfrm>
            <a:off x="685800" y="4160520"/>
            <a:ext cx="2514600" cy="274320"/>
          </a:xfrm>
          <a:prstGeom prst="rect">
            <a:avLst/>
          </a:prstGeom>
          <a:noFill/>
        </p:spPr>
        <p:txBody>
          <a:bodyPr wrap="square" lIns="45720" rIns="45720" tIns="27432" bIns="27432" anchor="t"/>
          <a:lstStyle/>
          <a:p>
            <a:pPr algn="l" marL="0" indent="0">
              <a:spcBef>
                <a:spcPts val="0"/>
              </a:spcBef>
              <a:spcAft>
                <a:spcPts val="300"/>
              </a:spcAft>
              <a:buNone/>
            </a:pPr>
            <a:r>
              <a:rPr sz="1000" b="0" i="1">
                <a:solidFill>
                  <a:srgbClr val="004CA0"/>
                </a:solidFill>
                <a:latin typeface="Arial"/>
              </a:rPr>
              <a:t>Over-predicts the minority classes</a:t>
            </a:r>
          </a:p>
        </p:txBody>
      </p:sp>
      <p:sp>
        <p:nvSpPr>
          <p:cNvPr id="921" name="TextBox 920"/>
          <p:cNvSpPr txBox="1"/>
          <p:nvPr/>
        </p:nvSpPr>
        <p:spPr>
          <a:xfrm>
            <a:off x="3406140" y="1783080"/>
            <a:ext cx="2514600" cy="292608"/>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004CA0"/>
                </a:solidFill>
                <a:latin typeface="Arial"/>
              </a:rPr>
              <a:t>C8: all four components</a:t>
            </a:r>
          </a:p>
        </p:txBody>
      </p:sp>
      <p:graphicFrame>
        <p:nvGraphicFramePr>
          <p:cNvPr id="922" name="Table 921"/>
          <p:cNvGraphicFramePr>
            <a:graphicFrameLocks noGrp="1"/>
          </p:cNvGraphicFramePr>
          <p:nvPr/>
        </p:nvGraphicFramePr>
        <p:xfrm>
          <a:off x="3406140" y="2103120"/>
          <a:ext cx="2514600" cy="2011680"/>
        </p:xfrm>
        <a:graphic>
          <a:graphicData uri="http://schemas.openxmlformats.org/drawingml/2006/table">
            <a:tbl>
              <a:tblPr firstRow="0" bandRow="0">
                <a:tableStyleId>{2D5ABB26-0587-4C30-8999-92F81FD0307C}</a:tableStyleId>
              </a:tblPr>
              <a:tblGrid>
                <a:gridCol w="594360"/>
                <a:gridCol w="640080"/>
                <a:gridCol w="640080"/>
                <a:gridCol w="640080"/>
              </a:tblGrid>
              <a:tr h="502920">
                <a:tc>
                  <a:txBody>
                    <a:bodyPr wrap="square"/>
                    <a:lstStyle/>
                    <a:p>
                      <a:pPr algn="ctr" marL="0" indent="0">
                        <a:spcBef>
                          <a:spcPts val="0"/>
                        </a:spcBef>
                        <a:spcAft>
                          <a:spcPts val="0"/>
                        </a:spcAft>
                        <a:buNone/>
                      </a:pPr>
                      <a:r>
                        <a:rPr sz="700" b="0" i="0">
                          <a:solidFill>
                            <a:srgbClr val="8C8C8C"/>
                          </a:solidFill>
                          <a:latin typeface="Arial"/>
                        </a:rPr>
                        <a:t>true\pred.</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Neg.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Pos.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Sur.</a:t>
                      </a:r>
                    </a:p>
                  </a:txBody>
                  <a:tcPr marL="54864" marR="54864" marT="18288" marB="18288" anchor="ctr">
                    <a:lnL w="9525">
                      <a:noFill/>
                    </a:lnL>
                    <a:lnR w="9525">
                      <a:noFill/>
                    </a:lnR>
                    <a:lnT w="9525">
                      <a:noFill/>
                    </a:lnT>
                    <a:lnB w="9525">
                      <a:solidFill>
                        <a:srgbClr val="D9D9D9"/>
                      </a:solidFill>
                    </a:lnB>
                    <a:solidFill>
                      <a:srgbClr val="FFFFFF"/>
                    </a:solidFill>
                  </a:tcPr>
                </a:tc>
              </a:tr>
              <a:tr h="502920">
                <a:tc>
                  <a:txBody>
                    <a:bodyPr wrap="square"/>
                    <a:lstStyle/>
                    <a:p>
                      <a:pPr algn="ctr" marL="0" indent="0">
                        <a:spcBef>
                          <a:spcPts val="0"/>
                        </a:spcBef>
                        <a:spcAft>
                          <a:spcPts val="0"/>
                        </a:spcAft>
                        <a:buNone/>
                      </a:pPr>
                      <a:r>
                        <a:rPr sz="900" b="0" i="0">
                          <a:solidFill>
                            <a:srgbClr val="8C8C8C"/>
                          </a:solidFill>
                          <a:latin typeface="Arial"/>
                        </a:rPr>
                        <a:t>Neg.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FFFFFF"/>
                          </a:solidFill>
                          <a:latin typeface="Arial"/>
                        </a:rPr>
                        <a:t>85</a:t>
                      </a:r>
                    </a:p>
                    <a:p>
                      <a:pPr algn="ctr" marL="0" indent="0">
                        <a:spcBef>
                          <a:spcPts val="0"/>
                        </a:spcBef>
                        <a:spcAft>
                          <a:spcPts val="0"/>
                        </a:spcAft>
                        <a:buNone/>
                      </a:pPr>
                      <a:r>
                        <a:rPr sz="800" b="0" i="0">
                          <a:solidFill>
                            <a:srgbClr val="FFFFFF"/>
                          </a:solidFill>
                          <a:latin typeface="Arial"/>
                        </a:rPr>
                        <a:t>86 %</a:t>
                      </a:r>
                    </a:p>
                  </a:txBody>
                  <a:tcPr marL="54864" marR="54864" marT="18288" marB="18288" anchor="ctr">
                    <a:lnL w="9525">
                      <a:noFill/>
                    </a:lnL>
                    <a:lnR w="9525">
                      <a:noFill/>
                    </a:lnR>
                    <a:lnT w="9525">
                      <a:noFill/>
                    </a:lnT>
                    <a:lnB w="9525">
                      <a:solidFill>
                        <a:srgbClr val="D9D9D9"/>
                      </a:solidFill>
                    </a:lnB>
                    <a:solidFill>
                      <a:srgbClr val="3672B4"/>
                    </a:solidFill>
                  </a:tcPr>
                </a:tc>
                <a:tc>
                  <a:txBody>
                    <a:bodyPr wrap="square"/>
                    <a:lstStyle/>
                    <a:p>
                      <a:pPr algn="ctr" marL="0" indent="0">
                        <a:spcBef>
                          <a:spcPts val="0"/>
                        </a:spcBef>
                        <a:spcAft>
                          <a:spcPts val="0"/>
                        </a:spcAft>
                        <a:buNone/>
                      </a:pPr>
                      <a:r>
                        <a:rPr sz="1200" b="1" i="0">
                          <a:solidFill>
                            <a:srgbClr val="414141"/>
                          </a:solidFill>
                          <a:latin typeface="Arial"/>
                        </a:rPr>
                        <a:t>3</a:t>
                      </a:r>
                    </a:p>
                    <a:p>
                      <a:pPr algn="ctr" marL="0" indent="0">
                        <a:spcBef>
                          <a:spcPts val="0"/>
                        </a:spcBef>
                        <a:spcAft>
                          <a:spcPts val="0"/>
                        </a:spcAft>
                        <a:buNone/>
                      </a:pPr>
                      <a:r>
                        <a:rPr sz="800" b="0" i="0">
                          <a:solidFill>
                            <a:srgbClr val="414141"/>
                          </a:solidFill>
                          <a:latin typeface="Arial"/>
                        </a:rPr>
                        <a:t>3 %</a:t>
                      </a:r>
                    </a:p>
                  </a:txBody>
                  <a:tcPr marL="54864" marR="54864" marT="18288" marB="18288" anchor="ctr">
                    <a:lnL w="9525">
                      <a:noFill/>
                    </a:lnL>
                    <a:lnR w="9525">
                      <a:noFill/>
                    </a:lnR>
                    <a:lnT w="9525">
                      <a:noFill/>
                    </a:lnT>
                    <a:lnB w="9525">
                      <a:solidFill>
                        <a:srgbClr val="D9D9D9"/>
                      </a:solidFill>
                    </a:lnB>
                    <a:solidFill>
                      <a:srgbClr val="DAE5F1"/>
                    </a:solidFill>
                  </a:tcPr>
                </a:tc>
                <a:tc>
                  <a:txBody>
                    <a:bodyPr wrap="square"/>
                    <a:lstStyle/>
                    <a:p>
                      <a:pPr algn="ctr" marL="0" indent="0">
                        <a:spcBef>
                          <a:spcPts val="0"/>
                        </a:spcBef>
                        <a:spcAft>
                          <a:spcPts val="0"/>
                        </a:spcAft>
                        <a:buNone/>
                      </a:pPr>
                      <a:r>
                        <a:rPr sz="1200" b="1" i="0">
                          <a:solidFill>
                            <a:srgbClr val="414141"/>
                          </a:solidFill>
                          <a:latin typeface="Arial"/>
                        </a:rPr>
                        <a:t>11</a:t>
                      </a:r>
                    </a:p>
                    <a:p>
                      <a:pPr algn="ctr" marL="0" indent="0">
                        <a:spcBef>
                          <a:spcPts val="0"/>
                        </a:spcBef>
                        <a:spcAft>
                          <a:spcPts val="0"/>
                        </a:spcAft>
                        <a:buNone/>
                      </a:pPr>
                      <a:r>
                        <a:rPr sz="800" b="0" i="0">
                          <a:solidFill>
                            <a:srgbClr val="414141"/>
                          </a:solidFill>
                          <a:latin typeface="Arial"/>
                        </a:rPr>
                        <a:t>11 %</a:t>
                      </a:r>
                    </a:p>
                  </a:txBody>
                  <a:tcPr marL="54864" marR="54864" marT="18288" marB="18288" anchor="ctr">
                    <a:lnL w="9525">
                      <a:noFill/>
                    </a:lnL>
                    <a:lnR w="9525">
                      <a:noFill/>
                    </a:lnR>
                    <a:lnT w="9525">
                      <a:noFill/>
                    </a:lnT>
                    <a:lnB w="9525">
                      <a:solidFill>
                        <a:srgbClr val="D9D9D9"/>
                      </a:solidFill>
                    </a:lnB>
                    <a:solidFill>
                      <a:srgbClr val="CADAEB"/>
                    </a:solidFill>
                  </a:tcPr>
                </a:tc>
              </a:tr>
              <a:tr h="502920">
                <a:tc>
                  <a:txBody>
                    <a:bodyPr wrap="square"/>
                    <a:lstStyle/>
                    <a:p>
                      <a:pPr algn="ctr" marL="0" indent="0">
                        <a:spcBef>
                          <a:spcPts val="0"/>
                        </a:spcBef>
                        <a:spcAft>
                          <a:spcPts val="0"/>
                        </a:spcAft>
                        <a:buNone/>
                      </a:pPr>
                      <a:r>
                        <a:rPr sz="900" b="0" i="0">
                          <a:solidFill>
                            <a:srgbClr val="8C8C8C"/>
                          </a:solidFill>
                          <a:latin typeface="Arial"/>
                        </a:rPr>
                        <a:t>Pos.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414141"/>
                          </a:solidFill>
                          <a:latin typeface="Arial"/>
                        </a:rPr>
                        <a:t>13</a:t>
                      </a:r>
                    </a:p>
                    <a:p>
                      <a:pPr algn="ctr" marL="0" indent="0">
                        <a:spcBef>
                          <a:spcPts val="0"/>
                        </a:spcBef>
                        <a:spcAft>
                          <a:spcPts val="0"/>
                        </a:spcAft>
                        <a:buNone/>
                      </a:pPr>
                      <a:r>
                        <a:rPr sz="800" b="0" i="0">
                          <a:solidFill>
                            <a:srgbClr val="414141"/>
                          </a:solidFill>
                          <a:latin typeface="Arial"/>
                        </a:rPr>
                        <a:t>41 %</a:t>
                      </a:r>
                    </a:p>
                  </a:txBody>
                  <a:tcPr marL="54864" marR="54864" marT="18288" marB="18288" anchor="ctr">
                    <a:lnL w="9525">
                      <a:noFill/>
                    </a:lnL>
                    <a:lnR w="9525">
                      <a:noFill/>
                    </a:lnR>
                    <a:lnT w="9525">
                      <a:noFill/>
                    </a:lnT>
                    <a:lnB w="9525">
                      <a:solidFill>
                        <a:srgbClr val="D9D9D9"/>
                      </a:solidFill>
                    </a:lnB>
                    <a:solidFill>
                      <a:srgbClr val="90B1D5"/>
                    </a:solidFill>
                  </a:tcPr>
                </a:tc>
                <a:tc>
                  <a:txBody>
                    <a:bodyPr wrap="square"/>
                    <a:lstStyle/>
                    <a:p>
                      <a:pPr algn="ctr" marL="0" indent="0">
                        <a:spcBef>
                          <a:spcPts val="0"/>
                        </a:spcBef>
                        <a:spcAft>
                          <a:spcPts val="0"/>
                        </a:spcAft>
                        <a:buNone/>
                      </a:pPr>
                      <a:r>
                        <a:rPr sz="1200" b="1" i="0">
                          <a:solidFill>
                            <a:srgbClr val="414141"/>
                          </a:solidFill>
                          <a:latin typeface="Arial"/>
                        </a:rPr>
                        <a:t>15</a:t>
                      </a:r>
                    </a:p>
                    <a:p>
                      <a:pPr algn="ctr" marL="0" indent="0">
                        <a:spcBef>
                          <a:spcPts val="0"/>
                        </a:spcBef>
                        <a:spcAft>
                          <a:spcPts val="0"/>
                        </a:spcAft>
                        <a:buNone/>
                      </a:pPr>
                      <a:r>
                        <a:rPr sz="800" b="0" i="0">
                          <a:solidFill>
                            <a:srgbClr val="414141"/>
                          </a:solidFill>
                          <a:latin typeface="Arial"/>
                        </a:rPr>
                        <a:t>47 %</a:t>
                      </a:r>
                    </a:p>
                  </a:txBody>
                  <a:tcPr marL="54864" marR="54864" marT="18288" marB="18288" anchor="ctr">
                    <a:lnL w="9525">
                      <a:noFill/>
                    </a:lnL>
                    <a:lnR w="9525">
                      <a:noFill/>
                    </a:lnR>
                    <a:lnT w="9525">
                      <a:noFill/>
                    </a:lnT>
                    <a:lnB w="9525">
                      <a:solidFill>
                        <a:srgbClr val="D9D9D9"/>
                      </a:solidFill>
                    </a:lnB>
                    <a:solidFill>
                      <a:srgbClr val="83A8D1"/>
                    </a:solidFill>
                  </a:tcPr>
                </a:tc>
                <a:tc>
                  <a:txBody>
                    <a:bodyPr wrap="square"/>
                    <a:lstStyle/>
                    <a:p>
                      <a:pPr algn="ctr" marL="0" indent="0">
                        <a:spcBef>
                          <a:spcPts val="0"/>
                        </a:spcBef>
                        <a:spcAft>
                          <a:spcPts val="0"/>
                        </a:spcAft>
                        <a:buNone/>
                      </a:pPr>
                      <a:r>
                        <a:rPr sz="1200" b="1" i="0">
                          <a:solidFill>
                            <a:srgbClr val="414141"/>
                          </a:solidFill>
                          <a:latin typeface="Arial"/>
                        </a:rPr>
                        <a:t>4</a:t>
                      </a:r>
                    </a:p>
                    <a:p>
                      <a:pPr algn="ctr" marL="0" indent="0">
                        <a:spcBef>
                          <a:spcPts val="0"/>
                        </a:spcBef>
                        <a:spcAft>
                          <a:spcPts val="0"/>
                        </a:spcAft>
                        <a:buNone/>
                      </a:pPr>
                      <a:r>
                        <a:rPr sz="800" b="0" i="0">
                          <a:solidFill>
                            <a:srgbClr val="414141"/>
                          </a:solidFill>
                          <a:latin typeface="Arial"/>
                        </a:rPr>
                        <a:t>12 %</a:t>
                      </a:r>
                    </a:p>
                  </a:txBody>
                  <a:tcPr marL="54864" marR="54864" marT="18288" marB="18288" anchor="ctr">
                    <a:lnL w="9525">
                      <a:noFill/>
                    </a:lnL>
                    <a:lnR w="9525">
                      <a:noFill/>
                    </a:lnR>
                    <a:lnT w="9525">
                      <a:noFill/>
                    </a:lnT>
                    <a:lnB w="9525">
                      <a:solidFill>
                        <a:srgbClr val="D9D9D9"/>
                      </a:solidFill>
                    </a:lnB>
                    <a:solidFill>
                      <a:srgbClr val="C8D8EA"/>
                    </a:solidFill>
                  </a:tcPr>
                </a:tc>
              </a:tr>
              <a:tr h="502920">
                <a:tc>
                  <a:txBody>
                    <a:bodyPr wrap="square"/>
                    <a:lstStyle/>
                    <a:p>
                      <a:pPr algn="ctr" marL="0" indent="0">
                        <a:spcBef>
                          <a:spcPts val="0"/>
                        </a:spcBef>
                        <a:spcAft>
                          <a:spcPts val="0"/>
                        </a:spcAft>
                        <a:buNone/>
                      </a:pPr>
                      <a:r>
                        <a:rPr sz="900" b="0" i="0">
                          <a:solidFill>
                            <a:srgbClr val="8C8C8C"/>
                          </a:solidFill>
                          <a:latin typeface="Arial"/>
                        </a:rPr>
                        <a:t>Sur.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414141"/>
                          </a:solidFill>
                          <a:latin typeface="Arial"/>
                        </a:rPr>
                        <a:t>4</a:t>
                      </a:r>
                    </a:p>
                    <a:p>
                      <a:pPr algn="ctr" marL="0" indent="0">
                        <a:spcBef>
                          <a:spcPts val="0"/>
                        </a:spcBef>
                        <a:spcAft>
                          <a:spcPts val="0"/>
                        </a:spcAft>
                        <a:buNone/>
                      </a:pPr>
                      <a:r>
                        <a:rPr sz="800" b="0" i="0">
                          <a:solidFill>
                            <a:srgbClr val="414141"/>
                          </a:solidFill>
                          <a:latin typeface="Arial"/>
                        </a:rPr>
                        <a:t>16 %</a:t>
                      </a:r>
                    </a:p>
                  </a:txBody>
                  <a:tcPr marL="54864" marR="54864" marT="18288" marB="18288" anchor="ctr">
                    <a:lnL w="9525">
                      <a:noFill/>
                    </a:lnL>
                    <a:lnR w="9525">
                      <a:noFill/>
                    </a:lnR>
                    <a:lnT w="9525">
                      <a:noFill/>
                    </a:lnT>
                    <a:lnB w="9525">
                      <a:solidFill>
                        <a:srgbClr val="D9D9D9"/>
                      </a:solidFill>
                    </a:lnB>
                    <a:solidFill>
                      <a:srgbClr val="C1D3E8"/>
                    </a:solidFill>
                  </a:tcPr>
                </a:tc>
                <a:tc>
                  <a:txBody>
                    <a:bodyPr wrap="square"/>
                    <a:lstStyle/>
                    <a:p>
                      <a:pPr algn="ctr" marL="0" indent="0">
                        <a:spcBef>
                          <a:spcPts val="0"/>
                        </a:spcBef>
                        <a:spcAft>
                          <a:spcPts val="0"/>
                        </a:spcAft>
                        <a:buNone/>
                      </a:pPr>
                      <a:r>
                        <a:rPr sz="1200" b="1" i="0">
                          <a:solidFill>
                            <a:srgbClr val="414141"/>
                          </a:solidFill>
                          <a:latin typeface="Arial"/>
                        </a:rPr>
                        <a:t>4</a:t>
                      </a:r>
                    </a:p>
                    <a:p>
                      <a:pPr algn="ctr" marL="0" indent="0">
                        <a:spcBef>
                          <a:spcPts val="0"/>
                        </a:spcBef>
                        <a:spcAft>
                          <a:spcPts val="0"/>
                        </a:spcAft>
                        <a:buNone/>
                      </a:pPr>
                      <a:r>
                        <a:rPr sz="800" b="0" i="0">
                          <a:solidFill>
                            <a:srgbClr val="414141"/>
                          </a:solidFill>
                          <a:latin typeface="Arial"/>
                        </a:rPr>
                        <a:t>16 %</a:t>
                      </a:r>
                    </a:p>
                  </a:txBody>
                  <a:tcPr marL="54864" marR="54864" marT="18288" marB="18288" anchor="ctr">
                    <a:lnL w="9525">
                      <a:noFill/>
                    </a:lnL>
                    <a:lnR w="9525">
                      <a:noFill/>
                    </a:lnR>
                    <a:lnT w="9525">
                      <a:noFill/>
                    </a:lnT>
                    <a:lnB w="9525">
                      <a:solidFill>
                        <a:srgbClr val="D9D9D9"/>
                      </a:solidFill>
                    </a:lnB>
                    <a:solidFill>
                      <a:srgbClr val="C1D3E8"/>
                    </a:solidFill>
                  </a:tcPr>
                </a:tc>
                <a:tc>
                  <a:txBody>
                    <a:bodyPr wrap="square"/>
                    <a:lstStyle/>
                    <a:p>
                      <a:pPr algn="ctr" marL="0" indent="0">
                        <a:spcBef>
                          <a:spcPts val="0"/>
                        </a:spcBef>
                        <a:spcAft>
                          <a:spcPts val="0"/>
                        </a:spcAft>
                        <a:buNone/>
                      </a:pPr>
                      <a:r>
                        <a:rPr sz="1200" b="1" i="0">
                          <a:solidFill>
                            <a:srgbClr val="FFFFFF"/>
                          </a:solidFill>
                          <a:latin typeface="Arial"/>
                        </a:rPr>
                        <a:t>17</a:t>
                      </a:r>
                    </a:p>
                    <a:p>
                      <a:pPr algn="ctr" marL="0" indent="0">
                        <a:spcBef>
                          <a:spcPts val="0"/>
                        </a:spcBef>
                        <a:spcAft>
                          <a:spcPts val="0"/>
                        </a:spcAft>
                        <a:buNone/>
                      </a:pPr>
                      <a:r>
                        <a:rPr sz="800" b="0" i="0">
                          <a:solidFill>
                            <a:srgbClr val="FFFFFF"/>
                          </a:solidFill>
                          <a:latin typeface="Arial"/>
                        </a:rPr>
                        <a:t>68 %</a:t>
                      </a:r>
                    </a:p>
                  </a:txBody>
                  <a:tcPr marL="54864" marR="54864" marT="18288" marB="18288" anchor="ctr">
                    <a:lnL w="9525">
                      <a:noFill/>
                    </a:lnL>
                    <a:lnR w="9525">
                      <a:noFill/>
                    </a:lnR>
                    <a:lnT w="9525">
                      <a:noFill/>
                    </a:lnT>
                    <a:lnB w="9525">
                      <a:solidFill>
                        <a:srgbClr val="D9D9D9"/>
                      </a:solidFill>
                    </a:lnB>
                    <a:solidFill>
                      <a:srgbClr val="598BC1"/>
                    </a:solidFill>
                  </a:tcPr>
                </a:tc>
              </a:tr>
            </a:tbl>
          </a:graphicData>
        </a:graphic>
      </p:graphicFrame>
      <p:sp>
        <p:nvSpPr>
          <p:cNvPr id="923" name="TextBox 922"/>
          <p:cNvSpPr txBox="1"/>
          <p:nvPr/>
        </p:nvSpPr>
        <p:spPr>
          <a:xfrm>
            <a:off x="3406140" y="4160520"/>
            <a:ext cx="2514600" cy="274320"/>
          </a:xfrm>
          <a:prstGeom prst="rect">
            <a:avLst/>
          </a:prstGeom>
          <a:noFill/>
        </p:spPr>
        <p:txBody>
          <a:bodyPr wrap="square" lIns="45720" rIns="45720" tIns="27432" bIns="27432" anchor="t"/>
          <a:lstStyle/>
          <a:p>
            <a:pPr algn="l" marL="0" indent="0">
              <a:spcBef>
                <a:spcPts val="0"/>
              </a:spcBef>
              <a:spcAft>
                <a:spcPts val="300"/>
              </a:spcAft>
              <a:buNone/>
            </a:pPr>
            <a:r>
              <a:rPr sz="1000" b="0" i="1">
                <a:solidFill>
                  <a:srgbClr val="004CA0"/>
                </a:solidFill>
                <a:latin typeface="Arial"/>
              </a:rPr>
              <a:t>Shifted towards the majority class</a:t>
            </a:r>
          </a:p>
        </p:txBody>
      </p:sp>
      <p:sp>
        <p:nvSpPr>
          <p:cNvPr id="924" name="TextBox 923"/>
          <p:cNvSpPr txBox="1"/>
          <p:nvPr/>
        </p:nvSpPr>
        <p:spPr>
          <a:xfrm>
            <a:off x="6126480" y="1783080"/>
            <a:ext cx="2514600" cy="292608"/>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004CA0"/>
                </a:solidFill>
                <a:latin typeface="Arial"/>
              </a:rPr>
              <a:t>C2: transformer only (best)</a:t>
            </a:r>
          </a:p>
        </p:txBody>
      </p:sp>
      <p:graphicFrame>
        <p:nvGraphicFramePr>
          <p:cNvPr id="925" name="Table 924"/>
          <p:cNvGraphicFramePr>
            <a:graphicFrameLocks noGrp="1"/>
          </p:cNvGraphicFramePr>
          <p:nvPr/>
        </p:nvGraphicFramePr>
        <p:xfrm>
          <a:off x="6126480" y="2103120"/>
          <a:ext cx="2514600" cy="2011680"/>
        </p:xfrm>
        <a:graphic>
          <a:graphicData uri="http://schemas.openxmlformats.org/drawingml/2006/table">
            <a:tbl>
              <a:tblPr firstRow="0" bandRow="0">
                <a:tableStyleId>{2D5ABB26-0587-4C30-8999-92F81FD0307C}</a:tableStyleId>
              </a:tblPr>
              <a:tblGrid>
                <a:gridCol w="594360"/>
                <a:gridCol w="640080"/>
                <a:gridCol w="640080"/>
                <a:gridCol w="640080"/>
              </a:tblGrid>
              <a:tr h="502920">
                <a:tc>
                  <a:txBody>
                    <a:bodyPr wrap="square"/>
                    <a:lstStyle/>
                    <a:p>
                      <a:pPr algn="ctr" marL="0" indent="0">
                        <a:spcBef>
                          <a:spcPts val="0"/>
                        </a:spcBef>
                        <a:spcAft>
                          <a:spcPts val="0"/>
                        </a:spcAft>
                        <a:buNone/>
                      </a:pPr>
                      <a:r>
                        <a:rPr sz="700" b="0" i="0">
                          <a:solidFill>
                            <a:srgbClr val="8C8C8C"/>
                          </a:solidFill>
                          <a:latin typeface="Arial"/>
                        </a:rPr>
                        <a:t>true\pred.</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Neg.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Pos.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Sur.</a:t>
                      </a:r>
                    </a:p>
                  </a:txBody>
                  <a:tcPr marL="54864" marR="54864" marT="18288" marB="18288" anchor="ctr">
                    <a:lnL w="9525">
                      <a:noFill/>
                    </a:lnL>
                    <a:lnR w="9525">
                      <a:noFill/>
                    </a:lnR>
                    <a:lnT w="9525">
                      <a:noFill/>
                    </a:lnT>
                    <a:lnB w="9525">
                      <a:solidFill>
                        <a:srgbClr val="D9D9D9"/>
                      </a:solidFill>
                    </a:lnB>
                    <a:solidFill>
                      <a:srgbClr val="FFFFFF"/>
                    </a:solidFill>
                  </a:tcPr>
                </a:tc>
              </a:tr>
              <a:tr h="502920">
                <a:tc>
                  <a:txBody>
                    <a:bodyPr wrap="square"/>
                    <a:lstStyle/>
                    <a:p>
                      <a:pPr algn="ctr" marL="0" indent="0">
                        <a:spcBef>
                          <a:spcPts val="0"/>
                        </a:spcBef>
                        <a:spcAft>
                          <a:spcPts val="0"/>
                        </a:spcAft>
                        <a:buNone/>
                      </a:pPr>
                      <a:r>
                        <a:rPr sz="900" b="0" i="0">
                          <a:solidFill>
                            <a:srgbClr val="8C8C8C"/>
                          </a:solidFill>
                          <a:latin typeface="Arial"/>
                        </a:rPr>
                        <a:t>Neg.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FFFFFF"/>
                          </a:solidFill>
                          <a:latin typeface="Arial"/>
                        </a:rPr>
                        <a:t>71</a:t>
                      </a:r>
                    </a:p>
                    <a:p>
                      <a:pPr algn="ctr" marL="0" indent="0">
                        <a:spcBef>
                          <a:spcPts val="0"/>
                        </a:spcBef>
                        <a:spcAft>
                          <a:spcPts val="0"/>
                        </a:spcAft>
                        <a:buNone/>
                      </a:pPr>
                      <a:r>
                        <a:rPr sz="800" b="0" i="0">
                          <a:solidFill>
                            <a:srgbClr val="FFFFFF"/>
                          </a:solidFill>
                          <a:latin typeface="Arial"/>
                        </a:rPr>
                        <a:t>72 %</a:t>
                      </a:r>
                    </a:p>
                  </a:txBody>
                  <a:tcPr marL="54864" marR="54864" marT="18288" marB="18288" anchor="ctr">
                    <a:lnL w="9525">
                      <a:noFill/>
                    </a:lnL>
                    <a:lnR w="9525">
                      <a:noFill/>
                    </a:lnR>
                    <a:lnT w="9525">
                      <a:noFill/>
                    </a:lnT>
                    <a:lnB w="9525">
                      <a:solidFill>
                        <a:srgbClr val="D9D9D9"/>
                      </a:solidFill>
                    </a:lnB>
                    <a:solidFill>
                      <a:srgbClr val="5285BE"/>
                    </a:solidFill>
                  </a:tcPr>
                </a:tc>
                <a:tc>
                  <a:txBody>
                    <a:bodyPr wrap="square"/>
                    <a:lstStyle/>
                    <a:p>
                      <a:pPr algn="ctr" marL="0" indent="0">
                        <a:spcBef>
                          <a:spcPts val="0"/>
                        </a:spcBef>
                        <a:spcAft>
                          <a:spcPts val="0"/>
                        </a:spcAft>
                        <a:buNone/>
                      </a:pPr>
                      <a:r>
                        <a:rPr sz="1200" b="1" i="0">
                          <a:solidFill>
                            <a:srgbClr val="414141"/>
                          </a:solidFill>
                          <a:latin typeface="Arial"/>
                        </a:rPr>
                        <a:t>20</a:t>
                      </a:r>
                    </a:p>
                    <a:p>
                      <a:pPr algn="ctr" marL="0" indent="0">
                        <a:spcBef>
                          <a:spcPts val="0"/>
                        </a:spcBef>
                        <a:spcAft>
                          <a:spcPts val="0"/>
                        </a:spcAft>
                        <a:buNone/>
                      </a:pPr>
                      <a:r>
                        <a:rPr sz="800" b="0" i="0">
                          <a:solidFill>
                            <a:srgbClr val="414141"/>
                          </a:solidFill>
                          <a:latin typeface="Arial"/>
                        </a:rPr>
                        <a:t>20 %</a:t>
                      </a:r>
                    </a:p>
                  </a:txBody>
                  <a:tcPr marL="54864" marR="54864" marT="18288" marB="18288" anchor="ctr">
                    <a:lnL w="9525">
                      <a:noFill/>
                    </a:lnL>
                    <a:lnR w="9525">
                      <a:noFill/>
                    </a:lnR>
                    <a:lnT w="9525">
                      <a:noFill/>
                    </a:lnT>
                    <a:lnB w="9525">
                      <a:solidFill>
                        <a:srgbClr val="D9D9D9"/>
                      </a:solidFill>
                    </a:lnB>
                    <a:solidFill>
                      <a:srgbClr val="B8CDE5"/>
                    </a:solidFill>
                  </a:tcPr>
                </a:tc>
                <a:tc>
                  <a:txBody>
                    <a:bodyPr wrap="square"/>
                    <a:lstStyle/>
                    <a:p>
                      <a:pPr algn="ctr" marL="0" indent="0">
                        <a:spcBef>
                          <a:spcPts val="0"/>
                        </a:spcBef>
                        <a:spcAft>
                          <a:spcPts val="0"/>
                        </a:spcAft>
                        <a:buNone/>
                      </a:pPr>
                      <a:r>
                        <a:rPr sz="1200" b="1" i="0">
                          <a:solidFill>
                            <a:srgbClr val="414141"/>
                          </a:solidFill>
                          <a:latin typeface="Arial"/>
                        </a:rPr>
                        <a:t>8</a:t>
                      </a:r>
                    </a:p>
                    <a:p>
                      <a:pPr algn="ctr" marL="0" indent="0">
                        <a:spcBef>
                          <a:spcPts val="0"/>
                        </a:spcBef>
                        <a:spcAft>
                          <a:spcPts val="0"/>
                        </a:spcAft>
                        <a:buNone/>
                      </a:pPr>
                      <a:r>
                        <a:rPr sz="800" b="0" i="0">
                          <a:solidFill>
                            <a:srgbClr val="414141"/>
                          </a:solidFill>
                          <a:latin typeface="Arial"/>
                        </a:rPr>
                        <a:t>8 %</a:t>
                      </a:r>
                    </a:p>
                  </a:txBody>
                  <a:tcPr marL="54864" marR="54864" marT="18288" marB="18288" anchor="ctr">
                    <a:lnL w="9525">
                      <a:noFill/>
                    </a:lnL>
                    <a:lnR w="9525">
                      <a:noFill/>
                    </a:lnR>
                    <a:lnT w="9525">
                      <a:noFill/>
                    </a:lnT>
                    <a:lnB w="9525">
                      <a:solidFill>
                        <a:srgbClr val="D9D9D9"/>
                      </a:solidFill>
                    </a:lnB>
                    <a:solidFill>
                      <a:srgbClr val="D0DEEE"/>
                    </a:solidFill>
                  </a:tcPr>
                </a:tc>
              </a:tr>
              <a:tr h="502920">
                <a:tc>
                  <a:txBody>
                    <a:bodyPr wrap="square"/>
                    <a:lstStyle/>
                    <a:p>
                      <a:pPr algn="ctr" marL="0" indent="0">
                        <a:spcBef>
                          <a:spcPts val="0"/>
                        </a:spcBef>
                        <a:spcAft>
                          <a:spcPts val="0"/>
                        </a:spcAft>
                        <a:buNone/>
                      </a:pPr>
                      <a:r>
                        <a:rPr sz="900" b="0" i="0">
                          <a:solidFill>
                            <a:srgbClr val="8C8C8C"/>
                          </a:solidFill>
                          <a:latin typeface="Arial"/>
                        </a:rPr>
                        <a:t>Pos.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414141"/>
                          </a:solidFill>
                          <a:latin typeface="Arial"/>
                        </a:rPr>
                        <a:t>3</a:t>
                      </a:r>
                    </a:p>
                    <a:p>
                      <a:pPr algn="ctr" marL="0" indent="0">
                        <a:spcBef>
                          <a:spcPts val="0"/>
                        </a:spcBef>
                        <a:spcAft>
                          <a:spcPts val="0"/>
                        </a:spcAft>
                        <a:buNone/>
                      </a:pPr>
                      <a:r>
                        <a:rPr sz="800" b="0" i="0">
                          <a:solidFill>
                            <a:srgbClr val="414141"/>
                          </a:solidFill>
                          <a:latin typeface="Arial"/>
                        </a:rPr>
                        <a:t>9 %</a:t>
                      </a:r>
                    </a:p>
                  </a:txBody>
                  <a:tcPr marL="54864" marR="54864" marT="18288" marB="18288" anchor="ctr">
                    <a:lnL w="9525">
                      <a:noFill/>
                    </a:lnL>
                    <a:lnR w="9525">
                      <a:noFill/>
                    </a:lnR>
                    <a:lnT w="9525">
                      <a:noFill/>
                    </a:lnT>
                    <a:lnB w="9525">
                      <a:solidFill>
                        <a:srgbClr val="D9D9D9"/>
                      </a:solidFill>
                    </a:lnB>
                    <a:solidFill>
                      <a:srgbClr val="CEDCED"/>
                    </a:solidFill>
                  </a:tcPr>
                </a:tc>
                <a:tc>
                  <a:txBody>
                    <a:bodyPr wrap="square"/>
                    <a:lstStyle/>
                    <a:p>
                      <a:pPr algn="ctr" marL="0" indent="0">
                        <a:spcBef>
                          <a:spcPts val="0"/>
                        </a:spcBef>
                        <a:spcAft>
                          <a:spcPts val="0"/>
                        </a:spcAft>
                        <a:buNone/>
                      </a:pPr>
                      <a:r>
                        <a:rPr sz="1200" b="1" i="0">
                          <a:solidFill>
                            <a:srgbClr val="FFFFFF"/>
                          </a:solidFill>
                          <a:latin typeface="Arial"/>
                        </a:rPr>
                        <a:t>27</a:t>
                      </a:r>
                    </a:p>
                    <a:p>
                      <a:pPr algn="ctr" marL="0" indent="0">
                        <a:spcBef>
                          <a:spcPts val="0"/>
                        </a:spcBef>
                        <a:spcAft>
                          <a:spcPts val="0"/>
                        </a:spcAft>
                        <a:buNone/>
                      </a:pPr>
                      <a:r>
                        <a:rPr sz="800" b="0" i="0">
                          <a:solidFill>
                            <a:srgbClr val="FFFFFF"/>
                          </a:solidFill>
                          <a:latin typeface="Arial"/>
                        </a:rPr>
                        <a:t>84 %</a:t>
                      </a:r>
                    </a:p>
                  </a:txBody>
                  <a:tcPr marL="54864" marR="54864" marT="18288" marB="18288" anchor="ctr">
                    <a:lnL w="9525">
                      <a:noFill/>
                    </a:lnL>
                    <a:lnR w="9525">
                      <a:noFill/>
                    </a:lnR>
                    <a:lnT w="9525">
                      <a:noFill/>
                    </a:lnT>
                    <a:lnB w="9525">
                      <a:solidFill>
                        <a:srgbClr val="D9D9D9"/>
                      </a:solidFill>
                    </a:lnB>
                    <a:solidFill>
                      <a:srgbClr val="3974B5"/>
                    </a:solidFill>
                  </a:tcPr>
                </a:tc>
                <a:tc>
                  <a:txBody>
                    <a:bodyPr wrap="square"/>
                    <a:lstStyle/>
                    <a:p>
                      <a:pPr algn="ctr" marL="0" indent="0">
                        <a:spcBef>
                          <a:spcPts val="0"/>
                        </a:spcBef>
                        <a:spcAft>
                          <a:spcPts val="0"/>
                        </a:spcAft>
                        <a:buNone/>
                      </a:pPr>
                      <a:r>
                        <a:rPr sz="1200" b="1" i="0">
                          <a:solidFill>
                            <a:srgbClr val="414141"/>
                          </a:solidFill>
                          <a:latin typeface="Arial"/>
                        </a:rPr>
                        <a:t>2</a:t>
                      </a:r>
                    </a:p>
                    <a:p>
                      <a:pPr algn="ctr" marL="0" indent="0">
                        <a:spcBef>
                          <a:spcPts val="0"/>
                        </a:spcBef>
                        <a:spcAft>
                          <a:spcPts val="0"/>
                        </a:spcAft>
                        <a:buNone/>
                      </a:pPr>
                      <a:r>
                        <a:rPr sz="800" b="0" i="0">
                          <a:solidFill>
                            <a:srgbClr val="414141"/>
                          </a:solidFill>
                          <a:latin typeface="Arial"/>
                        </a:rPr>
                        <a:t>6 %</a:t>
                      </a:r>
                    </a:p>
                  </a:txBody>
                  <a:tcPr marL="54864" marR="54864" marT="18288" marB="18288" anchor="ctr">
                    <a:lnL w="9525">
                      <a:noFill/>
                    </a:lnL>
                    <a:lnR w="9525">
                      <a:noFill/>
                    </a:lnR>
                    <a:lnT w="9525">
                      <a:noFill/>
                    </a:lnT>
                    <a:lnB w="9525">
                      <a:solidFill>
                        <a:srgbClr val="D9D9D9"/>
                      </a:solidFill>
                    </a:lnB>
                    <a:solidFill>
                      <a:srgbClr val="D4E1EF"/>
                    </a:solidFill>
                  </a:tcPr>
                </a:tc>
              </a:tr>
              <a:tr h="502920">
                <a:tc>
                  <a:txBody>
                    <a:bodyPr wrap="square"/>
                    <a:lstStyle/>
                    <a:p>
                      <a:pPr algn="ctr" marL="0" indent="0">
                        <a:spcBef>
                          <a:spcPts val="0"/>
                        </a:spcBef>
                        <a:spcAft>
                          <a:spcPts val="0"/>
                        </a:spcAft>
                        <a:buNone/>
                      </a:pPr>
                      <a:r>
                        <a:rPr sz="900" b="0" i="0">
                          <a:solidFill>
                            <a:srgbClr val="8C8C8C"/>
                          </a:solidFill>
                          <a:latin typeface="Arial"/>
                        </a:rPr>
                        <a:t>Sur.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200" b="1" i="0">
                          <a:solidFill>
                            <a:srgbClr val="414141"/>
                          </a:solidFill>
                          <a:latin typeface="Arial"/>
                        </a:rPr>
                        <a:t>3</a:t>
                      </a:r>
                    </a:p>
                    <a:p>
                      <a:pPr algn="ctr" marL="0" indent="0">
                        <a:spcBef>
                          <a:spcPts val="0"/>
                        </a:spcBef>
                        <a:spcAft>
                          <a:spcPts val="0"/>
                        </a:spcAft>
                        <a:buNone/>
                      </a:pPr>
                      <a:r>
                        <a:rPr sz="800" b="0" i="0">
                          <a:solidFill>
                            <a:srgbClr val="414141"/>
                          </a:solidFill>
                          <a:latin typeface="Arial"/>
                        </a:rPr>
                        <a:t>12 %</a:t>
                      </a:r>
                    </a:p>
                  </a:txBody>
                  <a:tcPr marL="54864" marR="54864" marT="18288" marB="18288" anchor="ctr">
                    <a:lnL w="9525">
                      <a:noFill/>
                    </a:lnL>
                    <a:lnR w="9525">
                      <a:noFill/>
                    </a:lnR>
                    <a:lnT w="9525">
                      <a:noFill/>
                    </a:lnT>
                    <a:lnB w="9525">
                      <a:solidFill>
                        <a:srgbClr val="D9D9D9"/>
                      </a:solidFill>
                    </a:lnB>
                    <a:solidFill>
                      <a:srgbClr val="C9D9EB"/>
                    </a:solidFill>
                  </a:tcPr>
                </a:tc>
                <a:tc>
                  <a:txBody>
                    <a:bodyPr wrap="square"/>
                    <a:lstStyle/>
                    <a:p>
                      <a:pPr algn="ctr" marL="0" indent="0">
                        <a:spcBef>
                          <a:spcPts val="0"/>
                        </a:spcBef>
                        <a:spcAft>
                          <a:spcPts val="0"/>
                        </a:spcAft>
                        <a:buNone/>
                      </a:pPr>
                      <a:r>
                        <a:rPr sz="1200" b="1" i="0">
                          <a:solidFill>
                            <a:srgbClr val="414141"/>
                          </a:solidFill>
                          <a:latin typeface="Arial"/>
                        </a:rPr>
                        <a:t>4</a:t>
                      </a:r>
                    </a:p>
                    <a:p>
                      <a:pPr algn="ctr" marL="0" indent="0">
                        <a:spcBef>
                          <a:spcPts val="0"/>
                        </a:spcBef>
                        <a:spcAft>
                          <a:spcPts val="0"/>
                        </a:spcAft>
                        <a:buNone/>
                      </a:pPr>
                      <a:r>
                        <a:rPr sz="800" b="0" i="0">
                          <a:solidFill>
                            <a:srgbClr val="414141"/>
                          </a:solidFill>
                          <a:latin typeface="Arial"/>
                        </a:rPr>
                        <a:t>16 %</a:t>
                      </a:r>
                    </a:p>
                  </a:txBody>
                  <a:tcPr marL="54864" marR="54864" marT="18288" marB="18288" anchor="ctr">
                    <a:lnL w="9525">
                      <a:noFill/>
                    </a:lnL>
                    <a:lnR w="9525">
                      <a:noFill/>
                    </a:lnR>
                    <a:lnT w="9525">
                      <a:noFill/>
                    </a:lnT>
                    <a:lnB w="9525">
                      <a:solidFill>
                        <a:srgbClr val="D9D9D9"/>
                      </a:solidFill>
                    </a:lnB>
                    <a:solidFill>
                      <a:srgbClr val="C1D3E8"/>
                    </a:solidFill>
                  </a:tcPr>
                </a:tc>
                <a:tc>
                  <a:txBody>
                    <a:bodyPr wrap="square"/>
                    <a:lstStyle/>
                    <a:p>
                      <a:pPr algn="ctr" marL="0" indent="0">
                        <a:spcBef>
                          <a:spcPts val="0"/>
                        </a:spcBef>
                        <a:spcAft>
                          <a:spcPts val="0"/>
                        </a:spcAft>
                        <a:buNone/>
                      </a:pPr>
                      <a:r>
                        <a:rPr sz="1200" b="1" i="0">
                          <a:solidFill>
                            <a:srgbClr val="FFFFFF"/>
                          </a:solidFill>
                          <a:latin typeface="Arial"/>
                        </a:rPr>
                        <a:t>18</a:t>
                      </a:r>
                    </a:p>
                    <a:p>
                      <a:pPr algn="ctr" marL="0" indent="0">
                        <a:spcBef>
                          <a:spcPts val="0"/>
                        </a:spcBef>
                        <a:spcAft>
                          <a:spcPts val="0"/>
                        </a:spcAft>
                        <a:buNone/>
                      </a:pPr>
                      <a:r>
                        <a:rPr sz="800" b="0" i="0">
                          <a:solidFill>
                            <a:srgbClr val="FFFFFF"/>
                          </a:solidFill>
                          <a:latin typeface="Arial"/>
                        </a:rPr>
                        <a:t>72 %</a:t>
                      </a:r>
                    </a:p>
                  </a:txBody>
                  <a:tcPr marL="54864" marR="54864" marT="18288" marB="18288" anchor="ctr">
                    <a:lnL w="9525">
                      <a:noFill/>
                    </a:lnL>
                    <a:lnR w="9525">
                      <a:noFill/>
                    </a:lnR>
                    <a:lnT w="9525">
                      <a:noFill/>
                    </a:lnT>
                    <a:lnB w="9525">
                      <a:solidFill>
                        <a:srgbClr val="D9D9D9"/>
                      </a:solidFill>
                    </a:lnB>
                    <a:solidFill>
                      <a:srgbClr val="5185BE"/>
                    </a:solidFill>
                  </a:tcPr>
                </a:tc>
              </a:tr>
            </a:tbl>
          </a:graphicData>
        </a:graphic>
      </p:graphicFrame>
      <p:sp>
        <p:nvSpPr>
          <p:cNvPr id="926" name="TextBox 925"/>
          <p:cNvSpPr txBox="1"/>
          <p:nvPr/>
        </p:nvSpPr>
        <p:spPr>
          <a:xfrm>
            <a:off x="6126480" y="4160520"/>
            <a:ext cx="2514600" cy="274320"/>
          </a:xfrm>
          <a:prstGeom prst="rect">
            <a:avLst/>
          </a:prstGeom>
          <a:noFill/>
        </p:spPr>
        <p:txBody>
          <a:bodyPr wrap="square" lIns="45720" rIns="45720" tIns="27432" bIns="27432" anchor="t"/>
          <a:lstStyle/>
          <a:p>
            <a:pPr algn="l" marL="0" indent="0">
              <a:spcBef>
                <a:spcPts val="0"/>
              </a:spcBef>
              <a:spcAft>
                <a:spcPts val="300"/>
              </a:spcAft>
              <a:buNone/>
            </a:pPr>
            <a:r>
              <a:rPr sz="1000" b="0" i="1">
                <a:solidFill>
                  <a:srgbClr val="004CA0"/>
                </a:solidFill>
                <a:latin typeface="Arial"/>
              </a:rPr>
              <a:t>Similar recall on all three classes</a:t>
            </a:r>
          </a:p>
        </p:txBody>
      </p:sp>
      <p:sp>
        <p:nvSpPr>
          <p:cNvPr id="927" name="TextBox 926"/>
          <p:cNvSpPr txBox="1"/>
          <p:nvPr/>
        </p:nvSpPr>
        <p:spPr>
          <a:xfrm>
            <a:off x="685800" y="4462272"/>
            <a:ext cx="7955279" cy="320040"/>
          </a:xfrm>
          <a:prstGeom prst="rect">
            <a:avLst/>
          </a:prstGeom>
          <a:noFill/>
        </p:spPr>
        <p:txBody>
          <a:bodyPr wrap="square" lIns="45720" rIns="45720" tIns="27432" bIns="27432" anchor="t"/>
          <a:lstStyle/>
          <a:p>
            <a:pPr algn="l" marL="0" indent="0">
              <a:spcBef>
                <a:spcPts val="0"/>
              </a:spcBef>
              <a:spcAft>
                <a:spcPts val="300"/>
              </a:spcAft>
              <a:buNone/>
            </a:pPr>
            <a:r>
              <a:rPr sz="850" b="0" i="1">
                <a:solidFill>
                  <a:srgbClr val="8C8C8C"/>
                </a:solidFill>
                <a:latin typeface="Arial"/>
              </a:rPr>
              <a:t>Rows are true classes, columns are predicted classes; each cell gives the clip count and the row-normalised recall. Counts are summed over all 25 folds.</a:t>
            </a:r>
          </a:p>
        </p:txBody>
      </p:sp>
      <p:sp>
        <p:nvSpPr>
          <p:cNvPr id="928" name="TextBox 927"/>
          <p:cNvSpPr txBox="1"/>
          <p:nvPr/>
        </p:nvSpPr>
        <p:spPr>
          <a:xfrm>
            <a:off x="685800" y="4773168"/>
            <a:ext cx="7955279" cy="1188720"/>
          </a:xfrm>
          <a:prstGeom prst="rect">
            <a:avLst/>
          </a:prstGeom>
          <a:noFill/>
        </p:spPr>
        <p:txBody>
          <a:bodyPr wrap="square" lIns="45720" rIns="45720" tIns="27432" bIns="27432" anchor="t"/>
          <a:lstStyle/>
          <a:p>
            <a:pPr algn="l" marL="155448" indent="-155448">
              <a:spcBef>
                <a:spcPts val="0"/>
              </a:spcBef>
              <a:spcAft>
                <a:spcPts val="300"/>
              </a:spcAft>
              <a:buClr>
                <a:srgbClr val="A8CC2F"/>
              </a:buClr>
              <a:buFont typeface="Arial"/>
              <a:buChar char="•"/>
            </a:pPr>
            <a:r>
              <a:rPr sz="1050" b="0" i="0">
                <a:solidFill>
                  <a:srgbClr val="414141"/>
                </a:solidFill>
                <a:latin typeface="Arial"/>
              </a:rPr>
              <a:t>Without the transformer, most Negative clips are misclassified: in C1, 35 of 99 are predicted as Surprise and 22 as Positive</a:t>
            </a:r>
          </a:p>
          <a:p>
            <a:pPr algn="l" marL="155448" indent="-155448">
              <a:spcBef>
                <a:spcPts val="0"/>
              </a:spcBef>
              <a:spcAft>
                <a:spcPts val="300"/>
              </a:spcAft>
              <a:buClr>
                <a:srgbClr val="A8CC2F"/>
              </a:buClr>
              <a:buFont typeface="Arial"/>
              <a:buChar char="•"/>
            </a:pPr>
            <a:r>
              <a:rPr sz="1050" b="0" i="0">
                <a:solidFill>
                  <a:srgbClr val="414141"/>
                </a:solidFill>
                <a:latin typeface="Arial"/>
              </a:rPr>
              <a:t>With the stem and the transformer, predictions move towards Negative: in C8, 13 of 32 Positive clips are predicted as Negative</a:t>
            </a:r>
          </a:p>
          <a:p>
            <a:pPr algn="l" marL="155448" indent="-155448">
              <a:spcBef>
                <a:spcPts val="0"/>
              </a:spcBef>
              <a:spcAft>
                <a:spcPts val="300"/>
              </a:spcAft>
              <a:buClr>
                <a:srgbClr val="A8CC2F"/>
              </a:buClr>
              <a:buFont typeface="Arial"/>
              <a:buChar char="•"/>
            </a:pPr>
            <a:r>
              <a:rPr sz="1050" b="0" i="0">
                <a:solidFill>
                  <a:srgbClr val="414141"/>
                </a:solidFill>
                <a:latin typeface="Arial"/>
              </a:rPr>
              <a:t>C2 reaches a recall of 0.72, 0.84 and 0.72; its main error is predicting Positive for 20 Negative clips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WHY DID THE COMPONENTS BEHAVE THIS WAY?</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8"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18</a:t>
            </a:fld>
          </a:p>
        </p:txBody>
      </p:sp>
      <p:sp>
        <p:nvSpPr>
          <p:cNvPr id="919" name="Rectangle 918"/>
          <p:cNvSpPr/>
          <p:nvPr/>
        </p:nvSpPr>
        <p:spPr>
          <a:xfrm>
            <a:off x="685800" y="1783080"/>
            <a:ext cx="1883892"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TextBox 919"/>
          <p:cNvSpPr txBox="1"/>
          <p:nvPr/>
        </p:nvSpPr>
        <p:spPr>
          <a:xfrm>
            <a:off x="777240" y="1856231"/>
            <a:ext cx="1701012" cy="3383280"/>
          </a:xfrm>
          <a:prstGeom prst="rect">
            <a:avLst/>
          </a:prstGeom>
          <a:noFill/>
        </p:spPr>
        <p:txBody>
          <a:bodyPr wrap="square" lIns="45720" rIns="45720" tIns="27432" bIns="27432" anchor="t"/>
          <a:lstStyle/>
          <a:p>
            <a:pPr algn="l" marL="0" indent="0">
              <a:spcBef>
                <a:spcPts val="0"/>
              </a:spcBef>
              <a:spcAft>
                <a:spcPts val="200"/>
              </a:spcAft>
              <a:buNone/>
            </a:pPr>
            <a:r>
              <a:rPr sz="1150" b="1" i="0">
                <a:solidFill>
                  <a:srgbClr val="004CA0"/>
                </a:solidFill>
                <a:latin typeface="Arial"/>
              </a:rPr>
              <a:t>Temporal transformer</a:t>
            </a:r>
          </a:p>
          <a:p>
            <a:pPr algn="l" marL="0" indent="0">
              <a:spcBef>
                <a:spcPts val="0"/>
              </a:spcBef>
              <a:spcAft>
                <a:spcPts val="600"/>
              </a:spcAft>
              <a:buNone/>
            </a:pPr>
            <a:r>
              <a:rPr sz="1800" b="1" i="0">
                <a:solidFill>
                  <a:srgbClr val="004CA0"/>
                </a:solidFill>
                <a:latin typeface="Arial"/>
              </a:rPr>
              <a:t>+0.2173</a:t>
            </a:r>
          </a:p>
          <a:p>
            <a:pPr algn="l" marL="155448" indent="-155448">
              <a:spcBef>
                <a:spcPts val="0"/>
              </a:spcBef>
              <a:spcAft>
                <a:spcPts val="400"/>
              </a:spcAft>
              <a:buClr>
                <a:srgbClr val="A8CC2F"/>
              </a:buClr>
              <a:buFont typeface="Arial"/>
              <a:buChar char="•"/>
            </a:pPr>
            <a:r>
              <a:rPr sz="1000" b="0" i="0">
                <a:solidFill>
                  <a:srgbClr val="414141"/>
                </a:solidFill>
                <a:latin typeface="Arial"/>
              </a:rPr>
              <a:t>Its replacement averages over time, so the rising and falling phases partly cancel and their order is lost</a:t>
            </a:r>
          </a:p>
          <a:p>
            <a:pPr algn="l" marL="155448" indent="-155448">
              <a:spcBef>
                <a:spcPts val="0"/>
              </a:spcBef>
              <a:spcAft>
                <a:spcPts val="400"/>
              </a:spcAft>
              <a:buClr>
                <a:srgbClr val="A8CC2F"/>
              </a:buClr>
              <a:buFont typeface="Arial"/>
              <a:buChar char="•"/>
            </a:pPr>
            <a:r>
              <a:rPr sz="1000" b="0" i="0">
                <a:solidFill>
                  <a:srgbClr val="414141"/>
                </a:solidFill>
                <a:latin typeface="Arial"/>
              </a:rPr>
              <a:t>Positional encoding and self-attention can relate onset, apex and offset</a:t>
            </a:r>
          </a:p>
          <a:p>
            <a:pPr algn="l" marL="155448" indent="-155448">
              <a:spcBef>
                <a:spcPts val="0"/>
              </a:spcBef>
              <a:spcAft>
                <a:spcPts val="400"/>
              </a:spcAft>
              <a:buClr>
                <a:srgbClr val="A8CC2F"/>
              </a:buClr>
              <a:buFont typeface="Arial"/>
              <a:buChar char="•"/>
            </a:pPr>
            <a:r>
              <a:rPr sz="1000" b="0" i="0">
                <a:solidFill>
                  <a:srgbClr val="414141"/>
                </a:solidFill>
                <a:latin typeface="Arial"/>
              </a:rPr>
              <a:t>It also adds about 349,000 parameters, so order and capacity cannot be separated</a:t>
            </a:r>
          </a:p>
        </p:txBody>
      </p:sp>
      <p:sp>
        <p:nvSpPr>
          <p:cNvPr id="921" name="Rectangle 920"/>
          <p:cNvSpPr/>
          <p:nvPr/>
        </p:nvSpPr>
        <p:spPr>
          <a:xfrm>
            <a:off x="2709595" y="1783080"/>
            <a:ext cx="1883892"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TextBox 921"/>
          <p:cNvSpPr txBox="1"/>
          <p:nvPr/>
        </p:nvSpPr>
        <p:spPr>
          <a:xfrm>
            <a:off x="2801035" y="1856231"/>
            <a:ext cx="1701012" cy="3383280"/>
          </a:xfrm>
          <a:prstGeom prst="rect">
            <a:avLst/>
          </a:prstGeom>
          <a:noFill/>
        </p:spPr>
        <p:txBody>
          <a:bodyPr wrap="square" lIns="45720" rIns="45720" tIns="27432" bIns="27432" anchor="t"/>
          <a:lstStyle/>
          <a:p>
            <a:pPr algn="l" marL="0" indent="0">
              <a:spcBef>
                <a:spcPts val="0"/>
              </a:spcBef>
              <a:spcAft>
                <a:spcPts val="200"/>
              </a:spcAft>
              <a:buNone/>
            </a:pPr>
            <a:r>
              <a:rPr sz="1150" b="1" i="0">
                <a:solidFill>
                  <a:srgbClr val="004CA0"/>
                </a:solidFill>
                <a:latin typeface="Arial"/>
              </a:rPr>
              <a:t>Magnification</a:t>
            </a:r>
          </a:p>
          <a:p>
            <a:pPr algn="l" marL="0" indent="0">
              <a:spcBef>
                <a:spcPts val="0"/>
              </a:spcBef>
              <a:spcAft>
                <a:spcPts val="600"/>
              </a:spcAft>
              <a:buNone/>
            </a:pPr>
            <a:r>
              <a:rPr sz="1800" b="1" i="0">
                <a:solidFill>
                  <a:srgbClr val="8C8C8C"/>
                </a:solidFill>
                <a:latin typeface="Arial"/>
              </a:rPr>
              <a:t>+0.0152</a:t>
            </a:r>
          </a:p>
          <a:p>
            <a:pPr algn="l" marL="155448" indent="-155448">
              <a:spcBef>
                <a:spcPts val="0"/>
              </a:spcBef>
              <a:spcAft>
                <a:spcPts val="400"/>
              </a:spcAft>
              <a:buClr>
                <a:srgbClr val="A8CC2F"/>
              </a:buClr>
              <a:buFont typeface="Arial"/>
              <a:buChar char="•"/>
            </a:pPr>
            <a:r>
              <a:rPr sz="1000" b="0" i="0">
                <a:solidFill>
                  <a:srgbClr val="414141"/>
                </a:solidFill>
                <a:latin typeface="Arial"/>
              </a:rPr>
              <a:t>Optical flow already recovers faint motion, and per-channel normalisation removes amplitude differences</a:t>
            </a:r>
          </a:p>
          <a:p>
            <a:pPr algn="l" marL="155448" indent="-155448">
              <a:spcBef>
                <a:spcPts val="0"/>
              </a:spcBef>
              <a:spcAft>
                <a:spcPts val="400"/>
              </a:spcAft>
              <a:buClr>
                <a:srgbClr val="A8CC2F"/>
              </a:buClr>
              <a:buFont typeface="Arial"/>
              <a:buChar char="•"/>
            </a:pPr>
            <a:r>
              <a:rPr sz="1000" b="0" i="0">
                <a:solidFill>
                  <a:srgbClr val="414141"/>
                </a:solidFill>
                <a:latin typeface="Arial"/>
              </a:rPr>
              <a:t>Without alignment, head movement and noise are amplified too</a:t>
            </a:r>
          </a:p>
          <a:p>
            <a:pPr algn="l" marL="155448" indent="-155448">
              <a:spcBef>
                <a:spcPts val="0"/>
              </a:spcBef>
              <a:spcAft>
                <a:spcPts val="400"/>
              </a:spcAft>
              <a:buClr>
                <a:srgbClr val="A8CC2F"/>
              </a:buClr>
              <a:buFont typeface="Arial"/>
              <a:buChar char="•"/>
            </a:pPr>
            <a:r>
              <a:rPr sz="1000" b="0" i="0">
                <a:solidFill>
                  <a:srgbClr val="414141"/>
                </a:solidFill>
                <a:latin typeface="Arial"/>
              </a:rPr>
              <a:t>α = 10 was not tuned for a motion representation</a:t>
            </a:r>
          </a:p>
        </p:txBody>
      </p:sp>
      <p:sp>
        <p:nvSpPr>
          <p:cNvPr id="923" name="Rectangle 922"/>
          <p:cNvSpPr/>
          <p:nvPr/>
        </p:nvSpPr>
        <p:spPr>
          <a:xfrm>
            <a:off x="4733391" y="1783080"/>
            <a:ext cx="1883892"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TextBox 923"/>
          <p:cNvSpPr txBox="1"/>
          <p:nvPr/>
        </p:nvSpPr>
        <p:spPr>
          <a:xfrm>
            <a:off x="4824831" y="1856231"/>
            <a:ext cx="1701012" cy="3383280"/>
          </a:xfrm>
          <a:prstGeom prst="rect">
            <a:avLst/>
          </a:prstGeom>
          <a:noFill/>
        </p:spPr>
        <p:txBody>
          <a:bodyPr wrap="square" lIns="45720" rIns="45720" tIns="27432" bIns="27432" anchor="t"/>
          <a:lstStyle/>
          <a:p>
            <a:pPr algn="l" marL="0" indent="0">
              <a:spcBef>
                <a:spcPts val="0"/>
              </a:spcBef>
              <a:spcAft>
                <a:spcPts val="200"/>
              </a:spcAft>
              <a:buNone/>
            </a:pPr>
            <a:r>
              <a:rPr sz="1150" b="1" i="0">
                <a:solidFill>
                  <a:srgbClr val="004CA0"/>
                </a:solidFill>
                <a:latin typeface="Arial"/>
              </a:rPr>
              <a:t>SimAM attention</a:t>
            </a:r>
          </a:p>
          <a:p>
            <a:pPr algn="l" marL="0" indent="0">
              <a:spcBef>
                <a:spcPts val="0"/>
              </a:spcBef>
              <a:spcAft>
                <a:spcPts val="600"/>
              </a:spcAft>
              <a:buNone/>
            </a:pPr>
            <a:r>
              <a:rPr sz="1800" b="1" i="0">
                <a:solidFill>
                  <a:srgbClr val="8C8C8C"/>
                </a:solidFill>
                <a:latin typeface="Arial"/>
              </a:rPr>
              <a:t>+0.0034</a:t>
            </a:r>
          </a:p>
          <a:p>
            <a:pPr algn="l" marL="155448" indent="-155448">
              <a:spcBef>
                <a:spcPts val="0"/>
              </a:spcBef>
              <a:spcAft>
                <a:spcPts val="400"/>
              </a:spcAft>
              <a:buClr>
                <a:srgbClr val="A8CC2F"/>
              </a:buClr>
              <a:buFont typeface="Arial"/>
              <a:buChar char="•"/>
            </a:pPr>
            <a:r>
              <a:rPr sz="1000" b="0" i="0">
                <a:solidFill>
                  <a:srgbClr val="414141"/>
                </a:solidFill>
                <a:latin typeface="Arial"/>
              </a:rPr>
              <a:t>Its weight lies only between about 0.62 and 1</a:t>
            </a:r>
          </a:p>
          <a:p>
            <a:pPr algn="l" marL="155448" indent="-155448">
              <a:spcBef>
                <a:spcPts val="0"/>
              </a:spcBef>
              <a:spcAft>
                <a:spcPts val="400"/>
              </a:spcAft>
              <a:buClr>
                <a:srgbClr val="A8CC2F"/>
              </a:buClr>
              <a:buFont typeface="Arial"/>
              <a:buChar char="•"/>
            </a:pPr>
            <a:r>
              <a:rPr sz="1000" b="0" i="0">
                <a:solidFill>
                  <a:srgbClr val="414141"/>
                </a:solidFill>
                <a:latin typeface="Arial"/>
              </a:rPr>
              <a:t>The output is then averaged over the whole frame</a:t>
            </a:r>
          </a:p>
          <a:p>
            <a:pPr algn="l" marL="155448" indent="-155448">
              <a:spcBef>
                <a:spcPts val="0"/>
              </a:spcBef>
              <a:spcAft>
                <a:spcPts val="400"/>
              </a:spcAft>
              <a:buClr>
                <a:srgbClr val="A8CC2F"/>
              </a:buClr>
              <a:buFont typeface="Arial"/>
              <a:buChar char="•"/>
            </a:pPr>
            <a:r>
              <a:rPr sz="1000" b="0" i="0">
                <a:solidFill>
                  <a:srgbClr val="414141"/>
                </a:solidFill>
                <a:latin typeface="Arial"/>
              </a:rPr>
              <a:t>Statistics are computed per clip; λ was not tuned</a:t>
            </a:r>
          </a:p>
        </p:txBody>
      </p:sp>
      <p:sp>
        <p:nvSpPr>
          <p:cNvPr id="925" name="Rectangle 924"/>
          <p:cNvSpPr/>
          <p:nvPr/>
        </p:nvSpPr>
        <p:spPr>
          <a:xfrm>
            <a:off x="6757187" y="1783080"/>
            <a:ext cx="1883892"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TextBox 925"/>
          <p:cNvSpPr txBox="1"/>
          <p:nvPr/>
        </p:nvSpPr>
        <p:spPr>
          <a:xfrm>
            <a:off x="6848627" y="1856231"/>
            <a:ext cx="1701012" cy="3383280"/>
          </a:xfrm>
          <a:prstGeom prst="rect">
            <a:avLst/>
          </a:prstGeom>
          <a:noFill/>
        </p:spPr>
        <p:txBody>
          <a:bodyPr wrap="square" lIns="45720" rIns="45720" tIns="27432" bIns="27432" anchor="t"/>
          <a:lstStyle/>
          <a:p>
            <a:pPr algn="l" marL="0" indent="0">
              <a:spcBef>
                <a:spcPts val="0"/>
              </a:spcBef>
              <a:spcAft>
                <a:spcPts val="200"/>
              </a:spcAft>
              <a:buNone/>
            </a:pPr>
            <a:r>
              <a:rPr sz="1150" b="1" i="0">
                <a:solidFill>
                  <a:srgbClr val="004CA0"/>
                </a:solidFill>
                <a:latin typeface="Arial"/>
              </a:rPr>
              <a:t>Convolutional stem</a:t>
            </a:r>
          </a:p>
          <a:p>
            <a:pPr algn="l" marL="0" indent="0">
              <a:spcBef>
                <a:spcPts val="0"/>
              </a:spcBef>
              <a:spcAft>
                <a:spcPts val="600"/>
              </a:spcAft>
              <a:buNone/>
            </a:pPr>
            <a:r>
              <a:rPr sz="1800" b="1" i="0">
                <a:solidFill>
                  <a:srgbClr val="D2007E"/>
                </a:solidFill>
                <a:latin typeface="Arial"/>
              </a:rPr>
              <a:t>−0.0310</a:t>
            </a:r>
          </a:p>
          <a:p>
            <a:pPr algn="l" marL="155448" indent="-155448">
              <a:spcBef>
                <a:spcPts val="0"/>
              </a:spcBef>
              <a:spcAft>
                <a:spcPts val="400"/>
              </a:spcAft>
              <a:buClr>
                <a:srgbClr val="A8CC2F"/>
              </a:buClr>
              <a:buFont typeface="Arial"/>
              <a:buChar char="•"/>
            </a:pPr>
            <a:r>
              <a:rPr sz="1000" b="0" i="0">
                <a:solidFill>
                  <a:srgbClr val="414141"/>
                </a:solidFill>
                <a:latin typeface="Arial"/>
              </a:rPr>
              <a:t>Its output is averaged over the whole frame, discarding location; the replacement keeps a 4 × 4 grid</a:t>
            </a:r>
          </a:p>
          <a:p>
            <a:pPr algn="l" marL="155448" indent="-155448">
              <a:spcBef>
                <a:spcPts val="0"/>
              </a:spcBef>
              <a:spcAft>
                <a:spcPts val="400"/>
              </a:spcAft>
              <a:buClr>
                <a:srgbClr val="A8CC2F"/>
              </a:buClr>
              <a:buFont typeface="Arial"/>
              <a:buChar char="•"/>
            </a:pPr>
            <a:r>
              <a:rPr sz="1000" b="0" i="0">
                <a:solidFill>
                  <a:srgbClr val="414141"/>
                </a:solidFill>
                <a:latin typeface="Arial"/>
              </a:rPr>
              <a:t>Flow and strain already make motion explicit</a:t>
            </a:r>
          </a:p>
          <a:p>
            <a:pPr algn="l" marL="155448" indent="-155448">
              <a:spcBef>
                <a:spcPts val="0"/>
              </a:spcBef>
              <a:spcAft>
                <a:spcPts val="400"/>
              </a:spcAft>
              <a:buClr>
                <a:srgbClr val="A8CC2F"/>
              </a:buClr>
              <a:buFont typeface="Arial"/>
              <a:buChar char="•"/>
            </a:pPr>
            <a:r>
              <a:rPr sz="1000" b="0" i="0">
                <a:solidFill>
                  <a:srgbClr val="414141"/>
                </a:solidFill>
                <a:latin typeface="Arial"/>
              </a:rPr>
              <a:t>224 × 224 input and only 156 clips</a:t>
            </a:r>
          </a:p>
        </p:txBody>
      </p:sp>
      <p:sp>
        <p:nvSpPr>
          <p:cNvPr id="927" name="Rectangle 926"/>
          <p:cNvSpPr/>
          <p:nvPr/>
        </p:nvSpPr>
        <p:spPr>
          <a:xfrm>
            <a:off x="685800" y="5440680"/>
            <a:ext cx="7955279" cy="50292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TextBox 927"/>
          <p:cNvSpPr txBox="1"/>
          <p:nvPr/>
        </p:nvSpPr>
        <p:spPr>
          <a:xfrm>
            <a:off x="822960" y="5495544"/>
            <a:ext cx="7680959" cy="393192"/>
          </a:xfrm>
          <a:prstGeom prst="rect">
            <a:avLst/>
          </a:prstGeom>
          <a:noFill/>
        </p:spPr>
        <p:txBody>
          <a:bodyPr wrap="square" lIns="45720" rIns="45720" tIns="27432" bIns="27432" anchor="ctr"/>
          <a:lstStyle/>
          <a:p>
            <a:pPr algn="l" marL="0" indent="0">
              <a:spcBef>
                <a:spcPts val="0"/>
              </a:spcBef>
              <a:spcAft>
                <a:spcPts val="300"/>
              </a:spcAft>
              <a:buNone/>
            </a:pPr>
            <a:r>
              <a:rPr sz="1100" b="1" i="0">
                <a:solidFill>
                  <a:srgbClr val="FFFFFF"/>
                </a:solidFill>
                <a:latin typeface="Arial"/>
              </a:rPr>
              <a:t>These are the most plausible accounts of the observed results. None was isolated experimentally.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COMPARISON WITH PUBLISHED RESULTS ON THE CASME II SUBSET</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03 · RESULTS</a:t>
            </a:r>
          </a:p>
        </p:txBody>
      </p:sp>
      <p:sp>
        <p:nvSpPr>
          <p:cNvPr id="919"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19</a:t>
            </a:fld>
          </a:p>
        </p:txBody>
      </p:sp>
      <p:graphicFrame>
        <p:nvGraphicFramePr>
          <p:cNvPr id="920" name="Chart 919"/>
          <p:cNvGraphicFramePr>
            <a:graphicFrameLocks noGrp="1"/>
          </p:cNvGraphicFramePr>
          <p:nvPr/>
        </p:nvGraphicFramePr>
        <p:xfrm>
          <a:off x="594360" y="1691640"/>
          <a:ext cx="4480560" cy="3931920"/>
        </p:xfrm>
        <a:graphic>
          <a:graphicData uri="http://schemas.openxmlformats.org/drawingml/2006/chart">
            <c:chart xmlns:c="http://schemas.openxmlformats.org/drawingml/2006/chart" r:id="rId3"/>
          </a:graphicData>
        </a:graphic>
      </p:graphicFrame>
      <p:sp>
        <p:nvSpPr>
          <p:cNvPr id="921" name="TextBox 920"/>
          <p:cNvSpPr txBox="1"/>
          <p:nvPr/>
        </p:nvSpPr>
        <p:spPr>
          <a:xfrm>
            <a:off x="685800" y="5623560"/>
            <a:ext cx="4389120" cy="274320"/>
          </a:xfrm>
          <a:prstGeom prst="rect">
            <a:avLst/>
          </a:prstGeom>
          <a:noFill/>
        </p:spPr>
        <p:txBody>
          <a:bodyPr wrap="square" lIns="45720" rIns="45720" tIns="27432" bIns="27432" anchor="t"/>
          <a:lstStyle/>
          <a:p>
            <a:pPr algn="ctr" marL="0" indent="0">
              <a:spcBef>
                <a:spcPts val="0"/>
              </a:spcBef>
              <a:spcAft>
                <a:spcPts val="300"/>
              </a:spcAft>
              <a:buNone/>
            </a:pPr>
            <a:r>
              <a:rPr sz="850" b="0" i="1">
                <a:solidFill>
                  <a:srgbClr val="8C8C8C"/>
                </a:solidFill>
                <a:latin typeface="Arial"/>
              </a:rPr>
              <a:t>UF1 on the CASME II subset, MEGC 2019 (See et al., 2019)</a:t>
            </a:r>
          </a:p>
        </p:txBody>
      </p:sp>
      <p:sp>
        <p:nvSpPr>
          <p:cNvPr id="922" name="TextBox 921"/>
          <p:cNvSpPr txBox="1"/>
          <p:nvPr/>
        </p:nvSpPr>
        <p:spPr>
          <a:xfrm>
            <a:off x="5212080" y="1783080"/>
            <a:ext cx="3429000" cy="320040"/>
          </a:xfrm>
          <a:prstGeom prst="rect">
            <a:avLst/>
          </a:prstGeom>
          <a:noFill/>
        </p:spPr>
        <p:txBody>
          <a:bodyPr wrap="square" lIns="45720" rIns="45720" tIns="27432" bIns="27432" anchor="t"/>
          <a:lstStyle/>
          <a:p>
            <a:pPr algn="l" marL="0" indent="0">
              <a:spcBef>
                <a:spcPts val="0"/>
              </a:spcBef>
              <a:spcAft>
                <a:spcPts val="300"/>
              </a:spcAft>
              <a:buNone/>
            </a:pPr>
            <a:r>
              <a:rPr sz="1300" b="1" i="0">
                <a:solidFill>
                  <a:srgbClr val="004CA0"/>
                </a:solidFill>
                <a:latin typeface="Arial"/>
              </a:rPr>
              <a:t>Not a like-for-like comparison</a:t>
            </a:r>
          </a:p>
        </p:txBody>
      </p:sp>
      <p:sp>
        <p:nvSpPr>
          <p:cNvPr id="923" name="Rectangle 922"/>
          <p:cNvSpPr/>
          <p:nvPr/>
        </p:nvSpPr>
        <p:spPr>
          <a:xfrm>
            <a:off x="5212080" y="2194560"/>
            <a:ext cx="3429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TextBox 923"/>
          <p:cNvSpPr txBox="1"/>
          <p:nvPr/>
        </p:nvSpPr>
        <p:spPr>
          <a:xfrm>
            <a:off x="5303520" y="2258568"/>
            <a:ext cx="3246120" cy="832104"/>
          </a:xfrm>
          <a:prstGeom prst="rect">
            <a:avLst/>
          </a:prstGeom>
          <a:noFill/>
        </p:spPr>
        <p:txBody>
          <a:bodyPr wrap="square" lIns="45720" rIns="45720" tIns="27432" bIns="27432" anchor="t"/>
          <a:lstStyle/>
          <a:p>
            <a:pPr algn="l" marL="0" indent="0">
              <a:spcBef>
                <a:spcPts val="0"/>
              </a:spcBef>
              <a:spcAft>
                <a:spcPts val="200"/>
              </a:spcAft>
              <a:buNone/>
            </a:pPr>
            <a:r>
              <a:rPr sz="1100" b="1" i="0">
                <a:solidFill>
                  <a:srgbClr val="004CA0"/>
                </a:solidFill>
                <a:latin typeface="Arial"/>
              </a:rPr>
              <a:t>Training data</a:t>
            </a:r>
          </a:p>
          <a:p>
            <a:pPr algn="l" marL="0" indent="0">
              <a:spcBef>
                <a:spcPts val="0"/>
              </a:spcBef>
              <a:spcAft>
                <a:spcPts val="300"/>
              </a:spcAft>
              <a:buNone/>
            </a:pPr>
            <a:r>
              <a:rPr sz="1000" b="0" i="0">
                <a:solidFill>
                  <a:srgbClr val="414141"/>
                </a:solidFill>
                <a:latin typeface="Arial"/>
              </a:rPr>
              <a:t>Published entries are trained on the composite dataset of 442 samples from 68 subjects; this study uses 156 clips from 25 subjects.</a:t>
            </a:r>
          </a:p>
        </p:txBody>
      </p:sp>
      <p:sp>
        <p:nvSpPr>
          <p:cNvPr id="925" name="Rectangle 924"/>
          <p:cNvSpPr/>
          <p:nvPr/>
        </p:nvSpPr>
        <p:spPr>
          <a:xfrm>
            <a:off x="5212080" y="3246120"/>
            <a:ext cx="3429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TextBox 925"/>
          <p:cNvSpPr txBox="1"/>
          <p:nvPr/>
        </p:nvSpPr>
        <p:spPr>
          <a:xfrm>
            <a:off x="5303520" y="3310128"/>
            <a:ext cx="3246120" cy="832104"/>
          </a:xfrm>
          <a:prstGeom prst="rect">
            <a:avLst/>
          </a:prstGeom>
          <a:noFill/>
        </p:spPr>
        <p:txBody>
          <a:bodyPr wrap="square" lIns="45720" rIns="45720" tIns="27432" bIns="27432" anchor="t"/>
          <a:lstStyle/>
          <a:p>
            <a:pPr algn="l" marL="0" indent="0">
              <a:spcBef>
                <a:spcPts val="0"/>
              </a:spcBef>
              <a:spcAft>
                <a:spcPts val="200"/>
              </a:spcAft>
              <a:buNone/>
            </a:pPr>
            <a:r>
              <a:rPr sz="1100" b="1" i="0">
                <a:solidFill>
                  <a:srgbClr val="004CA0"/>
                </a:solidFill>
                <a:latin typeface="Arial"/>
              </a:rPr>
              <a:t>Evaluation data</a:t>
            </a:r>
          </a:p>
          <a:p>
            <a:pPr algn="l" marL="0" indent="0">
              <a:spcBef>
                <a:spcPts val="0"/>
              </a:spcBef>
              <a:spcAft>
                <a:spcPts val="300"/>
              </a:spcAft>
              <a:buNone/>
            </a:pPr>
            <a:r>
              <a:rPr sz="1000" b="0" i="0">
                <a:solidFill>
                  <a:srgbClr val="414141"/>
                </a:solidFill>
                <a:latin typeface="Arial"/>
              </a:rPr>
              <a:t>The MEGC subset has 145 clips; this study uses 156, because sadness and fear are included in Negative.</a:t>
            </a:r>
          </a:p>
        </p:txBody>
      </p:sp>
      <p:sp>
        <p:nvSpPr>
          <p:cNvPr id="927" name="Rectangle 926"/>
          <p:cNvSpPr/>
          <p:nvPr/>
        </p:nvSpPr>
        <p:spPr>
          <a:xfrm>
            <a:off x="5212080" y="4297679"/>
            <a:ext cx="3429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TextBox 927"/>
          <p:cNvSpPr txBox="1"/>
          <p:nvPr/>
        </p:nvSpPr>
        <p:spPr>
          <a:xfrm>
            <a:off x="5303520" y="4361687"/>
            <a:ext cx="3246120" cy="832104"/>
          </a:xfrm>
          <a:prstGeom prst="rect">
            <a:avLst/>
          </a:prstGeom>
          <a:noFill/>
        </p:spPr>
        <p:txBody>
          <a:bodyPr wrap="square" lIns="45720" rIns="45720" tIns="27432" bIns="27432" anchor="t"/>
          <a:lstStyle/>
          <a:p>
            <a:pPr algn="l" marL="0" indent="0">
              <a:spcBef>
                <a:spcPts val="0"/>
              </a:spcBef>
              <a:spcAft>
                <a:spcPts val="200"/>
              </a:spcAft>
              <a:buNone/>
            </a:pPr>
            <a:r>
              <a:rPr sz="1100" b="1" i="0">
                <a:solidFill>
                  <a:srgbClr val="004CA0"/>
                </a:solidFill>
                <a:latin typeface="Arial"/>
              </a:rPr>
              <a:t>Checkpoint selection</a:t>
            </a:r>
          </a:p>
          <a:p>
            <a:pPr algn="l" marL="0" indent="0">
              <a:spcBef>
                <a:spcPts val="0"/>
              </a:spcBef>
              <a:spcAft>
                <a:spcPts val="300"/>
              </a:spcAft>
              <a:buNone/>
            </a:pPr>
            <a:r>
              <a:rPr sz="1000" b="0" i="0">
                <a:solidFill>
                  <a:srgbClr val="414141"/>
                </a:solidFill>
                <a:latin typeface="Arial"/>
              </a:rPr>
              <a:t>This study selects the epoch on the held-out subject, which can only raise its scores.</a:t>
            </a:r>
          </a:p>
        </p:txBody>
      </p:sp>
      <p:sp>
        <p:nvSpPr>
          <p:cNvPr id="929" name="TextBox 928"/>
          <p:cNvSpPr txBox="1"/>
          <p:nvPr/>
        </p:nvSpPr>
        <p:spPr>
          <a:xfrm>
            <a:off x="5212080" y="5394960"/>
            <a:ext cx="3429000" cy="548640"/>
          </a:xfrm>
          <a:prstGeom prst="rect">
            <a:avLst/>
          </a:prstGeom>
          <a:noFill/>
        </p:spPr>
        <p:txBody>
          <a:bodyPr wrap="square" lIns="45720" rIns="45720" tIns="27432" bIns="27432" anchor="t"/>
          <a:lstStyle/>
          <a:p>
            <a:pPr algn="l" marL="0" indent="0">
              <a:spcBef>
                <a:spcPts val="0"/>
              </a:spcBef>
              <a:spcAft>
                <a:spcPts val="300"/>
              </a:spcAft>
              <a:buNone/>
            </a:pPr>
            <a:r>
              <a:rPr sz="1050" b="0" i="1">
                <a:solidFill>
                  <a:srgbClr val="004CA0"/>
                </a:solidFill>
                <a:latin typeface="Arial"/>
              </a:rPr>
              <a:t>The comparison locates the results; it does not establish state-of-the-art performance.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ANSWERS TO THE RESEARCH QUESTIONS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04 · CONCLUSION</a:t>
            </a:r>
          </a:p>
        </p:txBody>
      </p:sp>
      <p:sp>
        <p:nvSpPr>
          <p:cNvPr id="920"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20</a:t>
            </a:fld>
          </a:p>
        </p:txBody>
      </p:sp>
      <p:sp>
        <p:nvSpPr>
          <p:cNvPr id="921" name="Rectangle 920"/>
          <p:cNvSpPr/>
          <p:nvPr/>
        </p:nvSpPr>
        <p:spPr>
          <a:xfrm>
            <a:off x="685800" y="1783080"/>
            <a:ext cx="7955279"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Oval 921"/>
          <p:cNvSpPr/>
          <p:nvPr/>
        </p:nvSpPr>
        <p:spPr>
          <a:xfrm>
            <a:off x="822960" y="2025395"/>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1</a:t>
            </a:r>
          </a:p>
        </p:txBody>
      </p:sp>
      <p:sp>
        <p:nvSpPr>
          <p:cNvPr id="923" name="TextBox 922"/>
          <p:cNvSpPr txBox="1"/>
          <p:nvPr/>
        </p:nvSpPr>
        <p:spPr>
          <a:xfrm>
            <a:off x="1325880" y="1783080"/>
            <a:ext cx="2103120" cy="868680"/>
          </a:xfrm>
          <a:prstGeom prst="rect">
            <a:avLst/>
          </a:prstGeom>
          <a:noFill/>
        </p:spPr>
        <p:txBody>
          <a:bodyPr wrap="square" lIns="45720" rIns="45720" tIns="27432" bIns="27432" anchor="ctr"/>
          <a:lstStyle/>
          <a:p>
            <a:pPr algn="l" marL="0" indent="0">
              <a:spcBef>
                <a:spcPts val="0"/>
              </a:spcBef>
              <a:spcAft>
                <a:spcPts val="0"/>
              </a:spcAft>
              <a:buNone/>
            </a:pPr>
            <a:r>
              <a:rPr sz="1250" b="1" i="0">
                <a:solidFill>
                  <a:srgbClr val="004CA0"/>
                </a:solidFill>
                <a:latin typeface="Arial"/>
              </a:rPr>
              <a:t>Temporal modelling</a:t>
            </a:r>
          </a:p>
        </p:txBody>
      </p:sp>
      <p:sp>
        <p:nvSpPr>
          <p:cNvPr id="924" name="TextBox 923"/>
          <p:cNvSpPr txBox="1"/>
          <p:nvPr/>
        </p:nvSpPr>
        <p:spPr>
          <a:xfrm>
            <a:off x="3474720" y="1783080"/>
            <a:ext cx="5074920" cy="868680"/>
          </a:xfrm>
          <a:prstGeom prst="rect">
            <a:avLst/>
          </a:prstGeom>
          <a:noFill/>
        </p:spPr>
        <p:txBody>
          <a:bodyPr wrap="square" lIns="45720" rIns="45720" tIns="27432" bIns="27432" anchor="ctr"/>
          <a:lstStyle/>
          <a:p>
            <a:pPr algn="l" marL="0" indent="0">
              <a:spcBef>
                <a:spcPts val="0"/>
              </a:spcBef>
              <a:spcAft>
                <a:spcPts val="0"/>
              </a:spcAft>
              <a:buNone/>
            </a:pPr>
            <a:r>
              <a:rPr sz="1100" b="0" i="0">
                <a:solidFill>
                  <a:srgbClr val="414141"/>
                </a:solidFill>
                <a:latin typeface="Arial"/>
              </a:rPr>
              <a:t>Largest improvement by far: +0.2173 on average, and all six pairs improve. The best configuration contains the transformer alone (0.7122).</a:t>
            </a:r>
          </a:p>
        </p:txBody>
      </p:sp>
      <p:sp>
        <p:nvSpPr>
          <p:cNvPr id="925" name="Rectangle 924"/>
          <p:cNvSpPr/>
          <p:nvPr/>
        </p:nvSpPr>
        <p:spPr>
          <a:xfrm>
            <a:off x="685800" y="2743200"/>
            <a:ext cx="7955279"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Oval 925"/>
          <p:cNvSpPr/>
          <p:nvPr/>
        </p:nvSpPr>
        <p:spPr>
          <a:xfrm>
            <a:off x="822960" y="2985516"/>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2</a:t>
            </a:r>
          </a:p>
        </p:txBody>
      </p:sp>
      <p:sp>
        <p:nvSpPr>
          <p:cNvPr id="927" name="TextBox 926"/>
          <p:cNvSpPr txBox="1"/>
          <p:nvPr/>
        </p:nvSpPr>
        <p:spPr>
          <a:xfrm>
            <a:off x="1325880" y="2743200"/>
            <a:ext cx="2103120" cy="868680"/>
          </a:xfrm>
          <a:prstGeom prst="rect">
            <a:avLst/>
          </a:prstGeom>
          <a:noFill/>
        </p:spPr>
        <p:txBody>
          <a:bodyPr wrap="square" lIns="45720" rIns="45720" tIns="27432" bIns="27432" anchor="ctr"/>
          <a:lstStyle/>
          <a:p>
            <a:pPr algn="l" marL="0" indent="0">
              <a:spcBef>
                <a:spcPts val="0"/>
              </a:spcBef>
              <a:spcAft>
                <a:spcPts val="0"/>
              </a:spcAft>
              <a:buNone/>
            </a:pPr>
            <a:r>
              <a:rPr sz="1250" b="1" i="0">
                <a:solidFill>
                  <a:srgbClr val="004CA0"/>
                </a:solidFill>
                <a:latin typeface="Arial"/>
              </a:rPr>
              <a:t>Motion magnification</a:t>
            </a:r>
          </a:p>
        </p:txBody>
      </p:sp>
      <p:sp>
        <p:nvSpPr>
          <p:cNvPr id="928" name="TextBox 927"/>
          <p:cNvSpPr txBox="1"/>
          <p:nvPr/>
        </p:nvSpPr>
        <p:spPr>
          <a:xfrm>
            <a:off x="3474720" y="2743200"/>
            <a:ext cx="5074920" cy="868680"/>
          </a:xfrm>
          <a:prstGeom prst="rect">
            <a:avLst/>
          </a:prstGeom>
          <a:noFill/>
        </p:spPr>
        <p:txBody>
          <a:bodyPr wrap="square" lIns="45720" rIns="45720" tIns="27432" bIns="27432" anchor="ctr"/>
          <a:lstStyle/>
          <a:p>
            <a:pPr algn="l" marL="0" indent="0">
              <a:spcBef>
                <a:spcPts val="0"/>
              </a:spcBef>
              <a:spcAft>
                <a:spcPts val="0"/>
              </a:spcAft>
              <a:buNone/>
            </a:pPr>
            <a:r>
              <a:rPr sz="1100" b="0" i="0">
                <a:solidFill>
                  <a:srgbClr val="414141"/>
                </a:solidFill>
                <a:latin typeface="Arial"/>
              </a:rPr>
              <a:t>No reliable improvement: +0.0152 on average, four of six pairs improve, and adding it to the best configuration loses 0.0541.</a:t>
            </a:r>
          </a:p>
        </p:txBody>
      </p:sp>
      <p:sp>
        <p:nvSpPr>
          <p:cNvPr id="929" name="Rectangle 928"/>
          <p:cNvSpPr/>
          <p:nvPr/>
        </p:nvSpPr>
        <p:spPr>
          <a:xfrm>
            <a:off x="685800" y="3703320"/>
            <a:ext cx="7955279"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Oval 929"/>
          <p:cNvSpPr/>
          <p:nvPr/>
        </p:nvSpPr>
        <p:spPr>
          <a:xfrm>
            <a:off x="822960" y="3945635"/>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3</a:t>
            </a:r>
          </a:p>
        </p:txBody>
      </p:sp>
      <p:sp>
        <p:nvSpPr>
          <p:cNvPr id="931" name="TextBox 930"/>
          <p:cNvSpPr txBox="1"/>
          <p:nvPr/>
        </p:nvSpPr>
        <p:spPr>
          <a:xfrm>
            <a:off x="1325880" y="3703320"/>
            <a:ext cx="2103120" cy="868680"/>
          </a:xfrm>
          <a:prstGeom prst="rect">
            <a:avLst/>
          </a:prstGeom>
          <a:noFill/>
        </p:spPr>
        <p:txBody>
          <a:bodyPr wrap="square" lIns="45720" rIns="45720" tIns="27432" bIns="27432" anchor="ctr"/>
          <a:lstStyle/>
          <a:p>
            <a:pPr algn="l" marL="0" indent="0">
              <a:spcBef>
                <a:spcPts val="0"/>
              </a:spcBef>
              <a:spcAft>
                <a:spcPts val="0"/>
              </a:spcAft>
              <a:buNone/>
            </a:pPr>
            <a:r>
              <a:rPr sz="1250" b="1" i="0">
                <a:solidFill>
                  <a:srgbClr val="004CA0"/>
                </a:solidFill>
                <a:latin typeface="Arial"/>
              </a:rPr>
              <a:t>Learned spatial features</a:t>
            </a:r>
          </a:p>
        </p:txBody>
      </p:sp>
      <p:sp>
        <p:nvSpPr>
          <p:cNvPr id="932" name="TextBox 931"/>
          <p:cNvSpPr txBox="1"/>
          <p:nvPr/>
        </p:nvSpPr>
        <p:spPr>
          <a:xfrm>
            <a:off x="3474720" y="3703320"/>
            <a:ext cx="5074920" cy="868680"/>
          </a:xfrm>
          <a:prstGeom prst="rect">
            <a:avLst/>
          </a:prstGeom>
          <a:noFill/>
        </p:spPr>
        <p:txBody>
          <a:bodyPr wrap="square" lIns="45720" rIns="45720" tIns="27432" bIns="27432" anchor="ctr"/>
          <a:lstStyle/>
          <a:p>
            <a:pPr algn="l" marL="0" indent="0">
              <a:spcBef>
                <a:spcPts val="0"/>
              </a:spcBef>
              <a:spcAft>
                <a:spcPts val="0"/>
              </a:spcAft>
              <a:buNone/>
            </a:pPr>
            <a:r>
              <a:rPr sz="1100" b="0" i="0">
                <a:solidFill>
                  <a:srgbClr val="414141"/>
                </a:solidFill>
                <a:latin typeface="Arial"/>
              </a:rPr>
              <a:t>Neither adds to the motion representation: the stem has a mean effect of −0.0310, and SimAM (+0.0034) cannot be distinguished from zero.</a:t>
            </a:r>
          </a:p>
        </p:txBody>
      </p:sp>
      <p:sp>
        <p:nvSpPr>
          <p:cNvPr id="933" name="Rectangle 932"/>
          <p:cNvSpPr/>
          <p:nvPr/>
        </p:nvSpPr>
        <p:spPr>
          <a:xfrm>
            <a:off x="685800" y="4709160"/>
            <a:ext cx="7955279" cy="118872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TextBox 933"/>
          <p:cNvSpPr txBox="1"/>
          <p:nvPr/>
        </p:nvSpPr>
        <p:spPr>
          <a:xfrm>
            <a:off x="822960" y="4764024"/>
            <a:ext cx="7680959" cy="1078992"/>
          </a:xfrm>
          <a:prstGeom prst="rect">
            <a:avLst/>
          </a:prstGeom>
          <a:noFill/>
        </p:spPr>
        <p:txBody>
          <a:bodyPr wrap="square" lIns="45720" rIns="45720" tIns="27432" bIns="27432" anchor="ctr"/>
          <a:lstStyle/>
          <a:p>
            <a:pPr algn="l" marL="0" indent="0">
              <a:spcBef>
                <a:spcPts val="0"/>
              </a:spcBef>
              <a:spcAft>
                <a:spcPts val="300"/>
              </a:spcAft>
              <a:buNone/>
            </a:pPr>
            <a:r>
              <a:rPr sz="1150" b="1" i="0">
                <a:solidFill>
                  <a:srgbClr val="A8CC2F"/>
                </a:solidFill>
                <a:latin typeface="Arial"/>
              </a:rPr>
              <a:t>Central research question</a:t>
            </a:r>
          </a:p>
          <a:p>
            <a:pPr algn="l" marL="0" indent="0">
              <a:spcBef>
                <a:spcPts val="0"/>
              </a:spcBef>
              <a:spcAft>
                <a:spcPts val="300"/>
              </a:spcAft>
              <a:buNone/>
            </a:pPr>
            <a:r>
              <a:rPr sz="1150" b="0" i="0">
                <a:solidFill>
                  <a:srgbClr val="FFFFFF"/>
                </a:solidFill>
                <a:latin typeface="Arial"/>
              </a:rPr>
              <a:t>For a small dataset, the improvement comes from modelling the temporal evolution of an analytically computed motion representation, not from additional preprocessing or learned spatial processing. Robustness to noise was not measured separately.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LIMITATIONS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04 · CONCLUSION</a:t>
            </a:r>
          </a:p>
        </p:txBody>
      </p:sp>
      <p:sp>
        <p:nvSpPr>
          <p:cNvPr id="921"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21</a:t>
            </a:fld>
          </a:p>
        </p:txBody>
      </p:sp>
      <p:sp>
        <p:nvSpPr>
          <p:cNvPr id="922" name="Rectangle 921"/>
          <p:cNvSpPr/>
          <p:nvPr/>
        </p:nvSpPr>
        <p:spPr>
          <a:xfrm>
            <a:off x="685800" y="1783080"/>
            <a:ext cx="3886200" cy="1965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Oval 922"/>
          <p:cNvSpPr/>
          <p:nvPr/>
        </p:nvSpPr>
        <p:spPr>
          <a:xfrm>
            <a:off x="822960" y="192024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1</a:t>
            </a:r>
          </a:p>
        </p:txBody>
      </p:sp>
      <p:sp>
        <p:nvSpPr>
          <p:cNvPr id="924" name="TextBox 923"/>
          <p:cNvSpPr txBox="1"/>
          <p:nvPr/>
        </p:nvSpPr>
        <p:spPr>
          <a:xfrm>
            <a:off x="1325880" y="1892807"/>
            <a:ext cx="3154680" cy="438912"/>
          </a:xfrm>
          <a:prstGeom prst="rect">
            <a:avLst/>
          </a:prstGeom>
          <a:noFill/>
        </p:spPr>
        <p:txBody>
          <a:bodyPr wrap="square" lIns="45720" rIns="45720" tIns="27432" bIns="27432" anchor="ctr"/>
          <a:lstStyle/>
          <a:p>
            <a:pPr algn="l" marL="0" indent="0">
              <a:spcBef>
                <a:spcPts val="0"/>
              </a:spcBef>
              <a:spcAft>
                <a:spcPts val="0"/>
              </a:spcAft>
              <a:buNone/>
            </a:pPr>
            <a:r>
              <a:rPr sz="1250" b="1" i="0">
                <a:solidFill>
                  <a:srgbClr val="004CA0"/>
                </a:solidFill>
                <a:latin typeface="Arial"/>
              </a:rPr>
              <a:t>Evaluation protocol</a:t>
            </a:r>
          </a:p>
        </p:txBody>
      </p:sp>
      <p:sp>
        <p:nvSpPr>
          <p:cNvPr id="925" name="TextBox 924"/>
          <p:cNvSpPr txBox="1"/>
          <p:nvPr/>
        </p:nvSpPr>
        <p:spPr>
          <a:xfrm>
            <a:off x="822960" y="2441448"/>
            <a:ext cx="3611880" cy="128016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100" b="0" i="0">
                <a:solidFill>
                  <a:srgbClr val="414141"/>
                </a:solidFill>
                <a:latin typeface="Arial"/>
              </a:rPr>
              <a:t>One random seed, so no confidence intervals</a:t>
            </a:r>
          </a:p>
          <a:p>
            <a:pPr algn="l" marL="155448" indent="-155448">
              <a:spcBef>
                <a:spcPts val="0"/>
              </a:spcBef>
              <a:spcAft>
                <a:spcPts val="400"/>
              </a:spcAft>
              <a:buClr>
                <a:srgbClr val="A8CC2F"/>
              </a:buClr>
              <a:buFont typeface="Arial"/>
              <a:buChar char="•"/>
            </a:pPr>
            <a:r>
              <a:rPr sz="1100" b="0" i="0">
                <a:solidFill>
                  <a:srgbClr val="414141"/>
                </a:solidFill>
                <a:latin typeface="Arial"/>
              </a:rPr>
              <a:t>Epoch selected on the held-out subject, which biases scores upwards</a:t>
            </a:r>
          </a:p>
          <a:p>
            <a:pPr algn="l" marL="155448" indent="-155448">
              <a:spcBef>
                <a:spcPts val="0"/>
              </a:spcBef>
              <a:spcAft>
                <a:spcPts val="400"/>
              </a:spcAft>
              <a:buClr>
                <a:srgbClr val="A8CC2F"/>
              </a:buClr>
              <a:buFont typeface="Arial"/>
              <a:buChar char="•"/>
            </a:pPr>
            <a:r>
              <a:rPr sz="1100" b="0" i="0">
                <a:solidFill>
                  <a:srgbClr val="414141"/>
                </a:solidFill>
                <a:latin typeface="Arial"/>
              </a:rPr>
              <a:t>Per-clip predictions not retained, so no paired significance test</a:t>
            </a:r>
          </a:p>
        </p:txBody>
      </p:sp>
      <p:sp>
        <p:nvSpPr>
          <p:cNvPr id="926" name="Rectangle 925"/>
          <p:cNvSpPr/>
          <p:nvPr/>
        </p:nvSpPr>
        <p:spPr>
          <a:xfrm>
            <a:off x="4754880" y="1783080"/>
            <a:ext cx="3886200" cy="1965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Oval 926"/>
          <p:cNvSpPr/>
          <p:nvPr/>
        </p:nvSpPr>
        <p:spPr>
          <a:xfrm>
            <a:off x="4892040" y="192024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2</a:t>
            </a:r>
          </a:p>
        </p:txBody>
      </p:sp>
      <p:sp>
        <p:nvSpPr>
          <p:cNvPr id="928" name="TextBox 927"/>
          <p:cNvSpPr txBox="1"/>
          <p:nvPr/>
        </p:nvSpPr>
        <p:spPr>
          <a:xfrm>
            <a:off x="5394960" y="1892807"/>
            <a:ext cx="3154680" cy="438912"/>
          </a:xfrm>
          <a:prstGeom prst="rect">
            <a:avLst/>
          </a:prstGeom>
          <a:noFill/>
        </p:spPr>
        <p:txBody>
          <a:bodyPr wrap="square" lIns="45720" rIns="45720" tIns="27432" bIns="27432" anchor="ctr"/>
          <a:lstStyle/>
          <a:p>
            <a:pPr algn="l" marL="0" indent="0">
              <a:spcBef>
                <a:spcPts val="0"/>
              </a:spcBef>
              <a:spcAft>
                <a:spcPts val="0"/>
              </a:spcAft>
              <a:buNone/>
            </a:pPr>
            <a:r>
              <a:rPr sz="1250" b="1" i="0">
                <a:solidFill>
                  <a:srgbClr val="004CA0"/>
                </a:solidFill>
                <a:latin typeface="Arial"/>
              </a:rPr>
              <a:t>Fixed settings</a:t>
            </a:r>
          </a:p>
        </p:txBody>
      </p:sp>
      <p:sp>
        <p:nvSpPr>
          <p:cNvPr id="929" name="TextBox 928"/>
          <p:cNvSpPr txBox="1"/>
          <p:nvPr/>
        </p:nvSpPr>
        <p:spPr>
          <a:xfrm>
            <a:off x="4892040" y="2441448"/>
            <a:ext cx="3611880" cy="128016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100" b="0" i="0">
                <a:solidFill>
                  <a:srgbClr val="414141"/>
                </a:solidFill>
                <a:latin typeface="Arial"/>
              </a:rPr>
              <a:t>α = 10, T = 32, λ = 10</a:t>
            </a:r>
            <a:r>
              <a:rPr sz="1100" b="0" i="0" baseline="30000">
                <a:solidFill>
                  <a:srgbClr val="414141"/>
                </a:solidFill>
                <a:latin typeface="Arial"/>
              </a:rPr>
              <a:t>−4</a:t>
            </a:r>
            <a:r>
              <a:rPr sz="1100" b="0" i="0">
                <a:solidFill>
                  <a:srgbClr val="414141"/>
                </a:solidFill>
                <a:latin typeface="Arial"/>
              </a:rPr>
              <a:t> and γ = 2 taken from the literature</a:t>
            </a:r>
          </a:p>
          <a:p>
            <a:pPr algn="l" marL="155448" indent="-155448">
              <a:spcBef>
                <a:spcPts val="0"/>
              </a:spcBef>
              <a:spcAft>
                <a:spcPts val="400"/>
              </a:spcAft>
              <a:buClr>
                <a:srgbClr val="A8CC2F"/>
              </a:buClr>
              <a:buFont typeface="Arial"/>
              <a:buChar char="•"/>
            </a:pPr>
            <a:r>
              <a:rPr sz="1100" b="0" i="0">
                <a:solidFill>
                  <a:srgbClr val="414141"/>
                </a:solidFill>
                <a:latin typeface="Arial"/>
              </a:rPr>
              <a:t>No hyperparameter search</a:t>
            </a:r>
          </a:p>
          <a:p>
            <a:pPr algn="l" marL="155448" indent="-155448">
              <a:spcBef>
                <a:spcPts val="0"/>
              </a:spcBef>
              <a:spcAft>
                <a:spcPts val="400"/>
              </a:spcAft>
              <a:buClr>
                <a:srgbClr val="A8CC2F"/>
              </a:buClr>
              <a:buFont typeface="Arial"/>
              <a:buChar char="•"/>
            </a:pPr>
            <a:r>
              <a:rPr sz="1100" b="0" i="0">
                <a:solidFill>
                  <a:srgbClr val="414141"/>
                </a:solidFill>
                <a:latin typeface="Arial"/>
              </a:rPr>
              <a:t>Each component varied only as present or absent</a:t>
            </a:r>
          </a:p>
        </p:txBody>
      </p:sp>
      <p:sp>
        <p:nvSpPr>
          <p:cNvPr id="930" name="Rectangle 929"/>
          <p:cNvSpPr/>
          <p:nvPr/>
        </p:nvSpPr>
        <p:spPr>
          <a:xfrm>
            <a:off x="685800" y="3886200"/>
            <a:ext cx="3886200" cy="1965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Oval 930"/>
          <p:cNvSpPr/>
          <p:nvPr/>
        </p:nvSpPr>
        <p:spPr>
          <a:xfrm>
            <a:off x="822960" y="402336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3</a:t>
            </a:r>
          </a:p>
        </p:txBody>
      </p:sp>
      <p:sp>
        <p:nvSpPr>
          <p:cNvPr id="932" name="TextBox 931"/>
          <p:cNvSpPr txBox="1"/>
          <p:nvPr/>
        </p:nvSpPr>
        <p:spPr>
          <a:xfrm>
            <a:off x="1325880" y="3995928"/>
            <a:ext cx="3154680" cy="438912"/>
          </a:xfrm>
          <a:prstGeom prst="rect">
            <a:avLst/>
          </a:prstGeom>
          <a:noFill/>
        </p:spPr>
        <p:txBody>
          <a:bodyPr wrap="square" lIns="45720" rIns="45720" tIns="27432" bIns="27432" anchor="ctr"/>
          <a:lstStyle/>
          <a:p>
            <a:pPr algn="l" marL="0" indent="0">
              <a:spcBef>
                <a:spcPts val="0"/>
              </a:spcBef>
              <a:spcAft>
                <a:spcPts val="0"/>
              </a:spcAft>
              <a:buNone/>
            </a:pPr>
            <a:r>
              <a:rPr sz="1250" b="1" i="0">
                <a:solidFill>
                  <a:srgbClr val="004CA0"/>
                </a:solidFill>
                <a:latin typeface="Arial"/>
              </a:rPr>
              <a:t>Departures from reviewed methods</a:t>
            </a:r>
          </a:p>
        </p:txBody>
      </p:sp>
      <p:sp>
        <p:nvSpPr>
          <p:cNvPr id="933" name="TextBox 932"/>
          <p:cNvSpPr txBox="1"/>
          <p:nvPr/>
        </p:nvSpPr>
        <p:spPr>
          <a:xfrm>
            <a:off x="822960" y="4544568"/>
            <a:ext cx="3611880" cy="128016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100" b="0" i="0">
                <a:solidFill>
                  <a:srgbClr val="414141"/>
                </a:solidFill>
                <a:latin typeface="Arial"/>
              </a:rPr>
              <a:t>Twelve declared divergences</a:t>
            </a:r>
          </a:p>
          <a:p>
            <a:pPr algn="l" marL="155448" indent="-155448">
              <a:spcBef>
                <a:spcPts val="0"/>
              </a:spcBef>
              <a:spcAft>
                <a:spcPts val="400"/>
              </a:spcAft>
              <a:buClr>
                <a:srgbClr val="A8CC2F"/>
              </a:buClr>
              <a:buFont typeface="Arial"/>
              <a:buChar char="•"/>
            </a:pPr>
            <a:r>
              <a:rPr sz="1100" b="0" i="0">
                <a:solidFill>
                  <a:srgbClr val="414141"/>
                </a:solidFill>
                <a:latin typeface="Arial"/>
              </a:rPr>
              <a:t>Stem has no temporal kernels and operates at 224 × 224</a:t>
            </a:r>
          </a:p>
          <a:p>
            <a:pPr algn="l" marL="155448" indent="-155448">
              <a:spcBef>
                <a:spcPts val="0"/>
              </a:spcBef>
              <a:spcAft>
                <a:spcPts val="400"/>
              </a:spcAft>
              <a:buClr>
                <a:srgbClr val="A8CC2F"/>
              </a:buClr>
              <a:buFont typeface="Arial"/>
              <a:buChar char="•"/>
            </a:pPr>
            <a:r>
              <a:rPr sz="1100" b="0" i="0">
                <a:solidFill>
                  <a:srgbClr val="414141"/>
                </a:solidFill>
                <a:latin typeface="Arial"/>
              </a:rPr>
              <a:t>Magnification is applied after the clips are subsampled</a:t>
            </a:r>
          </a:p>
        </p:txBody>
      </p:sp>
      <p:sp>
        <p:nvSpPr>
          <p:cNvPr id="934" name="Rectangle 933"/>
          <p:cNvSpPr/>
          <p:nvPr/>
        </p:nvSpPr>
        <p:spPr>
          <a:xfrm>
            <a:off x="4754880" y="3886200"/>
            <a:ext cx="3886200" cy="1965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Oval 934"/>
          <p:cNvSpPr/>
          <p:nvPr/>
        </p:nvSpPr>
        <p:spPr>
          <a:xfrm>
            <a:off x="4892040" y="402336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4</a:t>
            </a:r>
          </a:p>
        </p:txBody>
      </p:sp>
      <p:sp>
        <p:nvSpPr>
          <p:cNvPr id="936" name="TextBox 935"/>
          <p:cNvSpPr txBox="1"/>
          <p:nvPr/>
        </p:nvSpPr>
        <p:spPr>
          <a:xfrm>
            <a:off x="5394960" y="3995928"/>
            <a:ext cx="3154680" cy="438912"/>
          </a:xfrm>
          <a:prstGeom prst="rect">
            <a:avLst/>
          </a:prstGeom>
          <a:noFill/>
        </p:spPr>
        <p:txBody>
          <a:bodyPr wrap="square" lIns="45720" rIns="45720" tIns="27432" bIns="27432" anchor="ctr"/>
          <a:lstStyle/>
          <a:p>
            <a:pPr algn="l" marL="0" indent="0">
              <a:spcBef>
                <a:spcPts val="0"/>
              </a:spcBef>
              <a:spcAft>
                <a:spcPts val="0"/>
              </a:spcAft>
              <a:buNone/>
            </a:pPr>
            <a:r>
              <a:rPr sz="1250" b="1" i="0">
                <a:solidFill>
                  <a:srgbClr val="004CA0"/>
                </a:solidFill>
                <a:latin typeface="Arial"/>
              </a:rPr>
              <a:t>Single dataset</a:t>
            </a:r>
          </a:p>
        </p:txBody>
      </p:sp>
      <p:sp>
        <p:nvSpPr>
          <p:cNvPr id="937" name="TextBox 936"/>
          <p:cNvSpPr txBox="1"/>
          <p:nvPr/>
        </p:nvSpPr>
        <p:spPr>
          <a:xfrm>
            <a:off x="4892040" y="4544568"/>
            <a:ext cx="3611880" cy="128016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100" b="0" i="0">
                <a:solidFill>
                  <a:srgbClr val="414141"/>
                </a:solidFill>
                <a:latin typeface="Arial"/>
              </a:rPr>
              <a:t>156 clips from 25 subjects of CASME II</a:t>
            </a:r>
          </a:p>
          <a:p>
            <a:pPr algn="l" marL="155448" indent="-155448">
              <a:spcBef>
                <a:spcPts val="0"/>
              </a:spcBef>
              <a:spcAft>
                <a:spcPts val="400"/>
              </a:spcAft>
              <a:buClr>
                <a:srgbClr val="A8CC2F"/>
              </a:buClr>
              <a:buFont typeface="Arial"/>
              <a:buChar char="•"/>
            </a:pPr>
            <a:r>
              <a:rPr sz="1100" b="0" i="0">
                <a:solidFill>
                  <a:srgbClr val="414141"/>
                </a:solidFill>
                <a:latin typeface="Arial"/>
              </a:rPr>
              <a:t>One ethnicity, narrow age range, laboratory recording</a:t>
            </a:r>
          </a:p>
          <a:p>
            <a:pPr algn="l" marL="155448" indent="-155448">
              <a:spcBef>
                <a:spcPts val="0"/>
              </a:spcBef>
              <a:spcAft>
                <a:spcPts val="400"/>
              </a:spcAft>
              <a:buClr>
                <a:srgbClr val="A8CC2F"/>
              </a:buClr>
              <a:buFont typeface="Arial"/>
              <a:buChar char="•"/>
            </a:pPr>
            <a:r>
              <a:rPr sz="1100" b="0" i="0">
                <a:solidFill>
                  <a:srgbClr val="414141"/>
                </a:solidFill>
                <a:latin typeface="Arial"/>
              </a:rPr>
              <a:t>No claim extends to other populations or datasets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FUTURE WORK</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04 · CONCLUSION</a:t>
            </a:r>
          </a:p>
        </p:txBody>
      </p:sp>
      <p:sp>
        <p:nvSpPr>
          <p:cNvPr id="922"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22</a:t>
            </a:fld>
          </a:p>
        </p:txBody>
      </p:sp>
      <p:sp>
        <p:nvSpPr>
          <p:cNvPr id="923" name="Rectangle 922"/>
          <p:cNvSpPr/>
          <p:nvPr/>
        </p:nvSpPr>
        <p:spPr>
          <a:xfrm>
            <a:off x="685800" y="1783080"/>
            <a:ext cx="7955279"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Oval 923"/>
          <p:cNvSpPr/>
          <p:nvPr/>
        </p:nvSpPr>
        <p:spPr>
          <a:xfrm>
            <a:off x="822960" y="1956816"/>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1</a:t>
            </a:r>
          </a:p>
        </p:txBody>
      </p:sp>
      <p:sp>
        <p:nvSpPr>
          <p:cNvPr id="925" name="TextBox 924"/>
          <p:cNvSpPr txBox="1"/>
          <p:nvPr/>
        </p:nvSpPr>
        <p:spPr>
          <a:xfrm>
            <a:off x="1325880" y="1783080"/>
            <a:ext cx="1828800" cy="731520"/>
          </a:xfrm>
          <a:prstGeom prst="rect">
            <a:avLst/>
          </a:prstGeom>
          <a:noFill/>
        </p:spPr>
        <p:txBody>
          <a:bodyPr wrap="square" lIns="45720" rIns="45720" tIns="27432" bIns="27432" anchor="ctr"/>
          <a:lstStyle/>
          <a:p>
            <a:pPr algn="l" marL="0" indent="0">
              <a:spcBef>
                <a:spcPts val="0"/>
              </a:spcBef>
              <a:spcAft>
                <a:spcPts val="0"/>
              </a:spcAft>
              <a:buNone/>
            </a:pPr>
            <a:r>
              <a:rPr sz="1200" b="1" i="0">
                <a:solidFill>
                  <a:srgbClr val="004CA0"/>
                </a:solidFill>
                <a:latin typeface="Arial"/>
              </a:rPr>
              <a:t>Evaluation</a:t>
            </a:r>
          </a:p>
        </p:txBody>
      </p:sp>
      <p:sp>
        <p:nvSpPr>
          <p:cNvPr id="926" name="TextBox 925"/>
          <p:cNvSpPr txBox="1"/>
          <p:nvPr/>
        </p:nvSpPr>
        <p:spPr>
          <a:xfrm>
            <a:off x="3200400" y="1783080"/>
            <a:ext cx="5349240" cy="731520"/>
          </a:xfrm>
          <a:prstGeom prst="rect">
            <a:avLst/>
          </a:prstGeom>
          <a:noFill/>
        </p:spPr>
        <p:txBody>
          <a:bodyPr wrap="square" lIns="45720" rIns="45720" tIns="27432" bIns="27432" anchor="ctr"/>
          <a:lstStyle/>
          <a:p>
            <a:pPr algn="l" marL="0" indent="0">
              <a:spcBef>
                <a:spcPts val="0"/>
              </a:spcBef>
              <a:spcAft>
                <a:spcPts val="0"/>
              </a:spcAft>
              <a:buNone/>
            </a:pPr>
            <a:r>
              <a:rPr sz="1050" b="0" i="0">
                <a:solidFill>
                  <a:srgbClr val="414141"/>
                </a:solidFill>
                <a:latin typeface="Arial"/>
              </a:rPr>
              <a:t>Select the epoch on withheld training subjects, retain per-clip predictions for McNemar's test, and repeat with several seeds.</a:t>
            </a:r>
          </a:p>
        </p:txBody>
      </p:sp>
      <p:sp>
        <p:nvSpPr>
          <p:cNvPr id="927" name="Rectangle 926"/>
          <p:cNvSpPr/>
          <p:nvPr/>
        </p:nvSpPr>
        <p:spPr>
          <a:xfrm>
            <a:off x="685800" y="2606040"/>
            <a:ext cx="7955279"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Oval 927"/>
          <p:cNvSpPr/>
          <p:nvPr/>
        </p:nvSpPr>
        <p:spPr>
          <a:xfrm>
            <a:off x="822960" y="2779776"/>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2</a:t>
            </a:r>
          </a:p>
        </p:txBody>
      </p:sp>
      <p:sp>
        <p:nvSpPr>
          <p:cNvPr id="929" name="TextBox 928"/>
          <p:cNvSpPr txBox="1"/>
          <p:nvPr/>
        </p:nvSpPr>
        <p:spPr>
          <a:xfrm>
            <a:off x="1325880" y="2606040"/>
            <a:ext cx="1828800" cy="731520"/>
          </a:xfrm>
          <a:prstGeom prst="rect">
            <a:avLst/>
          </a:prstGeom>
          <a:noFill/>
        </p:spPr>
        <p:txBody>
          <a:bodyPr wrap="square" lIns="45720" rIns="45720" tIns="27432" bIns="27432" anchor="ctr"/>
          <a:lstStyle/>
          <a:p>
            <a:pPr algn="l" marL="0" indent="0">
              <a:spcBef>
                <a:spcPts val="0"/>
              </a:spcBef>
              <a:spcAft>
                <a:spcPts val="0"/>
              </a:spcAft>
              <a:buNone/>
            </a:pPr>
            <a:r>
              <a:rPr sz="1200" b="1" i="0">
                <a:solidFill>
                  <a:srgbClr val="004CA0"/>
                </a:solidFill>
                <a:latin typeface="Arial"/>
              </a:rPr>
              <a:t>Convolutional stem</a:t>
            </a:r>
          </a:p>
        </p:txBody>
      </p:sp>
      <p:sp>
        <p:nvSpPr>
          <p:cNvPr id="930" name="TextBox 929"/>
          <p:cNvSpPr txBox="1"/>
          <p:nvPr/>
        </p:nvSpPr>
        <p:spPr>
          <a:xfrm>
            <a:off x="3200400" y="2606040"/>
            <a:ext cx="5349240" cy="731520"/>
          </a:xfrm>
          <a:prstGeom prst="rect">
            <a:avLst/>
          </a:prstGeom>
          <a:noFill/>
        </p:spPr>
        <p:txBody>
          <a:bodyPr wrap="square" lIns="45720" rIns="45720" tIns="27432" bIns="27432" anchor="ctr"/>
          <a:lstStyle/>
          <a:p>
            <a:pPr algn="l" marL="0" indent="0">
              <a:spcBef>
                <a:spcPts val="0"/>
              </a:spcBef>
              <a:spcAft>
                <a:spcPts val="0"/>
              </a:spcAft>
              <a:buNone/>
            </a:pPr>
            <a:r>
              <a:rPr sz="1050" b="0" i="0">
                <a:solidFill>
                  <a:srgbClr val="414141"/>
                </a:solidFill>
                <a:latin typeface="Arial"/>
              </a:rPr>
              <a:t>Retrain at lower resolutions such as 28 × 28 and 56 × 56, and keep the spatial layout of its features.</a:t>
            </a:r>
          </a:p>
        </p:txBody>
      </p:sp>
      <p:sp>
        <p:nvSpPr>
          <p:cNvPr id="931" name="Rectangle 930"/>
          <p:cNvSpPr/>
          <p:nvPr/>
        </p:nvSpPr>
        <p:spPr>
          <a:xfrm>
            <a:off x="685800" y="3429000"/>
            <a:ext cx="7955279"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Oval 931"/>
          <p:cNvSpPr/>
          <p:nvPr/>
        </p:nvSpPr>
        <p:spPr>
          <a:xfrm>
            <a:off x="822960" y="3602736"/>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3</a:t>
            </a:r>
          </a:p>
        </p:txBody>
      </p:sp>
      <p:sp>
        <p:nvSpPr>
          <p:cNvPr id="933" name="TextBox 932"/>
          <p:cNvSpPr txBox="1"/>
          <p:nvPr/>
        </p:nvSpPr>
        <p:spPr>
          <a:xfrm>
            <a:off x="1325880" y="3429000"/>
            <a:ext cx="1828800" cy="731520"/>
          </a:xfrm>
          <a:prstGeom prst="rect">
            <a:avLst/>
          </a:prstGeom>
          <a:noFill/>
        </p:spPr>
        <p:txBody>
          <a:bodyPr wrap="square" lIns="45720" rIns="45720" tIns="27432" bIns="27432" anchor="ctr"/>
          <a:lstStyle/>
          <a:p>
            <a:pPr algn="l" marL="0" indent="0">
              <a:spcBef>
                <a:spcPts val="0"/>
              </a:spcBef>
              <a:spcAft>
                <a:spcPts val="0"/>
              </a:spcAft>
              <a:buNone/>
            </a:pPr>
            <a:r>
              <a:rPr sz="1200" b="1" i="0">
                <a:solidFill>
                  <a:srgbClr val="004CA0"/>
                </a:solidFill>
                <a:latin typeface="Arial"/>
              </a:rPr>
              <a:t>Motion representation</a:t>
            </a:r>
          </a:p>
        </p:txBody>
      </p:sp>
      <p:sp>
        <p:nvSpPr>
          <p:cNvPr id="934" name="TextBox 933"/>
          <p:cNvSpPr txBox="1"/>
          <p:nvPr/>
        </p:nvSpPr>
        <p:spPr>
          <a:xfrm>
            <a:off x="3200400" y="3429000"/>
            <a:ext cx="5349240" cy="731520"/>
          </a:xfrm>
          <a:prstGeom prst="rect">
            <a:avLst/>
          </a:prstGeom>
          <a:noFill/>
        </p:spPr>
        <p:txBody>
          <a:bodyPr wrap="square" lIns="45720" rIns="45720" tIns="27432" bIns="27432" anchor="ctr"/>
          <a:lstStyle/>
          <a:p>
            <a:pPr algn="l" marL="0" indent="0">
              <a:spcBef>
                <a:spcPts val="0"/>
              </a:spcBef>
              <a:spcAft>
                <a:spcPts val="0"/>
              </a:spcAft>
              <a:buNone/>
            </a:pPr>
            <a:r>
              <a:rPr sz="1050" b="0" i="0">
                <a:solidFill>
                  <a:srgbClr val="414141"/>
                </a:solidFill>
                <a:latin typeface="Arial"/>
              </a:rPr>
              <a:t>Magnify before subsampling, vary the amplification factor, compare Farnebäck with TV-L1, and add a configuration without strain.</a:t>
            </a:r>
          </a:p>
        </p:txBody>
      </p:sp>
      <p:sp>
        <p:nvSpPr>
          <p:cNvPr id="935" name="Rectangle 934"/>
          <p:cNvSpPr/>
          <p:nvPr/>
        </p:nvSpPr>
        <p:spPr>
          <a:xfrm>
            <a:off x="685800" y="4251960"/>
            <a:ext cx="7955279"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Oval 935"/>
          <p:cNvSpPr/>
          <p:nvPr/>
        </p:nvSpPr>
        <p:spPr>
          <a:xfrm>
            <a:off x="822960" y="4425696"/>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4</a:t>
            </a:r>
          </a:p>
        </p:txBody>
      </p:sp>
      <p:sp>
        <p:nvSpPr>
          <p:cNvPr id="937" name="TextBox 936"/>
          <p:cNvSpPr txBox="1"/>
          <p:nvPr/>
        </p:nvSpPr>
        <p:spPr>
          <a:xfrm>
            <a:off x="1325880" y="4251960"/>
            <a:ext cx="1828800" cy="731520"/>
          </a:xfrm>
          <a:prstGeom prst="rect">
            <a:avLst/>
          </a:prstGeom>
          <a:noFill/>
        </p:spPr>
        <p:txBody>
          <a:bodyPr wrap="square" lIns="45720" rIns="45720" tIns="27432" bIns="27432" anchor="ctr"/>
          <a:lstStyle/>
          <a:p>
            <a:pPr algn="l" marL="0" indent="0">
              <a:spcBef>
                <a:spcPts val="0"/>
              </a:spcBef>
              <a:spcAft>
                <a:spcPts val="0"/>
              </a:spcAft>
              <a:buNone/>
            </a:pPr>
            <a:r>
              <a:rPr sz="1200" b="1" i="0">
                <a:solidFill>
                  <a:srgbClr val="004CA0"/>
                </a:solidFill>
                <a:latin typeface="Arial"/>
              </a:rPr>
              <a:t>Temporal modelling</a:t>
            </a:r>
          </a:p>
        </p:txBody>
      </p:sp>
      <p:sp>
        <p:nvSpPr>
          <p:cNvPr id="938" name="TextBox 937"/>
          <p:cNvSpPr txBox="1"/>
          <p:nvPr/>
        </p:nvSpPr>
        <p:spPr>
          <a:xfrm>
            <a:off x="3200400" y="4251960"/>
            <a:ext cx="5349240" cy="731520"/>
          </a:xfrm>
          <a:prstGeom prst="rect">
            <a:avLst/>
          </a:prstGeom>
          <a:noFill/>
        </p:spPr>
        <p:txBody>
          <a:bodyPr wrap="square" lIns="45720" rIns="45720" tIns="27432" bIns="27432" anchor="ctr"/>
          <a:lstStyle/>
          <a:p>
            <a:pPr algn="l" marL="0" indent="0">
              <a:spcBef>
                <a:spcPts val="0"/>
              </a:spcBef>
              <a:spcAft>
                <a:spcPts val="0"/>
              </a:spcAft>
              <a:buNone/>
            </a:pPr>
            <a:r>
              <a:rPr sz="1050" b="0" i="0">
                <a:solidFill>
                  <a:srgbClr val="414141"/>
                </a:solidFill>
                <a:latin typeface="Arial"/>
              </a:rPr>
              <a:t>LSTM aggregator, onset-referenced flow, learned positions, and a control with comparable parameters but no temporal modelling.</a:t>
            </a:r>
          </a:p>
        </p:txBody>
      </p:sp>
      <p:sp>
        <p:nvSpPr>
          <p:cNvPr id="939" name="Rectangle 938"/>
          <p:cNvSpPr/>
          <p:nvPr/>
        </p:nvSpPr>
        <p:spPr>
          <a:xfrm>
            <a:off x="685800" y="5074920"/>
            <a:ext cx="7955279"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Oval 939"/>
          <p:cNvSpPr/>
          <p:nvPr/>
        </p:nvSpPr>
        <p:spPr>
          <a:xfrm>
            <a:off x="822960" y="5248656"/>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5</a:t>
            </a:r>
          </a:p>
        </p:txBody>
      </p:sp>
      <p:sp>
        <p:nvSpPr>
          <p:cNvPr id="941" name="TextBox 940"/>
          <p:cNvSpPr txBox="1"/>
          <p:nvPr/>
        </p:nvSpPr>
        <p:spPr>
          <a:xfrm>
            <a:off x="1325880" y="5074920"/>
            <a:ext cx="1828800" cy="731520"/>
          </a:xfrm>
          <a:prstGeom prst="rect">
            <a:avLst/>
          </a:prstGeom>
          <a:noFill/>
        </p:spPr>
        <p:txBody>
          <a:bodyPr wrap="square" lIns="45720" rIns="45720" tIns="27432" bIns="27432" anchor="ctr"/>
          <a:lstStyle/>
          <a:p>
            <a:pPr algn="l" marL="0" indent="0">
              <a:spcBef>
                <a:spcPts val="0"/>
              </a:spcBef>
              <a:spcAft>
                <a:spcPts val="0"/>
              </a:spcAft>
              <a:buNone/>
            </a:pPr>
            <a:r>
              <a:rPr sz="1200" b="1" i="0">
                <a:solidFill>
                  <a:srgbClr val="004CA0"/>
                </a:solidFill>
                <a:latin typeface="Arial"/>
              </a:rPr>
              <a:t>Data</a:t>
            </a:r>
          </a:p>
        </p:txBody>
      </p:sp>
      <p:sp>
        <p:nvSpPr>
          <p:cNvPr id="942" name="TextBox 941"/>
          <p:cNvSpPr txBox="1"/>
          <p:nvPr/>
        </p:nvSpPr>
        <p:spPr>
          <a:xfrm>
            <a:off x="3200400" y="5074920"/>
            <a:ext cx="5349240" cy="731520"/>
          </a:xfrm>
          <a:prstGeom prst="rect">
            <a:avLst/>
          </a:prstGeom>
          <a:noFill/>
        </p:spPr>
        <p:txBody>
          <a:bodyPr wrap="square" lIns="45720" rIns="45720" tIns="27432" bIns="27432" anchor="ctr"/>
          <a:lstStyle/>
          <a:p>
            <a:pPr algn="l" marL="0" indent="0">
              <a:spcBef>
                <a:spcPts val="0"/>
              </a:spcBef>
              <a:spcAft>
                <a:spcPts val="0"/>
              </a:spcAft>
              <a:buNone/>
            </a:pPr>
            <a:r>
              <a:rPr sz="1050" b="0" i="0">
                <a:solidFill>
                  <a:srgbClr val="414141"/>
                </a:solidFill>
                <a:latin typeface="Arial"/>
              </a:rPr>
              <a:t>Evaluate on a composite dataset and on SAMM, CAS(ME)</a:t>
            </a:r>
            <a:r>
              <a:rPr sz="1050" b="0" i="0" baseline="30000">
                <a:solidFill>
                  <a:srgbClr val="414141"/>
                </a:solidFill>
                <a:latin typeface="Arial"/>
              </a:rPr>
              <a:t>3</a:t>
            </a:r>
            <a:r>
              <a:rPr sz="1050" b="0" i="0">
                <a:solidFill>
                  <a:srgbClr val="414141"/>
                </a:solidFill>
                <a:latin typeface="Arial"/>
              </a:rPr>
              <a:t> and DFME to test whether the effects hold beyond CASME II.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CONTRIBUTIONS AND CONCLUSION</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04 · CONCLUSION</a:t>
            </a:r>
          </a:p>
        </p:txBody>
      </p:sp>
      <p:sp>
        <p:nvSpPr>
          <p:cNvPr id="923"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23</a:t>
            </a:fld>
          </a:p>
        </p:txBody>
      </p:sp>
      <p:sp>
        <p:nvSpPr>
          <p:cNvPr id="924" name="Rectangle 923"/>
          <p:cNvSpPr/>
          <p:nvPr/>
        </p:nvSpPr>
        <p:spPr>
          <a:xfrm>
            <a:off x="685800" y="1783080"/>
            <a:ext cx="2529839" cy="2697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Oval 924"/>
          <p:cNvSpPr/>
          <p:nvPr/>
        </p:nvSpPr>
        <p:spPr>
          <a:xfrm>
            <a:off x="813816" y="192024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1</a:t>
            </a:r>
          </a:p>
        </p:txBody>
      </p:sp>
      <p:sp>
        <p:nvSpPr>
          <p:cNvPr id="926" name="TextBox 925"/>
          <p:cNvSpPr txBox="1"/>
          <p:nvPr/>
        </p:nvSpPr>
        <p:spPr>
          <a:xfrm>
            <a:off x="777240" y="2404872"/>
            <a:ext cx="2346959" cy="2011680"/>
          </a:xfrm>
          <a:prstGeom prst="rect">
            <a:avLst/>
          </a:prstGeom>
          <a:noFill/>
        </p:spPr>
        <p:txBody>
          <a:bodyPr wrap="square" lIns="45720" rIns="45720" tIns="27432" bIns="27432" anchor="t"/>
          <a:lstStyle/>
          <a:p>
            <a:pPr algn="l" marL="0" indent="0">
              <a:spcBef>
                <a:spcPts val="0"/>
              </a:spcBef>
              <a:spcAft>
                <a:spcPts val="600"/>
              </a:spcAft>
              <a:buNone/>
            </a:pPr>
            <a:r>
              <a:rPr sz="1200" b="1" i="0">
                <a:solidFill>
                  <a:srgbClr val="004CA0"/>
                </a:solidFill>
                <a:latin typeface="Arial"/>
              </a:rPr>
              <a:t>A factorial evaluation of a standard pipeline</a:t>
            </a:r>
          </a:p>
          <a:p>
            <a:pPr algn="l" marL="0" indent="0">
              <a:spcBef>
                <a:spcPts val="0"/>
              </a:spcBef>
              <a:spcAft>
                <a:spcPts val="300"/>
              </a:spcAft>
              <a:buNone/>
            </a:pPr>
            <a:r>
              <a:rPr sz="1050" b="0" i="0">
                <a:solidFill>
                  <a:srgbClr val="414141"/>
                </a:solidFill>
                <a:latin typeface="Arial"/>
              </a:rPr>
              <a:t>All twelve valid combinations of four components under one leave-one-subject-out protocol, so each contribution is measured against an otherwise identical pipeline.</a:t>
            </a:r>
          </a:p>
        </p:txBody>
      </p:sp>
      <p:sp>
        <p:nvSpPr>
          <p:cNvPr id="927" name="Rectangle 926"/>
          <p:cNvSpPr/>
          <p:nvPr/>
        </p:nvSpPr>
        <p:spPr>
          <a:xfrm>
            <a:off x="3398519" y="1783080"/>
            <a:ext cx="2529839" cy="2697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Oval 927"/>
          <p:cNvSpPr/>
          <p:nvPr/>
        </p:nvSpPr>
        <p:spPr>
          <a:xfrm>
            <a:off x="3526536" y="192024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2</a:t>
            </a:r>
          </a:p>
        </p:txBody>
      </p:sp>
      <p:sp>
        <p:nvSpPr>
          <p:cNvPr id="929" name="TextBox 928"/>
          <p:cNvSpPr txBox="1"/>
          <p:nvPr/>
        </p:nvSpPr>
        <p:spPr>
          <a:xfrm>
            <a:off x="3489960" y="2404872"/>
            <a:ext cx="2346959" cy="2011680"/>
          </a:xfrm>
          <a:prstGeom prst="rect">
            <a:avLst/>
          </a:prstGeom>
          <a:noFill/>
        </p:spPr>
        <p:txBody>
          <a:bodyPr wrap="square" lIns="45720" rIns="45720" tIns="27432" bIns="27432" anchor="t"/>
          <a:lstStyle/>
          <a:p>
            <a:pPr algn="l" marL="0" indent="0">
              <a:spcBef>
                <a:spcPts val="0"/>
              </a:spcBef>
              <a:spcAft>
                <a:spcPts val="600"/>
              </a:spcAft>
              <a:buNone/>
            </a:pPr>
            <a:r>
              <a:rPr sz="1200" b="1" i="0">
                <a:solidFill>
                  <a:srgbClr val="004CA0"/>
                </a:solidFill>
                <a:latin typeface="Arial"/>
              </a:rPr>
              <a:t>A measured account of temporal and motion modelling</a:t>
            </a:r>
          </a:p>
          <a:p>
            <a:pPr algn="l" marL="0" indent="0">
              <a:spcBef>
                <a:spcPts val="0"/>
              </a:spcBef>
              <a:spcAft>
                <a:spcPts val="300"/>
              </a:spcAft>
              <a:buNone/>
            </a:pPr>
            <a:r>
              <a:rPr sz="1050" b="0" i="0">
                <a:solidFill>
                  <a:srgbClr val="414141"/>
                </a:solidFill>
                <a:latin typeface="Arial"/>
              </a:rPr>
              <a:t>The transformer carries almost all of the effect (+0.2173); magnification and SimAM are small or indistinguishable from noise; the stem is negative on average.</a:t>
            </a:r>
          </a:p>
        </p:txBody>
      </p:sp>
      <p:sp>
        <p:nvSpPr>
          <p:cNvPr id="930" name="Rectangle 929"/>
          <p:cNvSpPr/>
          <p:nvPr/>
        </p:nvSpPr>
        <p:spPr>
          <a:xfrm>
            <a:off x="6111239" y="1783080"/>
            <a:ext cx="2529839" cy="2697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Oval 930"/>
          <p:cNvSpPr/>
          <p:nvPr/>
        </p:nvSpPr>
        <p:spPr>
          <a:xfrm>
            <a:off x="6239255" y="1920240"/>
            <a:ext cx="384048" cy="384048"/>
          </a:xfrm>
          <a:prstGeom prst="ellipse">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marL="0" indent="0">
              <a:spcBef>
                <a:spcPts val="0"/>
              </a:spcBef>
              <a:spcAft>
                <a:spcPts val="0"/>
              </a:spcAft>
              <a:buNone/>
            </a:pPr>
            <a:r>
              <a:rPr sz="1200" b="1" i="0">
                <a:solidFill>
                  <a:srgbClr val="FFFFFF"/>
                </a:solidFill>
                <a:latin typeface="Arial"/>
              </a:rPr>
              <a:t>3</a:t>
            </a:r>
          </a:p>
        </p:txBody>
      </p:sp>
      <p:sp>
        <p:nvSpPr>
          <p:cNvPr id="932" name="TextBox 931"/>
          <p:cNvSpPr txBox="1"/>
          <p:nvPr/>
        </p:nvSpPr>
        <p:spPr>
          <a:xfrm>
            <a:off x="6202679" y="2404872"/>
            <a:ext cx="2346959" cy="2011680"/>
          </a:xfrm>
          <a:prstGeom prst="rect">
            <a:avLst/>
          </a:prstGeom>
          <a:noFill/>
        </p:spPr>
        <p:txBody>
          <a:bodyPr wrap="square" lIns="45720" rIns="45720" tIns="27432" bIns="27432" anchor="t"/>
          <a:lstStyle/>
          <a:p>
            <a:pPr algn="l" marL="0" indent="0">
              <a:spcBef>
                <a:spcPts val="0"/>
              </a:spcBef>
              <a:spcAft>
                <a:spcPts val="600"/>
              </a:spcAft>
              <a:buNone/>
            </a:pPr>
            <a:r>
              <a:rPr sz="1200" b="1" i="0">
                <a:solidFill>
                  <a:srgbClr val="004CA0"/>
                </a:solidFill>
                <a:latin typeface="Arial"/>
              </a:rPr>
              <a:t>The full pipeline is not the best configuration</a:t>
            </a:r>
          </a:p>
          <a:p>
            <a:pPr algn="l" marL="0" indent="0">
              <a:spcBef>
                <a:spcPts val="0"/>
              </a:spcBef>
              <a:spcAft>
                <a:spcPts val="300"/>
              </a:spcAft>
              <a:buNone/>
            </a:pPr>
            <a:r>
              <a:rPr sz="1050" b="0" i="0">
                <a:solidFill>
                  <a:srgbClr val="414141"/>
                </a:solidFill>
                <a:latin typeface="Arial"/>
              </a:rPr>
              <a:t>The transformer alone reaches 0.7122 against 0.6659 for all four components. An evaluation of the complete system alone could not have revealed this.</a:t>
            </a:r>
          </a:p>
        </p:txBody>
      </p:sp>
      <p:sp>
        <p:nvSpPr>
          <p:cNvPr id="933" name="Rectangle 932"/>
          <p:cNvSpPr/>
          <p:nvPr/>
        </p:nvSpPr>
        <p:spPr>
          <a:xfrm>
            <a:off x="685800" y="4663440"/>
            <a:ext cx="7955279" cy="123444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TextBox 933"/>
          <p:cNvSpPr txBox="1"/>
          <p:nvPr/>
        </p:nvSpPr>
        <p:spPr>
          <a:xfrm>
            <a:off x="822960" y="4718303"/>
            <a:ext cx="7680959" cy="1124712"/>
          </a:xfrm>
          <a:prstGeom prst="rect">
            <a:avLst/>
          </a:prstGeom>
          <a:noFill/>
        </p:spPr>
        <p:txBody>
          <a:bodyPr wrap="square" lIns="45720" rIns="45720" tIns="27432" bIns="27432" anchor="ctr"/>
          <a:lstStyle/>
          <a:p>
            <a:pPr algn="l" marL="0" indent="0">
              <a:spcBef>
                <a:spcPts val="0"/>
              </a:spcBef>
              <a:spcAft>
                <a:spcPts val="300"/>
              </a:spcAft>
              <a:buNone/>
            </a:pPr>
            <a:r>
              <a:rPr sz="1150" b="1" i="0">
                <a:solidFill>
                  <a:srgbClr val="A8CC2F"/>
                </a:solidFill>
                <a:latin typeface="Arial"/>
              </a:rPr>
              <a:t>Conclusion</a:t>
            </a:r>
          </a:p>
          <a:p>
            <a:pPr algn="l" marL="0" indent="0">
              <a:spcBef>
                <a:spcPts val="0"/>
              </a:spcBef>
              <a:spcAft>
                <a:spcPts val="300"/>
              </a:spcAft>
              <a:buNone/>
            </a:pPr>
            <a:r>
              <a:rPr sz="1200" b="0" i="0">
                <a:solidFill>
                  <a:srgbClr val="FFFFFF"/>
                </a:solidFill>
                <a:latin typeface="Arial"/>
              </a:rPr>
              <a:t>Within one dataset, one training protocol and one setting of the preprocessing parameters, modelling the temporal evolution of facial motion matters more for micro-expression recognition than adding further preprocessing or spatial processing.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266720" y="2286000"/>
            <a:ext cx="4419720" cy="3581280"/>
          </a:xfrm>
        </p:spPr>
        <p:txBody>
          <a:bodyPr anchor="ctr" wrap="square"/>
          <a:lstStyle/>
          <a:p>
            <a:pPr algn="l" marL="0" indent="0">
              <a:spcBef>
                <a:spcPts val="0"/>
              </a:spcBef>
              <a:spcAft>
                <a:spcPts val="400"/>
              </a:spcAft>
              <a:buNone/>
            </a:pPr>
            <a:r>
              <a:rPr sz="2200" b="1" i="0">
                <a:solidFill>
                  <a:srgbClr val="414141"/>
                </a:solidFill>
                <a:latin typeface="Arial"/>
              </a:rPr>
              <a:t>THANK YOU</a:t>
            </a:r>
          </a:p>
          <a:p>
            <a:pPr algn="l" marL="0" indent="0">
              <a:spcBef>
                <a:spcPts val="0"/>
              </a:spcBef>
              <a:spcAft>
                <a:spcPts val="1600"/>
              </a:spcAft>
              <a:buNone/>
            </a:pPr>
            <a:r>
              <a:rPr sz="1600" b="0" i="0">
                <a:solidFill>
                  <a:srgbClr val="414141"/>
                </a:solidFill>
                <a:latin typeface="Arial"/>
              </a:rPr>
              <a:t>QUESTIONS AND DISCUSSION</a:t>
            </a:r>
          </a:p>
          <a:p>
            <a:pPr algn="l" marL="0" indent="0">
              <a:spcBef>
                <a:spcPts val="0"/>
              </a:spcBef>
              <a:spcAft>
                <a:spcPts val="300"/>
              </a:spcAft>
              <a:buNone/>
            </a:pPr>
            <a:r>
              <a:rPr sz="1100" b="0" i="0">
                <a:solidFill>
                  <a:srgbClr val="414141"/>
                </a:solidFill>
                <a:latin typeface="Arial"/>
              </a:rPr>
              <a:t>Best configuration: transformer only, pooled macro F1 0.7122</a:t>
            </a:r>
          </a:p>
          <a:p>
            <a:pPr algn="l" marL="0" indent="0">
              <a:spcBef>
                <a:spcPts val="0"/>
              </a:spcBef>
              <a:spcAft>
                <a:spcPts val="0"/>
              </a:spcAft>
              <a:buNone/>
            </a:pPr>
            <a:r>
              <a:rPr sz="1100" b="0" i="0">
                <a:solidFill>
                  <a:srgbClr val="414141"/>
                </a:solidFill>
                <a:latin typeface="Arial"/>
              </a:rPr>
              <a:t>Transformer mean effect: +0.2173 over six matched pairs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04 · CONCLUSION</a:t>
            </a:r>
          </a:p>
        </p:txBody>
      </p:sp>
      <p:sp>
        <p:nvSpPr>
          <p:cNvPr id="924"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24</a:t>
            </a:fld>
          </a:p>
        </p:txBody>
      </p:sp>
      <p:pic>
        <p:nvPicPr>
          <p:cNvPr id="925" name="Picture 924" descr="image2.jpeg"/>
          <p:cNvPicPr>
            <a:picLocks noChangeAspect="1"/>
          </p:cNvPicPr>
          <p:nvPr/>
        </p:nvPicPr>
        <p:blipFill>
          <a:blip r:embed="rId3"/>
          <a:stretch>
            <a:fillRect/>
          </a:stretch>
        </p:blipFill>
        <p:spPr>
          <a:xfrm>
            <a:off x="0" y="2361960"/>
            <a:ext cx="4038480" cy="33879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266720" y="2286000"/>
            <a:ext cx="4419720" cy="3581280"/>
          </a:xfrm>
        </p:spPr>
        <p:txBody>
          <a:bodyPr anchor="ctr" wrap="square"/>
          <a:lstStyle/>
          <a:p>
            <a:pPr algn="l" marL="0" indent="0">
              <a:spcBef>
                <a:spcPts val="0"/>
              </a:spcBef>
              <a:spcAft>
                <a:spcPts val="200"/>
              </a:spcAft>
              <a:buNone/>
            </a:pPr>
            <a:r>
              <a:rPr sz="2000" b="0" i="0">
                <a:solidFill>
                  <a:srgbClr val="A8CC2F"/>
                </a:solidFill>
                <a:latin typeface="Arial"/>
              </a:rPr>
              <a:t>05</a:t>
            </a:r>
          </a:p>
          <a:p>
            <a:pPr algn="l" marL="0" indent="0">
              <a:spcBef>
                <a:spcPts val="0"/>
              </a:spcBef>
              <a:spcAft>
                <a:spcPts val="200"/>
              </a:spcAft>
              <a:buNone/>
            </a:pPr>
            <a:r>
              <a:rPr sz="2000" b="1" i="0">
                <a:solidFill>
                  <a:srgbClr val="A8CC2F"/>
                </a:solidFill>
                <a:latin typeface="Arial"/>
              </a:rPr>
              <a:t>BACKUP SLIDES</a:t>
            </a:r>
          </a:p>
          <a:p>
            <a:pPr algn="l" marL="0" indent="0">
              <a:spcBef>
                <a:spcPts val="0"/>
              </a:spcBef>
              <a:spcAft>
                <a:spcPts val="1400"/>
              </a:spcAft>
              <a:buNone/>
            </a:pPr>
            <a:r>
              <a:rPr sz="1600" b="0" i="0">
                <a:solidFill>
                  <a:srgbClr val="A8CC2F"/>
                </a:solidFill>
                <a:latin typeface="Arial"/>
              </a:rPr>
              <a:t>ADDITIONAL DETAIL FROM THE THESIS, FOR THE DISCUSSION</a:t>
            </a:r>
          </a:p>
          <a:p>
            <a:pPr algn="l" marL="0" indent="0">
              <a:spcBef>
                <a:spcPts val="0"/>
              </a:spcBef>
              <a:spcAft>
                <a:spcPts val="0"/>
              </a:spcAft>
              <a:buNone/>
            </a:pPr>
            <a:r>
              <a:rPr sz="1050" b="0" i="0">
                <a:solidFill>
                  <a:srgbClr val="8C8C8C"/>
                </a:solidFill>
                <a:latin typeface="Arial"/>
              </a:rPr>
              <a:t>Datasets · Preprocessing · Model · Training and metrics · Literature evidence · Full results · Divergences and research gaps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25"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SPONTANEOUS MICRO-EXPRESSION DATASETS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26"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26</a:t>
            </a:fld>
          </a:p>
        </p:txBody>
      </p:sp>
      <p:graphicFrame>
        <p:nvGraphicFramePr>
          <p:cNvPr id="927" name="Table 926"/>
          <p:cNvGraphicFramePr>
            <a:graphicFrameLocks noGrp="1"/>
          </p:cNvGraphicFramePr>
          <p:nvPr/>
        </p:nvGraphicFramePr>
        <p:xfrm>
          <a:off x="685800" y="1783080"/>
          <a:ext cx="7955280" cy="2487168"/>
        </p:xfrm>
        <a:graphic>
          <a:graphicData uri="http://schemas.openxmlformats.org/drawingml/2006/table">
            <a:tbl>
              <a:tblPr firstRow="0" bandRow="0">
                <a:tableStyleId>{2D5ABB26-0587-4C30-8999-92F81FD0307C}</a:tableStyleId>
              </a:tblPr>
              <a:tblGrid>
                <a:gridCol w="1280160"/>
                <a:gridCol w="914400"/>
                <a:gridCol w="1645920"/>
                <a:gridCol w="1325880"/>
                <a:gridCol w="685800"/>
                <a:gridCol w="2103120"/>
              </a:tblGrid>
              <a:tr h="310896">
                <a:tc>
                  <a:txBody>
                    <a:bodyPr wrap="square"/>
                    <a:lstStyle/>
                    <a:p>
                      <a:pPr algn="l" marL="0" indent="0">
                        <a:spcBef>
                          <a:spcPts val="0"/>
                        </a:spcBef>
                        <a:spcAft>
                          <a:spcPts val="0"/>
                        </a:spcAft>
                        <a:buNone/>
                      </a:pPr>
                      <a:r>
                        <a:rPr sz="1000" b="1" i="0">
                          <a:solidFill>
                            <a:srgbClr val="FFFFFF"/>
                          </a:solidFill>
                          <a:latin typeface="Arial"/>
                        </a:rPr>
                        <a:t>Dataset</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Subjects</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Micro samples</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Frame rate (fps)</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FACS</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Ethnicities / mean age</a:t>
                      </a:r>
                    </a:p>
                  </a:txBody>
                  <a:tcPr marL="54864" marR="54864" marT="18288" marB="18288" anchor="ctr">
                    <a:lnL w="9525">
                      <a:noFill/>
                    </a:lnL>
                    <a:lnR w="9525">
                      <a:noFill/>
                    </a:lnR>
                    <a:lnT w="9525">
                      <a:noFill/>
                    </a:lnT>
                    <a:lnB w="9525">
                      <a:solidFill>
                        <a:srgbClr val="D9D9D9"/>
                      </a:solidFill>
                    </a:lnB>
                    <a:solidFill>
                      <a:srgbClr val="004CA0"/>
                    </a:solidFill>
                  </a:tcPr>
                </a:tc>
              </a:tr>
              <a:tr h="310896">
                <a:tc>
                  <a:txBody>
                    <a:bodyPr wrap="square"/>
                    <a:lstStyle/>
                    <a:p>
                      <a:pPr algn="l" marL="0" indent="0">
                        <a:spcBef>
                          <a:spcPts val="0"/>
                        </a:spcBef>
                        <a:spcAft>
                          <a:spcPts val="0"/>
                        </a:spcAft>
                        <a:buNone/>
                      </a:pPr>
                      <a:r>
                        <a:rPr sz="1000" b="0" i="0">
                          <a:solidFill>
                            <a:srgbClr val="414141"/>
                          </a:solidFill>
                          <a:latin typeface="Arial"/>
                        </a:rPr>
                        <a:t>CASME</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19</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195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60</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Yes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 / 22.03</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1000" b="0" i="0">
                          <a:solidFill>
                            <a:srgbClr val="414141"/>
                          </a:solidFill>
                          <a:latin typeface="Arial"/>
                        </a:rPr>
                        <a:t>SMIC (HS)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164</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100</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No</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2 / 28.1</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1000" b="1" i="0">
                          <a:solidFill>
                            <a:srgbClr val="414141"/>
                          </a:solidFill>
                          <a:latin typeface="Arial"/>
                        </a:rPr>
                        <a:t>CASME II</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414141"/>
                          </a:solidFill>
                          <a:latin typeface="Arial"/>
                        </a:rPr>
                        <a:t>26</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414141"/>
                          </a:solidFill>
                          <a:latin typeface="Arial"/>
                        </a:rPr>
                        <a:t>247 / 255</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414141"/>
                          </a:solidFill>
                          <a:latin typeface="Arial"/>
                        </a:rPr>
                        <a:t>200</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414141"/>
                          </a:solidFill>
                          <a:latin typeface="Arial"/>
                        </a:rPr>
                        <a:t>Yes</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1000" b="1" i="0">
                          <a:solidFill>
                            <a:srgbClr val="414141"/>
                          </a:solidFill>
                          <a:latin typeface="Arial"/>
                        </a:rPr>
                        <a:t>1 / 22.03</a:t>
                      </a:r>
                    </a:p>
                  </a:txBody>
                  <a:tcPr marL="54864" marR="54864" marT="18288" marB="18288" anchor="ctr">
                    <a:lnL w="9525">
                      <a:noFill/>
                    </a:lnL>
                    <a:lnR w="9525">
                      <a:noFill/>
                    </a:lnR>
                    <a:lnT w="9525">
                      <a:noFill/>
                    </a:lnT>
                    <a:lnB w="9525">
                      <a:solidFill>
                        <a:srgbClr val="D9D9D9"/>
                      </a:solidFill>
                    </a:lnB>
                    <a:solidFill>
                      <a:srgbClr val="E6EDF6"/>
                    </a:solidFill>
                  </a:tcPr>
                </a:tc>
              </a:tr>
              <a:tr h="310896">
                <a:tc>
                  <a:txBody>
                    <a:bodyPr wrap="square"/>
                    <a:lstStyle/>
                    <a:p>
                      <a:pPr algn="l" marL="0" indent="0">
                        <a:spcBef>
                          <a:spcPts val="0"/>
                        </a:spcBef>
                        <a:spcAft>
                          <a:spcPts val="0"/>
                        </a:spcAft>
                        <a:buNone/>
                      </a:pPr>
                      <a:r>
                        <a:rPr sz="1000" b="0" i="0">
                          <a:solidFill>
                            <a:srgbClr val="414141"/>
                          </a:solidFill>
                          <a:latin typeface="Arial"/>
                        </a:rPr>
                        <a:t>SAMM</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32</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159</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200</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Yes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13 / 33.24</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1000" b="0" i="0">
                          <a:solidFill>
                            <a:srgbClr val="414141"/>
                          </a:solidFill>
                          <a:latin typeface="Arial"/>
                        </a:rPr>
                        <a:t>CAS(ME)</a:t>
                      </a:r>
                      <a:r>
                        <a:rPr sz="1000" b="0" i="0" baseline="30000">
                          <a:solidFill>
                            <a:srgbClr val="414141"/>
                          </a:solidFill>
                          <a:latin typeface="Arial"/>
                        </a:rPr>
                        <a:t>2</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22</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53 (+250 macro)</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30</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Yes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 / 22.59</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1000" b="0" i="0">
                          <a:solidFill>
                            <a:srgbClr val="414141"/>
                          </a:solidFill>
                          <a:latin typeface="Arial"/>
                        </a:rPr>
                        <a:t>MMEW</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36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300 (+900 macro)</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90</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Yes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1 / 22.35</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1000" b="0" i="0">
                          <a:solidFill>
                            <a:srgbClr val="414141"/>
                          </a:solidFill>
                          <a:latin typeface="Arial"/>
                        </a:rPr>
                        <a:t>DFME</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671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7,526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200, 300, 500</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Yes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not reported</a:t>
                      </a:r>
                    </a:p>
                  </a:txBody>
                  <a:tcPr marL="54864" marR="54864" marT="18288" marB="18288" anchor="ctr">
                    <a:lnL w="9525">
                      <a:noFill/>
                    </a:lnL>
                    <a:lnR w="9525">
                      <a:noFill/>
                    </a:lnR>
                    <a:lnT w="9525">
                      <a:noFill/>
                    </a:lnT>
                    <a:lnB w="9525">
                      <a:solidFill>
                        <a:srgbClr val="D9D9D9"/>
                      </a:solidFill>
                    </a:lnB>
                    <a:solidFill>
                      <a:srgbClr val="FFFFFF"/>
                    </a:solidFill>
                  </a:tcPr>
                </a:tc>
              </a:tr>
            </a:tbl>
          </a:graphicData>
        </a:graphic>
      </p:graphicFrame>
      <p:sp>
        <p:nvSpPr>
          <p:cNvPr id="928" name="TextBox 927"/>
          <p:cNvSpPr txBox="1"/>
          <p:nvPr/>
        </p:nvSpPr>
        <p:spPr>
          <a:xfrm>
            <a:off x="685800" y="4434840"/>
            <a:ext cx="7955279" cy="146304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100" b="0" i="0">
                <a:solidFill>
                  <a:srgbClr val="414141"/>
                </a:solidFill>
                <a:latin typeface="Arial"/>
              </a:rPr>
              <a:t>CASME II has the highest temporal resolution among the spontaneous datasets of comparable size</a:t>
            </a:r>
          </a:p>
          <a:p>
            <a:pPr algn="l" marL="155448" indent="-155448">
              <a:spcBef>
                <a:spcPts val="0"/>
              </a:spcBef>
              <a:spcAft>
                <a:spcPts val="400"/>
              </a:spcAft>
              <a:buClr>
                <a:srgbClr val="A8CC2F"/>
              </a:buClr>
              <a:buFont typeface="Arial"/>
              <a:buChar char="•"/>
            </a:pPr>
            <a:r>
              <a:rPr sz="1100" b="0" i="0">
                <a:solidFill>
                  <a:srgbClr val="414141"/>
                </a:solidFill>
                <a:latin typeface="Arial"/>
              </a:rPr>
              <a:t>Its onset, apex and offset annotation makes temporal normalisation well defined</a:t>
            </a:r>
          </a:p>
          <a:p>
            <a:pPr algn="l" marL="155448" indent="-155448">
              <a:spcBef>
                <a:spcPts val="0"/>
              </a:spcBef>
              <a:spcAft>
                <a:spcPts val="400"/>
              </a:spcAft>
              <a:buClr>
                <a:srgbClr val="A8CC2F"/>
              </a:buClr>
              <a:buFont typeface="Arial"/>
              <a:buChar char="•"/>
            </a:pPr>
            <a:r>
              <a:rPr sz="1100" b="0" i="0">
                <a:solidFill>
                  <a:srgbClr val="414141"/>
                </a:solidFill>
                <a:latin typeface="Arial"/>
              </a:rPr>
              <a:t>It remains the most widely reported single-dataset benchmark</a:t>
            </a:r>
          </a:p>
          <a:p>
            <a:pPr algn="l" marL="155448" indent="-155448">
              <a:spcBef>
                <a:spcPts val="0"/>
              </a:spcBef>
              <a:spcAft>
                <a:spcPts val="400"/>
              </a:spcAft>
              <a:buClr>
                <a:srgbClr val="A8CC2F"/>
              </a:buClr>
              <a:buFont typeface="Arial"/>
              <a:buChar char="•"/>
            </a:pPr>
            <a:r>
              <a:rPr sz="1100" b="0" i="0">
                <a:solidFill>
                  <a:srgbClr val="414141"/>
                </a:solidFill>
                <a:latin typeface="Arial"/>
              </a:rPr>
              <a:t>CAS(ME)</a:t>
            </a:r>
            <a:r>
              <a:rPr sz="1100" b="0" i="0" baseline="30000">
                <a:solidFill>
                  <a:srgbClr val="414141"/>
                </a:solidFill>
                <a:latin typeface="Arial"/>
              </a:rPr>
              <a:t>3</a:t>
            </a:r>
            <a:r>
              <a:rPr sz="1100" b="0" i="0">
                <a:solidFill>
                  <a:srgbClr val="414141"/>
                </a:solidFill>
                <a:latin typeface="Arial"/>
              </a:rPr>
              <a:t> adds depth information; DFME is reported by its authors as the largest dataset at the time of publication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CASME II LABELS AND THE THREE SAMPLE COUNTS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27"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27</a:t>
            </a:fld>
          </a:p>
        </p:txBody>
      </p:sp>
      <p:graphicFrame>
        <p:nvGraphicFramePr>
          <p:cNvPr id="928" name="Chart 927"/>
          <p:cNvGraphicFramePr>
            <a:graphicFrameLocks noGrp="1"/>
          </p:cNvGraphicFramePr>
          <p:nvPr/>
        </p:nvGraphicFramePr>
        <p:xfrm>
          <a:off x="594360" y="1691640"/>
          <a:ext cx="4709160" cy="3749039"/>
        </p:xfrm>
        <a:graphic>
          <a:graphicData uri="http://schemas.openxmlformats.org/drawingml/2006/chart">
            <c:chart xmlns:c="http://schemas.openxmlformats.org/drawingml/2006/chart" r:id="rId3"/>
          </a:graphicData>
        </a:graphic>
      </p:graphicFrame>
      <p:sp>
        <p:nvSpPr>
          <p:cNvPr id="929" name="TextBox 928"/>
          <p:cNvSpPr txBox="1"/>
          <p:nvPr/>
        </p:nvSpPr>
        <p:spPr>
          <a:xfrm>
            <a:off x="685800" y="5440680"/>
            <a:ext cx="4572000" cy="457200"/>
          </a:xfrm>
          <a:prstGeom prst="rect">
            <a:avLst/>
          </a:prstGeom>
          <a:noFill/>
        </p:spPr>
        <p:txBody>
          <a:bodyPr wrap="square" lIns="45720" rIns="45720" tIns="27432" bIns="27432" anchor="t"/>
          <a:lstStyle/>
          <a:p>
            <a:pPr algn="ctr" marL="0" indent="0">
              <a:spcBef>
                <a:spcPts val="0"/>
              </a:spcBef>
              <a:spcAft>
                <a:spcPts val="300"/>
              </a:spcAft>
              <a:buNone/>
            </a:pPr>
            <a:r>
              <a:rPr sz="850" b="0" i="1">
                <a:solidFill>
                  <a:srgbClr val="8C8C8C"/>
                </a:solidFill>
                <a:latin typeface="Arial"/>
              </a:rPr>
              <a:t>Released coding (255 clips). Blue: Negative (99); lime: Positive (32); cyan: Surprise (25); grey: excluded.</a:t>
            </a:r>
          </a:p>
        </p:txBody>
      </p:sp>
      <p:sp>
        <p:nvSpPr>
          <p:cNvPr id="930" name="Rectangle 929"/>
          <p:cNvSpPr/>
          <p:nvPr/>
        </p:nvSpPr>
        <p:spPr>
          <a:xfrm>
            <a:off x="5440680" y="1783080"/>
            <a:ext cx="32004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TextBox 930"/>
          <p:cNvSpPr txBox="1"/>
          <p:nvPr/>
        </p:nvSpPr>
        <p:spPr>
          <a:xfrm>
            <a:off x="5486400" y="1783080"/>
            <a:ext cx="960120" cy="914400"/>
          </a:xfrm>
          <a:prstGeom prst="rect">
            <a:avLst/>
          </a:prstGeom>
          <a:noFill/>
        </p:spPr>
        <p:txBody>
          <a:bodyPr wrap="square" lIns="45720" rIns="45720" tIns="27432" bIns="27432" anchor="ctr"/>
          <a:lstStyle/>
          <a:p>
            <a:pPr algn="ctr" marL="0" indent="0">
              <a:spcBef>
                <a:spcPts val="0"/>
              </a:spcBef>
              <a:spcAft>
                <a:spcPts val="0"/>
              </a:spcAft>
              <a:buNone/>
            </a:pPr>
            <a:r>
              <a:rPr sz="2400" b="1" i="0">
                <a:solidFill>
                  <a:srgbClr val="004CA0"/>
                </a:solidFill>
                <a:latin typeface="Arial"/>
              </a:rPr>
              <a:t>247</a:t>
            </a:r>
          </a:p>
        </p:txBody>
      </p:sp>
      <p:sp>
        <p:nvSpPr>
          <p:cNvPr id="932" name="TextBox 931"/>
          <p:cNvSpPr txBox="1"/>
          <p:nvPr/>
        </p:nvSpPr>
        <p:spPr>
          <a:xfrm>
            <a:off x="6492240" y="1783080"/>
            <a:ext cx="2103120" cy="914400"/>
          </a:xfrm>
          <a:prstGeom prst="rect">
            <a:avLst/>
          </a:prstGeom>
          <a:noFill/>
        </p:spPr>
        <p:txBody>
          <a:bodyPr wrap="square" lIns="45720" rIns="45720" tIns="27432" bIns="27432" anchor="ctr"/>
          <a:lstStyle/>
          <a:p>
            <a:pPr algn="l" marL="0" indent="0">
              <a:spcBef>
                <a:spcPts val="0"/>
              </a:spcBef>
              <a:spcAft>
                <a:spcPts val="200"/>
              </a:spcAft>
              <a:buNone/>
            </a:pPr>
            <a:r>
              <a:rPr sz="1100" b="1" i="0">
                <a:solidFill>
                  <a:srgbClr val="004CA0"/>
                </a:solidFill>
                <a:latin typeface="Arial"/>
              </a:rPr>
              <a:t>Published paper</a:t>
            </a:r>
          </a:p>
          <a:p>
            <a:pPr algn="l" marL="0" indent="0">
              <a:spcBef>
                <a:spcPts val="0"/>
              </a:spcBef>
              <a:spcAft>
                <a:spcPts val="300"/>
              </a:spcAft>
              <a:buNone/>
            </a:pPr>
            <a:r>
              <a:rPr sz="950" b="0" i="0">
                <a:solidFill>
                  <a:srgbClr val="414141"/>
                </a:solidFill>
                <a:latin typeface="Arial"/>
              </a:rPr>
              <a:t>Micro-expressions reported by Yan et al. (2014)</a:t>
            </a:r>
          </a:p>
        </p:txBody>
      </p:sp>
      <p:sp>
        <p:nvSpPr>
          <p:cNvPr id="933" name="Rectangle 932"/>
          <p:cNvSpPr/>
          <p:nvPr/>
        </p:nvSpPr>
        <p:spPr>
          <a:xfrm>
            <a:off x="5440680" y="2816352"/>
            <a:ext cx="32004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TextBox 933"/>
          <p:cNvSpPr txBox="1"/>
          <p:nvPr/>
        </p:nvSpPr>
        <p:spPr>
          <a:xfrm>
            <a:off x="5486400" y="2816352"/>
            <a:ext cx="960120" cy="914400"/>
          </a:xfrm>
          <a:prstGeom prst="rect">
            <a:avLst/>
          </a:prstGeom>
          <a:noFill/>
        </p:spPr>
        <p:txBody>
          <a:bodyPr wrap="square" lIns="45720" rIns="45720" tIns="27432" bIns="27432" anchor="ctr"/>
          <a:lstStyle/>
          <a:p>
            <a:pPr algn="ctr" marL="0" indent="0">
              <a:spcBef>
                <a:spcPts val="0"/>
              </a:spcBef>
              <a:spcAft>
                <a:spcPts val="0"/>
              </a:spcAft>
              <a:buNone/>
            </a:pPr>
            <a:r>
              <a:rPr sz="2400" b="1" i="0">
                <a:solidFill>
                  <a:srgbClr val="004CA0"/>
                </a:solidFill>
                <a:latin typeface="Arial"/>
              </a:rPr>
              <a:t>255</a:t>
            </a:r>
          </a:p>
        </p:txBody>
      </p:sp>
      <p:sp>
        <p:nvSpPr>
          <p:cNvPr id="935" name="TextBox 934"/>
          <p:cNvSpPr txBox="1"/>
          <p:nvPr/>
        </p:nvSpPr>
        <p:spPr>
          <a:xfrm>
            <a:off x="6492240" y="2816352"/>
            <a:ext cx="2103120" cy="914400"/>
          </a:xfrm>
          <a:prstGeom prst="rect">
            <a:avLst/>
          </a:prstGeom>
          <a:noFill/>
        </p:spPr>
        <p:txBody>
          <a:bodyPr wrap="square" lIns="45720" rIns="45720" tIns="27432" bIns="27432" anchor="ctr"/>
          <a:lstStyle/>
          <a:p>
            <a:pPr algn="l" marL="0" indent="0">
              <a:spcBef>
                <a:spcPts val="0"/>
              </a:spcBef>
              <a:spcAft>
                <a:spcPts val="200"/>
              </a:spcAft>
              <a:buNone/>
            </a:pPr>
            <a:r>
              <a:rPr sz="1100" b="1" i="0">
                <a:solidFill>
                  <a:srgbClr val="004CA0"/>
                </a:solidFill>
                <a:latin typeface="Arial"/>
              </a:rPr>
              <a:t>Released coding</a:t>
            </a:r>
          </a:p>
          <a:p>
            <a:pPr algn="l" marL="0" indent="0">
              <a:spcBef>
                <a:spcPts val="0"/>
              </a:spcBef>
              <a:spcAft>
                <a:spcPts val="300"/>
              </a:spcAft>
              <a:buNone/>
            </a:pPr>
            <a:r>
              <a:rPr sz="950" b="0" i="0">
                <a:solidFill>
                  <a:srgbClr val="414141"/>
                </a:solidFill>
                <a:latin typeface="Arial"/>
              </a:rPr>
              <a:t>Clips in the distributed coding file; used in this thesis</a:t>
            </a:r>
          </a:p>
        </p:txBody>
      </p:sp>
      <p:sp>
        <p:nvSpPr>
          <p:cNvPr id="936" name="Rectangle 935"/>
          <p:cNvSpPr/>
          <p:nvPr/>
        </p:nvSpPr>
        <p:spPr>
          <a:xfrm>
            <a:off x="5440680" y="3849624"/>
            <a:ext cx="3200400"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TextBox 936"/>
          <p:cNvSpPr txBox="1"/>
          <p:nvPr/>
        </p:nvSpPr>
        <p:spPr>
          <a:xfrm>
            <a:off x="5486400" y="3849624"/>
            <a:ext cx="960120" cy="914400"/>
          </a:xfrm>
          <a:prstGeom prst="rect">
            <a:avLst/>
          </a:prstGeom>
          <a:noFill/>
        </p:spPr>
        <p:txBody>
          <a:bodyPr wrap="square" lIns="45720" rIns="45720" tIns="27432" bIns="27432" anchor="ctr"/>
          <a:lstStyle/>
          <a:p>
            <a:pPr algn="ctr" marL="0" indent="0">
              <a:spcBef>
                <a:spcPts val="0"/>
              </a:spcBef>
              <a:spcAft>
                <a:spcPts val="0"/>
              </a:spcAft>
              <a:buNone/>
            </a:pPr>
            <a:r>
              <a:rPr sz="2400" b="1" i="0">
                <a:solidFill>
                  <a:srgbClr val="004CA0"/>
                </a:solidFill>
                <a:latin typeface="Arial"/>
              </a:rPr>
              <a:t>145</a:t>
            </a:r>
          </a:p>
        </p:txBody>
      </p:sp>
      <p:sp>
        <p:nvSpPr>
          <p:cNvPr id="938" name="TextBox 937"/>
          <p:cNvSpPr txBox="1"/>
          <p:nvPr/>
        </p:nvSpPr>
        <p:spPr>
          <a:xfrm>
            <a:off x="6492240" y="3849624"/>
            <a:ext cx="2103120" cy="914400"/>
          </a:xfrm>
          <a:prstGeom prst="rect">
            <a:avLst/>
          </a:prstGeom>
          <a:noFill/>
        </p:spPr>
        <p:txBody>
          <a:bodyPr wrap="square" lIns="45720" rIns="45720" tIns="27432" bIns="27432" anchor="ctr"/>
          <a:lstStyle/>
          <a:p>
            <a:pPr algn="l" marL="0" indent="0">
              <a:spcBef>
                <a:spcPts val="0"/>
              </a:spcBef>
              <a:spcAft>
                <a:spcPts val="200"/>
              </a:spcAft>
              <a:buNone/>
            </a:pPr>
            <a:r>
              <a:rPr sz="1100" b="1" i="0">
                <a:solidFill>
                  <a:srgbClr val="004CA0"/>
                </a:solidFill>
                <a:latin typeface="Arial"/>
              </a:rPr>
              <a:t>MEGC 2019 subset</a:t>
            </a:r>
          </a:p>
          <a:p>
            <a:pPr algn="l" marL="0" indent="0">
              <a:spcBef>
                <a:spcPts val="0"/>
              </a:spcBef>
              <a:spcAft>
                <a:spcPts val="300"/>
              </a:spcAft>
              <a:buNone/>
            </a:pPr>
            <a:r>
              <a:rPr sz="950" b="0" i="0">
                <a:solidFill>
                  <a:srgbClr val="414141"/>
                </a:solidFill>
                <a:latin typeface="Arial"/>
              </a:rPr>
              <a:t>Five-category release: Negative = disgust and repression (88)</a:t>
            </a:r>
          </a:p>
        </p:txBody>
      </p:sp>
      <p:sp>
        <p:nvSpPr>
          <p:cNvPr id="939" name="Rectangle 938"/>
          <p:cNvSpPr/>
          <p:nvPr/>
        </p:nvSpPr>
        <p:spPr>
          <a:xfrm>
            <a:off x="5440680" y="4882896"/>
            <a:ext cx="3200400" cy="91440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TextBox 939"/>
          <p:cNvSpPr txBox="1"/>
          <p:nvPr/>
        </p:nvSpPr>
        <p:spPr>
          <a:xfrm>
            <a:off x="5486400" y="4882896"/>
            <a:ext cx="960120" cy="914400"/>
          </a:xfrm>
          <a:prstGeom prst="rect">
            <a:avLst/>
          </a:prstGeom>
          <a:noFill/>
        </p:spPr>
        <p:txBody>
          <a:bodyPr wrap="square" lIns="45720" rIns="45720" tIns="27432" bIns="27432" anchor="ctr"/>
          <a:lstStyle/>
          <a:p>
            <a:pPr algn="ctr" marL="0" indent="0">
              <a:spcBef>
                <a:spcPts val="0"/>
              </a:spcBef>
              <a:spcAft>
                <a:spcPts val="0"/>
              </a:spcAft>
              <a:buNone/>
            </a:pPr>
            <a:r>
              <a:rPr sz="2400" b="1" i="0">
                <a:solidFill>
                  <a:srgbClr val="A8CC2F"/>
                </a:solidFill>
                <a:latin typeface="Arial"/>
              </a:rPr>
              <a:t>156</a:t>
            </a:r>
          </a:p>
        </p:txBody>
      </p:sp>
      <p:sp>
        <p:nvSpPr>
          <p:cNvPr id="941" name="TextBox 940"/>
          <p:cNvSpPr txBox="1"/>
          <p:nvPr/>
        </p:nvSpPr>
        <p:spPr>
          <a:xfrm>
            <a:off x="6492240" y="4882896"/>
            <a:ext cx="2103120" cy="914400"/>
          </a:xfrm>
          <a:prstGeom prst="rect">
            <a:avLst/>
          </a:prstGeom>
          <a:noFill/>
        </p:spPr>
        <p:txBody>
          <a:bodyPr wrap="square" lIns="45720" rIns="45720" tIns="27432" bIns="27432" anchor="ctr"/>
          <a:lstStyle/>
          <a:p>
            <a:pPr algn="l" marL="0" indent="0">
              <a:spcBef>
                <a:spcPts val="0"/>
              </a:spcBef>
              <a:spcAft>
                <a:spcPts val="200"/>
              </a:spcAft>
              <a:buNone/>
            </a:pPr>
            <a:r>
              <a:rPr sz="1100" b="1" i="0">
                <a:solidFill>
                  <a:srgbClr val="FFFFFF"/>
                </a:solidFill>
                <a:latin typeface="Arial"/>
              </a:rPr>
              <a:t>This thesis</a:t>
            </a:r>
          </a:p>
          <a:p>
            <a:pPr algn="l" marL="0" indent="0">
              <a:spcBef>
                <a:spcPts val="0"/>
              </a:spcBef>
              <a:spcAft>
                <a:spcPts val="300"/>
              </a:spcAft>
              <a:buNone/>
            </a:pPr>
            <a:r>
              <a:rPr sz="950" b="0" i="0">
                <a:solidFill>
                  <a:srgbClr val="FFFFFF"/>
                </a:solidFill>
                <a:latin typeface="Arial"/>
              </a:rPr>
              <a:t>Seven-label coding: sadness and fear added to Negative (99)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FOLD COMPOSITION AND THE MEAN-OF-FOLDS CEILING</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28"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28</a:t>
            </a:fld>
          </a:p>
        </p:txBody>
      </p:sp>
      <p:pic>
        <p:nvPicPr>
          <p:cNvPr id="929" name="Picture 928" descr="s28.png"/>
          <p:cNvPicPr>
            <a:picLocks noChangeAspect="1"/>
          </p:cNvPicPr>
          <p:nvPr/>
        </p:nvPicPr>
        <p:blipFill>
          <a:blip r:embed="rId3"/>
          <a:stretch>
            <a:fillRect/>
          </a:stretch>
        </p:blipFill>
        <p:spPr>
          <a:xfrm>
            <a:off x="685800" y="1783080"/>
            <a:ext cx="4846320" cy="3058636"/>
          </a:xfrm>
          <a:prstGeom prst="rect">
            <a:avLst/>
          </a:prstGeom>
        </p:spPr>
      </p:pic>
      <p:sp>
        <p:nvSpPr>
          <p:cNvPr id="930" name="TextBox 929"/>
          <p:cNvSpPr txBox="1"/>
          <p:nvPr/>
        </p:nvSpPr>
        <p:spPr>
          <a:xfrm>
            <a:off x="685800" y="4873752"/>
            <a:ext cx="4846320" cy="274320"/>
          </a:xfrm>
          <a:prstGeom prst="rect">
            <a:avLst/>
          </a:prstGeom>
          <a:noFill/>
        </p:spPr>
        <p:txBody>
          <a:bodyPr wrap="square" lIns="45720" rIns="45720" tIns="27432" bIns="27432" anchor="t"/>
          <a:lstStyle/>
          <a:p>
            <a:pPr algn="l" marL="0" indent="0">
              <a:spcBef>
                <a:spcPts val="0"/>
              </a:spcBef>
              <a:spcAft>
                <a:spcPts val="300"/>
              </a:spcAft>
              <a:buNone/>
            </a:pPr>
            <a:r>
              <a:rPr sz="850" b="0" i="1">
                <a:solidFill>
                  <a:srgbClr val="8C8C8C"/>
                </a:solidFill>
                <a:latin typeface="Arial"/>
              </a:rPr>
              <a:t>Class composition of the 25 leave-one-subject-out folds (thesis figure).</a:t>
            </a:r>
          </a:p>
        </p:txBody>
      </p:sp>
      <p:sp>
        <p:nvSpPr>
          <p:cNvPr id="931" name="TextBox 930"/>
          <p:cNvSpPr txBox="1"/>
          <p:nvPr/>
        </p:nvSpPr>
        <p:spPr>
          <a:xfrm>
            <a:off x="5715000" y="1783080"/>
            <a:ext cx="2926080" cy="2286000"/>
          </a:xfrm>
          <a:prstGeom prst="rect">
            <a:avLst/>
          </a:prstGeom>
          <a:noFill/>
        </p:spPr>
        <p:txBody>
          <a:bodyPr wrap="square" lIns="45720" rIns="45720" tIns="27432" bIns="27432" anchor="t"/>
          <a:lstStyle/>
          <a:p>
            <a:pPr algn="l" marL="155448" indent="-155448">
              <a:spcBef>
                <a:spcPts val="0"/>
              </a:spcBef>
              <a:spcAft>
                <a:spcPts val="500"/>
              </a:spcAft>
              <a:buClr>
                <a:srgbClr val="A8CC2F"/>
              </a:buClr>
              <a:buFont typeface="Arial"/>
              <a:buChar char="•"/>
            </a:pPr>
            <a:r>
              <a:rPr sz="1050" b="0" i="0">
                <a:solidFill>
                  <a:srgbClr val="414141"/>
                </a:solidFill>
                <a:latin typeface="Arial"/>
              </a:rPr>
              <a:t>Subject 17 alone contributes 33 clips, 21 % of the working set</a:t>
            </a:r>
          </a:p>
          <a:p>
            <a:pPr algn="l" marL="155448" indent="-155448">
              <a:spcBef>
                <a:spcPts val="0"/>
              </a:spcBef>
              <a:spcAft>
                <a:spcPts val="500"/>
              </a:spcAft>
              <a:buClr>
                <a:srgbClr val="A8CC2F"/>
              </a:buClr>
              <a:buFont typeface="Arial"/>
              <a:buChar char="•"/>
            </a:pPr>
            <a:r>
              <a:rPr sz="1050" b="0" i="0">
                <a:solidFill>
                  <a:srgbClr val="414141"/>
                </a:solidFill>
                <a:latin typeface="Arial"/>
              </a:rPr>
              <a:t>Three subjects contribute one clip each, so fold sizes vary by a factor of 33</a:t>
            </a:r>
          </a:p>
          <a:p>
            <a:pPr algn="l" marL="155448" indent="-155448">
              <a:spcBef>
                <a:spcPts val="0"/>
              </a:spcBef>
              <a:spcAft>
                <a:spcPts val="500"/>
              </a:spcAft>
              <a:buClr>
                <a:srgbClr val="A8CC2F"/>
              </a:buClr>
              <a:buFont typeface="Arial"/>
              <a:buChar char="•"/>
            </a:pPr>
            <a:r>
              <a:rPr sz="1050" b="0" i="0">
                <a:solidFill>
                  <a:srgbClr val="414141"/>
                </a:solidFill>
                <a:latin typeface="Arial"/>
              </a:rPr>
              <a:t>10 folds contain one class, 8 contain two, 7 contain all three</a:t>
            </a:r>
          </a:p>
          <a:p>
            <a:pPr algn="l" marL="155448" indent="-155448">
              <a:spcBef>
                <a:spcPts val="0"/>
              </a:spcBef>
              <a:spcAft>
                <a:spcPts val="500"/>
              </a:spcAft>
              <a:buClr>
                <a:srgbClr val="A8CC2F"/>
              </a:buClr>
              <a:buFont typeface="Arial"/>
              <a:buChar char="•"/>
            </a:pPr>
            <a:r>
              <a:rPr sz="1050" b="0" i="0">
                <a:solidFill>
                  <a:srgbClr val="414141"/>
                </a:solidFill>
                <a:latin typeface="Arial"/>
              </a:rPr>
              <a:t>A class absent from a fold contributes an F1 of zero to that fold</a:t>
            </a:r>
          </a:p>
        </p:txBody>
      </p:sp>
      <p:sp>
        <p:nvSpPr>
          <p:cNvPr id="932" name="Rectangle 931"/>
          <p:cNvSpPr/>
          <p:nvPr/>
        </p:nvSpPr>
        <p:spPr>
          <a:xfrm>
            <a:off x="5715000" y="4114800"/>
            <a:ext cx="2926080" cy="178308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TextBox 932"/>
          <p:cNvSpPr txBox="1"/>
          <p:nvPr/>
        </p:nvSpPr>
        <p:spPr>
          <a:xfrm>
            <a:off x="5852160" y="4169663"/>
            <a:ext cx="2651760" cy="1673352"/>
          </a:xfrm>
          <a:prstGeom prst="rect">
            <a:avLst/>
          </a:prstGeom>
          <a:noFill/>
        </p:spPr>
        <p:txBody>
          <a:bodyPr wrap="square" lIns="45720" rIns="45720" tIns="27432" bIns="27432" anchor="ctr"/>
          <a:lstStyle/>
          <a:p>
            <a:pPr algn="l" marL="0" indent="0">
              <a:spcBef>
                <a:spcPts val="0"/>
              </a:spcBef>
              <a:spcAft>
                <a:spcPts val="300"/>
              </a:spcAft>
              <a:buNone/>
            </a:pPr>
            <a:r>
              <a:rPr sz="1050" b="1" i="0">
                <a:solidFill>
                  <a:srgbClr val="A8CC2F"/>
                </a:solidFill>
                <a:latin typeface="Arial"/>
              </a:rPr>
              <a:t>Ceiling of the mean-of-folds macro F1</a:t>
            </a:r>
          </a:p>
          <a:p>
            <a:pPr algn="l" marL="0" indent="0">
              <a:spcBef>
                <a:spcPts val="0"/>
              </a:spcBef>
              <a:spcAft>
                <a:spcPts val="400"/>
              </a:spcAft>
              <a:buNone/>
            </a:pPr>
            <a:r>
              <a:rPr sz="1200" b="1" i="0">
                <a:solidFill>
                  <a:srgbClr val="FFFFFF"/>
                </a:solidFill>
                <a:latin typeface="Arial"/>
              </a:rPr>
              <a:t>(10 · ⅓ + 8 · ⅔ + 7 · 1) / 25 ≈ 0.627</a:t>
            </a:r>
          </a:p>
          <a:p>
            <a:pPr algn="l" marL="0" indent="0">
              <a:spcBef>
                <a:spcPts val="0"/>
              </a:spcBef>
              <a:spcAft>
                <a:spcPts val="300"/>
              </a:spcAft>
              <a:buNone/>
            </a:pPr>
            <a:r>
              <a:rPr sz="950" b="0" i="0">
                <a:solidFill>
                  <a:srgbClr val="FFFFFF"/>
                </a:solidFill>
                <a:latin typeface="Arial"/>
              </a:rPr>
              <a:t>Pooling the confusion matrices avoids this ceiling. For C8, mean-of-folds accuracy exceeds pooled accuracy by 6.3 points.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EULERIAN VIDEO MAGNIFICATION IN DETAIL</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29"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29</a:t>
            </a:fld>
          </a:p>
        </p:txBody>
      </p:sp>
      <p:sp>
        <p:nvSpPr>
          <p:cNvPr id="930" name="Rectangle 929"/>
          <p:cNvSpPr/>
          <p:nvPr/>
        </p:nvSpPr>
        <p:spPr>
          <a:xfrm>
            <a:off x="685800" y="1783080"/>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TextBox 930"/>
          <p:cNvSpPr txBox="1"/>
          <p:nvPr/>
        </p:nvSpPr>
        <p:spPr>
          <a:xfrm>
            <a:off x="758952" y="1783080"/>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Small-motion model</a:t>
            </a:r>
          </a:p>
        </p:txBody>
      </p:sp>
      <p:sp>
        <p:nvSpPr>
          <p:cNvPr id="932" name="TextBox 931"/>
          <p:cNvSpPr txBox="1"/>
          <p:nvPr/>
        </p:nvSpPr>
        <p:spPr>
          <a:xfrm>
            <a:off x="2423160" y="1783080"/>
            <a:ext cx="6144768" cy="457200"/>
          </a:xfrm>
          <a:prstGeom prst="rect">
            <a:avLst/>
          </a:prstGeom>
          <a:noFill/>
        </p:spPr>
        <p:txBody>
          <a:bodyPr wrap="square" lIns="45720" rIns="45720" tIns="27432" bIns="27432" anchor="ctr"/>
          <a:lstStyle/>
          <a:p>
            <a:pPr algn="l" marL="0" indent="0">
              <a:spcBef>
                <a:spcPts val="0"/>
              </a:spcBef>
              <a:spcAft>
                <a:spcPts val="0"/>
              </a:spcAft>
              <a:buNone/>
            </a:pPr>
            <a:r>
              <a:rPr sz="1300" b="0" i="1">
                <a:solidFill>
                  <a:srgbClr val="414141"/>
                </a:solidFill>
                <a:latin typeface="Arial"/>
              </a:rPr>
              <a:t>I(x, t) = f(x + δ(t)) ≈ f(x) + δ(t) · ∂f/∂x</a:t>
            </a:r>
          </a:p>
        </p:txBody>
      </p:sp>
      <p:sp>
        <p:nvSpPr>
          <p:cNvPr id="933" name="Rectangle 932"/>
          <p:cNvSpPr/>
          <p:nvPr/>
        </p:nvSpPr>
        <p:spPr>
          <a:xfrm>
            <a:off x="685800" y="2331720"/>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TextBox 933"/>
          <p:cNvSpPr txBox="1"/>
          <p:nvPr/>
        </p:nvSpPr>
        <p:spPr>
          <a:xfrm>
            <a:off x="758952" y="2331720"/>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After magnification</a:t>
            </a:r>
          </a:p>
        </p:txBody>
      </p:sp>
      <p:sp>
        <p:nvSpPr>
          <p:cNvPr id="935" name="TextBox 934"/>
          <p:cNvSpPr txBox="1"/>
          <p:nvPr/>
        </p:nvSpPr>
        <p:spPr>
          <a:xfrm>
            <a:off x="2423160" y="2331720"/>
            <a:ext cx="6144768" cy="457200"/>
          </a:xfrm>
          <a:prstGeom prst="rect">
            <a:avLst/>
          </a:prstGeom>
          <a:noFill/>
        </p:spPr>
        <p:txBody>
          <a:bodyPr wrap="square" lIns="45720" rIns="45720" tIns="27432" bIns="27432" anchor="ctr"/>
          <a:lstStyle/>
          <a:p>
            <a:pPr algn="l" marL="0" indent="0">
              <a:spcBef>
                <a:spcPts val="0"/>
              </a:spcBef>
              <a:spcAft>
                <a:spcPts val="0"/>
              </a:spcAft>
              <a:buNone/>
            </a:pPr>
            <a:r>
              <a:rPr sz="1300" b="0" i="1">
                <a:solidFill>
                  <a:srgbClr val="414141"/>
                </a:solidFill>
                <a:latin typeface="Arial"/>
              </a:rPr>
              <a:t>Ĩ(x, t) ≈ f(x) + (1 + α) · δ(t) · ∂f/∂x</a:t>
            </a:r>
          </a:p>
        </p:txBody>
      </p:sp>
      <p:graphicFrame>
        <p:nvGraphicFramePr>
          <p:cNvPr id="936" name="Table 935"/>
          <p:cNvGraphicFramePr>
            <a:graphicFrameLocks noGrp="1"/>
          </p:cNvGraphicFramePr>
          <p:nvPr/>
        </p:nvGraphicFramePr>
        <p:xfrm>
          <a:off x="685800" y="2926080"/>
          <a:ext cx="7955280" cy="2084832"/>
        </p:xfrm>
        <a:graphic>
          <a:graphicData uri="http://schemas.openxmlformats.org/drawingml/2006/table">
            <a:tbl>
              <a:tblPr firstRow="0" bandRow="0">
                <a:tableStyleId>{2D5ABB26-0587-4C30-8999-92F81FD0307C}</a:tableStyleId>
              </a:tblPr>
              <a:tblGrid>
                <a:gridCol w="1600200"/>
                <a:gridCol w="6355080"/>
              </a:tblGrid>
              <a:tr h="347472">
                <a:tc>
                  <a:txBody>
                    <a:bodyPr wrap="square"/>
                    <a:lstStyle/>
                    <a:p>
                      <a:pPr algn="l" marL="0" indent="0">
                        <a:spcBef>
                          <a:spcPts val="0"/>
                        </a:spcBef>
                        <a:spcAft>
                          <a:spcPts val="0"/>
                        </a:spcAft>
                        <a:buNone/>
                      </a:pPr>
                      <a:r>
                        <a:rPr sz="950" b="1" i="0">
                          <a:solidFill>
                            <a:srgbClr val="FFFFFF"/>
                          </a:solidFill>
                          <a:latin typeface="Arial"/>
                        </a:rPr>
                        <a:t>Property</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50" b="1" i="0">
                          <a:solidFill>
                            <a:srgbClr val="FFFFFF"/>
                          </a:solidFill>
                          <a:latin typeface="Arial"/>
                        </a:rPr>
                        <a:t>Implemented behaviour and consequence</a:t>
                      </a:r>
                    </a:p>
                  </a:txBody>
                  <a:tcPr marL="54864" marR="54864" marT="18288" marB="18288" anchor="ctr">
                    <a:lnL w="9525">
                      <a:noFill/>
                    </a:lnL>
                    <a:lnR w="9525">
                      <a:noFill/>
                    </a:lnR>
                    <a:lnT w="9525">
                      <a:noFill/>
                    </a:lnT>
                    <a:lnB w="9525">
                      <a:solidFill>
                        <a:srgbClr val="D9D9D9"/>
                      </a:solidFill>
                    </a:lnB>
                    <a:solidFill>
                      <a:srgbClr val="004CA0"/>
                    </a:solidFill>
                  </a:tcPr>
                </a:tc>
              </a:tr>
              <a:tr h="347472">
                <a:tc>
                  <a:txBody>
                    <a:bodyPr wrap="square"/>
                    <a:lstStyle/>
                    <a:p>
                      <a:pPr algn="l" marL="0" indent="0">
                        <a:spcBef>
                          <a:spcPts val="0"/>
                        </a:spcBef>
                        <a:spcAft>
                          <a:spcPts val="0"/>
                        </a:spcAft>
                        <a:buNone/>
                      </a:pPr>
                      <a:r>
                        <a:rPr sz="950" b="1" i="0">
                          <a:solidFill>
                            <a:srgbClr val="414141"/>
                          </a:solidFill>
                          <a:latin typeface="Arial"/>
                        </a:rPr>
                        <a:t>Temporal band</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5–25 Hz, matching the duration of micro-expressions; Bai et al. narrowed it to 15–25 Hz to reduce noise</a:t>
                      </a:r>
                    </a:p>
                  </a:txBody>
                  <a:tcPr marL="54864" marR="54864" marT="18288" marB="18288" anchor="ctr">
                    <a:lnL w="9525">
                      <a:noFill/>
                    </a:lnL>
                    <a:lnR w="9525">
                      <a:noFill/>
                    </a:lnR>
                    <a:lnT w="9525">
                      <a:noFill/>
                    </a:lnT>
                    <a:lnB w="9525">
                      <a:solidFill>
                        <a:srgbClr val="D9D9D9"/>
                      </a:solidFill>
                    </a:lnB>
                    <a:solidFill>
                      <a:srgbClr val="FFFFFF"/>
                    </a:solidFill>
                  </a:tcPr>
                </a:tc>
              </a:tr>
              <a:tr h="347472">
                <a:tc>
                  <a:txBody>
                    <a:bodyPr wrap="square"/>
                    <a:lstStyle/>
                    <a:p>
                      <a:pPr algn="l" marL="0" indent="0">
                        <a:spcBef>
                          <a:spcPts val="0"/>
                        </a:spcBef>
                        <a:spcAft>
                          <a:spcPts val="0"/>
                        </a:spcAft>
                        <a:buNone/>
                      </a:pPr>
                      <a:r>
                        <a:rPr sz="950" b="1" i="0">
                          <a:solidFill>
                            <a:srgbClr val="414141"/>
                          </a:solidFill>
                          <a:latin typeface="Arial"/>
                        </a:rPr>
                        <a:t>Temporal filter</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Hard Fourier mask instead of a Butterworth filter; the pass-band has no smooth roll-off</a:t>
                      </a:r>
                    </a:p>
                  </a:txBody>
                  <a:tcPr marL="54864" marR="54864" marT="18288" marB="18288" anchor="ctr">
                    <a:lnL w="9525">
                      <a:noFill/>
                    </a:lnL>
                    <a:lnR w="9525">
                      <a:noFill/>
                    </a:lnR>
                    <a:lnT w="9525">
                      <a:noFill/>
                    </a:lnT>
                    <a:lnB w="9525">
                      <a:solidFill>
                        <a:srgbClr val="D9D9D9"/>
                      </a:solidFill>
                    </a:lnB>
                    <a:solidFill>
                      <a:srgbClr val="F2F2F2"/>
                    </a:solidFill>
                  </a:tcPr>
                </a:tc>
              </a:tr>
              <a:tr h="347472">
                <a:tc>
                  <a:txBody>
                    <a:bodyPr wrap="square"/>
                    <a:lstStyle/>
                    <a:p>
                      <a:pPr algn="l" marL="0" indent="0">
                        <a:spcBef>
                          <a:spcPts val="0"/>
                        </a:spcBef>
                        <a:spcAft>
                          <a:spcPts val="0"/>
                        </a:spcAft>
                        <a:buNone/>
                      </a:pPr>
                      <a:r>
                        <a:rPr sz="950" b="1" i="0">
                          <a:solidFill>
                            <a:srgbClr val="414141"/>
                          </a:solidFill>
                          <a:latin typeface="Arial"/>
                        </a:rPr>
                        <a:t>Spatial amplification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The same α = 10 for every level of the four-level Laplacian pyramid; the Gaussian residual is not amplified</a:t>
                      </a:r>
                    </a:p>
                  </a:txBody>
                  <a:tcPr marL="54864" marR="54864" marT="18288" marB="18288" anchor="ctr">
                    <a:lnL w="9525">
                      <a:noFill/>
                    </a:lnL>
                    <a:lnR w="9525">
                      <a:noFill/>
                    </a:lnR>
                    <a:lnT w="9525">
                      <a:noFill/>
                    </a:lnT>
                    <a:lnB w="9525">
                      <a:solidFill>
                        <a:srgbClr val="D9D9D9"/>
                      </a:solidFill>
                    </a:lnB>
                    <a:solidFill>
                      <a:srgbClr val="FFFFFF"/>
                    </a:solidFill>
                  </a:tcPr>
                </a:tc>
              </a:tr>
              <a:tr h="347472">
                <a:tc>
                  <a:txBody>
                    <a:bodyPr wrap="square"/>
                    <a:lstStyle/>
                    <a:p>
                      <a:pPr algn="l" marL="0" indent="0">
                        <a:spcBef>
                          <a:spcPts val="0"/>
                        </a:spcBef>
                        <a:spcAft>
                          <a:spcPts val="0"/>
                        </a:spcAft>
                        <a:buNone/>
                      </a:pPr>
                      <a:r>
                        <a:rPr sz="950" b="1" i="0">
                          <a:solidFill>
                            <a:srgbClr val="414141"/>
                          </a:solidFill>
                          <a:latin typeface="Arial"/>
                        </a:rPr>
                        <a:t>Colour</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Greyscale intensity only, with no separate chromatic attenuation</a:t>
                      </a:r>
                    </a:p>
                  </a:txBody>
                  <a:tcPr marL="54864" marR="54864" marT="18288" marB="18288" anchor="ctr">
                    <a:lnL w="9525">
                      <a:noFill/>
                    </a:lnL>
                    <a:lnR w="9525">
                      <a:noFill/>
                    </a:lnR>
                    <a:lnT w="9525">
                      <a:noFill/>
                    </a:lnT>
                    <a:lnB w="9525">
                      <a:solidFill>
                        <a:srgbClr val="D9D9D9"/>
                      </a:solidFill>
                    </a:lnB>
                    <a:solidFill>
                      <a:srgbClr val="F2F2F2"/>
                    </a:solidFill>
                  </a:tcPr>
                </a:tc>
              </a:tr>
              <a:tr h="347472">
                <a:tc>
                  <a:txBody>
                    <a:bodyPr wrap="square"/>
                    <a:lstStyle/>
                    <a:p>
                      <a:pPr algn="l" marL="0" indent="0">
                        <a:spcBef>
                          <a:spcPts val="0"/>
                        </a:spcBef>
                        <a:spcAft>
                          <a:spcPts val="0"/>
                        </a:spcAft>
                        <a:buNone/>
                      </a:pPr>
                      <a:r>
                        <a:rPr sz="950" b="1" i="0">
                          <a:solidFill>
                            <a:srgbClr val="414141"/>
                          </a:solidFill>
                          <a:latin typeface="Arial"/>
                        </a:rPr>
                        <a:t>Ordering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Applied after sampling to 33 frames at a nominal 200 fps, so the physical pass-band is clip-dependent (about 2.5–12.5 Hz at the median length)</a:t>
                      </a:r>
                    </a:p>
                  </a:txBody>
                  <a:tcPr marL="54864" marR="54864" marT="18288" marB="18288" anchor="ctr">
                    <a:lnL w="9525">
                      <a:noFill/>
                    </a:lnL>
                    <a:lnR w="9525">
                      <a:noFill/>
                    </a:lnR>
                    <a:lnT w="9525">
                      <a:noFill/>
                    </a:lnT>
                    <a:lnB w="9525">
                      <a:solidFill>
                        <a:srgbClr val="D9D9D9"/>
                      </a:solidFill>
                    </a:lnB>
                    <a:solidFill>
                      <a:srgbClr val="FFFFFF"/>
                    </a:solidFill>
                  </a:tcPr>
                </a:tc>
              </a:tr>
            </a:tbl>
          </a:graphicData>
        </a:graphic>
      </p:graphicFrame>
      <p:sp>
        <p:nvSpPr>
          <p:cNvPr id="937" name="TextBox 936"/>
          <p:cNvSpPr txBox="1"/>
          <p:nvPr/>
        </p:nvSpPr>
        <p:spPr>
          <a:xfrm>
            <a:off x="685800" y="5303520"/>
            <a:ext cx="7955279" cy="594360"/>
          </a:xfrm>
          <a:prstGeom prst="rect">
            <a:avLst/>
          </a:prstGeom>
          <a:noFill/>
        </p:spPr>
        <p:txBody>
          <a:bodyPr wrap="square" lIns="45720" rIns="45720" tIns="27432" bIns="27432" anchor="t"/>
          <a:lstStyle/>
          <a:p>
            <a:pPr algn="l" marL="0" indent="0">
              <a:spcBef>
                <a:spcPts val="0"/>
              </a:spcBef>
              <a:spcAft>
                <a:spcPts val="300"/>
              </a:spcAft>
              <a:buNone/>
            </a:pPr>
            <a:r>
              <a:rPr sz="1050" b="0" i="1">
                <a:solidFill>
                  <a:srgbClr val="004CA0"/>
                </a:solidFill>
                <a:latin typeface="Arial"/>
              </a:rPr>
              <a:t>The filter distinguishes frequencies, not causes: head movement, illumination variation and noise within the pass-band are amplified together with the facial movement.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OPTICAL FLOW AND OPTICAL STRAIN</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0"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30</a:t>
            </a:fld>
          </a:p>
        </p:txBody>
      </p:sp>
      <p:sp>
        <p:nvSpPr>
          <p:cNvPr id="931" name="TextBox 930"/>
          <p:cNvSpPr txBox="1"/>
          <p:nvPr/>
        </p:nvSpPr>
        <p:spPr>
          <a:xfrm>
            <a:off x="685800" y="1783080"/>
            <a:ext cx="3886200" cy="292608"/>
          </a:xfrm>
          <a:prstGeom prst="rect">
            <a:avLst/>
          </a:prstGeom>
          <a:noFill/>
        </p:spPr>
        <p:txBody>
          <a:bodyPr wrap="square" lIns="45720" rIns="45720" tIns="27432" bIns="27432" anchor="t"/>
          <a:lstStyle/>
          <a:p>
            <a:pPr algn="l" marL="0" indent="0">
              <a:spcBef>
                <a:spcPts val="0"/>
              </a:spcBef>
              <a:spcAft>
                <a:spcPts val="300"/>
              </a:spcAft>
              <a:buNone/>
            </a:pPr>
            <a:r>
              <a:rPr sz="1250" b="1" i="0">
                <a:solidFill>
                  <a:srgbClr val="004CA0"/>
                </a:solidFill>
                <a:latin typeface="Arial"/>
              </a:rPr>
              <a:t>Optical flow</a:t>
            </a:r>
          </a:p>
        </p:txBody>
      </p:sp>
      <p:sp>
        <p:nvSpPr>
          <p:cNvPr id="932" name="TextBox 931"/>
          <p:cNvSpPr txBox="1"/>
          <p:nvPr/>
        </p:nvSpPr>
        <p:spPr>
          <a:xfrm>
            <a:off x="4754880" y="1783080"/>
            <a:ext cx="3886200" cy="292608"/>
          </a:xfrm>
          <a:prstGeom prst="rect">
            <a:avLst/>
          </a:prstGeom>
          <a:noFill/>
        </p:spPr>
        <p:txBody>
          <a:bodyPr wrap="square" lIns="45720" rIns="45720" tIns="27432" bIns="27432" anchor="t"/>
          <a:lstStyle/>
          <a:p>
            <a:pPr algn="l" marL="0" indent="0">
              <a:spcBef>
                <a:spcPts val="0"/>
              </a:spcBef>
              <a:spcAft>
                <a:spcPts val="300"/>
              </a:spcAft>
              <a:buNone/>
            </a:pPr>
            <a:r>
              <a:rPr sz="1250" b="1" i="0">
                <a:solidFill>
                  <a:srgbClr val="004CA0"/>
                </a:solidFill>
                <a:latin typeface="Arial"/>
              </a:rPr>
              <a:t>Optical strain</a:t>
            </a:r>
          </a:p>
        </p:txBody>
      </p:sp>
      <p:sp>
        <p:nvSpPr>
          <p:cNvPr id="933" name="Rectangle 932"/>
          <p:cNvSpPr/>
          <p:nvPr/>
        </p:nvSpPr>
        <p:spPr>
          <a:xfrm>
            <a:off x="685800" y="2148840"/>
            <a:ext cx="388620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TextBox 933"/>
          <p:cNvSpPr txBox="1"/>
          <p:nvPr/>
        </p:nvSpPr>
        <p:spPr>
          <a:xfrm>
            <a:off x="758952" y="2148840"/>
            <a:ext cx="1188720" cy="457200"/>
          </a:xfrm>
          <a:prstGeom prst="rect">
            <a:avLst/>
          </a:prstGeom>
          <a:noFill/>
        </p:spPr>
        <p:txBody>
          <a:bodyPr wrap="square" lIns="45720" rIns="45720" tIns="27432" bIns="27432" anchor="ctr"/>
          <a:lstStyle/>
          <a:p>
            <a:pPr algn="l" marL="0" indent="0">
              <a:spcBef>
                <a:spcPts val="0"/>
              </a:spcBef>
              <a:spcAft>
                <a:spcPts val="0"/>
              </a:spcAft>
              <a:buNone/>
            </a:pPr>
            <a:r>
              <a:rPr sz="900" b="1" i="0">
                <a:solidFill>
                  <a:srgbClr val="004CA0"/>
                </a:solidFill>
                <a:latin typeface="Arial"/>
              </a:rPr>
              <a:t>Brightness constancy</a:t>
            </a:r>
          </a:p>
        </p:txBody>
      </p:sp>
      <p:sp>
        <p:nvSpPr>
          <p:cNvPr id="935" name="TextBox 934"/>
          <p:cNvSpPr txBox="1"/>
          <p:nvPr/>
        </p:nvSpPr>
        <p:spPr>
          <a:xfrm>
            <a:off x="1965960" y="2148840"/>
            <a:ext cx="2532888" cy="457200"/>
          </a:xfrm>
          <a:prstGeom prst="rect">
            <a:avLst/>
          </a:prstGeom>
          <a:noFill/>
        </p:spPr>
        <p:txBody>
          <a:bodyPr wrap="square" lIns="45720" rIns="45720" tIns="27432" bIns="27432" anchor="ctr"/>
          <a:lstStyle/>
          <a:p>
            <a:pPr algn="l" marL="0" indent="0">
              <a:spcBef>
                <a:spcPts val="0"/>
              </a:spcBef>
              <a:spcAft>
                <a:spcPts val="0"/>
              </a:spcAft>
              <a:buNone/>
            </a:pPr>
            <a:r>
              <a:rPr sz="1050" b="0" i="1">
                <a:solidFill>
                  <a:srgbClr val="414141"/>
                </a:solidFill>
                <a:latin typeface="Arial"/>
              </a:rPr>
              <a:t>I(x, y, t) = I(x + uΔt, y + vΔt, t + Δt)</a:t>
            </a:r>
          </a:p>
        </p:txBody>
      </p:sp>
      <p:sp>
        <p:nvSpPr>
          <p:cNvPr id="936" name="Rectangle 935"/>
          <p:cNvSpPr/>
          <p:nvPr/>
        </p:nvSpPr>
        <p:spPr>
          <a:xfrm>
            <a:off x="685800" y="2670048"/>
            <a:ext cx="388620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TextBox 936"/>
          <p:cNvSpPr txBox="1"/>
          <p:nvPr/>
        </p:nvSpPr>
        <p:spPr>
          <a:xfrm>
            <a:off x="758952" y="2670048"/>
            <a:ext cx="1188720" cy="457200"/>
          </a:xfrm>
          <a:prstGeom prst="rect">
            <a:avLst/>
          </a:prstGeom>
          <a:noFill/>
        </p:spPr>
        <p:txBody>
          <a:bodyPr wrap="square" lIns="45720" rIns="45720" tIns="27432" bIns="27432" anchor="ctr"/>
          <a:lstStyle/>
          <a:p>
            <a:pPr algn="l" marL="0" indent="0">
              <a:spcBef>
                <a:spcPts val="0"/>
              </a:spcBef>
              <a:spcAft>
                <a:spcPts val="0"/>
              </a:spcAft>
              <a:buNone/>
            </a:pPr>
            <a:r>
              <a:rPr sz="900" b="1" i="0">
                <a:solidFill>
                  <a:srgbClr val="004CA0"/>
                </a:solidFill>
                <a:latin typeface="Arial"/>
              </a:rPr>
              <a:t>Flow constraint</a:t>
            </a:r>
          </a:p>
        </p:txBody>
      </p:sp>
      <p:sp>
        <p:nvSpPr>
          <p:cNvPr id="938" name="TextBox 937"/>
          <p:cNvSpPr txBox="1"/>
          <p:nvPr/>
        </p:nvSpPr>
        <p:spPr>
          <a:xfrm>
            <a:off x="1965960" y="2670048"/>
            <a:ext cx="2532888" cy="457200"/>
          </a:xfrm>
          <a:prstGeom prst="rect">
            <a:avLst/>
          </a:prstGeom>
          <a:noFill/>
        </p:spPr>
        <p:txBody>
          <a:bodyPr wrap="square" lIns="45720" rIns="45720" tIns="27432" bIns="27432" anchor="ctr"/>
          <a:lstStyle/>
          <a:p>
            <a:pPr algn="l" marL="0" indent="0">
              <a:spcBef>
                <a:spcPts val="0"/>
              </a:spcBef>
              <a:spcAft>
                <a:spcPts val="0"/>
              </a:spcAft>
              <a:buNone/>
            </a:pPr>
            <a:r>
              <a:rPr sz="1150" b="0" i="1">
                <a:solidFill>
                  <a:srgbClr val="414141"/>
                </a:solidFill>
                <a:latin typeface="Arial"/>
              </a:rPr>
              <a:t>I</a:t>
            </a:r>
            <a:r>
              <a:rPr sz="1150" b="0" i="1" baseline="-25000">
                <a:solidFill>
                  <a:srgbClr val="414141"/>
                </a:solidFill>
                <a:latin typeface="Arial"/>
              </a:rPr>
              <a:t>x</a:t>
            </a:r>
            <a:r>
              <a:rPr sz="1150" b="0" i="1">
                <a:solidFill>
                  <a:srgbClr val="414141"/>
                </a:solidFill>
                <a:latin typeface="Arial"/>
              </a:rPr>
              <a:t> u + I</a:t>
            </a:r>
            <a:r>
              <a:rPr sz="1150" b="0" i="1" baseline="-25000">
                <a:solidFill>
                  <a:srgbClr val="414141"/>
                </a:solidFill>
                <a:latin typeface="Arial"/>
              </a:rPr>
              <a:t>y</a:t>
            </a:r>
            <a:r>
              <a:rPr sz="1150" b="0" i="1">
                <a:solidFill>
                  <a:srgbClr val="414141"/>
                </a:solidFill>
                <a:latin typeface="Arial"/>
              </a:rPr>
              <a:t> v + I</a:t>
            </a:r>
            <a:r>
              <a:rPr sz="1150" b="0" i="1" baseline="-25000">
                <a:solidFill>
                  <a:srgbClr val="414141"/>
                </a:solidFill>
                <a:latin typeface="Arial"/>
              </a:rPr>
              <a:t>t</a:t>
            </a:r>
            <a:r>
              <a:rPr sz="1150" b="0" i="1">
                <a:solidFill>
                  <a:srgbClr val="414141"/>
                </a:solidFill>
                <a:latin typeface="Arial"/>
              </a:rPr>
              <a:t> = 0</a:t>
            </a:r>
          </a:p>
        </p:txBody>
      </p:sp>
      <p:sp>
        <p:nvSpPr>
          <p:cNvPr id="939" name="Rectangle 938"/>
          <p:cNvSpPr/>
          <p:nvPr/>
        </p:nvSpPr>
        <p:spPr>
          <a:xfrm>
            <a:off x="4754880" y="2148840"/>
            <a:ext cx="388620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TextBox 939"/>
          <p:cNvSpPr txBox="1"/>
          <p:nvPr/>
        </p:nvSpPr>
        <p:spPr>
          <a:xfrm>
            <a:off x="4828032" y="2148840"/>
            <a:ext cx="1188720" cy="457200"/>
          </a:xfrm>
          <a:prstGeom prst="rect">
            <a:avLst/>
          </a:prstGeom>
          <a:noFill/>
        </p:spPr>
        <p:txBody>
          <a:bodyPr wrap="square" lIns="45720" rIns="45720" tIns="27432" bIns="27432" anchor="ctr"/>
          <a:lstStyle/>
          <a:p>
            <a:pPr algn="l" marL="0" indent="0">
              <a:spcBef>
                <a:spcPts val="0"/>
              </a:spcBef>
              <a:spcAft>
                <a:spcPts val="0"/>
              </a:spcAft>
              <a:buNone/>
            </a:pPr>
            <a:r>
              <a:rPr sz="900" b="1" i="0">
                <a:solidFill>
                  <a:srgbClr val="004CA0"/>
                </a:solidFill>
                <a:latin typeface="Arial"/>
              </a:rPr>
              <a:t>Strain tensor</a:t>
            </a:r>
          </a:p>
        </p:txBody>
      </p:sp>
      <p:sp>
        <p:nvSpPr>
          <p:cNvPr id="941" name="TextBox 940"/>
          <p:cNvSpPr txBox="1"/>
          <p:nvPr/>
        </p:nvSpPr>
        <p:spPr>
          <a:xfrm>
            <a:off x="6035040" y="2148840"/>
            <a:ext cx="2532888" cy="457200"/>
          </a:xfrm>
          <a:prstGeom prst="rect">
            <a:avLst/>
          </a:prstGeom>
          <a:noFill/>
        </p:spPr>
        <p:txBody>
          <a:bodyPr wrap="square" lIns="45720" rIns="45720" tIns="27432" bIns="27432" anchor="ctr"/>
          <a:lstStyle/>
          <a:p>
            <a:pPr algn="l" marL="0" indent="0">
              <a:spcBef>
                <a:spcPts val="0"/>
              </a:spcBef>
              <a:spcAft>
                <a:spcPts val="0"/>
              </a:spcAft>
              <a:buNone/>
            </a:pPr>
            <a:r>
              <a:rPr sz="1150" b="0" i="1">
                <a:solidFill>
                  <a:srgbClr val="414141"/>
                </a:solidFill>
                <a:latin typeface="Arial"/>
              </a:rPr>
              <a:t>ε = ½ (∇u + (∇u)</a:t>
            </a:r>
            <a:r>
              <a:rPr sz="1150" b="0" i="1" baseline="30000">
                <a:solidFill>
                  <a:srgbClr val="414141"/>
                </a:solidFill>
                <a:latin typeface="Arial"/>
              </a:rPr>
              <a:t>T</a:t>
            </a:r>
            <a:r>
              <a:rPr sz="1150" b="0" i="1">
                <a:solidFill>
                  <a:srgbClr val="414141"/>
                </a:solidFill>
                <a:latin typeface="Arial"/>
              </a:rPr>
              <a:t>)</a:t>
            </a:r>
          </a:p>
        </p:txBody>
      </p:sp>
      <p:sp>
        <p:nvSpPr>
          <p:cNvPr id="942" name="Rectangle 941"/>
          <p:cNvSpPr/>
          <p:nvPr/>
        </p:nvSpPr>
        <p:spPr>
          <a:xfrm>
            <a:off x="4754880" y="2670048"/>
            <a:ext cx="388620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TextBox 942"/>
          <p:cNvSpPr txBox="1"/>
          <p:nvPr/>
        </p:nvSpPr>
        <p:spPr>
          <a:xfrm>
            <a:off x="4828032" y="2670048"/>
            <a:ext cx="1188720" cy="457200"/>
          </a:xfrm>
          <a:prstGeom prst="rect">
            <a:avLst/>
          </a:prstGeom>
          <a:noFill/>
        </p:spPr>
        <p:txBody>
          <a:bodyPr wrap="square" lIns="45720" rIns="45720" tIns="27432" bIns="27432" anchor="ctr"/>
          <a:lstStyle/>
          <a:p>
            <a:pPr algn="l" marL="0" indent="0">
              <a:spcBef>
                <a:spcPts val="0"/>
              </a:spcBef>
              <a:spcAft>
                <a:spcPts val="0"/>
              </a:spcAft>
              <a:buNone/>
            </a:pPr>
            <a:r>
              <a:rPr sz="900" b="1" i="0">
                <a:solidFill>
                  <a:srgbClr val="004CA0"/>
                </a:solidFill>
                <a:latin typeface="Arial"/>
              </a:rPr>
              <a:t>Shear component</a:t>
            </a:r>
          </a:p>
        </p:txBody>
      </p:sp>
      <p:sp>
        <p:nvSpPr>
          <p:cNvPr id="944" name="TextBox 943"/>
          <p:cNvSpPr txBox="1"/>
          <p:nvPr/>
        </p:nvSpPr>
        <p:spPr>
          <a:xfrm>
            <a:off x="6035040" y="2670048"/>
            <a:ext cx="2532888" cy="457200"/>
          </a:xfrm>
          <a:prstGeom prst="rect">
            <a:avLst/>
          </a:prstGeom>
          <a:noFill/>
        </p:spPr>
        <p:txBody>
          <a:bodyPr wrap="square" lIns="45720" rIns="45720" tIns="27432" bIns="27432" anchor="ctr"/>
          <a:lstStyle/>
          <a:p>
            <a:pPr algn="l" marL="0" indent="0">
              <a:spcBef>
                <a:spcPts val="0"/>
              </a:spcBef>
              <a:spcAft>
                <a:spcPts val="0"/>
              </a:spcAft>
              <a:buNone/>
            </a:pPr>
            <a:r>
              <a:rPr sz="1150" b="0" i="1">
                <a:solidFill>
                  <a:srgbClr val="414141"/>
                </a:solidFill>
                <a:latin typeface="Arial"/>
              </a:rPr>
              <a:t>ε</a:t>
            </a:r>
            <a:r>
              <a:rPr sz="1150" b="0" i="1" baseline="-25000">
                <a:solidFill>
                  <a:srgbClr val="414141"/>
                </a:solidFill>
                <a:latin typeface="Arial"/>
              </a:rPr>
              <a:t>xy</a:t>
            </a:r>
            <a:r>
              <a:rPr sz="1150" b="0" i="1">
                <a:solidFill>
                  <a:srgbClr val="414141"/>
                </a:solidFill>
                <a:latin typeface="Arial"/>
              </a:rPr>
              <a:t> = ½ (∂u/∂y + ∂v/∂x)</a:t>
            </a:r>
          </a:p>
        </p:txBody>
      </p:sp>
      <p:sp>
        <p:nvSpPr>
          <p:cNvPr id="945" name="Rectangle 944"/>
          <p:cNvSpPr/>
          <p:nvPr/>
        </p:nvSpPr>
        <p:spPr>
          <a:xfrm>
            <a:off x="4754880" y="3191256"/>
            <a:ext cx="388620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TextBox 945"/>
          <p:cNvSpPr txBox="1"/>
          <p:nvPr/>
        </p:nvSpPr>
        <p:spPr>
          <a:xfrm>
            <a:off x="4828032" y="3191256"/>
            <a:ext cx="1188720" cy="457200"/>
          </a:xfrm>
          <a:prstGeom prst="rect">
            <a:avLst/>
          </a:prstGeom>
          <a:noFill/>
        </p:spPr>
        <p:txBody>
          <a:bodyPr wrap="square" lIns="45720" rIns="45720" tIns="27432" bIns="27432" anchor="ctr"/>
          <a:lstStyle/>
          <a:p>
            <a:pPr algn="l" marL="0" indent="0">
              <a:spcBef>
                <a:spcPts val="0"/>
              </a:spcBef>
              <a:spcAft>
                <a:spcPts val="0"/>
              </a:spcAft>
              <a:buNone/>
            </a:pPr>
            <a:r>
              <a:rPr sz="900" b="1" i="0">
                <a:solidFill>
                  <a:srgbClr val="004CA0"/>
                </a:solidFill>
                <a:latin typeface="Arial"/>
              </a:rPr>
              <a:t>Magnitude used</a:t>
            </a:r>
          </a:p>
        </p:txBody>
      </p:sp>
      <p:sp>
        <p:nvSpPr>
          <p:cNvPr id="947" name="TextBox 946"/>
          <p:cNvSpPr txBox="1"/>
          <p:nvPr/>
        </p:nvSpPr>
        <p:spPr>
          <a:xfrm>
            <a:off x="6035040" y="3191256"/>
            <a:ext cx="2532888" cy="457200"/>
          </a:xfrm>
          <a:prstGeom prst="rect">
            <a:avLst/>
          </a:prstGeom>
          <a:noFill/>
        </p:spPr>
        <p:txBody>
          <a:bodyPr wrap="square" lIns="45720" rIns="45720" tIns="27432" bIns="27432" anchor="ctr"/>
          <a:lstStyle/>
          <a:p>
            <a:pPr algn="l" marL="0" indent="0">
              <a:spcBef>
                <a:spcPts val="0"/>
              </a:spcBef>
              <a:spcAft>
                <a:spcPts val="0"/>
              </a:spcAft>
              <a:buNone/>
            </a:pPr>
            <a:r>
              <a:rPr sz="1150" b="0" i="1">
                <a:solidFill>
                  <a:srgbClr val="414141"/>
                </a:solidFill>
                <a:latin typeface="Arial"/>
              </a:rPr>
              <a:t>ε</a:t>
            </a:r>
            <a:r>
              <a:rPr sz="1150" b="0" i="1" baseline="-25000">
                <a:solidFill>
                  <a:srgbClr val="414141"/>
                </a:solidFill>
                <a:latin typeface="Arial"/>
              </a:rPr>
              <a:t>mag</a:t>
            </a:r>
            <a:r>
              <a:rPr sz="1150" b="0" i="1">
                <a:solidFill>
                  <a:srgbClr val="414141"/>
                </a:solidFill>
                <a:latin typeface="Arial"/>
              </a:rPr>
              <a:t> = √(ε</a:t>
            </a:r>
            <a:r>
              <a:rPr sz="1150" b="0" i="1" baseline="-25000">
                <a:solidFill>
                  <a:srgbClr val="414141"/>
                </a:solidFill>
                <a:latin typeface="Arial"/>
              </a:rPr>
              <a:t>xx</a:t>
            </a:r>
            <a:r>
              <a:rPr sz="1150" b="0" i="1" baseline="30000">
                <a:solidFill>
                  <a:srgbClr val="414141"/>
                </a:solidFill>
                <a:latin typeface="Arial"/>
              </a:rPr>
              <a:t>2</a:t>
            </a:r>
            <a:r>
              <a:rPr sz="1150" b="0" i="1">
                <a:solidFill>
                  <a:srgbClr val="414141"/>
                </a:solidFill>
                <a:latin typeface="Arial"/>
              </a:rPr>
              <a:t> + ε</a:t>
            </a:r>
            <a:r>
              <a:rPr sz="1150" b="0" i="1" baseline="-25000">
                <a:solidFill>
                  <a:srgbClr val="414141"/>
                </a:solidFill>
                <a:latin typeface="Arial"/>
              </a:rPr>
              <a:t>yy</a:t>
            </a:r>
            <a:r>
              <a:rPr sz="1150" b="0" i="1" baseline="30000">
                <a:solidFill>
                  <a:srgbClr val="414141"/>
                </a:solidFill>
                <a:latin typeface="Arial"/>
              </a:rPr>
              <a:t>2</a:t>
            </a:r>
            <a:r>
              <a:rPr sz="1150" b="0" i="1">
                <a:solidFill>
                  <a:srgbClr val="414141"/>
                </a:solidFill>
                <a:latin typeface="Arial"/>
              </a:rPr>
              <a:t> + ε</a:t>
            </a:r>
            <a:r>
              <a:rPr sz="1150" b="0" i="1" baseline="-25000">
                <a:solidFill>
                  <a:srgbClr val="414141"/>
                </a:solidFill>
                <a:latin typeface="Arial"/>
              </a:rPr>
              <a:t>xy</a:t>
            </a:r>
            <a:r>
              <a:rPr sz="1150" b="0" i="1" baseline="30000">
                <a:solidFill>
                  <a:srgbClr val="414141"/>
                </a:solidFill>
                <a:latin typeface="Arial"/>
              </a:rPr>
              <a:t>2</a:t>
            </a:r>
            <a:r>
              <a:rPr sz="1150" b="0" i="1">
                <a:solidFill>
                  <a:srgbClr val="414141"/>
                </a:solidFill>
                <a:latin typeface="Arial"/>
              </a:rPr>
              <a:t>)</a:t>
            </a:r>
          </a:p>
        </p:txBody>
      </p:sp>
      <p:sp>
        <p:nvSpPr>
          <p:cNvPr id="948" name="TextBox 947"/>
          <p:cNvSpPr txBox="1"/>
          <p:nvPr/>
        </p:nvSpPr>
        <p:spPr>
          <a:xfrm>
            <a:off x="685800" y="3291840"/>
            <a:ext cx="3886200" cy="201168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050" b="0" i="0">
                <a:solidFill>
                  <a:srgbClr val="414141"/>
                </a:solidFill>
                <a:latin typeface="Arial"/>
              </a:rPr>
              <a:t>One equation in two unknowns: the aperture problem</a:t>
            </a:r>
          </a:p>
          <a:p>
            <a:pPr algn="l" marL="155448" indent="-155448">
              <a:spcBef>
                <a:spcPts val="0"/>
              </a:spcBef>
              <a:spcAft>
                <a:spcPts val="400"/>
              </a:spcAft>
              <a:buClr>
                <a:srgbClr val="A8CC2F"/>
              </a:buClr>
              <a:buFont typeface="Arial"/>
              <a:buChar char="•"/>
            </a:pPr>
            <a:r>
              <a:rPr sz="1050" b="0" i="0">
                <a:solidFill>
                  <a:srgbClr val="414141"/>
                </a:solidFill>
                <a:latin typeface="Arial"/>
              </a:rPr>
              <a:t>Farnebäck estimator on the 32 adjacent frame pairs</a:t>
            </a:r>
          </a:p>
          <a:p>
            <a:pPr algn="l" marL="155448" indent="-155448">
              <a:spcBef>
                <a:spcPts val="0"/>
              </a:spcBef>
              <a:spcAft>
                <a:spcPts val="400"/>
              </a:spcAft>
              <a:buClr>
                <a:srgbClr val="A8CC2F"/>
              </a:buClr>
              <a:buFont typeface="Arial"/>
              <a:buChar char="•"/>
            </a:pPr>
            <a:r>
              <a:rPr sz="1050" b="0" i="0">
                <a:solidFill>
                  <a:srgbClr val="414141"/>
                </a:solidFill>
                <a:latin typeface="Arial"/>
              </a:rPr>
              <a:t>u and v are displacements in pixels between sampled frames</a:t>
            </a:r>
          </a:p>
          <a:p>
            <a:pPr algn="l" marL="155448" indent="-155448">
              <a:spcBef>
                <a:spcPts val="0"/>
              </a:spcBef>
              <a:spcAft>
                <a:spcPts val="400"/>
              </a:spcAft>
              <a:buClr>
                <a:srgbClr val="A8CC2F"/>
              </a:buClr>
              <a:buFont typeface="Arial"/>
              <a:buChar char="•"/>
            </a:pPr>
            <a:r>
              <a:rPr sz="1050" b="0" i="0">
                <a:solidFill>
                  <a:srgbClr val="414141"/>
                </a:solidFill>
                <a:latin typeface="Arial"/>
              </a:rPr>
              <a:t>No flow-based fine alignment is performed</a:t>
            </a:r>
          </a:p>
        </p:txBody>
      </p:sp>
      <p:sp>
        <p:nvSpPr>
          <p:cNvPr id="949" name="TextBox 948"/>
          <p:cNvSpPr txBox="1"/>
          <p:nvPr/>
        </p:nvSpPr>
        <p:spPr>
          <a:xfrm>
            <a:off x="4754880" y="3794760"/>
            <a:ext cx="3886200" cy="155448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050" b="0" i="0">
                <a:solidFill>
                  <a:srgbClr val="414141"/>
                </a:solidFill>
                <a:latin typeface="Arial"/>
              </a:rPr>
              <a:t>Normal components: ∂u/∂x (horizontal) and ∂v/∂y (vertical)</a:t>
            </a:r>
          </a:p>
          <a:p>
            <a:pPr algn="l" marL="155448" indent="-155448">
              <a:spcBef>
                <a:spcPts val="0"/>
              </a:spcBef>
              <a:spcAft>
                <a:spcPts val="400"/>
              </a:spcAft>
              <a:buClr>
                <a:srgbClr val="A8CC2F"/>
              </a:buClr>
              <a:buFont typeface="Arial"/>
              <a:buChar char="•"/>
            </a:pPr>
            <a:r>
              <a:rPr sz="1050" b="0" i="0">
                <a:solidFill>
                  <a:srgbClr val="414141"/>
                </a:solidFill>
                <a:latin typeface="Arial"/>
              </a:rPr>
              <a:t>A spatially uniform translation has zero strain</a:t>
            </a:r>
          </a:p>
          <a:p>
            <a:pPr algn="l" marL="155448" indent="-155448">
              <a:spcBef>
                <a:spcPts val="0"/>
              </a:spcBef>
              <a:spcAft>
                <a:spcPts val="400"/>
              </a:spcAft>
              <a:buClr>
                <a:srgbClr val="A8CC2F"/>
              </a:buClr>
              <a:buFont typeface="Arial"/>
              <a:buChar char="•"/>
            </a:pPr>
            <a:r>
              <a:rPr sz="1050" b="0" i="0">
                <a:solidFill>
                  <a:srgbClr val="414141"/>
                </a:solidFill>
                <a:latin typeface="Arial"/>
              </a:rPr>
              <a:t>Shear is counted once; the Frobenius norm of Liong et al. counts it twice</a:t>
            </a:r>
          </a:p>
          <a:p>
            <a:pPr algn="l" marL="155448" indent="-155448">
              <a:spcBef>
                <a:spcPts val="0"/>
              </a:spcBef>
              <a:spcAft>
                <a:spcPts val="400"/>
              </a:spcAft>
              <a:buClr>
                <a:srgbClr val="A8CC2F"/>
              </a:buClr>
              <a:buFont typeface="Arial"/>
              <a:buChar char="•"/>
            </a:pPr>
            <a:r>
              <a:rPr sz="1050" b="0" i="0">
                <a:solidFill>
                  <a:srgbClr val="414141"/>
                </a:solidFill>
                <a:latin typeface="Arial"/>
              </a:rPr>
              <a:t>No dedicated strain filter is applied</a:t>
            </a:r>
          </a:p>
        </p:txBody>
      </p:sp>
      <p:sp>
        <p:nvSpPr>
          <p:cNvPr id="950" name="Rectangle 949"/>
          <p:cNvSpPr/>
          <p:nvPr/>
        </p:nvSpPr>
        <p:spPr>
          <a:xfrm>
            <a:off x="685800" y="5394960"/>
            <a:ext cx="7955279" cy="50292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TextBox 950"/>
          <p:cNvSpPr txBox="1"/>
          <p:nvPr/>
        </p:nvSpPr>
        <p:spPr>
          <a:xfrm>
            <a:off x="822960" y="5449824"/>
            <a:ext cx="7680959" cy="393192"/>
          </a:xfrm>
          <a:prstGeom prst="rect">
            <a:avLst/>
          </a:prstGeom>
          <a:noFill/>
        </p:spPr>
        <p:txBody>
          <a:bodyPr wrap="square" lIns="45720" rIns="45720" tIns="27432" bIns="27432" anchor="ctr"/>
          <a:lstStyle/>
          <a:p>
            <a:pPr algn="l" marL="0" indent="0">
              <a:spcBef>
                <a:spcPts val="0"/>
              </a:spcBef>
              <a:spcAft>
                <a:spcPts val="300"/>
              </a:spcAft>
              <a:buNone/>
            </a:pPr>
            <a:r>
              <a:rPr sz="1050" b="1" i="0">
                <a:solidFill>
                  <a:srgbClr val="FFFFFF"/>
                </a:solidFill>
                <a:latin typeface="Arial"/>
              </a:rPr>
              <a:t>The two fields are stacked as [u, v, ε] and normalised per channel: min–max to [0, 1] per clip, then standardised when loaded.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TEMPORAL SAMPLING AND EFFECTIVE FRAME RATE</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1"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31</a:t>
            </a:fld>
          </a:p>
        </p:txBody>
      </p:sp>
      <p:sp>
        <p:nvSpPr>
          <p:cNvPr id="932" name="Rectangle 931"/>
          <p:cNvSpPr/>
          <p:nvPr/>
        </p:nvSpPr>
        <p:spPr>
          <a:xfrm>
            <a:off x="685800" y="1783080"/>
            <a:ext cx="1883892" cy="1371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TextBox 932"/>
          <p:cNvSpPr txBox="1"/>
          <p:nvPr/>
        </p:nvSpPr>
        <p:spPr>
          <a:xfrm>
            <a:off x="777240" y="1837943"/>
            <a:ext cx="1701012" cy="1280160"/>
          </a:xfrm>
          <a:prstGeom prst="rect">
            <a:avLst/>
          </a:prstGeom>
          <a:noFill/>
        </p:spPr>
        <p:txBody>
          <a:bodyPr wrap="square" lIns="45720" rIns="45720" tIns="27432" bIns="27432" anchor="t"/>
          <a:lstStyle/>
          <a:p>
            <a:pPr algn="l" marL="0" indent="0">
              <a:spcBef>
                <a:spcPts val="0"/>
              </a:spcBef>
              <a:spcAft>
                <a:spcPts val="200"/>
              </a:spcAft>
              <a:buNone/>
            </a:pPr>
            <a:r>
              <a:rPr sz="2000" b="1" i="0">
                <a:solidFill>
                  <a:srgbClr val="004CA0"/>
                </a:solidFill>
                <a:latin typeface="Arial"/>
              </a:rPr>
              <a:t>31–126</a:t>
            </a:r>
          </a:p>
          <a:p>
            <a:pPr algn="l" marL="0" indent="0">
              <a:spcBef>
                <a:spcPts val="0"/>
              </a:spcBef>
              <a:spcAft>
                <a:spcPts val="200"/>
              </a:spcAft>
              <a:buNone/>
            </a:pPr>
            <a:r>
              <a:rPr sz="1100" b="1" i="0">
                <a:solidFill>
                  <a:srgbClr val="414141"/>
                </a:solidFill>
                <a:latin typeface="Arial"/>
              </a:rPr>
              <a:t>frames per clip</a:t>
            </a:r>
          </a:p>
          <a:p>
            <a:pPr algn="l" marL="0" indent="0">
              <a:spcBef>
                <a:spcPts val="0"/>
              </a:spcBef>
              <a:spcAft>
                <a:spcPts val="300"/>
              </a:spcAft>
              <a:buNone/>
            </a:pPr>
            <a:r>
              <a:rPr sz="950" b="0" i="0">
                <a:solidFill>
                  <a:srgbClr val="414141"/>
                </a:solidFill>
                <a:latin typeface="Arial"/>
              </a:rPr>
              <a:t>median 66; 0.155 to 0.63 s at 200 fps</a:t>
            </a:r>
          </a:p>
        </p:txBody>
      </p:sp>
      <p:sp>
        <p:nvSpPr>
          <p:cNvPr id="934" name="Rectangle 933"/>
          <p:cNvSpPr/>
          <p:nvPr/>
        </p:nvSpPr>
        <p:spPr>
          <a:xfrm>
            <a:off x="2709595" y="1783080"/>
            <a:ext cx="1883892" cy="1371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TextBox 934"/>
          <p:cNvSpPr txBox="1"/>
          <p:nvPr/>
        </p:nvSpPr>
        <p:spPr>
          <a:xfrm>
            <a:off x="2801035" y="1837943"/>
            <a:ext cx="1701012" cy="1280160"/>
          </a:xfrm>
          <a:prstGeom prst="rect">
            <a:avLst/>
          </a:prstGeom>
          <a:noFill/>
        </p:spPr>
        <p:txBody>
          <a:bodyPr wrap="square" lIns="45720" rIns="45720" tIns="27432" bIns="27432" anchor="t"/>
          <a:lstStyle/>
          <a:p>
            <a:pPr algn="l" marL="0" indent="0">
              <a:spcBef>
                <a:spcPts val="0"/>
              </a:spcBef>
              <a:spcAft>
                <a:spcPts val="200"/>
              </a:spcAft>
              <a:buNone/>
            </a:pPr>
            <a:r>
              <a:rPr sz="2000" b="1" i="0">
                <a:solidFill>
                  <a:srgbClr val="004CA0"/>
                </a:solidFill>
                <a:latin typeface="Arial"/>
              </a:rPr>
              <a:t>33</a:t>
            </a:r>
          </a:p>
          <a:p>
            <a:pPr algn="l" marL="0" indent="0">
              <a:spcBef>
                <a:spcPts val="0"/>
              </a:spcBef>
              <a:spcAft>
                <a:spcPts val="200"/>
              </a:spcAft>
              <a:buNone/>
            </a:pPr>
            <a:r>
              <a:rPr sz="1100" b="1" i="0">
                <a:solidFill>
                  <a:srgbClr val="414141"/>
                </a:solidFill>
                <a:latin typeface="Arial"/>
              </a:rPr>
              <a:t>frames sampled</a:t>
            </a:r>
          </a:p>
          <a:p>
            <a:pPr algn="l" marL="0" indent="0">
              <a:spcBef>
                <a:spcPts val="0"/>
              </a:spcBef>
              <a:spcAft>
                <a:spcPts val="300"/>
              </a:spcAft>
              <a:buNone/>
            </a:pPr>
            <a:r>
              <a:rPr sz="950" b="0" i="0">
                <a:solidFill>
                  <a:srgbClr val="414141"/>
                </a:solidFill>
                <a:latin typeface="Arial"/>
              </a:rPr>
              <a:t>uniformly from onset to offset</a:t>
            </a:r>
          </a:p>
        </p:txBody>
      </p:sp>
      <p:sp>
        <p:nvSpPr>
          <p:cNvPr id="936" name="Rectangle 935"/>
          <p:cNvSpPr/>
          <p:nvPr/>
        </p:nvSpPr>
        <p:spPr>
          <a:xfrm>
            <a:off x="4733391" y="1783080"/>
            <a:ext cx="1883892" cy="137160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TextBox 936"/>
          <p:cNvSpPr txBox="1"/>
          <p:nvPr/>
        </p:nvSpPr>
        <p:spPr>
          <a:xfrm>
            <a:off x="4824831" y="1837943"/>
            <a:ext cx="1701012" cy="1280160"/>
          </a:xfrm>
          <a:prstGeom prst="rect">
            <a:avLst/>
          </a:prstGeom>
          <a:noFill/>
        </p:spPr>
        <p:txBody>
          <a:bodyPr wrap="square" lIns="45720" rIns="45720" tIns="27432" bIns="27432" anchor="t"/>
          <a:lstStyle/>
          <a:p>
            <a:pPr algn="l" marL="0" indent="0">
              <a:spcBef>
                <a:spcPts val="0"/>
              </a:spcBef>
              <a:spcAft>
                <a:spcPts val="200"/>
              </a:spcAft>
              <a:buNone/>
            </a:pPr>
            <a:r>
              <a:rPr sz="2000" b="1" i="0">
                <a:solidFill>
                  <a:srgbClr val="A8CC2F"/>
                </a:solidFill>
                <a:latin typeface="Arial"/>
              </a:rPr>
              <a:t>100 fps</a:t>
            </a:r>
          </a:p>
          <a:p>
            <a:pPr algn="l" marL="0" indent="0">
              <a:spcBef>
                <a:spcPts val="0"/>
              </a:spcBef>
              <a:spcAft>
                <a:spcPts val="200"/>
              </a:spcAft>
              <a:buNone/>
            </a:pPr>
            <a:r>
              <a:rPr sz="1100" b="1" i="0">
                <a:solidFill>
                  <a:srgbClr val="FFFFFF"/>
                </a:solidFill>
                <a:latin typeface="Arial"/>
              </a:rPr>
              <a:t>effective rate</a:t>
            </a:r>
          </a:p>
          <a:p>
            <a:pPr algn="l" marL="0" indent="0">
              <a:spcBef>
                <a:spcPts val="0"/>
              </a:spcBef>
              <a:spcAft>
                <a:spcPts val="300"/>
              </a:spcAft>
              <a:buNone/>
            </a:pPr>
            <a:r>
              <a:rPr sz="950" b="0" i="0">
                <a:solidFill>
                  <a:srgbClr val="FFFFFF"/>
                </a:solidFill>
                <a:latin typeface="Arial"/>
              </a:rPr>
              <a:t>at the median length; about 52 fps for the longest clip</a:t>
            </a:r>
          </a:p>
        </p:txBody>
      </p:sp>
      <p:sp>
        <p:nvSpPr>
          <p:cNvPr id="938" name="Rectangle 937"/>
          <p:cNvSpPr/>
          <p:nvPr/>
        </p:nvSpPr>
        <p:spPr>
          <a:xfrm>
            <a:off x="6757187" y="1783080"/>
            <a:ext cx="1883892" cy="1371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TextBox 938"/>
          <p:cNvSpPr txBox="1"/>
          <p:nvPr/>
        </p:nvSpPr>
        <p:spPr>
          <a:xfrm>
            <a:off x="6848627" y="1837943"/>
            <a:ext cx="1701012" cy="1280160"/>
          </a:xfrm>
          <a:prstGeom prst="rect">
            <a:avLst/>
          </a:prstGeom>
          <a:noFill/>
        </p:spPr>
        <p:txBody>
          <a:bodyPr wrap="square" lIns="45720" rIns="45720" tIns="27432" bIns="27432" anchor="t"/>
          <a:lstStyle/>
          <a:p>
            <a:pPr algn="l" marL="0" indent="0">
              <a:spcBef>
                <a:spcPts val="0"/>
              </a:spcBef>
              <a:spcAft>
                <a:spcPts val="200"/>
              </a:spcAft>
              <a:buNone/>
            </a:pPr>
            <a:r>
              <a:rPr sz="2000" b="1" i="0">
                <a:solidFill>
                  <a:srgbClr val="004CA0"/>
                </a:solidFill>
                <a:latin typeface="Arial"/>
              </a:rPr>
              <a:t>81 / 156</a:t>
            </a:r>
          </a:p>
          <a:p>
            <a:pPr algn="l" marL="0" indent="0">
              <a:spcBef>
                <a:spcPts val="0"/>
              </a:spcBef>
              <a:spcAft>
                <a:spcPts val="200"/>
              </a:spcAft>
              <a:buNone/>
            </a:pPr>
            <a:r>
              <a:rPr sz="1100" b="1" i="0">
                <a:solidFill>
                  <a:srgbClr val="414141"/>
                </a:solidFill>
                <a:latin typeface="Arial"/>
              </a:rPr>
              <a:t>clips</a:t>
            </a:r>
          </a:p>
          <a:p>
            <a:pPr algn="l" marL="0" indent="0">
              <a:spcBef>
                <a:spcPts val="0"/>
              </a:spcBef>
              <a:spcAft>
                <a:spcPts val="300"/>
              </a:spcAft>
              <a:buNone/>
            </a:pPr>
            <a:r>
              <a:rPr sz="950" b="0" i="0">
                <a:solidFill>
                  <a:srgbClr val="414141"/>
                </a:solidFill>
                <a:latin typeface="Arial"/>
              </a:rPr>
              <a:t>downsampled by a factor of two or more</a:t>
            </a:r>
          </a:p>
        </p:txBody>
      </p:sp>
      <p:sp>
        <p:nvSpPr>
          <p:cNvPr id="940" name="TextBox 939"/>
          <p:cNvSpPr txBox="1"/>
          <p:nvPr/>
        </p:nvSpPr>
        <p:spPr>
          <a:xfrm>
            <a:off x="685800" y="3337560"/>
            <a:ext cx="3886200" cy="292608"/>
          </a:xfrm>
          <a:prstGeom prst="rect">
            <a:avLst/>
          </a:prstGeom>
          <a:noFill/>
        </p:spPr>
        <p:txBody>
          <a:bodyPr wrap="square" lIns="45720" rIns="45720" tIns="27432" bIns="27432" anchor="t"/>
          <a:lstStyle/>
          <a:p>
            <a:pPr algn="l" marL="0" indent="0">
              <a:spcBef>
                <a:spcPts val="0"/>
              </a:spcBef>
              <a:spcAft>
                <a:spcPts val="300"/>
              </a:spcAft>
              <a:buNone/>
            </a:pPr>
            <a:r>
              <a:rPr sz="1250" b="1" i="0">
                <a:solidFill>
                  <a:srgbClr val="004CA0"/>
                </a:solidFill>
                <a:latin typeface="Arial"/>
              </a:rPr>
              <a:t>In this thesis</a:t>
            </a:r>
          </a:p>
        </p:txBody>
      </p:sp>
      <p:sp>
        <p:nvSpPr>
          <p:cNvPr id="941" name="TextBox 940"/>
          <p:cNvSpPr txBox="1"/>
          <p:nvPr/>
        </p:nvSpPr>
        <p:spPr>
          <a:xfrm>
            <a:off x="685800" y="3657600"/>
            <a:ext cx="3886200" cy="224028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050" b="0" i="0">
                <a:solidFill>
                  <a:srgbClr val="414141"/>
                </a:solidFill>
                <a:latin typeface="Arial"/>
              </a:rPr>
              <a:t>Effective frame rate after sampling: 6600 / N for a clip of N frames</a:t>
            </a:r>
          </a:p>
          <a:p>
            <a:pPr algn="l" marL="155448" indent="-155448">
              <a:spcBef>
                <a:spcPts val="0"/>
              </a:spcBef>
              <a:spcAft>
                <a:spcPts val="400"/>
              </a:spcAft>
              <a:buClr>
                <a:srgbClr val="A8CC2F"/>
              </a:buClr>
              <a:buFont typeface="Arial"/>
              <a:buChar char="•"/>
            </a:pPr>
            <a:r>
              <a:rPr sz="1050" b="0" i="0">
                <a:solidFill>
                  <a:srgbClr val="414141"/>
                </a:solidFill>
                <a:latin typeface="Arial"/>
              </a:rPr>
              <a:t>Uniform index sampling of existing frames; no Temporal Interpolation Model</a:t>
            </a:r>
          </a:p>
          <a:p>
            <a:pPr algn="l" marL="155448" indent="-155448">
              <a:spcBef>
                <a:spcPts val="0"/>
              </a:spcBef>
              <a:spcAft>
                <a:spcPts val="400"/>
              </a:spcAft>
              <a:buClr>
                <a:srgbClr val="A8CC2F"/>
              </a:buClr>
              <a:buFont typeface="Arial"/>
              <a:buChar char="•"/>
            </a:pPr>
            <a:r>
              <a:rPr sz="1050" b="0" i="0">
                <a:solidFill>
                  <a:srgbClr val="414141"/>
                </a:solidFill>
                <a:latin typeface="Arial"/>
              </a:rPr>
              <a:t>Three clips have only 31 frames, so indices repeat and give near-zero flow</a:t>
            </a:r>
          </a:p>
          <a:p>
            <a:pPr algn="l" marL="155448" indent="-155448">
              <a:spcBef>
                <a:spcPts val="0"/>
              </a:spcBef>
              <a:spcAft>
                <a:spcPts val="400"/>
              </a:spcAft>
              <a:buClr>
                <a:srgbClr val="A8CC2F"/>
              </a:buClr>
              <a:buFont typeface="Arial"/>
              <a:buChar char="•"/>
            </a:pPr>
            <a:r>
              <a:rPr sz="1050" b="0" i="0">
                <a:solidFill>
                  <a:srgbClr val="414141"/>
                </a:solidFill>
                <a:latin typeface="Arial"/>
              </a:rPr>
              <a:t>The length of 33 frames is not varied</a:t>
            </a:r>
          </a:p>
        </p:txBody>
      </p:sp>
      <p:sp>
        <p:nvSpPr>
          <p:cNvPr id="942" name="TextBox 941"/>
          <p:cNvSpPr txBox="1"/>
          <p:nvPr/>
        </p:nvSpPr>
        <p:spPr>
          <a:xfrm>
            <a:off x="4754880" y="3337560"/>
            <a:ext cx="3886200" cy="292608"/>
          </a:xfrm>
          <a:prstGeom prst="rect">
            <a:avLst/>
          </a:prstGeom>
          <a:noFill/>
        </p:spPr>
        <p:txBody>
          <a:bodyPr wrap="square" lIns="45720" rIns="45720" tIns="27432" bIns="27432" anchor="t"/>
          <a:lstStyle/>
          <a:p>
            <a:pPr algn="l" marL="0" indent="0">
              <a:spcBef>
                <a:spcPts val="0"/>
              </a:spcBef>
              <a:spcAft>
                <a:spcPts val="300"/>
              </a:spcAft>
              <a:buNone/>
            </a:pPr>
            <a:r>
              <a:rPr sz="1250" b="1" i="0">
                <a:solidFill>
                  <a:srgbClr val="004CA0"/>
                </a:solidFill>
                <a:latin typeface="Arial"/>
              </a:rPr>
              <a:t>In the reviewed literature</a:t>
            </a:r>
          </a:p>
        </p:txBody>
      </p:sp>
      <p:sp>
        <p:nvSpPr>
          <p:cNvPr id="943" name="TextBox 942"/>
          <p:cNvSpPr txBox="1"/>
          <p:nvPr/>
        </p:nvSpPr>
        <p:spPr>
          <a:xfrm>
            <a:off x="4754880" y="3657600"/>
            <a:ext cx="3886200" cy="224028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050" b="0" i="0">
                <a:solidFill>
                  <a:srgbClr val="414141"/>
                </a:solidFill>
                <a:latin typeface="Arial"/>
              </a:rPr>
              <a:t>Ten frames is a convention, not a finding</a:t>
            </a:r>
          </a:p>
          <a:p>
            <a:pPr algn="l" marL="155448" indent="-155448">
              <a:spcBef>
                <a:spcPts val="0"/>
              </a:spcBef>
              <a:spcAft>
                <a:spcPts val="400"/>
              </a:spcAft>
              <a:buClr>
                <a:srgbClr val="A8CC2F"/>
              </a:buClr>
              <a:buFont typeface="Arial"/>
              <a:buChar char="•"/>
            </a:pPr>
            <a:r>
              <a:rPr sz="1050" b="0" i="0">
                <a:solidFill>
                  <a:srgbClr val="414141"/>
                </a:solidFill>
                <a:latin typeface="Arial"/>
              </a:rPr>
              <a:t>Li et al. report the best performance at 10 frames; Ben et al. at 60 frames</a:t>
            </a:r>
          </a:p>
          <a:p>
            <a:pPr algn="l" marL="155448" indent="-155448">
              <a:spcBef>
                <a:spcPts val="0"/>
              </a:spcBef>
              <a:spcAft>
                <a:spcPts val="400"/>
              </a:spcAft>
              <a:buClr>
                <a:srgbClr val="A8CC2F"/>
              </a:buClr>
              <a:buFont typeface="Arial"/>
              <a:buChar char="•"/>
            </a:pPr>
            <a:r>
              <a:rPr sz="1050" b="0" i="0">
                <a:solidFill>
                  <a:srgbClr val="414141"/>
                </a:solidFill>
                <a:latin typeface="Arial"/>
              </a:rPr>
              <a:t>Xu et al. prefer linear interpolation to TIM for motion features, without comparing them</a:t>
            </a:r>
          </a:p>
          <a:p>
            <a:pPr algn="l" marL="155448" indent="-155448">
              <a:spcBef>
                <a:spcPts val="0"/>
              </a:spcBef>
              <a:spcAft>
                <a:spcPts val="400"/>
              </a:spcAft>
              <a:buClr>
                <a:srgbClr val="A8CC2F"/>
              </a:buClr>
              <a:buFont typeface="Arial"/>
              <a:buChar char="•"/>
            </a:pPr>
            <a:r>
              <a:rPr sz="1050" b="0" i="0">
                <a:solidFill>
                  <a:srgbClr val="414141"/>
                </a:solidFill>
                <a:latin typeface="Arial"/>
              </a:rPr>
              <a:t>Frame synthesis conflicts with motion analysis: synthesised frames give synthesised displacements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CONVOLUTIONAL STREAM AND SIMAM IN DETAIL</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2"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32</a:t>
            </a:fld>
          </a:p>
        </p:txBody>
      </p:sp>
      <p:graphicFrame>
        <p:nvGraphicFramePr>
          <p:cNvPr id="933" name="Table 932"/>
          <p:cNvGraphicFramePr>
            <a:graphicFrameLocks noGrp="1"/>
          </p:cNvGraphicFramePr>
          <p:nvPr/>
        </p:nvGraphicFramePr>
        <p:xfrm>
          <a:off x="685800" y="1783080"/>
          <a:ext cx="7955280" cy="1700784"/>
        </p:xfrm>
        <a:graphic>
          <a:graphicData uri="http://schemas.openxmlformats.org/drawingml/2006/table">
            <a:tbl>
              <a:tblPr firstRow="0" bandRow="0">
                <a:tableStyleId>{2D5ABB26-0587-4C30-8999-92F81FD0307C}</a:tableStyleId>
              </a:tblPr>
              <a:tblGrid>
                <a:gridCol w="2011680"/>
                <a:gridCol w="3246120"/>
                <a:gridCol w="2697480"/>
              </a:tblGrid>
              <a:tr h="283464">
                <a:tc>
                  <a:txBody>
                    <a:bodyPr wrap="square"/>
                    <a:lstStyle/>
                    <a:p>
                      <a:pPr algn="l" marL="0" indent="0">
                        <a:spcBef>
                          <a:spcPts val="0"/>
                        </a:spcBef>
                        <a:spcAft>
                          <a:spcPts val="0"/>
                        </a:spcAft>
                        <a:buNone/>
                      </a:pPr>
                      <a:r>
                        <a:rPr sz="950" b="1" i="0">
                          <a:solidFill>
                            <a:srgbClr val="FFFFFF"/>
                          </a:solidFill>
                          <a:latin typeface="Arial"/>
                        </a:rPr>
                        <a:t>Layer of one stream</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50" b="1" i="0">
                          <a:solidFill>
                            <a:srgbClr val="FFFFFF"/>
                          </a:solidFill>
                          <a:latin typeface="Arial"/>
                        </a:rPr>
                        <a:t>Configuration</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50" b="1" i="0">
                          <a:solidFill>
                            <a:srgbClr val="FFFFFF"/>
                          </a:solidFill>
                          <a:latin typeface="Arial"/>
                        </a:rPr>
                        <a:t>Output (channels × time × height × width)</a:t>
                      </a:r>
                    </a:p>
                  </a:txBody>
                  <a:tcPr marL="54864" marR="54864" marT="18288" marB="18288" anchor="ctr">
                    <a:lnL w="9525">
                      <a:noFill/>
                    </a:lnL>
                    <a:lnR w="9525">
                      <a:noFill/>
                    </a:lnR>
                    <a:lnT w="9525">
                      <a:noFill/>
                    </a:lnT>
                    <a:lnB w="9525">
                      <a:solidFill>
                        <a:srgbClr val="D9D9D9"/>
                      </a:solidFill>
                    </a:lnB>
                    <a:solidFill>
                      <a:srgbClr val="004CA0"/>
                    </a:solidFill>
                  </a:tcPr>
                </a:tc>
              </a:tr>
              <a:tr h="283464">
                <a:tc>
                  <a:txBody>
                    <a:bodyPr wrap="square"/>
                    <a:lstStyle/>
                    <a:p>
                      <a:pPr algn="l" marL="0" indent="0">
                        <a:spcBef>
                          <a:spcPts val="0"/>
                        </a:spcBef>
                        <a:spcAft>
                          <a:spcPts val="0"/>
                        </a:spcAft>
                        <a:buNone/>
                      </a:pPr>
                      <a:r>
                        <a:rPr sz="950" b="0" i="0">
                          <a:solidFill>
                            <a:srgbClr val="414141"/>
                          </a:solidFill>
                          <a:latin typeface="Arial"/>
                        </a:rPr>
                        <a:t>3D convolution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16 filters, kernel (1, 3, 3), no bias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16 × 32 × 224 × 224</a:t>
                      </a:r>
                    </a:p>
                  </a:txBody>
                  <a:tcPr marL="54864" marR="54864" marT="18288" marB="18288" anchor="ctr">
                    <a:lnL w="9525">
                      <a:noFill/>
                    </a:lnL>
                    <a:lnR w="9525">
                      <a:noFill/>
                    </a:lnR>
                    <a:lnT w="9525">
                      <a:noFill/>
                    </a:lnT>
                    <a:lnB w="9525">
                      <a:solidFill>
                        <a:srgbClr val="D9D9D9"/>
                      </a:solidFill>
                    </a:lnB>
                    <a:solidFill>
                      <a:srgbClr val="FFFFFF"/>
                    </a:solidFill>
                  </a:tcPr>
                </a:tc>
              </a:tr>
              <a:tr h="283464">
                <a:tc>
                  <a:txBody>
                    <a:bodyPr wrap="square"/>
                    <a:lstStyle/>
                    <a:p>
                      <a:pPr algn="l" marL="0" indent="0">
                        <a:spcBef>
                          <a:spcPts val="0"/>
                        </a:spcBef>
                        <a:spcAft>
                          <a:spcPts val="0"/>
                        </a:spcAft>
                        <a:buNone/>
                      </a:pPr>
                      <a:r>
                        <a:rPr sz="950" b="0" i="0">
                          <a:solidFill>
                            <a:srgbClr val="414141"/>
                          </a:solidFill>
                          <a:latin typeface="Arial"/>
                        </a:rPr>
                        <a:t>Normalisation, activation</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batch norm, ReLU, 3D dropout (p = 0.3)</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16 × 32 × 224 × 224</a:t>
                      </a:r>
                    </a:p>
                  </a:txBody>
                  <a:tcPr marL="54864" marR="54864" marT="18288" marB="18288" anchor="ctr">
                    <a:lnL w="9525">
                      <a:noFill/>
                    </a:lnL>
                    <a:lnR w="9525">
                      <a:noFill/>
                    </a:lnR>
                    <a:lnT w="9525">
                      <a:noFill/>
                    </a:lnT>
                    <a:lnB w="9525">
                      <a:solidFill>
                        <a:srgbClr val="D9D9D9"/>
                      </a:solidFill>
                    </a:lnB>
                    <a:solidFill>
                      <a:srgbClr val="F2F2F2"/>
                    </a:solidFill>
                  </a:tcPr>
                </a:tc>
              </a:tr>
              <a:tr h="283464">
                <a:tc>
                  <a:txBody>
                    <a:bodyPr wrap="square"/>
                    <a:lstStyle/>
                    <a:p>
                      <a:pPr algn="l" marL="0" indent="0">
                        <a:spcBef>
                          <a:spcPts val="0"/>
                        </a:spcBef>
                        <a:spcAft>
                          <a:spcPts val="0"/>
                        </a:spcAft>
                        <a:buNone/>
                      </a:pPr>
                      <a:r>
                        <a:rPr sz="950" b="0" i="0">
                          <a:solidFill>
                            <a:srgbClr val="414141"/>
                          </a:solidFill>
                          <a:latin typeface="Arial"/>
                        </a:rPr>
                        <a:t>3D convolution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32 filters, kernel (1, 3, 3), no bias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32 × 32 × 224 × 224</a:t>
                      </a:r>
                    </a:p>
                  </a:txBody>
                  <a:tcPr marL="54864" marR="54864" marT="18288" marB="18288" anchor="ctr">
                    <a:lnL w="9525">
                      <a:noFill/>
                    </a:lnL>
                    <a:lnR w="9525">
                      <a:noFill/>
                    </a:lnR>
                    <a:lnT w="9525">
                      <a:noFill/>
                    </a:lnT>
                    <a:lnB w="9525">
                      <a:solidFill>
                        <a:srgbClr val="D9D9D9"/>
                      </a:solidFill>
                    </a:lnB>
                    <a:solidFill>
                      <a:srgbClr val="FFFFFF"/>
                    </a:solidFill>
                  </a:tcPr>
                </a:tc>
              </a:tr>
              <a:tr h="283464">
                <a:tc>
                  <a:txBody>
                    <a:bodyPr wrap="square"/>
                    <a:lstStyle/>
                    <a:p>
                      <a:pPr algn="l" marL="0" indent="0">
                        <a:spcBef>
                          <a:spcPts val="0"/>
                        </a:spcBef>
                        <a:spcAft>
                          <a:spcPts val="0"/>
                        </a:spcAft>
                        <a:buNone/>
                      </a:pPr>
                      <a:r>
                        <a:rPr sz="950" b="0" i="0">
                          <a:solidFill>
                            <a:srgbClr val="414141"/>
                          </a:solidFill>
                          <a:latin typeface="Arial"/>
                        </a:rPr>
                        <a:t>Normalisation, activation</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batch norm, ReLU, 3D dropout (p = 0.3)</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32 × 32 × 224 × 224</a:t>
                      </a:r>
                    </a:p>
                  </a:txBody>
                  <a:tcPr marL="54864" marR="54864" marT="18288" marB="18288" anchor="ctr">
                    <a:lnL w="9525">
                      <a:noFill/>
                    </a:lnL>
                    <a:lnR w="9525">
                      <a:noFill/>
                    </a:lnR>
                    <a:lnT w="9525">
                      <a:noFill/>
                    </a:lnT>
                    <a:lnB w="9525">
                      <a:solidFill>
                        <a:srgbClr val="D9D9D9"/>
                      </a:solidFill>
                    </a:lnB>
                    <a:solidFill>
                      <a:srgbClr val="F2F2F2"/>
                    </a:solidFill>
                  </a:tcPr>
                </a:tc>
              </a:tr>
              <a:tr h="283464">
                <a:tc>
                  <a:txBody>
                    <a:bodyPr wrap="square"/>
                    <a:lstStyle/>
                    <a:p>
                      <a:pPr algn="l" marL="0" indent="0">
                        <a:spcBef>
                          <a:spcPts val="0"/>
                        </a:spcBef>
                        <a:spcAft>
                          <a:spcPts val="0"/>
                        </a:spcAft>
                        <a:buNone/>
                      </a:pPr>
                      <a:r>
                        <a:rPr sz="950" b="0" i="0">
                          <a:solidFill>
                            <a:srgbClr val="414141"/>
                          </a:solidFill>
                          <a:latin typeface="Arial"/>
                        </a:rPr>
                        <a:t>3D max pooling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kernel and stride (1, 2, 2)</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32 × 32 × 112 × 112</a:t>
                      </a:r>
                    </a:p>
                  </a:txBody>
                  <a:tcPr marL="54864" marR="54864" marT="18288" marB="18288" anchor="ctr">
                    <a:lnL w="9525">
                      <a:noFill/>
                    </a:lnL>
                    <a:lnR w="9525">
                      <a:noFill/>
                    </a:lnR>
                    <a:lnT w="9525">
                      <a:noFill/>
                    </a:lnT>
                    <a:lnB w="9525">
                      <a:solidFill>
                        <a:srgbClr val="D9D9D9"/>
                      </a:solidFill>
                    </a:lnB>
                    <a:solidFill>
                      <a:srgbClr val="FFFFFF"/>
                    </a:solidFill>
                  </a:tcPr>
                </a:tc>
              </a:tr>
            </a:tbl>
          </a:graphicData>
        </a:graphic>
      </p:graphicFrame>
      <p:sp>
        <p:nvSpPr>
          <p:cNvPr id="934" name="TextBox 933"/>
          <p:cNvSpPr txBox="1"/>
          <p:nvPr/>
        </p:nvSpPr>
        <p:spPr>
          <a:xfrm>
            <a:off x="685800" y="3520440"/>
            <a:ext cx="7955279" cy="274320"/>
          </a:xfrm>
          <a:prstGeom prst="rect">
            <a:avLst/>
          </a:prstGeom>
          <a:noFill/>
        </p:spPr>
        <p:txBody>
          <a:bodyPr wrap="square" lIns="45720" rIns="45720" tIns="27432" bIns="27432" anchor="t"/>
          <a:lstStyle/>
          <a:p>
            <a:pPr algn="l" marL="0" indent="0">
              <a:spcBef>
                <a:spcPts val="0"/>
              </a:spcBef>
              <a:spcAft>
                <a:spcPts val="300"/>
              </a:spcAft>
              <a:buNone/>
            </a:pPr>
            <a:r>
              <a:rPr sz="950" b="0" i="1">
                <a:solidFill>
                  <a:srgbClr val="004CA0"/>
                </a:solidFill>
                <a:latin typeface="Arial"/>
              </a:rPr>
              <a:t>Three streams, one per channel, are concatenated to 96 × 32 × 112 × 112. No kernel spans the temporal axis.</a:t>
            </a:r>
          </a:p>
        </p:txBody>
      </p:sp>
      <p:sp>
        <p:nvSpPr>
          <p:cNvPr id="935" name="Rectangle 934"/>
          <p:cNvSpPr/>
          <p:nvPr/>
        </p:nvSpPr>
        <p:spPr>
          <a:xfrm>
            <a:off x="685800" y="3931920"/>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TextBox 935"/>
          <p:cNvSpPr txBox="1"/>
          <p:nvPr/>
        </p:nvSpPr>
        <p:spPr>
          <a:xfrm>
            <a:off x="758952" y="3931920"/>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SimAM statistics</a:t>
            </a:r>
          </a:p>
        </p:txBody>
      </p:sp>
      <p:sp>
        <p:nvSpPr>
          <p:cNvPr id="937" name="TextBox 936"/>
          <p:cNvSpPr txBox="1"/>
          <p:nvPr/>
        </p:nvSpPr>
        <p:spPr>
          <a:xfrm>
            <a:off x="2423160" y="3931920"/>
            <a:ext cx="6144768" cy="457200"/>
          </a:xfrm>
          <a:prstGeom prst="rect">
            <a:avLst/>
          </a:prstGeom>
          <a:noFill/>
        </p:spPr>
        <p:txBody>
          <a:bodyPr wrap="square" lIns="45720" rIns="45720" tIns="27432" bIns="27432" anchor="ctr"/>
          <a:lstStyle/>
          <a:p>
            <a:pPr algn="l" marL="0" indent="0">
              <a:spcBef>
                <a:spcPts val="0"/>
              </a:spcBef>
              <a:spcAft>
                <a:spcPts val="0"/>
              </a:spcAft>
              <a:buNone/>
            </a:pPr>
            <a:r>
              <a:rPr sz="1200" b="0" i="1">
                <a:solidFill>
                  <a:srgbClr val="414141"/>
                </a:solidFill>
                <a:latin typeface="Arial"/>
              </a:rPr>
              <a:t>μ = (1/M) Σ x</a:t>
            </a:r>
            <a:r>
              <a:rPr sz="1200" b="0" i="1" baseline="-25000">
                <a:solidFill>
                  <a:srgbClr val="414141"/>
                </a:solidFill>
                <a:latin typeface="Arial"/>
              </a:rPr>
              <a:t>i</a:t>
            </a:r>
            <a:r>
              <a:rPr sz="1200" b="0" i="1">
                <a:solidFill>
                  <a:srgbClr val="414141"/>
                </a:solidFill>
                <a:latin typeface="Arial"/>
              </a:rPr>
              <a:t> ,     v = (1/(M − 1)) Σ (x</a:t>
            </a:r>
            <a:r>
              <a:rPr sz="1200" b="0" i="1" baseline="-25000">
                <a:solidFill>
                  <a:srgbClr val="414141"/>
                </a:solidFill>
                <a:latin typeface="Arial"/>
              </a:rPr>
              <a:t>i</a:t>
            </a:r>
            <a:r>
              <a:rPr sz="1200" b="0" i="1">
                <a:solidFill>
                  <a:srgbClr val="414141"/>
                </a:solidFill>
                <a:latin typeface="Arial"/>
              </a:rPr>
              <a:t> − μ)</a:t>
            </a:r>
            <a:r>
              <a:rPr sz="1200" b="0" i="1" baseline="30000">
                <a:solidFill>
                  <a:srgbClr val="414141"/>
                </a:solidFill>
                <a:latin typeface="Arial"/>
              </a:rPr>
              <a:t>2</a:t>
            </a:r>
          </a:p>
        </p:txBody>
      </p:sp>
      <p:sp>
        <p:nvSpPr>
          <p:cNvPr id="938" name="Rectangle 937"/>
          <p:cNvSpPr/>
          <p:nvPr/>
        </p:nvSpPr>
        <p:spPr>
          <a:xfrm>
            <a:off x="685800" y="4480560"/>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TextBox 938"/>
          <p:cNvSpPr txBox="1"/>
          <p:nvPr/>
        </p:nvSpPr>
        <p:spPr>
          <a:xfrm>
            <a:off x="758952" y="4480560"/>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SimAM weight</a:t>
            </a:r>
          </a:p>
        </p:txBody>
      </p:sp>
      <p:sp>
        <p:nvSpPr>
          <p:cNvPr id="940" name="TextBox 939"/>
          <p:cNvSpPr txBox="1"/>
          <p:nvPr/>
        </p:nvSpPr>
        <p:spPr>
          <a:xfrm>
            <a:off x="2423160" y="4480560"/>
            <a:ext cx="6144768" cy="457200"/>
          </a:xfrm>
          <a:prstGeom prst="rect">
            <a:avLst/>
          </a:prstGeom>
          <a:noFill/>
        </p:spPr>
        <p:txBody>
          <a:bodyPr wrap="square" lIns="45720" rIns="45720" tIns="27432" bIns="27432" anchor="ctr"/>
          <a:lstStyle/>
          <a:p>
            <a:pPr algn="l" marL="0" indent="0">
              <a:spcBef>
                <a:spcPts val="0"/>
              </a:spcBef>
              <a:spcAft>
                <a:spcPts val="0"/>
              </a:spcAft>
              <a:buNone/>
            </a:pPr>
            <a:r>
              <a:rPr sz="1200" b="0" i="1">
                <a:solidFill>
                  <a:srgbClr val="414141"/>
                </a:solidFill>
                <a:latin typeface="Arial"/>
              </a:rPr>
              <a:t>E</a:t>
            </a:r>
            <a:r>
              <a:rPr sz="1200" b="0" i="1" baseline="-25000">
                <a:solidFill>
                  <a:srgbClr val="414141"/>
                </a:solidFill>
                <a:latin typeface="Arial"/>
              </a:rPr>
              <a:t>i</a:t>
            </a:r>
            <a:r>
              <a:rPr sz="1200" b="0" i="1" baseline="30000">
                <a:solidFill>
                  <a:srgbClr val="414141"/>
                </a:solidFill>
                <a:latin typeface="Arial"/>
              </a:rPr>
              <a:t>−1</a:t>
            </a:r>
            <a:r>
              <a:rPr sz="1200" b="0" i="1">
                <a:solidFill>
                  <a:srgbClr val="414141"/>
                </a:solidFill>
                <a:latin typeface="Arial"/>
              </a:rPr>
              <a:t> = (x</a:t>
            </a:r>
            <a:r>
              <a:rPr sz="1200" b="0" i="1" baseline="-25000">
                <a:solidFill>
                  <a:srgbClr val="414141"/>
                </a:solidFill>
                <a:latin typeface="Arial"/>
              </a:rPr>
              <a:t>i</a:t>
            </a:r>
            <a:r>
              <a:rPr sz="1200" b="0" i="1">
                <a:solidFill>
                  <a:srgbClr val="414141"/>
                </a:solidFill>
                <a:latin typeface="Arial"/>
              </a:rPr>
              <a:t> − μ)</a:t>
            </a:r>
            <a:r>
              <a:rPr sz="1200" b="0" i="1" baseline="30000">
                <a:solidFill>
                  <a:srgbClr val="414141"/>
                </a:solidFill>
                <a:latin typeface="Arial"/>
              </a:rPr>
              <a:t>2</a:t>
            </a:r>
            <a:r>
              <a:rPr sz="1200" b="0" i="1">
                <a:solidFill>
                  <a:srgbClr val="414141"/>
                </a:solidFill>
                <a:latin typeface="Arial"/>
              </a:rPr>
              <a:t> / (4 (v + λ)) + ½ ,     x̃</a:t>
            </a:r>
            <a:r>
              <a:rPr sz="1200" b="0" i="1" baseline="-25000">
                <a:solidFill>
                  <a:srgbClr val="414141"/>
                </a:solidFill>
                <a:latin typeface="Arial"/>
              </a:rPr>
              <a:t>i</a:t>
            </a:r>
            <a:r>
              <a:rPr sz="1200" b="0" i="1">
                <a:solidFill>
                  <a:srgbClr val="414141"/>
                </a:solidFill>
                <a:latin typeface="Arial"/>
              </a:rPr>
              <a:t> = x</a:t>
            </a:r>
            <a:r>
              <a:rPr sz="1200" b="0" i="1" baseline="-25000">
                <a:solidFill>
                  <a:srgbClr val="414141"/>
                </a:solidFill>
                <a:latin typeface="Arial"/>
              </a:rPr>
              <a:t>i</a:t>
            </a:r>
            <a:r>
              <a:rPr sz="1200" b="0" i="1">
                <a:solidFill>
                  <a:srgbClr val="414141"/>
                </a:solidFill>
                <a:latin typeface="Arial"/>
              </a:rPr>
              <a:t> · sigmoid(E</a:t>
            </a:r>
            <a:r>
              <a:rPr sz="1200" b="0" i="1" baseline="-25000">
                <a:solidFill>
                  <a:srgbClr val="414141"/>
                </a:solidFill>
                <a:latin typeface="Arial"/>
              </a:rPr>
              <a:t>i</a:t>
            </a:r>
            <a:r>
              <a:rPr sz="1200" b="0" i="1" baseline="30000">
                <a:solidFill>
                  <a:srgbClr val="414141"/>
                </a:solidFill>
                <a:latin typeface="Arial"/>
              </a:rPr>
              <a:t>−1</a:t>
            </a:r>
            <a:r>
              <a:rPr sz="1200" b="0" i="1">
                <a:solidFill>
                  <a:srgbClr val="414141"/>
                </a:solidFill>
                <a:latin typeface="Arial"/>
              </a:rPr>
              <a:t>)</a:t>
            </a:r>
          </a:p>
        </p:txBody>
      </p:sp>
      <p:sp>
        <p:nvSpPr>
          <p:cNvPr id="941" name="TextBox 940"/>
          <p:cNvSpPr txBox="1"/>
          <p:nvPr/>
        </p:nvSpPr>
        <p:spPr>
          <a:xfrm>
            <a:off x="685800" y="5074920"/>
            <a:ext cx="7955279" cy="731520"/>
          </a:xfrm>
          <a:prstGeom prst="rect">
            <a:avLst/>
          </a:prstGeom>
          <a:noFill/>
        </p:spPr>
        <p:txBody>
          <a:bodyPr wrap="square" lIns="45720" rIns="45720" tIns="27432" bIns="27432" anchor="t"/>
          <a:lstStyle/>
          <a:p>
            <a:pPr algn="l" marL="0" indent="0">
              <a:spcBef>
                <a:spcPts val="0"/>
              </a:spcBef>
              <a:spcAft>
                <a:spcPts val="300"/>
              </a:spcAft>
              <a:buNone/>
            </a:pPr>
            <a:r>
              <a:rPr sz="1050" b="0" i="0">
                <a:solidFill>
                  <a:srgbClr val="414141"/>
                </a:solidFill>
                <a:latin typeface="Arial"/>
              </a:rPr>
              <a:t>M = T · H · W positions per channel (whole clip), λ = 10</a:t>
            </a:r>
            <a:r>
              <a:rPr sz="1050" b="0" i="0" baseline="30000">
                <a:solidFill>
                  <a:srgbClr val="414141"/>
                </a:solidFill>
                <a:latin typeface="Arial"/>
              </a:rPr>
              <a:t>−4</a:t>
            </a:r>
            <a:r>
              <a:rPr sz="1050" b="0" i="0">
                <a:solidFill>
                  <a:srgbClr val="414141"/>
                </a:solidFill>
                <a:latin typeface="Arial"/>
              </a:rPr>
              <a:t>. The weight lies between about 0.62 and 1, and SimAM adds no learned parameters.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THE TEMPORAL ENCODER AND PUBLISHED SLSTT</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3"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33</a:t>
            </a:fld>
          </a:p>
        </p:txBody>
      </p:sp>
      <p:sp>
        <p:nvSpPr>
          <p:cNvPr id="934" name="Rectangle 933"/>
          <p:cNvSpPr/>
          <p:nvPr/>
        </p:nvSpPr>
        <p:spPr>
          <a:xfrm>
            <a:off x="685800" y="1783080"/>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TextBox 934"/>
          <p:cNvSpPr txBox="1"/>
          <p:nvPr/>
        </p:nvSpPr>
        <p:spPr>
          <a:xfrm>
            <a:off x="758952" y="1783080"/>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Self-attention</a:t>
            </a:r>
          </a:p>
        </p:txBody>
      </p:sp>
      <p:sp>
        <p:nvSpPr>
          <p:cNvPr id="936" name="TextBox 935"/>
          <p:cNvSpPr txBox="1"/>
          <p:nvPr/>
        </p:nvSpPr>
        <p:spPr>
          <a:xfrm>
            <a:off x="2423160" y="1783080"/>
            <a:ext cx="6144768" cy="457200"/>
          </a:xfrm>
          <a:prstGeom prst="rect">
            <a:avLst/>
          </a:prstGeom>
          <a:noFill/>
        </p:spPr>
        <p:txBody>
          <a:bodyPr wrap="square" lIns="45720" rIns="45720" tIns="27432" bIns="27432" anchor="ctr"/>
          <a:lstStyle/>
          <a:p>
            <a:pPr algn="l" marL="0" indent="0">
              <a:spcBef>
                <a:spcPts val="0"/>
              </a:spcBef>
              <a:spcAft>
                <a:spcPts val="0"/>
              </a:spcAft>
              <a:buNone/>
            </a:pPr>
            <a:r>
              <a:rPr sz="1200" b="0" i="1">
                <a:solidFill>
                  <a:srgbClr val="414141"/>
                </a:solidFill>
                <a:latin typeface="Arial"/>
              </a:rPr>
              <a:t>Attention(Q, K, V) = softmax(Q K</a:t>
            </a:r>
            <a:r>
              <a:rPr sz="1200" b="0" i="1" baseline="30000">
                <a:solidFill>
                  <a:srgbClr val="414141"/>
                </a:solidFill>
                <a:latin typeface="Arial"/>
              </a:rPr>
              <a:t>T</a:t>
            </a:r>
            <a:r>
              <a:rPr sz="1200" b="0" i="1">
                <a:solidFill>
                  <a:srgbClr val="414141"/>
                </a:solidFill>
                <a:latin typeface="Arial"/>
              </a:rPr>
              <a:t> / √d</a:t>
            </a:r>
            <a:r>
              <a:rPr sz="1200" b="0" i="1" baseline="-25000">
                <a:solidFill>
                  <a:srgbClr val="414141"/>
                </a:solidFill>
                <a:latin typeface="Arial"/>
              </a:rPr>
              <a:t>k</a:t>
            </a:r>
            <a:r>
              <a:rPr sz="1200" b="0" i="1">
                <a:solidFill>
                  <a:srgbClr val="414141"/>
                </a:solidFill>
                <a:latin typeface="Arial"/>
              </a:rPr>
              <a:t>) V</a:t>
            </a:r>
          </a:p>
        </p:txBody>
      </p:sp>
      <p:sp>
        <p:nvSpPr>
          <p:cNvPr id="937" name="Rectangle 936"/>
          <p:cNvSpPr/>
          <p:nvPr/>
        </p:nvSpPr>
        <p:spPr>
          <a:xfrm>
            <a:off x="685800" y="2304288"/>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TextBox 937"/>
          <p:cNvSpPr txBox="1"/>
          <p:nvPr/>
        </p:nvSpPr>
        <p:spPr>
          <a:xfrm>
            <a:off x="758952" y="2304288"/>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Positional encoding</a:t>
            </a:r>
          </a:p>
        </p:txBody>
      </p:sp>
      <p:sp>
        <p:nvSpPr>
          <p:cNvPr id="939" name="TextBox 938"/>
          <p:cNvSpPr txBox="1"/>
          <p:nvPr/>
        </p:nvSpPr>
        <p:spPr>
          <a:xfrm>
            <a:off x="2423160" y="2304288"/>
            <a:ext cx="6144768" cy="457200"/>
          </a:xfrm>
          <a:prstGeom prst="rect">
            <a:avLst/>
          </a:prstGeom>
          <a:noFill/>
        </p:spPr>
        <p:txBody>
          <a:bodyPr wrap="square" lIns="45720" rIns="45720" tIns="27432" bIns="27432" anchor="ctr"/>
          <a:lstStyle/>
          <a:p>
            <a:pPr algn="l" marL="0" indent="0">
              <a:spcBef>
                <a:spcPts val="0"/>
              </a:spcBef>
              <a:spcAft>
                <a:spcPts val="0"/>
              </a:spcAft>
              <a:buNone/>
            </a:pPr>
            <a:r>
              <a:rPr sz="1200" b="0" i="1">
                <a:solidFill>
                  <a:srgbClr val="414141"/>
                </a:solidFill>
                <a:latin typeface="Arial"/>
              </a:rPr>
              <a:t>PE(p, 2i) = sin(p / 10000</a:t>
            </a:r>
            <a:r>
              <a:rPr sz="1200" b="0" i="1" baseline="30000">
                <a:solidFill>
                  <a:srgbClr val="414141"/>
                </a:solidFill>
                <a:latin typeface="Arial"/>
              </a:rPr>
              <a:t>2i/96</a:t>
            </a:r>
            <a:r>
              <a:rPr sz="1200" b="0" i="1">
                <a:solidFill>
                  <a:srgbClr val="414141"/>
                </a:solidFill>
                <a:latin typeface="Arial"/>
              </a:rPr>
              <a:t>) ,     PE(p, 2i+1) = cos(p / 10000</a:t>
            </a:r>
            <a:r>
              <a:rPr sz="1200" b="0" i="1" baseline="30000">
                <a:solidFill>
                  <a:srgbClr val="414141"/>
                </a:solidFill>
                <a:latin typeface="Arial"/>
              </a:rPr>
              <a:t>2i/96</a:t>
            </a:r>
            <a:r>
              <a:rPr sz="1200" b="0" i="1">
                <a:solidFill>
                  <a:srgbClr val="414141"/>
                </a:solidFill>
                <a:latin typeface="Arial"/>
              </a:rPr>
              <a:t>)</a:t>
            </a:r>
          </a:p>
        </p:txBody>
      </p:sp>
      <p:graphicFrame>
        <p:nvGraphicFramePr>
          <p:cNvPr id="940" name="Table 939"/>
          <p:cNvGraphicFramePr>
            <a:graphicFrameLocks noGrp="1"/>
          </p:cNvGraphicFramePr>
          <p:nvPr/>
        </p:nvGraphicFramePr>
        <p:xfrm>
          <a:off x="685800" y="2880360"/>
          <a:ext cx="7955280" cy="2176272"/>
        </p:xfrm>
        <a:graphic>
          <a:graphicData uri="http://schemas.openxmlformats.org/drawingml/2006/table">
            <a:tbl>
              <a:tblPr firstRow="0" bandRow="0">
                <a:tableStyleId>{2D5ABB26-0587-4C30-8999-92F81FD0307C}</a:tableStyleId>
              </a:tblPr>
              <a:tblGrid>
                <a:gridCol w="1463040"/>
                <a:gridCol w="3246120"/>
                <a:gridCol w="3246120"/>
              </a:tblGrid>
              <a:tr h="310896">
                <a:tc>
                  <a:txBody>
                    <a:bodyPr wrap="square"/>
                    <a:lstStyle/>
                    <a:p>
                      <a:pPr algn="l" marL="0" indent="0">
                        <a:spcBef>
                          <a:spcPts val="0"/>
                        </a:spcBef>
                        <a:spcAft>
                          <a:spcPts val="0"/>
                        </a:spcAft>
                        <a:buNone/>
                      </a:pPr>
                      <a:r>
                        <a:rPr sz="950" b="1" i="0">
                          <a:solidFill>
                            <a:srgbClr val="FFFFFF"/>
                          </a:solidFill>
                          <a:latin typeface="Arial"/>
                        </a:rPr>
                        <a:t>Property</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50" b="1" i="0">
                          <a:solidFill>
                            <a:srgbClr val="FFFFFF"/>
                          </a:solidFill>
                          <a:latin typeface="Arial"/>
                        </a:rPr>
                        <a:t>Published SLSTT (Zhang et al., 2022)</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50" b="1" i="0">
                          <a:solidFill>
                            <a:srgbClr val="FFFFFF"/>
                          </a:solidFill>
                          <a:latin typeface="Arial"/>
                        </a:rPr>
                        <a:t>This thesis</a:t>
                      </a:r>
                    </a:p>
                  </a:txBody>
                  <a:tcPr marL="54864" marR="54864" marT="18288" marB="18288" anchor="ctr">
                    <a:lnL w="9525">
                      <a:noFill/>
                    </a:lnL>
                    <a:lnR w="9525">
                      <a:noFill/>
                    </a:lnR>
                    <a:lnT w="9525">
                      <a:noFill/>
                    </a:lnT>
                    <a:lnB w="9525">
                      <a:solidFill>
                        <a:srgbClr val="D9D9D9"/>
                      </a:solidFill>
                    </a:lnB>
                    <a:solidFill>
                      <a:srgbClr val="004CA0"/>
                    </a:solidFill>
                  </a:tcPr>
                </a:tc>
              </a:tr>
              <a:tr h="310896">
                <a:tc>
                  <a:txBody>
                    <a:bodyPr wrap="square"/>
                    <a:lstStyle/>
                    <a:p>
                      <a:pPr algn="l" marL="0" indent="0">
                        <a:spcBef>
                          <a:spcPts val="0"/>
                        </a:spcBef>
                        <a:spcAft>
                          <a:spcPts val="0"/>
                        </a:spcAft>
                        <a:buNone/>
                      </a:pPr>
                      <a:r>
                        <a:rPr sz="950" b="1" i="0">
                          <a:solidFill>
                            <a:srgbClr val="414141"/>
                          </a:solidFill>
                          <a:latin typeface="Arial"/>
                        </a:rPr>
                        <a:t>Attention axis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Spatial patches within a frame</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Temporal tokens within a clip</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950" b="1" i="0">
                          <a:solidFill>
                            <a:srgbClr val="414141"/>
                          </a:solidFill>
                          <a:latin typeface="Arial"/>
                        </a:rPr>
                        <a:t>Aggregation</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LSTM over spatially encoded frames</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Mean after temporal self-attention</a:t>
                      </a:r>
                    </a:p>
                  </a:txBody>
                  <a:tcPr marL="54864" marR="54864" marT="18288" marB="18288" anchor="ctr">
                    <a:lnL w="9525">
                      <a:noFill/>
                    </a:lnL>
                    <a:lnR w="9525">
                      <a:noFill/>
                    </a:lnR>
                    <a:lnT w="9525">
                      <a:noFill/>
                    </a:lnT>
                    <a:lnB w="9525">
                      <a:solidFill>
                        <a:srgbClr val="D9D9D9"/>
                      </a:solidFill>
                    </a:lnB>
                    <a:solidFill>
                      <a:srgbClr val="F2F2F2"/>
                    </a:solidFill>
                  </a:tcPr>
                </a:tc>
              </a:tr>
              <a:tr h="310896">
                <a:tc>
                  <a:txBody>
                    <a:bodyPr wrap="square"/>
                    <a:lstStyle/>
                    <a:p>
                      <a:pPr algn="l" marL="0" indent="0">
                        <a:spcBef>
                          <a:spcPts val="0"/>
                        </a:spcBef>
                        <a:spcAft>
                          <a:spcPts val="0"/>
                        </a:spcAft>
                        <a:buNone/>
                      </a:pPr>
                      <a:r>
                        <a:rPr sz="950" b="1" i="0">
                          <a:solidFill>
                            <a:srgbClr val="414141"/>
                          </a:solidFill>
                          <a:latin typeface="Arial"/>
                        </a:rPr>
                        <a:t>Initialisation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ImageNet-pre-trained ViT-B/16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Trained from scratch</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950" b="1" i="0">
                          <a:solidFill>
                            <a:srgbClr val="414141"/>
                          </a:solidFill>
                          <a:latin typeface="Arial"/>
                        </a:rPr>
                        <a:t>Capacity</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Twelve layers, width 768; 384 × 384 input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Four layers, width 96; 32 tokens</a:t>
                      </a:r>
                    </a:p>
                  </a:txBody>
                  <a:tcPr marL="54864" marR="54864" marT="18288" marB="18288" anchor="ctr">
                    <a:lnL w="9525">
                      <a:noFill/>
                    </a:lnL>
                    <a:lnR w="9525">
                      <a:noFill/>
                    </a:lnR>
                    <a:lnT w="9525">
                      <a:noFill/>
                    </a:lnT>
                    <a:lnB w="9525">
                      <a:solidFill>
                        <a:srgbClr val="D9D9D9"/>
                      </a:solidFill>
                    </a:lnB>
                    <a:solidFill>
                      <a:srgbClr val="F2F2F2"/>
                    </a:solidFill>
                  </a:tcPr>
                </a:tc>
              </a:tr>
              <a:tr h="310896">
                <a:tc>
                  <a:txBody>
                    <a:bodyPr wrap="square"/>
                    <a:lstStyle/>
                    <a:p>
                      <a:pPr algn="l" marL="0" indent="0">
                        <a:spcBef>
                          <a:spcPts val="0"/>
                        </a:spcBef>
                        <a:spcAft>
                          <a:spcPts val="0"/>
                        </a:spcAft>
                        <a:buNone/>
                      </a:pPr>
                      <a:r>
                        <a:rPr sz="950" b="1" i="0">
                          <a:solidFill>
                            <a:srgbClr val="414141"/>
                          </a:solidFill>
                          <a:latin typeface="Arial"/>
                        </a:rPr>
                        <a:t>Positions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Learned spatial embeddings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Fixed sinusoidal temporal encoding</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950" b="1" i="0">
                          <a:solidFill>
                            <a:srgbClr val="414141"/>
                          </a:solidFill>
                          <a:latin typeface="Arial"/>
                        </a:rPr>
                        <a:t>Input flow</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Relative to the onset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Relative to the preceding sampled frame</a:t>
                      </a:r>
                    </a:p>
                  </a:txBody>
                  <a:tcPr marL="54864" marR="54864" marT="18288" marB="18288" anchor="ctr">
                    <a:lnL w="9525">
                      <a:noFill/>
                    </a:lnL>
                    <a:lnR w="9525">
                      <a:noFill/>
                    </a:lnR>
                    <a:lnT w="9525">
                      <a:noFill/>
                    </a:lnT>
                    <a:lnB w="9525">
                      <a:solidFill>
                        <a:srgbClr val="D9D9D9"/>
                      </a:solidFill>
                    </a:lnB>
                    <a:solidFill>
                      <a:srgbClr val="F2F2F2"/>
                    </a:solidFill>
                  </a:tcPr>
                </a:tc>
              </a:tr>
            </a:tbl>
          </a:graphicData>
        </a:graphic>
      </p:graphicFrame>
      <p:sp>
        <p:nvSpPr>
          <p:cNvPr id="941" name="TextBox 940"/>
          <p:cNvSpPr txBox="1"/>
          <p:nvPr/>
        </p:nvSpPr>
        <p:spPr>
          <a:xfrm>
            <a:off x="685800" y="5166360"/>
            <a:ext cx="7955279" cy="731520"/>
          </a:xfrm>
          <a:prstGeom prst="rect">
            <a:avLst/>
          </a:prstGeom>
          <a:noFill/>
        </p:spPr>
        <p:txBody>
          <a:bodyPr wrap="square" lIns="45720" rIns="45720" tIns="27432" bIns="27432" anchor="t"/>
          <a:lstStyle/>
          <a:p>
            <a:pPr algn="l" marL="0" indent="0">
              <a:spcBef>
                <a:spcPts val="0"/>
              </a:spcBef>
              <a:spcAft>
                <a:spcPts val="300"/>
              </a:spcAft>
              <a:buNone/>
            </a:pPr>
            <a:r>
              <a:rPr sz="1000" b="0" i="1">
                <a:solidFill>
                  <a:srgbClr val="004CA0"/>
                </a:solidFill>
                <a:latin typeface="Arial"/>
              </a:rPr>
              <a:t>The evaluated component is a small temporal transformer encoder, not a reproduction of SLSTT. Within SLSTT, UF1 on CASME II rises from 0.844 with mean aggregation to 0.901 with the LSTM.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TRAINING SETTINGS AND LOSS FUNCTIONS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4"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34</a:t>
            </a:fld>
          </a:p>
        </p:txBody>
      </p:sp>
      <p:graphicFrame>
        <p:nvGraphicFramePr>
          <p:cNvPr id="935" name="Table 934"/>
          <p:cNvGraphicFramePr>
            <a:graphicFrameLocks noGrp="1"/>
          </p:cNvGraphicFramePr>
          <p:nvPr/>
        </p:nvGraphicFramePr>
        <p:xfrm>
          <a:off x="685800" y="1783080"/>
          <a:ext cx="4663440" cy="3291840"/>
        </p:xfrm>
        <a:graphic>
          <a:graphicData uri="http://schemas.openxmlformats.org/drawingml/2006/table">
            <a:tbl>
              <a:tblPr firstRow="0" bandRow="0">
                <a:tableStyleId>{2D5ABB26-0587-4C30-8999-92F81FD0307C}</a:tableStyleId>
              </a:tblPr>
              <a:tblGrid>
                <a:gridCol w="1188720"/>
                <a:gridCol w="3474720"/>
              </a:tblGrid>
              <a:tr h="365760">
                <a:tc>
                  <a:txBody>
                    <a:bodyPr wrap="square"/>
                    <a:lstStyle/>
                    <a:p>
                      <a:pPr algn="l" marL="0" indent="0">
                        <a:spcBef>
                          <a:spcPts val="0"/>
                        </a:spcBef>
                        <a:spcAft>
                          <a:spcPts val="0"/>
                        </a:spcAft>
                        <a:buNone/>
                      </a:pPr>
                      <a:r>
                        <a:rPr sz="950" b="1" i="0">
                          <a:solidFill>
                            <a:srgbClr val="FFFFFF"/>
                          </a:solidFill>
                          <a:latin typeface="Arial"/>
                        </a:rPr>
                        <a:t>Setting</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50" b="1" i="0">
                          <a:solidFill>
                            <a:srgbClr val="FFFFFF"/>
                          </a:solidFill>
                          <a:latin typeface="Arial"/>
                        </a:rPr>
                        <a:t>Value</a:t>
                      </a:r>
                    </a:p>
                  </a:txBody>
                  <a:tcPr marL="54864" marR="54864" marT="18288" marB="18288" anchor="ctr">
                    <a:lnL w="9525">
                      <a:noFill/>
                    </a:lnL>
                    <a:lnR w="9525">
                      <a:noFill/>
                    </a:lnR>
                    <a:lnT w="9525">
                      <a:noFill/>
                    </a:lnT>
                    <a:lnB w="9525">
                      <a:solidFill>
                        <a:srgbClr val="D9D9D9"/>
                      </a:solidFill>
                    </a:lnB>
                    <a:solidFill>
                      <a:srgbClr val="004CA0"/>
                    </a:solidFill>
                  </a:tcPr>
                </a:tc>
              </a:tr>
              <a:tr h="365760">
                <a:tc>
                  <a:txBody>
                    <a:bodyPr wrap="square"/>
                    <a:lstStyle/>
                    <a:p>
                      <a:pPr algn="l" marL="0" indent="0">
                        <a:spcBef>
                          <a:spcPts val="0"/>
                        </a:spcBef>
                        <a:spcAft>
                          <a:spcPts val="0"/>
                        </a:spcAft>
                        <a:buNone/>
                      </a:pPr>
                      <a:r>
                        <a:rPr sz="950" b="1" i="0">
                          <a:solidFill>
                            <a:srgbClr val="414141"/>
                          </a:solidFill>
                          <a:latin typeface="Arial"/>
                        </a:rPr>
                        <a:t>Loss</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Focal loss with γ = 2 and label smoothing 0.05; no class weights</a:t>
                      </a:r>
                    </a:p>
                  </a:txBody>
                  <a:tcPr marL="54864" marR="54864" marT="18288" marB="18288" anchor="ctr">
                    <a:lnL w="9525">
                      <a:noFill/>
                    </a:lnL>
                    <a:lnR w="9525">
                      <a:noFill/>
                    </a:lnR>
                    <a:lnT w="9525">
                      <a:noFill/>
                    </a:lnT>
                    <a:lnB w="9525">
                      <a:solidFill>
                        <a:srgbClr val="D9D9D9"/>
                      </a:solidFill>
                    </a:lnB>
                    <a:solidFill>
                      <a:srgbClr val="FFFFFF"/>
                    </a:solidFill>
                  </a:tcPr>
                </a:tc>
              </a:tr>
              <a:tr h="365760">
                <a:tc>
                  <a:txBody>
                    <a:bodyPr wrap="square"/>
                    <a:lstStyle/>
                    <a:p>
                      <a:pPr algn="l" marL="0" indent="0">
                        <a:spcBef>
                          <a:spcPts val="0"/>
                        </a:spcBef>
                        <a:spcAft>
                          <a:spcPts val="0"/>
                        </a:spcAft>
                        <a:buNone/>
                      </a:pPr>
                      <a:r>
                        <a:rPr sz="950" b="1" i="0">
                          <a:solidFill>
                            <a:srgbClr val="414141"/>
                          </a:solidFill>
                          <a:latin typeface="Arial"/>
                        </a:rPr>
                        <a:t>Sampling</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Class-balanced: weight inversely proportional to class size, with replacement</a:t>
                      </a:r>
                    </a:p>
                  </a:txBody>
                  <a:tcPr marL="54864" marR="54864" marT="18288" marB="18288" anchor="ctr">
                    <a:lnL w="9525">
                      <a:noFill/>
                    </a:lnL>
                    <a:lnR w="9525">
                      <a:noFill/>
                    </a:lnR>
                    <a:lnT w="9525">
                      <a:noFill/>
                    </a:lnT>
                    <a:lnB w="9525">
                      <a:solidFill>
                        <a:srgbClr val="D9D9D9"/>
                      </a:solidFill>
                    </a:lnB>
                    <a:solidFill>
                      <a:srgbClr val="F2F2F2"/>
                    </a:solidFill>
                  </a:tcPr>
                </a:tc>
              </a:tr>
              <a:tr h="365760">
                <a:tc>
                  <a:txBody>
                    <a:bodyPr wrap="square"/>
                    <a:lstStyle/>
                    <a:p>
                      <a:pPr algn="l" marL="0" indent="0">
                        <a:spcBef>
                          <a:spcPts val="0"/>
                        </a:spcBef>
                        <a:spcAft>
                          <a:spcPts val="0"/>
                        </a:spcAft>
                        <a:buNone/>
                      </a:pPr>
                      <a:r>
                        <a:rPr sz="950" b="1" i="0">
                          <a:solidFill>
                            <a:srgbClr val="414141"/>
                          </a:solidFill>
                          <a:latin typeface="Arial"/>
                        </a:rPr>
                        <a:t>Augmentation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Random horizontal flip (p = 0.5), horizontal flow negated</a:t>
                      </a:r>
                    </a:p>
                  </a:txBody>
                  <a:tcPr marL="54864" marR="54864" marT="18288" marB="18288" anchor="ctr">
                    <a:lnL w="9525">
                      <a:noFill/>
                    </a:lnL>
                    <a:lnR w="9525">
                      <a:noFill/>
                    </a:lnR>
                    <a:lnT w="9525">
                      <a:noFill/>
                    </a:lnT>
                    <a:lnB w="9525">
                      <a:solidFill>
                        <a:srgbClr val="D9D9D9"/>
                      </a:solidFill>
                    </a:lnB>
                    <a:solidFill>
                      <a:srgbClr val="FFFFFF"/>
                    </a:solidFill>
                  </a:tcPr>
                </a:tc>
              </a:tr>
              <a:tr h="365760">
                <a:tc>
                  <a:txBody>
                    <a:bodyPr wrap="square"/>
                    <a:lstStyle/>
                    <a:p>
                      <a:pPr algn="l" marL="0" indent="0">
                        <a:spcBef>
                          <a:spcPts val="0"/>
                        </a:spcBef>
                        <a:spcAft>
                          <a:spcPts val="0"/>
                        </a:spcAft>
                        <a:buNone/>
                      </a:pPr>
                      <a:r>
                        <a:rPr sz="950" b="1" i="0">
                          <a:solidFill>
                            <a:srgbClr val="414141"/>
                          </a:solidFill>
                          <a:latin typeface="Arial"/>
                        </a:rPr>
                        <a:t>Optimiser</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AdamW, learning rate 10</a:t>
                      </a:r>
                      <a:r>
                        <a:rPr sz="950" b="0" i="0" baseline="30000">
                          <a:solidFill>
                            <a:srgbClr val="414141"/>
                          </a:solidFill>
                          <a:latin typeface="Arial"/>
                        </a:rPr>
                        <a:t>−4</a:t>
                      </a:r>
                      <a:r>
                        <a:rPr sz="950" b="0" i="0">
                          <a:solidFill>
                            <a:srgbClr val="414141"/>
                          </a:solidFill>
                          <a:latin typeface="Arial"/>
                        </a:rPr>
                        <a:t>, weight decay 10</a:t>
                      </a:r>
                      <a:r>
                        <a:rPr sz="950" b="0" i="0" baseline="30000">
                          <a:solidFill>
                            <a:srgbClr val="414141"/>
                          </a:solidFill>
                          <a:latin typeface="Arial"/>
                        </a:rPr>
                        <a:t>−4</a:t>
                      </a:r>
                    </a:p>
                  </a:txBody>
                  <a:tcPr marL="54864" marR="54864" marT="18288" marB="18288" anchor="ctr">
                    <a:lnL w="9525">
                      <a:noFill/>
                    </a:lnL>
                    <a:lnR w="9525">
                      <a:noFill/>
                    </a:lnR>
                    <a:lnT w="9525">
                      <a:noFill/>
                    </a:lnT>
                    <a:lnB w="9525">
                      <a:solidFill>
                        <a:srgbClr val="D9D9D9"/>
                      </a:solidFill>
                    </a:lnB>
                    <a:solidFill>
                      <a:srgbClr val="F2F2F2"/>
                    </a:solidFill>
                  </a:tcPr>
                </a:tc>
              </a:tr>
              <a:tr h="365760">
                <a:tc>
                  <a:txBody>
                    <a:bodyPr wrap="square"/>
                    <a:lstStyle/>
                    <a:p>
                      <a:pPr algn="l" marL="0" indent="0">
                        <a:spcBef>
                          <a:spcPts val="0"/>
                        </a:spcBef>
                        <a:spcAft>
                          <a:spcPts val="0"/>
                        </a:spcAft>
                        <a:buNone/>
                      </a:pPr>
                      <a:r>
                        <a:rPr sz="950" b="1" i="0">
                          <a:solidFill>
                            <a:srgbClr val="414141"/>
                          </a:solidFill>
                          <a:latin typeface="Arial"/>
                        </a:rPr>
                        <a:t>Learning rate</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Linear warmup over 5 epochs from 10</a:t>
                      </a:r>
                      <a:r>
                        <a:rPr sz="950" b="0" i="0" baseline="30000">
                          <a:solidFill>
                            <a:srgbClr val="414141"/>
                          </a:solidFill>
                          <a:latin typeface="Arial"/>
                        </a:rPr>
                        <a:t>−5</a:t>
                      </a:r>
                      <a:r>
                        <a:rPr sz="950" b="0" i="0">
                          <a:solidFill>
                            <a:srgbClr val="414141"/>
                          </a:solidFill>
                          <a:latin typeface="Arial"/>
                        </a:rPr>
                        <a:t>, then cosine annealing to 10</a:t>
                      </a:r>
                      <a:r>
                        <a:rPr sz="950" b="0" i="0" baseline="30000">
                          <a:solidFill>
                            <a:srgbClr val="414141"/>
                          </a:solidFill>
                          <a:latin typeface="Arial"/>
                        </a:rPr>
                        <a:t>−7</a:t>
                      </a:r>
                    </a:p>
                  </a:txBody>
                  <a:tcPr marL="54864" marR="54864" marT="18288" marB="18288" anchor="ctr">
                    <a:lnL w="9525">
                      <a:noFill/>
                    </a:lnL>
                    <a:lnR w="9525">
                      <a:noFill/>
                    </a:lnR>
                    <a:lnT w="9525">
                      <a:noFill/>
                    </a:lnT>
                    <a:lnB w="9525">
                      <a:solidFill>
                        <a:srgbClr val="D9D9D9"/>
                      </a:solidFill>
                    </a:lnB>
                    <a:solidFill>
                      <a:srgbClr val="FFFFFF"/>
                    </a:solidFill>
                  </a:tcPr>
                </a:tc>
              </a:tr>
              <a:tr h="365760">
                <a:tc>
                  <a:txBody>
                    <a:bodyPr wrap="square"/>
                    <a:lstStyle/>
                    <a:p>
                      <a:pPr algn="l" marL="0" indent="0">
                        <a:spcBef>
                          <a:spcPts val="0"/>
                        </a:spcBef>
                        <a:spcAft>
                          <a:spcPts val="0"/>
                        </a:spcAft>
                        <a:buNone/>
                      </a:pPr>
                      <a:r>
                        <a:rPr sz="950" b="1" i="0">
                          <a:solidFill>
                            <a:srgbClr val="414141"/>
                          </a:solidFill>
                          <a:latin typeface="Arial"/>
                        </a:rPr>
                        <a:t>Epochs, batch</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50 epochs without early stopping; batch size 8</a:t>
                      </a:r>
                    </a:p>
                  </a:txBody>
                  <a:tcPr marL="54864" marR="54864" marT="18288" marB="18288" anchor="ctr">
                    <a:lnL w="9525">
                      <a:noFill/>
                    </a:lnL>
                    <a:lnR w="9525">
                      <a:noFill/>
                    </a:lnR>
                    <a:lnT w="9525">
                      <a:noFill/>
                    </a:lnT>
                    <a:lnB w="9525">
                      <a:solidFill>
                        <a:srgbClr val="D9D9D9"/>
                      </a:solidFill>
                    </a:lnB>
                    <a:solidFill>
                      <a:srgbClr val="F2F2F2"/>
                    </a:solidFill>
                  </a:tcPr>
                </a:tc>
              </a:tr>
              <a:tr h="365760">
                <a:tc>
                  <a:txBody>
                    <a:bodyPr wrap="square"/>
                    <a:lstStyle/>
                    <a:p>
                      <a:pPr algn="l" marL="0" indent="0">
                        <a:spcBef>
                          <a:spcPts val="0"/>
                        </a:spcBef>
                        <a:spcAft>
                          <a:spcPts val="0"/>
                        </a:spcAft>
                        <a:buNone/>
                      </a:pPr>
                      <a:r>
                        <a:rPr sz="950" b="1" i="0">
                          <a:solidFill>
                            <a:srgbClr val="414141"/>
                          </a:solidFill>
                          <a:latin typeface="Arial"/>
                        </a:rPr>
                        <a:t>Stability</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50" b="0" i="0">
                          <a:solidFill>
                            <a:srgbClr val="414141"/>
                          </a:solidFill>
                          <a:latin typeface="Arial"/>
                        </a:rPr>
                        <a:t>Gradient clipping at global norm 1.0; mixed precision</a:t>
                      </a:r>
                    </a:p>
                  </a:txBody>
                  <a:tcPr marL="54864" marR="54864" marT="18288" marB="18288" anchor="ctr">
                    <a:lnL w="9525">
                      <a:noFill/>
                    </a:lnL>
                    <a:lnR w="9525">
                      <a:noFill/>
                    </a:lnR>
                    <a:lnT w="9525">
                      <a:noFill/>
                    </a:lnT>
                    <a:lnB w="9525">
                      <a:solidFill>
                        <a:srgbClr val="D9D9D9"/>
                      </a:solidFill>
                    </a:lnB>
                    <a:solidFill>
                      <a:srgbClr val="FFFFFF"/>
                    </a:solidFill>
                  </a:tcPr>
                </a:tc>
              </a:tr>
              <a:tr h="365760">
                <a:tc>
                  <a:txBody>
                    <a:bodyPr wrap="square"/>
                    <a:lstStyle/>
                    <a:p>
                      <a:pPr algn="l" marL="0" indent="0">
                        <a:spcBef>
                          <a:spcPts val="0"/>
                        </a:spcBef>
                        <a:spcAft>
                          <a:spcPts val="0"/>
                        </a:spcAft>
                        <a:buNone/>
                      </a:pPr>
                      <a:r>
                        <a:rPr sz="950" b="1" i="0">
                          <a:solidFill>
                            <a:srgbClr val="414141"/>
                          </a:solidFill>
                          <a:latin typeface="Arial"/>
                        </a:rPr>
                        <a:t>Random seed</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50" b="0" i="0">
                          <a:solidFill>
                            <a:srgbClr val="414141"/>
                          </a:solidFill>
                          <a:latin typeface="Arial"/>
                        </a:rPr>
                        <a:t>42, reset before every configuration and fold</a:t>
                      </a:r>
                    </a:p>
                  </a:txBody>
                  <a:tcPr marL="54864" marR="54864" marT="18288" marB="18288" anchor="ctr">
                    <a:lnL w="9525">
                      <a:noFill/>
                    </a:lnL>
                    <a:lnR w="9525">
                      <a:noFill/>
                    </a:lnR>
                    <a:lnT w="9525">
                      <a:noFill/>
                    </a:lnT>
                    <a:lnB w="9525">
                      <a:solidFill>
                        <a:srgbClr val="D9D9D9"/>
                      </a:solidFill>
                    </a:lnB>
                    <a:solidFill>
                      <a:srgbClr val="F2F2F2"/>
                    </a:solidFill>
                  </a:tcPr>
                </a:tc>
              </a:tr>
            </a:tbl>
          </a:graphicData>
        </a:graphic>
      </p:graphicFrame>
      <p:sp>
        <p:nvSpPr>
          <p:cNvPr id="936" name="Rectangle 935"/>
          <p:cNvSpPr/>
          <p:nvPr/>
        </p:nvSpPr>
        <p:spPr>
          <a:xfrm>
            <a:off x="5532120" y="1783080"/>
            <a:ext cx="310896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TextBox 936"/>
          <p:cNvSpPr txBox="1"/>
          <p:nvPr/>
        </p:nvSpPr>
        <p:spPr>
          <a:xfrm>
            <a:off x="5605272" y="1783080"/>
            <a:ext cx="1005840" cy="457200"/>
          </a:xfrm>
          <a:prstGeom prst="rect">
            <a:avLst/>
          </a:prstGeom>
          <a:noFill/>
        </p:spPr>
        <p:txBody>
          <a:bodyPr wrap="square" lIns="45720" rIns="45720" tIns="27432" bIns="27432" anchor="ctr"/>
          <a:lstStyle/>
          <a:p>
            <a:pPr algn="l" marL="0" indent="0">
              <a:spcBef>
                <a:spcPts val="0"/>
              </a:spcBef>
              <a:spcAft>
                <a:spcPts val="0"/>
              </a:spcAft>
              <a:buNone/>
            </a:pPr>
            <a:r>
              <a:rPr sz="950" b="1" i="0">
                <a:solidFill>
                  <a:srgbClr val="004CA0"/>
                </a:solidFill>
                <a:latin typeface="Arial"/>
              </a:rPr>
              <a:t>Focal loss</a:t>
            </a:r>
          </a:p>
        </p:txBody>
      </p:sp>
      <p:sp>
        <p:nvSpPr>
          <p:cNvPr id="938" name="TextBox 937"/>
          <p:cNvSpPr txBox="1"/>
          <p:nvPr/>
        </p:nvSpPr>
        <p:spPr>
          <a:xfrm>
            <a:off x="6629400" y="1783080"/>
            <a:ext cx="1938527" cy="457200"/>
          </a:xfrm>
          <a:prstGeom prst="rect">
            <a:avLst/>
          </a:prstGeom>
          <a:noFill/>
        </p:spPr>
        <p:txBody>
          <a:bodyPr wrap="square" lIns="45720" rIns="45720" tIns="27432" bIns="27432" anchor="ctr"/>
          <a:lstStyle/>
          <a:p>
            <a:pPr algn="l" marL="0" indent="0">
              <a:spcBef>
                <a:spcPts val="0"/>
              </a:spcBef>
              <a:spcAft>
                <a:spcPts val="0"/>
              </a:spcAft>
              <a:buNone/>
            </a:pPr>
            <a:r>
              <a:rPr sz="1100" b="0" i="1">
                <a:solidFill>
                  <a:srgbClr val="414141"/>
                </a:solidFill>
                <a:latin typeface="Arial"/>
              </a:rPr>
              <a:t>FL = −α</a:t>
            </a:r>
            <a:r>
              <a:rPr sz="1100" b="0" i="1" baseline="-25000">
                <a:solidFill>
                  <a:srgbClr val="414141"/>
                </a:solidFill>
                <a:latin typeface="Arial"/>
              </a:rPr>
              <a:t>t</a:t>
            </a:r>
            <a:r>
              <a:rPr sz="1100" b="0" i="1">
                <a:solidFill>
                  <a:srgbClr val="414141"/>
                </a:solidFill>
                <a:latin typeface="Arial"/>
              </a:rPr>
              <a:t> (1 − p</a:t>
            </a:r>
            <a:r>
              <a:rPr sz="1100" b="0" i="1" baseline="-25000">
                <a:solidFill>
                  <a:srgbClr val="414141"/>
                </a:solidFill>
                <a:latin typeface="Arial"/>
              </a:rPr>
              <a:t>t</a:t>
            </a:r>
            <a:r>
              <a:rPr sz="1100" b="0" i="1">
                <a:solidFill>
                  <a:srgbClr val="414141"/>
                </a:solidFill>
                <a:latin typeface="Arial"/>
              </a:rPr>
              <a:t>)</a:t>
            </a:r>
            <a:r>
              <a:rPr sz="1100" b="0" i="1" baseline="30000">
                <a:solidFill>
                  <a:srgbClr val="414141"/>
                </a:solidFill>
                <a:latin typeface="Arial"/>
              </a:rPr>
              <a:t>γ</a:t>
            </a:r>
            <a:r>
              <a:rPr sz="1100" b="0" i="1">
                <a:solidFill>
                  <a:srgbClr val="414141"/>
                </a:solidFill>
                <a:latin typeface="Arial"/>
              </a:rPr>
              <a:t> log p</a:t>
            </a:r>
            <a:r>
              <a:rPr sz="1100" b="0" i="1" baseline="-25000">
                <a:solidFill>
                  <a:srgbClr val="414141"/>
                </a:solidFill>
                <a:latin typeface="Arial"/>
              </a:rPr>
              <a:t>t</a:t>
            </a:r>
          </a:p>
        </p:txBody>
      </p:sp>
      <p:sp>
        <p:nvSpPr>
          <p:cNvPr id="939" name="Rectangle 938"/>
          <p:cNvSpPr/>
          <p:nvPr/>
        </p:nvSpPr>
        <p:spPr>
          <a:xfrm>
            <a:off x="5532120" y="2304288"/>
            <a:ext cx="310896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TextBox 939"/>
          <p:cNvSpPr txBox="1"/>
          <p:nvPr/>
        </p:nvSpPr>
        <p:spPr>
          <a:xfrm>
            <a:off x="5605272" y="2304288"/>
            <a:ext cx="1005840" cy="457200"/>
          </a:xfrm>
          <a:prstGeom prst="rect">
            <a:avLst/>
          </a:prstGeom>
          <a:noFill/>
        </p:spPr>
        <p:txBody>
          <a:bodyPr wrap="square" lIns="45720" rIns="45720" tIns="27432" bIns="27432" anchor="ctr"/>
          <a:lstStyle/>
          <a:p>
            <a:pPr algn="l" marL="0" indent="0">
              <a:spcBef>
                <a:spcPts val="0"/>
              </a:spcBef>
              <a:spcAft>
                <a:spcPts val="0"/>
              </a:spcAft>
              <a:buNone/>
            </a:pPr>
            <a:r>
              <a:rPr sz="950" b="1" i="0">
                <a:solidFill>
                  <a:srgbClr val="004CA0"/>
                </a:solidFill>
                <a:latin typeface="Arial"/>
              </a:rPr>
              <a:t>Sampler weight</a:t>
            </a:r>
          </a:p>
        </p:txBody>
      </p:sp>
      <p:sp>
        <p:nvSpPr>
          <p:cNvPr id="941" name="TextBox 940"/>
          <p:cNvSpPr txBox="1"/>
          <p:nvPr/>
        </p:nvSpPr>
        <p:spPr>
          <a:xfrm>
            <a:off x="6629400" y="2304288"/>
            <a:ext cx="1938527" cy="457200"/>
          </a:xfrm>
          <a:prstGeom prst="rect">
            <a:avLst/>
          </a:prstGeom>
          <a:noFill/>
        </p:spPr>
        <p:txBody>
          <a:bodyPr wrap="square" lIns="45720" rIns="45720" tIns="27432" bIns="27432" anchor="ctr"/>
          <a:lstStyle/>
          <a:p>
            <a:pPr algn="l" marL="0" indent="0">
              <a:spcBef>
                <a:spcPts val="0"/>
              </a:spcBef>
              <a:spcAft>
                <a:spcPts val="0"/>
              </a:spcAft>
              <a:buNone/>
            </a:pPr>
            <a:r>
              <a:rPr sz="1100" b="0" i="1">
                <a:solidFill>
                  <a:srgbClr val="414141"/>
                </a:solidFill>
                <a:latin typeface="Arial"/>
              </a:rPr>
              <a:t>w</a:t>
            </a:r>
            <a:r>
              <a:rPr sz="1100" b="0" i="1" baseline="-25000">
                <a:solidFill>
                  <a:srgbClr val="414141"/>
                </a:solidFill>
                <a:latin typeface="Arial"/>
              </a:rPr>
              <a:t>i</a:t>
            </a:r>
            <a:r>
              <a:rPr sz="1100" b="0" i="1">
                <a:solidFill>
                  <a:srgbClr val="414141"/>
                </a:solidFill>
                <a:latin typeface="Arial"/>
              </a:rPr>
              <a:t> = 1 / n</a:t>
            </a:r>
            <a:r>
              <a:rPr sz="1100" b="0" i="1" baseline="-25000">
                <a:solidFill>
                  <a:srgbClr val="414141"/>
                </a:solidFill>
                <a:latin typeface="Arial"/>
              </a:rPr>
              <a:t>c</a:t>
            </a:r>
          </a:p>
        </p:txBody>
      </p:sp>
      <p:sp>
        <p:nvSpPr>
          <p:cNvPr id="942" name="Rectangle 941"/>
          <p:cNvSpPr/>
          <p:nvPr/>
        </p:nvSpPr>
        <p:spPr>
          <a:xfrm>
            <a:off x="5532120" y="2825496"/>
            <a:ext cx="310896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TextBox 942"/>
          <p:cNvSpPr txBox="1"/>
          <p:nvPr/>
        </p:nvSpPr>
        <p:spPr>
          <a:xfrm>
            <a:off x="5605272" y="2825496"/>
            <a:ext cx="1005840" cy="457200"/>
          </a:xfrm>
          <a:prstGeom prst="rect">
            <a:avLst/>
          </a:prstGeom>
          <a:noFill/>
        </p:spPr>
        <p:txBody>
          <a:bodyPr wrap="square" lIns="45720" rIns="45720" tIns="27432" bIns="27432" anchor="ctr"/>
          <a:lstStyle/>
          <a:p>
            <a:pPr algn="l" marL="0" indent="0">
              <a:spcBef>
                <a:spcPts val="0"/>
              </a:spcBef>
              <a:spcAft>
                <a:spcPts val="0"/>
              </a:spcAft>
              <a:buNone/>
            </a:pPr>
            <a:r>
              <a:rPr sz="950" b="1" i="0">
                <a:solidFill>
                  <a:srgbClr val="004CA0"/>
                </a:solidFill>
                <a:latin typeface="Arial"/>
              </a:rPr>
              <a:t>Smoothed target</a:t>
            </a:r>
          </a:p>
        </p:txBody>
      </p:sp>
      <p:sp>
        <p:nvSpPr>
          <p:cNvPr id="944" name="TextBox 943"/>
          <p:cNvSpPr txBox="1"/>
          <p:nvPr/>
        </p:nvSpPr>
        <p:spPr>
          <a:xfrm>
            <a:off x="6629400" y="2825496"/>
            <a:ext cx="1938527" cy="457200"/>
          </a:xfrm>
          <a:prstGeom prst="rect">
            <a:avLst/>
          </a:prstGeom>
          <a:noFill/>
        </p:spPr>
        <p:txBody>
          <a:bodyPr wrap="square" lIns="45720" rIns="45720" tIns="27432" bIns="27432" anchor="ctr"/>
          <a:lstStyle/>
          <a:p>
            <a:pPr algn="l" marL="0" indent="0">
              <a:spcBef>
                <a:spcPts val="0"/>
              </a:spcBef>
              <a:spcAft>
                <a:spcPts val="0"/>
              </a:spcAft>
              <a:buNone/>
            </a:pPr>
            <a:r>
              <a:rPr sz="1050" b="0" i="1">
                <a:solidFill>
                  <a:srgbClr val="414141"/>
                </a:solidFill>
                <a:latin typeface="Arial"/>
              </a:rPr>
              <a:t>q</a:t>
            </a:r>
            <a:r>
              <a:rPr sz="1050" b="0" i="1" baseline="-25000">
                <a:solidFill>
                  <a:srgbClr val="414141"/>
                </a:solidFill>
                <a:latin typeface="Arial"/>
              </a:rPr>
              <a:t>c</a:t>
            </a:r>
            <a:r>
              <a:rPr sz="1050" b="0" i="1">
                <a:solidFill>
                  <a:srgbClr val="414141"/>
                </a:solidFill>
                <a:latin typeface="Arial"/>
              </a:rPr>
              <a:t> = (1 − ε) · 1[c = t] + ε / C</a:t>
            </a:r>
          </a:p>
        </p:txBody>
      </p:sp>
      <p:sp>
        <p:nvSpPr>
          <p:cNvPr id="945" name="Rectangle 944"/>
          <p:cNvSpPr/>
          <p:nvPr/>
        </p:nvSpPr>
        <p:spPr>
          <a:xfrm>
            <a:off x="5532120" y="3429000"/>
            <a:ext cx="3108960" cy="182880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TextBox 945"/>
          <p:cNvSpPr txBox="1"/>
          <p:nvPr/>
        </p:nvSpPr>
        <p:spPr>
          <a:xfrm>
            <a:off x="5669280" y="3483864"/>
            <a:ext cx="2834640" cy="1719072"/>
          </a:xfrm>
          <a:prstGeom prst="rect">
            <a:avLst/>
          </a:prstGeom>
          <a:noFill/>
        </p:spPr>
        <p:txBody>
          <a:bodyPr wrap="square" lIns="45720" rIns="45720" tIns="27432" bIns="27432" anchor="ctr"/>
          <a:lstStyle/>
          <a:p>
            <a:pPr algn="l" marL="0" indent="0">
              <a:spcBef>
                <a:spcPts val="0"/>
              </a:spcBef>
              <a:spcAft>
                <a:spcPts val="300"/>
              </a:spcAft>
              <a:buNone/>
            </a:pPr>
            <a:r>
              <a:rPr sz="1050" b="1" i="0">
                <a:solidFill>
                  <a:srgbClr val="A8CC2F"/>
                </a:solidFill>
                <a:latin typeface="Arial"/>
              </a:rPr>
              <a:t>Class-weighting rule</a:t>
            </a:r>
          </a:p>
          <a:p>
            <a:pPr algn="l" marL="0" indent="0">
              <a:spcBef>
                <a:spcPts val="0"/>
              </a:spcBef>
              <a:spcAft>
                <a:spcPts val="300"/>
              </a:spcAft>
              <a:buNone/>
            </a:pPr>
            <a:r>
              <a:rPr sz="950" b="0" i="0">
                <a:solidFill>
                  <a:srgbClr val="FFFFFF"/>
                </a:solidFill>
                <a:latin typeface="Arial"/>
              </a:rPr>
              <a:t>Loss weights and the sampler correct the same imbalance, so only the sampler is used. In development, loss weights alone stopped predicting Positive; both together stopped predicting Negative. The causal effect of the rule is not isolated.</a:t>
            </a:r>
          </a:p>
        </p:txBody>
      </p:sp>
      <p:sp>
        <p:nvSpPr>
          <p:cNvPr id="947" name="TextBox 946"/>
          <p:cNvSpPr txBox="1"/>
          <p:nvPr/>
        </p:nvSpPr>
        <p:spPr>
          <a:xfrm>
            <a:off x="685800" y="5440680"/>
            <a:ext cx="7955279" cy="457200"/>
          </a:xfrm>
          <a:prstGeom prst="rect">
            <a:avLst/>
          </a:prstGeom>
          <a:noFill/>
        </p:spPr>
        <p:txBody>
          <a:bodyPr wrap="square" lIns="45720" rIns="45720" tIns="27432" bIns="27432" anchor="t"/>
          <a:lstStyle/>
          <a:p>
            <a:pPr algn="l" marL="0" indent="0">
              <a:spcBef>
                <a:spcPts val="0"/>
              </a:spcBef>
              <a:spcAft>
                <a:spcPts val="300"/>
              </a:spcAft>
              <a:buNone/>
            </a:pPr>
            <a:r>
              <a:rPr sz="1000" b="0" i="1">
                <a:solidFill>
                  <a:srgbClr val="004CA0"/>
                </a:solidFill>
                <a:latin typeface="Arial"/>
              </a:rPr>
              <a:t>All settings are fixed defaults, identical across the twelve configurations and the 25 folds. No hyperparameter search was performed.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EVALUATION METRICS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5"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35</a:t>
            </a:fld>
          </a:p>
        </p:txBody>
      </p:sp>
      <p:sp>
        <p:nvSpPr>
          <p:cNvPr id="936" name="Rectangle 935"/>
          <p:cNvSpPr/>
          <p:nvPr/>
        </p:nvSpPr>
        <p:spPr>
          <a:xfrm>
            <a:off x="685800" y="1783080"/>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TextBox 936"/>
          <p:cNvSpPr txBox="1"/>
          <p:nvPr/>
        </p:nvSpPr>
        <p:spPr>
          <a:xfrm>
            <a:off x="758952" y="1783080"/>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Precision and recall</a:t>
            </a:r>
          </a:p>
        </p:txBody>
      </p:sp>
      <p:sp>
        <p:nvSpPr>
          <p:cNvPr id="938" name="TextBox 937"/>
          <p:cNvSpPr txBox="1"/>
          <p:nvPr/>
        </p:nvSpPr>
        <p:spPr>
          <a:xfrm>
            <a:off x="2423160" y="1783080"/>
            <a:ext cx="6144768" cy="457200"/>
          </a:xfrm>
          <a:prstGeom prst="rect">
            <a:avLst/>
          </a:prstGeom>
          <a:noFill/>
        </p:spPr>
        <p:txBody>
          <a:bodyPr wrap="square" lIns="45720" rIns="45720" tIns="27432" bIns="27432" anchor="ctr"/>
          <a:lstStyle/>
          <a:p>
            <a:pPr algn="l" marL="0" indent="0">
              <a:spcBef>
                <a:spcPts val="0"/>
              </a:spcBef>
              <a:spcAft>
                <a:spcPts val="0"/>
              </a:spcAft>
              <a:buNone/>
            </a:pPr>
            <a:r>
              <a:rPr sz="1200" b="0" i="1">
                <a:solidFill>
                  <a:srgbClr val="414141"/>
                </a:solidFill>
                <a:latin typeface="Arial"/>
              </a:rPr>
              <a:t>P</a:t>
            </a:r>
            <a:r>
              <a:rPr sz="1200" b="0" i="1" baseline="-25000">
                <a:solidFill>
                  <a:srgbClr val="414141"/>
                </a:solidFill>
                <a:latin typeface="Arial"/>
              </a:rPr>
              <a:t>c</a:t>
            </a:r>
            <a:r>
              <a:rPr sz="1200" b="0" i="1">
                <a:solidFill>
                  <a:srgbClr val="414141"/>
                </a:solidFill>
                <a:latin typeface="Arial"/>
              </a:rPr>
              <a:t> = TP</a:t>
            </a:r>
            <a:r>
              <a:rPr sz="1200" b="0" i="1" baseline="-25000">
                <a:solidFill>
                  <a:srgbClr val="414141"/>
                </a:solidFill>
                <a:latin typeface="Arial"/>
              </a:rPr>
              <a:t>c</a:t>
            </a:r>
            <a:r>
              <a:rPr sz="1200" b="0" i="1">
                <a:solidFill>
                  <a:srgbClr val="414141"/>
                </a:solidFill>
                <a:latin typeface="Arial"/>
              </a:rPr>
              <a:t> / (TP</a:t>
            </a:r>
            <a:r>
              <a:rPr sz="1200" b="0" i="1" baseline="-25000">
                <a:solidFill>
                  <a:srgbClr val="414141"/>
                </a:solidFill>
                <a:latin typeface="Arial"/>
              </a:rPr>
              <a:t>c</a:t>
            </a:r>
            <a:r>
              <a:rPr sz="1200" b="0" i="1">
                <a:solidFill>
                  <a:srgbClr val="414141"/>
                </a:solidFill>
                <a:latin typeface="Arial"/>
              </a:rPr>
              <a:t> + FP</a:t>
            </a:r>
            <a:r>
              <a:rPr sz="1200" b="0" i="1" baseline="-25000">
                <a:solidFill>
                  <a:srgbClr val="414141"/>
                </a:solidFill>
                <a:latin typeface="Arial"/>
              </a:rPr>
              <a:t>c</a:t>
            </a:r>
            <a:r>
              <a:rPr sz="1200" b="0" i="1">
                <a:solidFill>
                  <a:srgbClr val="414141"/>
                </a:solidFill>
                <a:latin typeface="Arial"/>
              </a:rPr>
              <a:t>) ,     R</a:t>
            </a:r>
            <a:r>
              <a:rPr sz="1200" b="0" i="1" baseline="-25000">
                <a:solidFill>
                  <a:srgbClr val="414141"/>
                </a:solidFill>
                <a:latin typeface="Arial"/>
              </a:rPr>
              <a:t>c</a:t>
            </a:r>
            <a:r>
              <a:rPr sz="1200" b="0" i="1">
                <a:solidFill>
                  <a:srgbClr val="414141"/>
                </a:solidFill>
                <a:latin typeface="Arial"/>
              </a:rPr>
              <a:t> = TP</a:t>
            </a:r>
            <a:r>
              <a:rPr sz="1200" b="0" i="1" baseline="-25000">
                <a:solidFill>
                  <a:srgbClr val="414141"/>
                </a:solidFill>
                <a:latin typeface="Arial"/>
              </a:rPr>
              <a:t>c</a:t>
            </a:r>
            <a:r>
              <a:rPr sz="1200" b="0" i="1">
                <a:solidFill>
                  <a:srgbClr val="414141"/>
                </a:solidFill>
                <a:latin typeface="Arial"/>
              </a:rPr>
              <a:t> / (TP</a:t>
            </a:r>
            <a:r>
              <a:rPr sz="1200" b="0" i="1" baseline="-25000">
                <a:solidFill>
                  <a:srgbClr val="414141"/>
                </a:solidFill>
                <a:latin typeface="Arial"/>
              </a:rPr>
              <a:t>c</a:t>
            </a:r>
            <a:r>
              <a:rPr sz="1200" b="0" i="1">
                <a:solidFill>
                  <a:srgbClr val="414141"/>
                </a:solidFill>
                <a:latin typeface="Arial"/>
              </a:rPr>
              <a:t> + FN</a:t>
            </a:r>
            <a:r>
              <a:rPr sz="1200" b="0" i="1" baseline="-25000">
                <a:solidFill>
                  <a:srgbClr val="414141"/>
                </a:solidFill>
                <a:latin typeface="Arial"/>
              </a:rPr>
              <a:t>c</a:t>
            </a:r>
            <a:r>
              <a:rPr sz="1200" b="0" i="1">
                <a:solidFill>
                  <a:srgbClr val="414141"/>
                </a:solidFill>
                <a:latin typeface="Arial"/>
              </a:rPr>
              <a:t>)</a:t>
            </a:r>
          </a:p>
        </p:txBody>
      </p:sp>
      <p:sp>
        <p:nvSpPr>
          <p:cNvPr id="939" name="Rectangle 938"/>
          <p:cNvSpPr/>
          <p:nvPr/>
        </p:nvSpPr>
        <p:spPr>
          <a:xfrm>
            <a:off x="685800" y="2304288"/>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TextBox 939"/>
          <p:cNvSpPr txBox="1"/>
          <p:nvPr/>
        </p:nvSpPr>
        <p:spPr>
          <a:xfrm>
            <a:off x="758952" y="2304288"/>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Class F1</a:t>
            </a:r>
          </a:p>
        </p:txBody>
      </p:sp>
      <p:sp>
        <p:nvSpPr>
          <p:cNvPr id="941" name="TextBox 940"/>
          <p:cNvSpPr txBox="1"/>
          <p:nvPr/>
        </p:nvSpPr>
        <p:spPr>
          <a:xfrm>
            <a:off x="2423160" y="2304288"/>
            <a:ext cx="6144768" cy="457200"/>
          </a:xfrm>
          <a:prstGeom prst="rect">
            <a:avLst/>
          </a:prstGeom>
          <a:noFill/>
        </p:spPr>
        <p:txBody>
          <a:bodyPr wrap="square" lIns="45720" rIns="45720" tIns="27432" bIns="27432" anchor="ctr"/>
          <a:lstStyle/>
          <a:p>
            <a:pPr algn="l" marL="0" indent="0">
              <a:spcBef>
                <a:spcPts val="0"/>
              </a:spcBef>
              <a:spcAft>
                <a:spcPts val="0"/>
              </a:spcAft>
              <a:buNone/>
            </a:pPr>
            <a:r>
              <a:rPr sz="1200" b="0" i="1">
                <a:solidFill>
                  <a:srgbClr val="414141"/>
                </a:solidFill>
                <a:latin typeface="Arial"/>
              </a:rPr>
              <a:t>F1</a:t>
            </a:r>
            <a:r>
              <a:rPr sz="1200" b="0" i="1" baseline="-25000">
                <a:solidFill>
                  <a:srgbClr val="414141"/>
                </a:solidFill>
                <a:latin typeface="Arial"/>
              </a:rPr>
              <a:t>c</a:t>
            </a:r>
            <a:r>
              <a:rPr sz="1200" b="0" i="1">
                <a:solidFill>
                  <a:srgbClr val="414141"/>
                </a:solidFill>
                <a:latin typeface="Arial"/>
              </a:rPr>
              <a:t> = 2 TP</a:t>
            </a:r>
            <a:r>
              <a:rPr sz="1200" b="0" i="1" baseline="-25000">
                <a:solidFill>
                  <a:srgbClr val="414141"/>
                </a:solidFill>
                <a:latin typeface="Arial"/>
              </a:rPr>
              <a:t>c</a:t>
            </a:r>
            <a:r>
              <a:rPr sz="1200" b="0" i="1">
                <a:solidFill>
                  <a:srgbClr val="414141"/>
                </a:solidFill>
                <a:latin typeface="Arial"/>
              </a:rPr>
              <a:t> / (2 TP</a:t>
            </a:r>
            <a:r>
              <a:rPr sz="1200" b="0" i="1" baseline="-25000">
                <a:solidFill>
                  <a:srgbClr val="414141"/>
                </a:solidFill>
                <a:latin typeface="Arial"/>
              </a:rPr>
              <a:t>c</a:t>
            </a:r>
            <a:r>
              <a:rPr sz="1200" b="0" i="1">
                <a:solidFill>
                  <a:srgbClr val="414141"/>
                </a:solidFill>
                <a:latin typeface="Arial"/>
              </a:rPr>
              <a:t> + FP</a:t>
            </a:r>
            <a:r>
              <a:rPr sz="1200" b="0" i="1" baseline="-25000">
                <a:solidFill>
                  <a:srgbClr val="414141"/>
                </a:solidFill>
                <a:latin typeface="Arial"/>
              </a:rPr>
              <a:t>c</a:t>
            </a:r>
            <a:r>
              <a:rPr sz="1200" b="0" i="1">
                <a:solidFill>
                  <a:srgbClr val="414141"/>
                </a:solidFill>
                <a:latin typeface="Arial"/>
              </a:rPr>
              <a:t> + FN</a:t>
            </a:r>
            <a:r>
              <a:rPr sz="1200" b="0" i="1" baseline="-25000">
                <a:solidFill>
                  <a:srgbClr val="414141"/>
                </a:solidFill>
                <a:latin typeface="Arial"/>
              </a:rPr>
              <a:t>c</a:t>
            </a:r>
            <a:r>
              <a:rPr sz="1200" b="0" i="1">
                <a:solidFill>
                  <a:srgbClr val="414141"/>
                </a:solidFill>
                <a:latin typeface="Arial"/>
              </a:rPr>
              <a:t>)</a:t>
            </a:r>
          </a:p>
        </p:txBody>
      </p:sp>
      <p:sp>
        <p:nvSpPr>
          <p:cNvPr id="942" name="Rectangle 941"/>
          <p:cNvSpPr/>
          <p:nvPr/>
        </p:nvSpPr>
        <p:spPr>
          <a:xfrm>
            <a:off x="685800" y="2825496"/>
            <a:ext cx="7955279"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TextBox 942"/>
          <p:cNvSpPr txBox="1"/>
          <p:nvPr/>
        </p:nvSpPr>
        <p:spPr>
          <a:xfrm>
            <a:off x="758952" y="2825496"/>
            <a:ext cx="1645920" cy="457200"/>
          </a:xfrm>
          <a:prstGeom prst="rect">
            <a:avLst/>
          </a:prstGeom>
          <a:noFill/>
        </p:spPr>
        <p:txBody>
          <a:bodyPr wrap="square" lIns="45720" rIns="45720" tIns="27432" bIns="27432" anchor="ctr"/>
          <a:lstStyle/>
          <a:p>
            <a:pPr algn="l" marL="0" indent="0">
              <a:spcBef>
                <a:spcPts val="0"/>
              </a:spcBef>
              <a:spcAft>
                <a:spcPts val="0"/>
              </a:spcAft>
              <a:buNone/>
            </a:pPr>
            <a:r>
              <a:rPr sz="1000" b="1" i="0">
                <a:solidFill>
                  <a:srgbClr val="004CA0"/>
                </a:solidFill>
                <a:latin typeface="Arial"/>
              </a:rPr>
              <a:t>Macro F1</a:t>
            </a:r>
          </a:p>
        </p:txBody>
      </p:sp>
      <p:sp>
        <p:nvSpPr>
          <p:cNvPr id="944" name="TextBox 943"/>
          <p:cNvSpPr txBox="1"/>
          <p:nvPr/>
        </p:nvSpPr>
        <p:spPr>
          <a:xfrm>
            <a:off x="2423160" y="2825496"/>
            <a:ext cx="6144768" cy="457200"/>
          </a:xfrm>
          <a:prstGeom prst="rect">
            <a:avLst/>
          </a:prstGeom>
          <a:noFill/>
        </p:spPr>
        <p:txBody>
          <a:bodyPr wrap="square" lIns="45720" rIns="45720" tIns="27432" bIns="27432" anchor="ctr"/>
          <a:lstStyle/>
          <a:p>
            <a:pPr algn="l" marL="0" indent="0">
              <a:spcBef>
                <a:spcPts val="0"/>
              </a:spcBef>
              <a:spcAft>
                <a:spcPts val="0"/>
              </a:spcAft>
              <a:buNone/>
            </a:pPr>
            <a:r>
              <a:rPr sz="1200" b="0" i="1">
                <a:solidFill>
                  <a:srgbClr val="414141"/>
                </a:solidFill>
                <a:latin typeface="Arial"/>
              </a:rPr>
              <a:t>F1</a:t>
            </a:r>
            <a:r>
              <a:rPr sz="1200" b="0" i="1" baseline="-25000">
                <a:solidFill>
                  <a:srgbClr val="414141"/>
                </a:solidFill>
                <a:latin typeface="Arial"/>
              </a:rPr>
              <a:t>macro</a:t>
            </a:r>
            <a:r>
              <a:rPr sz="1200" b="0" i="1">
                <a:solidFill>
                  <a:srgbClr val="414141"/>
                </a:solidFill>
                <a:latin typeface="Arial"/>
              </a:rPr>
              <a:t> = (1/C) Σ F1</a:t>
            </a:r>
            <a:r>
              <a:rPr sz="1200" b="0" i="1" baseline="-25000">
                <a:solidFill>
                  <a:srgbClr val="414141"/>
                </a:solidFill>
                <a:latin typeface="Arial"/>
              </a:rPr>
              <a:t>c</a:t>
            </a:r>
          </a:p>
        </p:txBody>
      </p:sp>
      <p:sp>
        <p:nvSpPr>
          <p:cNvPr id="945" name="Rectangle 944"/>
          <p:cNvSpPr/>
          <p:nvPr/>
        </p:nvSpPr>
        <p:spPr>
          <a:xfrm>
            <a:off x="685800" y="3474720"/>
            <a:ext cx="2529839" cy="2103120"/>
          </a:xfrm>
          <a:prstGeom prst="rect">
            <a:avLst/>
          </a:prstGeom>
          <a:solidFill>
            <a:srgbClr val="004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TextBox 945"/>
          <p:cNvSpPr txBox="1"/>
          <p:nvPr/>
        </p:nvSpPr>
        <p:spPr>
          <a:xfrm>
            <a:off x="777240" y="3520440"/>
            <a:ext cx="2346959" cy="2011680"/>
          </a:xfrm>
          <a:prstGeom prst="rect">
            <a:avLst/>
          </a:prstGeom>
          <a:noFill/>
        </p:spPr>
        <p:txBody>
          <a:bodyPr wrap="square" lIns="45720" rIns="45720" tIns="27432" bIns="27432" anchor="t"/>
          <a:lstStyle/>
          <a:p>
            <a:pPr algn="l" marL="0" indent="0">
              <a:spcBef>
                <a:spcPts val="0"/>
              </a:spcBef>
              <a:spcAft>
                <a:spcPts val="600"/>
              </a:spcAft>
              <a:buNone/>
            </a:pPr>
            <a:r>
              <a:rPr sz="1150" b="1" i="0">
                <a:solidFill>
                  <a:srgbClr val="A8CC2F"/>
                </a:solidFill>
                <a:latin typeface="Arial"/>
              </a:rPr>
              <a:t>Pooled macro F1 (primary)</a:t>
            </a:r>
          </a:p>
          <a:p>
            <a:pPr algn="l" marL="155448" indent="-155448">
              <a:spcBef>
                <a:spcPts val="0"/>
              </a:spcBef>
              <a:spcAft>
                <a:spcPts val="400"/>
              </a:spcAft>
              <a:buClr>
                <a:srgbClr val="A8CC2F"/>
              </a:buClr>
              <a:buFont typeface="Arial"/>
              <a:buChar char="•"/>
            </a:pPr>
            <a:r>
              <a:rPr sz="1050" b="0" i="0">
                <a:solidFill>
                  <a:srgbClr val="FFFFFF"/>
                </a:solidFill>
                <a:latin typeface="Arial"/>
              </a:rPr>
              <a:t>Confusion matrices of the 25 folds are summed into one 3 × 3 matrix</a:t>
            </a:r>
          </a:p>
          <a:p>
            <a:pPr algn="l" marL="155448" indent="-155448">
              <a:spcBef>
                <a:spcPts val="0"/>
              </a:spcBef>
              <a:spcAft>
                <a:spcPts val="400"/>
              </a:spcAft>
              <a:buClr>
                <a:srgbClr val="A8CC2F"/>
              </a:buClr>
              <a:buFont typeface="Arial"/>
              <a:buChar char="•"/>
            </a:pPr>
            <a:r>
              <a:rPr sz="1050" b="0" i="0">
                <a:solidFill>
                  <a:srgbClr val="FFFFFF"/>
                </a:solidFill>
                <a:latin typeface="Arial"/>
              </a:rPr>
              <a:t>Per-class F1 is computed once from the pooled counts</a:t>
            </a:r>
          </a:p>
          <a:p>
            <a:pPr algn="l" marL="155448" indent="-155448">
              <a:spcBef>
                <a:spcPts val="0"/>
              </a:spcBef>
              <a:spcAft>
                <a:spcPts val="400"/>
              </a:spcAft>
              <a:buClr>
                <a:srgbClr val="A8CC2F"/>
              </a:buClr>
              <a:buFont typeface="Arial"/>
              <a:buChar char="•"/>
            </a:pPr>
            <a:r>
              <a:rPr sz="1050" b="0" i="0">
                <a:solidFill>
                  <a:srgbClr val="FFFFFF"/>
                </a:solidFill>
                <a:latin typeface="Arial"/>
              </a:rPr>
              <a:t>Identical in construction to the UF1 of MEGC 2019</a:t>
            </a:r>
          </a:p>
        </p:txBody>
      </p:sp>
      <p:sp>
        <p:nvSpPr>
          <p:cNvPr id="947" name="Rectangle 946"/>
          <p:cNvSpPr/>
          <p:nvPr/>
        </p:nvSpPr>
        <p:spPr>
          <a:xfrm>
            <a:off x="3398519" y="3474720"/>
            <a:ext cx="2529839"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TextBox 947"/>
          <p:cNvSpPr txBox="1"/>
          <p:nvPr/>
        </p:nvSpPr>
        <p:spPr>
          <a:xfrm>
            <a:off x="3489960" y="3538728"/>
            <a:ext cx="2346959" cy="1975103"/>
          </a:xfrm>
          <a:prstGeom prst="rect">
            <a:avLst/>
          </a:prstGeom>
          <a:noFill/>
        </p:spPr>
        <p:txBody>
          <a:bodyPr wrap="square" lIns="45720" rIns="45720" tIns="27432" bIns="27432" anchor="t"/>
          <a:lstStyle/>
          <a:p>
            <a:pPr algn="l" marL="0" indent="0">
              <a:spcBef>
                <a:spcPts val="0"/>
              </a:spcBef>
              <a:spcAft>
                <a:spcPts val="600"/>
              </a:spcAft>
              <a:buNone/>
            </a:pPr>
            <a:r>
              <a:rPr sz="1150" b="1" i="0">
                <a:solidFill>
                  <a:srgbClr val="004CA0"/>
                </a:solidFill>
                <a:latin typeface="Arial"/>
              </a:rPr>
              <a:t>Mean-of-folds macro F1 (rejected)</a:t>
            </a:r>
          </a:p>
          <a:p>
            <a:pPr algn="l" marL="155448" indent="-155448">
              <a:spcBef>
                <a:spcPts val="0"/>
              </a:spcBef>
              <a:spcAft>
                <a:spcPts val="400"/>
              </a:spcAft>
              <a:buClr>
                <a:srgbClr val="A8CC2F"/>
              </a:buClr>
              <a:buFont typeface="Arial"/>
              <a:buChar char="•"/>
            </a:pPr>
            <a:r>
              <a:rPr sz="1050" b="0" i="0">
                <a:solidFill>
                  <a:srgbClr val="414141"/>
                </a:solidFill>
                <a:latin typeface="Arial"/>
              </a:rPr>
              <a:t>Macro F1 is computed in each fold and averaged</a:t>
            </a:r>
          </a:p>
          <a:p>
            <a:pPr algn="l" marL="155448" indent="-155448">
              <a:spcBef>
                <a:spcPts val="0"/>
              </a:spcBef>
              <a:spcAft>
                <a:spcPts val="400"/>
              </a:spcAft>
              <a:buClr>
                <a:srgbClr val="A8CC2F"/>
              </a:buClr>
              <a:buFont typeface="Arial"/>
              <a:buChar char="•"/>
            </a:pPr>
            <a:r>
              <a:rPr sz="1050" b="0" i="0">
                <a:solidFill>
                  <a:srgbClr val="414141"/>
                </a:solidFill>
                <a:latin typeface="Arial"/>
              </a:rPr>
              <a:t>A class absent from a fold scores zero</a:t>
            </a:r>
          </a:p>
          <a:p>
            <a:pPr algn="l" marL="155448" indent="-155448">
              <a:spcBef>
                <a:spcPts val="0"/>
              </a:spcBef>
              <a:spcAft>
                <a:spcPts val="400"/>
              </a:spcAft>
              <a:buClr>
                <a:srgbClr val="A8CC2F"/>
              </a:buClr>
              <a:buFont typeface="Arial"/>
              <a:buChar char="•"/>
            </a:pPr>
            <a:r>
              <a:rPr sz="1050" b="0" i="0">
                <a:solidFill>
                  <a:srgbClr val="414141"/>
                </a:solidFill>
                <a:latin typeface="Arial"/>
              </a:rPr>
              <a:t>Bounded at 0.627 by fold composition alone</a:t>
            </a:r>
          </a:p>
        </p:txBody>
      </p:sp>
      <p:sp>
        <p:nvSpPr>
          <p:cNvPr id="949" name="Rectangle 948"/>
          <p:cNvSpPr/>
          <p:nvPr/>
        </p:nvSpPr>
        <p:spPr>
          <a:xfrm>
            <a:off x="6111239" y="3474720"/>
            <a:ext cx="2529839"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6202679" y="3538728"/>
            <a:ext cx="2346959" cy="1975103"/>
          </a:xfrm>
          <a:prstGeom prst="rect">
            <a:avLst/>
          </a:prstGeom>
          <a:noFill/>
        </p:spPr>
        <p:txBody>
          <a:bodyPr wrap="square" lIns="45720" rIns="45720" tIns="27432" bIns="27432" anchor="t"/>
          <a:lstStyle/>
          <a:p>
            <a:pPr algn="l" marL="0" indent="0">
              <a:spcBef>
                <a:spcPts val="0"/>
              </a:spcBef>
              <a:spcAft>
                <a:spcPts val="600"/>
              </a:spcAft>
              <a:buNone/>
            </a:pPr>
            <a:r>
              <a:rPr sz="1150" b="1" i="0">
                <a:solidFill>
                  <a:srgbClr val="004CA0"/>
                </a:solidFill>
                <a:latin typeface="Arial"/>
              </a:rPr>
              <a:t>Accuracy (reported alongside)</a:t>
            </a:r>
          </a:p>
          <a:p>
            <a:pPr algn="l" marL="155448" indent="-155448">
              <a:spcBef>
                <a:spcPts val="0"/>
              </a:spcBef>
              <a:spcAft>
                <a:spcPts val="400"/>
              </a:spcAft>
              <a:buClr>
                <a:srgbClr val="A8CC2F"/>
              </a:buClr>
              <a:buFont typeface="Arial"/>
              <a:buChar char="•"/>
            </a:pPr>
            <a:r>
              <a:rPr sz="1050" b="0" i="0">
                <a:solidFill>
                  <a:srgbClr val="414141"/>
                </a:solidFill>
                <a:latin typeface="Arial"/>
              </a:rPr>
              <a:t>Equals micro F1 in single-label classification</a:t>
            </a:r>
          </a:p>
          <a:p>
            <a:pPr algn="l" marL="155448" indent="-155448">
              <a:spcBef>
                <a:spcPts val="0"/>
              </a:spcBef>
              <a:spcAft>
                <a:spcPts val="400"/>
              </a:spcAft>
              <a:buClr>
                <a:srgbClr val="A8CC2F"/>
              </a:buClr>
              <a:buFont typeface="Arial"/>
              <a:buChar char="•"/>
            </a:pPr>
            <a:r>
              <a:rPr sz="1050" b="0" i="0">
                <a:solidFill>
                  <a:srgbClr val="414141"/>
                </a:solidFill>
                <a:latin typeface="Arial"/>
              </a:rPr>
              <a:t>Dominated by the majority class</a:t>
            </a:r>
          </a:p>
          <a:p>
            <a:pPr algn="l" marL="155448" indent="-155448">
              <a:spcBef>
                <a:spcPts val="0"/>
              </a:spcBef>
              <a:spcAft>
                <a:spcPts val="400"/>
              </a:spcAft>
              <a:buClr>
                <a:srgbClr val="A8CC2F"/>
              </a:buClr>
              <a:buFont typeface="Arial"/>
              <a:buChar char="•"/>
            </a:pPr>
            <a:r>
              <a:rPr sz="1050" b="0" i="0">
                <a:solidFill>
                  <a:srgbClr val="414141"/>
                </a:solidFill>
                <a:latin typeface="Arial"/>
              </a:rPr>
              <a:t>All-Negative: accuracy 0.6346, macro F1 0.2588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PUBLISHED EVIDENCE FOR MAGNIFICATION AND STRAIN</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6"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36</a:t>
            </a:fld>
          </a:p>
        </p:txBody>
      </p:sp>
      <p:sp>
        <p:nvSpPr>
          <p:cNvPr id="937" name="TextBox 936"/>
          <p:cNvSpPr txBox="1"/>
          <p:nvPr/>
        </p:nvSpPr>
        <p:spPr>
          <a:xfrm>
            <a:off x="685800" y="1783080"/>
            <a:ext cx="3886200" cy="292608"/>
          </a:xfrm>
          <a:prstGeom prst="rect">
            <a:avLst/>
          </a:prstGeom>
          <a:noFill/>
        </p:spPr>
        <p:txBody>
          <a:bodyPr wrap="square" lIns="45720" rIns="45720" tIns="27432" bIns="27432" anchor="t"/>
          <a:lstStyle/>
          <a:p>
            <a:pPr algn="l" marL="0" indent="0">
              <a:spcBef>
                <a:spcPts val="0"/>
              </a:spcBef>
              <a:spcAft>
                <a:spcPts val="300"/>
              </a:spcAft>
              <a:buNone/>
            </a:pPr>
            <a:r>
              <a:rPr sz="1150" b="1" i="0">
                <a:solidFill>
                  <a:srgbClr val="004CA0"/>
                </a:solidFill>
                <a:latin typeface="Arial"/>
              </a:rPr>
              <a:t>Magnification on CASME II (Li et al., 2018)</a:t>
            </a:r>
          </a:p>
        </p:txBody>
      </p:sp>
      <p:graphicFrame>
        <p:nvGraphicFramePr>
          <p:cNvPr id="938" name="Table 937"/>
          <p:cNvGraphicFramePr>
            <a:graphicFrameLocks noGrp="1"/>
          </p:cNvGraphicFramePr>
          <p:nvPr/>
        </p:nvGraphicFramePr>
        <p:xfrm>
          <a:off x="685800" y="2121408"/>
          <a:ext cx="3886200" cy="1243584"/>
        </p:xfrm>
        <a:graphic>
          <a:graphicData uri="http://schemas.openxmlformats.org/drawingml/2006/table">
            <a:tbl>
              <a:tblPr firstRow="0" bandRow="0">
                <a:tableStyleId>{2D5ABB26-0587-4C30-8999-92F81FD0307C}</a:tableStyleId>
              </a:tblPr>
              <a:tblGrid>
                <a:gridCol w="1143000"/>
                <a:gridCol w="914400"/>
                <a:gridCol w="914400"/>
                <a:gridCol w="914400"/>
              </a:tblGrid>
              <a:tr h="310896">
                <a:tc>
                  <a:txBody>
                    <a:bodyPr wrap="square"/>
                    <a:lstStyle/>
                    <a:p>
                      <a:pPr algn="l" marL="0" indent="0">
                        <a:spcBef>
                          <a:spcPts val="0"/>
                        </a:spcBef>
                        <a:spcAft>
                          <a:spcPts val="0"/>
                        </a:spcAft>
                        <a:buNone/>
                      </a:pPr>
                      <a:r>
                        <a:rPr sz="1000" b="1" i="0">
                          <a:solidFill>
                            <a:srgbClr val="FFFFFF"/>
                          </a:solidFill>
                          <a:latin typeface="Arial"/>
                        </a:rPr>
                        <a:t>Descriptor</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Without</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With</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Gain</a:t>
                      </a:r>
                    </a:p>
                  </a:txBody>
                  <a:tcPr marL="54864" marR="54864" marT="18288" marB="18288" anchor="ctr">
                    <a:lnL w="9525">
                      <a:noFill/>
                    </a:lnL>
                    <a:lnR w="9525">
                      <a:noFill/>
                    </a:lnR>
                    <a:lnT w="9525">
                      <a:noFill/>
                    </a:lnT>
                    <a:lnB w="9525">
                      <a:solidFill>
                        <a:srgbClr val="D9D9D9"/>
                      </a:solidFill>
                    </a:lnB>
                    <a:solidFill>
                      <a:srgbClr val="004CA0"/>
                    </a:solidFill>
                  </a:tcPr>
                </a:tc>
              </a:tr>
              <a:tr h="310896">
                <a:tc>
                  <a:txBody>
                    <a:bodyPr wrap="square"/>
                    <a:lstStyle/>
                    <a:p>
                      <a:pPr algn="l" marL="0" indent="0">
                        <a:spcBef>
                          <a:spcPts val="0"/>
                        </a:spcBef>
                        <a:spcAft>
                          <a:spcPts val="0"/>
                        </a:spcAft>
                        <a:buNone/>
                      </a:pPr>
                      <a:r>
                        <a:rPr sz="1000" b="0" i="0">
                          <a:solidFill>
                            <a:srgbClr val="414141"/>
                          </a:solidFill>
                          <a:latin typeface="Arial"/>
                        </a:rPr>
                        <a:t>LBP</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55.87 %</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60.73 %</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414141"/>
                          </a:solidFill>
                          <a:latin typeface="Arial"/>
                        </a:rPr>
                        <a:t>+4.86</a:t>
                      </a:r>
                    </a:p>
                  </a:txBody>
                  <a:tcPr marL="54864" marR="54864" marT="18288" marB="18288" anchor="ctr">
                    <a:lnL w="9525">
                      <a:noFill/>
                    </a:lnL>
                    <a:lnR w="9525">
                      <a:noFill/>
                    </a:lnR>
                    <a:lnT w="9525">
                      <a:noFill/>
                    </a:lnT>
                    <a:lnB w="9525">
                      <a:solidFill>
                        <a:srgbClr val="D9D9D9"/>
                      </a:solidFill>
                    </a:lnB>
                    <a:solidFill>
                      <a:srgbClr val="FFFFFF"/>
                    </a:solidFill>
                  </a:tcPr>
                </a:tc>
              </a:tr>
              <a:tr h="310896">
                <a:tc>
                  <a:txBody>
                    <a:bodyPr wrap="square"/>
                    <a:lstStyle/>
                    <a:p>
                      <a:pPr algn="l" marL="0" indent="0">
                        <a:spcBef>
                          <a:spcPts val="0"/>
                        </a:spcBef>
                        <a:spcAft>
                          <a:spcPts val="0"/>
                        </a:spcAft>
                        <a:buNone/>
                      </a:pPr>
                      <a:r>
                        <a:rPr sz="1000" b="0" i="0">
                          <a:solidFill>
                            <a:srgbClr val="414141"/>
                          </a:solidFill>
                          <a:latin typeface="Arial"/>
                        </a:rPr>
                        <a:t>HOG</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1000" b="0" i="0">
                          <a:solidFill>
                            <a:srgbClr val="414141"/>
                          </a:solidFill>
                          <a:latin typeface="Arial"/>
                        </a:rPr>
                        <a:t>57.49 %</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1000" b="0" i="0">
                          <a:solidFill>
                            <a:srgbClr val="414141"/>
                          </a:solidFill>
                          <a:latin typeface="Arial"/>
                        </a:rPr>
                        <a:t>63.97 %</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1000" b="1" i="0">
                          <a:solidFill>
                            <a:srgbClr val="414141"/>
                          </a:solidFill>
                          <a:latin typeface="Arial"/>
                        </a:rPr>
                        <a:t>+6.48</a:t>
                      </a:r>
                    </a:p>
                  </a:txBody>
                  <a:tcPr marL="54864" marR="54864" marT="18288" marB="18288" anchor="ctr">
                    <a:lnL w="9525">
                      <a:noFill/>
                    </a:lnL>
                    <a:lnR w="9525">
                      <a:noFill/>
                    </a:lnR>
                    <a:lnT w="9525">
                      <a:noFill/>
                    </a:lnT>
                    <a:lnB w="9525">
                      <a:solidFill>
                        <a:srgbClr val="D9D9D9"/>
                      </a:solidFill>
                    </a:lnB>
                    <a:solidFill>
                      <a:srgbClr val="F2F2F2"/>
                    </a:solidFill>
                  </a:tcPr>
                </a:tc>
              </a:tr>
              <a:tr h="310896">
                <a:tc>
                  <a:txBody>
                    <a:bodyPr wrap="square"/>
                    <a:lstStyle/>
                    <a:p>
                      <a:pPr algn="l" marL="0" indent="0">
                        <a:spcBef>
                          <a:spcPts val="0"/>
                        </a:spcBef>
                        <a:spcAft>
                          <a:spcPts val="0"/>
                        </a:spcAft>
                        <a:buNone/>
                      </a:pPr>
                      <a:r>
                        <a:rPr sz="1000" b="0" i="0">
                          <a:solidFill>
                            <a:srgbClr val="414141"/>
                          </a:solidFill>
                          <a:latin typeface="Arial"/>
                        </a:rPr>
                        <a:t>HIGO</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57.09 %</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67.21 %</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414141"/>
                          </a:solidFill>
                          <a:latin typeface="Arial"/>
                        </a:rPr>
                        <a:t>+10.12</a:t>
                      </a:r>
                    </a:p>
                  </a:txBody>
                  <a:tcPr marL="54864" marR="54864" marT="18288" marB="18288" anchor="ctr">
                    <a:lnL w="9525">
                      <a:noFill/>
                    </a:lnL>
                    <a:lnR w="9525">
                      <a:noFill/>
                    </a:lnR>
                    <a:lnT w="9525">
                      <a:noFill/>
                    </a:lnT>
                    <a:lnB w="9525">
                      <a:solidFill>
                        <a:srgbClr val="D9D9D9"/>
                      </a:solidFill>
                    </a:lnB>
                    <a:solidFill>
                      <a:srgbClr val="FFFFFF"/>
                    </a:solidFill>
                  </a:tcPr>
                </a:tc>
              </a:tr>
            </a:tbl>
          </a:graphicData>
        </a:graphic>
      </p:graphicFrame>
      <p:sp>
        <p:nvSpPr>
          <p:cNvPr id="939" name="TextBox 938"/>
          <p:cNvSpPr txBox="1"/>
          <p:nvPr/>
        </p:nvSpPr>
        <p:spPr>
          <a:xfrm>
            <a:off x="685800" y="3520440"/>
            <a:ext cx="3886200" cy="237744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000" b="0" i="0">
                <a:solidFill>
                  <a:srgbClr val="414141"/>
                </a:solidFill>
                <a:latin typeface="Arial"/>
              </a:rPr>
              <a:t>Leave-one-subject-out accuracy, with descriptor and classifier held fixed</a:t>
            </a:r>
          </a:p>
          <a:p>
            <a:pPr algn="l" marL="155448" indent="-155448">
              <a:spcBef>
                <a:spcPts val="0"/>
              </a:spcBef>
              <a:spcAft>
                <a:spcPts val="400"/>
              </a:spcAft>
              <a:buClr>
                <a:srgbClr val="A8CC2F"/>
              </a:buClr>
              <a:buFont typeface="Arial"/>
              <a:buChar char="•"/>
            </a:pPr>
            <a:r>
              <a:rPr sz="1000" b="0" i="0">
                <a:solidFill>
                  <a:srgbClr val="414141"/>
                </a:solidFill>
                <a:latin typeface="Arial"/>
              </a:rPr>
              <a:t>Xia et al. (2020b) run the same check on composite data with optical-flow input: magnification lowers the UAR of every model</a:t>
            </a:r>
          </a:p>
          <a:p>
            <a:pPr algn="l" marL="155448" indent="-155448">
              <a:spcBef>
                <a:spcPts val="0"/>
              </a:spcBef>
              <a:spcAft>
                <a:spcPts val="400"/>
              </a:spcAft>
              <a:buClr>
                <a:srgbClr val="A8CC2F"/>
              </a:buClr>
              <a:buFont typeface="Arial"/>
              <a:buChar char="•"/>
            </a:pPr>
            <a:r>
              <a:rPr sz="1000" b="0" i="0">
                <a:solidFill>
                  <a:srgbClr val="414141"/>
                </a:solidFill>
                <a:latin typeface="Arial"/>
              </a:rPr>
              <a:t>Accuracy over α is 'rainbow-shaped', with the best performance generally in the range 8 to 16</a:t>
            </a:r>
          </a:p>
          <a:p>
            <a:pPr algn="l" marL="155448" indent="-155448">
              <a:spcBef>
                <a:spcPts val="0"/>
              </a:spcBef>
              <a:spcAft>
                <a:spcPts val="400"/>
              </a:spcAft>
              <a:buClr>
                <a:srgbClr val="A8CC2F"/>
              </a:buClr>
              <a:buFont typeface="Arial"/>
              <a:buChar char="•"/>
            </a:pPr>
            <a:r>
              <a:rPr sz="1000" b="0" i="0">
                <a:solidFill>
                  <a:srgbClr val="414141"/>
                </a:solidFill>
                <a:latin typeface="Arial"/>
              </a:rPr>
              <a:t>The gains are for appearance-based descriptors computed on magnified pixel intensities</a:t>
            </a:r>
          </a:p>
        </p:txBody>
      </p:sp>
      <p:sp>
        <p:nvSpPr>
          <p:cNvPr id="940" name="TextBox 939"/>
          <p:cNvSpPr txBox="1"/>
          <p:nvPr/>
        </p:nvSpPr>
        <p:spPr>
          <a:xfrm>
            <a:off x="4754880" y="1783080"/>
            <a:ext cx="3886200" cy="292608"/>
          </a:xfrm>
          <a:prstGeom prst="rect">
            <a:avLst/>
          </a:prstGeom>
          <a:noFill/>
        </p:spPr>
        <p:txBody>
          <a:bodyPr wrap="square" lIns="45720" rIns="45720" tIns="27432" bIns="27432" anchor="t"/>
          <a:lstStyle/>
          <a:p>
            <a:pPr algn="l" marL="0" indent="0">
              <a:spcBef>
                <a:spcPts val="0"/>
              </a:spcBef>
              <a:spcAft>
                <a:spcPts val="300"/>
              </a:spcAft>
              <a:buNone/>
            </a:pPr>
            <a:r>
              <a:rPr sz="1150" b="1" i="0">
                <a:solidFill>
                  <a:srgbClr val="004CA0"/>
                </a:solidFill>
                <a:latin typeface="Arial"/>
              </a:rPr>
              <a:t>Strain descriptors (Liong et al., 2016)</a:t>
            </a:r>
          </a:p>
        </p:txBody>
      </p:sp>
      <p:graphicFrame>
        <p:nvGraphicFramePr>
          <p:cNvPr id="941" name="Table 940"/>
          <p:cNvGraphicFramePr>
            <a:graphicFrameLocks noGrp="1"/>
          </p:cNvGraphicFramePr>
          <p:nvPr/>
        </p:nvGraphicFramePr>
        <p:xfrm>
          <a:off x="4754880" y="2121408"/>
          <a:ext cx="3886200" cy="1371600"/>
        </p:xfrm>
        <a:graphic>
          <a:graphicData uri="http://schemas.openxmlformats.org/drawingml/2006/table">
            <a:tbl>
              <a:tblPr firstRow="0" bandRow="0">
                <a:tableStyleId>{2D5ABB26-0587-4C30-8999-92F81FD0307C}</a:tableStyleId>
              </a:tblPr>
              <a:tblGrid>
                <a:gridCol w="1600200"/>
                <a:gridCol w="1143000"/>
                <a:gridCol w="1143000"/>
              </a:tblGrid>
              <a:tr h="274320">
                <a:tc>
                  <a:txBody>
                    <a:bodyPr wrap="square"/>
                    <a:lstStyle/>
                    <a:p>
                      <a:pPr algn="l" marL="0" indent="0">
                        <a:spcBef>
                          <a:spcPts val="0"/>
                        </a:spcBef>
                        <a:spcAft>
                          <a:spcPts val="0"/>
                        </a:spcAft>
                        <a:buNone/>
                      </a:pPr>
                      <a:r>
                        <a:rPr sz="1000" b="1" i="0">
                          <a:solidFill>
                            <a:srgbClr val="FFFFFF"/>
                          </a:solidFill>
                          <a:latin typeface="Arial"/>
                        </a:rPr>
                        <a:t>Method</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SMIC (%)</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1000" b="1" i="0">
                          <a:solidFill>
                            <a:srgbClr val="FFFFFF"/>
                          </a:solidFill>
                          <a:latin typeface="Arial"/>
                        </a:rPr>
                        <a:t>CASME II (%)</a:t>
                      </a:r>
                    </a:p>
                  </a:txBody>
                  <a:tcPr marL="54864" marR="54864" marT="18288" marB="18288" anchor="ctr">
                    <a:lnL w="9525">
                      <a:noFill/>
                    </a:lnL>
                    <a:lnR w="9525">
                      <a:noFill/>
                    </a:lnR>
                    <a:lnT w="9525">
                      <a:noFill/>
                    </a:lnT>
                    <a:lnB w="9525">
                      <a:solidFill>
                        <a:srgbClr val="D9D9D9"/>
                      </a:solidFill>
                    </a:lnB>
                    <a:solidFill>
                      <a:srgbClr val="004CA0"/>
                    </a:solidFill>
                  </a:tcPr>
                </a:tc>
              </a:tr>
              <a:tr h="274320">
                <a:tc>
                  <a:txBody>
                    <a:bodyPr wrap="square"/>
                    <a:lstStyle/>
                    <a:p>
                      <a:pPr algn="l" marL="0" indent="0">
                        <a:spcBef>
                          <a:spcPts val="0"/>
                        </a:spcBef>
                        <a:spcAft>
                          <a:spcPts val="0"/>
                        </a:spcAft>
                        <a:buNone/>
                      </a:pPr>
                      <a:r>
                        <a:rPr sz="1000" b="0" i="0">
                          <a:solidFill>
                            <a:srgbClr val="414141"/>
                          </a:solidFill>
                          <a:latin typeface="Arial"/>
                        </a:rPr>
                        <a:t>Baseline (texture)</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45.73</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0" i="0">
                          <a:solidFill>
                            <a:srgbClr val="414141"/>
                          </a:solidFill>
                          <a:latin typeface="Arial"/>
                        </a:rPr>
                        <a:t>61.94</a:t>
                      </a:r>
                    </a:p>
                  </a:txBody>
                  <a:tcPr marL="54864" marR="54864" marT="18288" marB="18288" anchor="ctr">
                    <a:lnL w="9525">
                      <a:noFill/>
                    </a:lnL>
                    <a:lnR w="9525">
                      <a:noFill/>
                    </a:lnR>
                    <a:lnT w="9525">
                      <a:noFill/>
                    </a:lnT>
                    <a:lnB w="9525">
                      <a:solidFill>
                        <a:srgbClr val="D9D9D9"/>
                      </a:solidFill>
                    </a:lnB>
                    <a:solidFill>
                      <a:srgbClr val="FFFFFF"/>
                    </a:solidFill>
                  </a:tcPr>
                </a:tc>
              </a:tr>
              <a:tr h="274320">
                <a:tc>
                  <a:txBody>
                    <a:bodyPr wrap="square"/>
                    <a:lstStyle/>
                    <a:p>
                      <a:pPr algn="l" marL="0" indent="0">
                        <a:spcBef>
                          <a:spcPts val="0"/>
                        </a:spcBef>
                        <a:spcAft>
                          <a:spcPts val="0"/>
                        </a:spcAft>
                        <a:buNone/>
                      </a:pPr>
                      <a:r>
                        <a:rPr sz="1000" b="0" i="0">
                          <a:solidFill>
                            <a:srgbClr val="414141"/>
                          </a:solidFill>
                          <a:latin typeface="Arial"/>
                        </a:rPr>
                        <a:t>OSF</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1000" b="0" i="0">
                          <a:solidFill>
                            <a:srgbClr val="414141"/>
                          </a:solidFill>
                          <a:latin typeface="Arial"/>
                        </a:rPr>
                        <a:t>41.46</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1000" b="0" i="0">
                          <a:solidFill>
                            <a:srgbClr val="414141"/>
                          </a:solidFill>
                          <a:latin typeface="Arial"/>
                        </a:rPr>
                        <a:t>51.01</a:t>
                      </a:r>
                    </a:p>
                  </a:txBody>
                  <a:tcPr marL="54864" marR="54864" marT="18288" marB="18288" anchor="ctr">
                    <a:lnL w="9525">
                      <a:noFill/>
                    </a:lnL>
                    <a:lnR w="9525">
                      <a:noFill/>
                    </a:lnR>
                    <a:lnT w="9525">
                      <a:noFill/>
                    </a:lnT>
                    <a:lnB w="9525">
                      <a:solidFill>
                        <a:srgbClr val="D9D9D9"/>
                      </a:solidFill>
                    </a:lnB>
                    <a:solidFill>
                      <a:srgbClr val="F2F2F2"/>
                    </a:solidFill>
                  </a:tcPr>
                </a:tc>
              </a:tr>
              <a:tr h="274320">
                <a:tc>
                  <a:txBody>
                    <a:bodyPr wrap="square"/>
                    <a:lstStyle/>
                    <a:p>
                      <a:pPr algn="l" marL="0" indent="0">
                        <a:spcBef>
                          <a:spcPts val="0"/>
                        </a:spcBef>
                        <a:spcAft>
                          <a:spcPts val="0"/>
                        </a:spcAft>
                        <a:buNone/>
                      </a:pPr>
                      <a:r>
                        <a:rPr sz="1000" b="1" i="0">
                          <a:solidFill>
                            <a:srgbClr val="414141"/>
                          </a:solidFill>
                          <a:latin typeface="Arial"/>
                        </a:rPr>
                        <a:t>OSF + OSW</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414141"/>
                          </a:solidFill>
                          <a:latin typeface="Arial"/>
                        </a:rPr>
                        <a:t>52.44</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1000" b="1" i="0">
                          <a:solidFill>
                            <a:srgbClr val="414141"/>
                          </a:solidFill>
                          <a:latin typeface="Arial"/>
                        </a:rPr>
                        <a:t>63.16</a:t>
                      </a:r>
                    </a:p>
                  </a:txBody>
                  <a:tcPr marL="54864" marR="54864" marT="18288" marB="18288" anchor="ctr">
                    <a:lnL w="9525">
                      <a:noFill/>
                    </a:lnL>
                    <a:lnR w="9525">
                      <a:noFill/>
                    </a:lnR>
                    <a:lnT w="9525">
                      <a:noFill/>
                    </a:lnT>
                    <a:lnB w="9525">
                      <a:solidFill>
                        <a:srgbClr val="D9D9D9"/>
                      </a:solidFill>
                    </a:lnB>
                    <a:solidFill>
                      <a:srgbClr val="FFFFFF"/>
                    </a:solidFill>
                  </a:tcPr>
                </a:tc>
              </a:tr>
              <a:tr h="274320">
                <a:tc>
                  <a:txBody>
                    <a:bodyPr wrap="square"/>
                    <a:lstStyle/>
                    <a:p>
                      <a:pPr algn="l" marL="0" indent="0">
                        <a:spcBef>
                          <a:spcPts val="0"/>
                        </a:spcBef>
                        <a:spcAft>
                          <a:spcPts val="0"/>
                        </a:spcAft>
                        <a:buNone/>
                      </a:pPr>
                      <a:r>
                        <a:rPr sz="1000" b="0" i="0">
                          <a:solidFill>
                            <a:srgbClr val="414141"/>
                          </a:solidFill>
                          <a:latin typeface="Arial"/>
                        </a:rPr>
                        <a:t>OFF + OFW (flow)</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1000" b="0" i="0">
                          <a:solidFill>
                            <a:srgbClr val="414141"/>
                          </a:solidFill>
                          <a:latin typeface="Arial"/>
                        </a:rPr>
                        <a:t>40.24</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1000" b="0" i="0">
                          <a:solidFill>
                            <a:srgbClr val="414141"/>
                          </a:solidFill>
                          <a:latin typeface="Arial"/>
                        </a:rPr>
                        <a:t>55.87</a:t>
                      </a:r>
                    </a:p>
                  </a:txBody>
                  <a:tcPr marL="54864" marR="54864" marT="18288" marB="18288" anchor="ctr">
                    <a:lnL w="9525">
                      <a:noFill/>
                    </a:lnL>
                    <a:lnR w="9525">
                      <a:noFill/>
                    </a:lnR>
                    <a:lnT w="9525">
                      <a:noFill/>
                    </a:lnT>
                    <a:lnB w="9525">
                      <a:solidFill>
                        <a:srgbClr val="D9D9D9"/>
                      </a:solidFill>
                    </a:lnB>
                    <a:solidFill>
                      <a:srgbClr val="F2F2F2"/>
                    </a:solidFill>
                  </a:tcPr>
                </a:tc>
              </a:tr>
            </a:tbl>
          </a:graphicData>
        </a:graphic>
      </p:graphicFrame>
      <p:sp>
        <p:nvSpPr>
          <p:cNvPr id="942" name="TextBox 941"/>
          <p:cNvSpPr txBox="1"/>
          <p:nvPr/>
        </p:nvSpPr>
        <p:spPr>
          <a:xfrm>
            <a:off x="4754880" y="3520440"/>
            <a:ext cx="3886200" cy="2377440"/>
          </a:xfrm>
          <a:prstGeom prst="rect">
            <a:avLst/>
          </a:prstGeom>
          <a:noFill/>
        </p:spPr>
        <p:txBody>
          <a:bodyPr wrap="square" lIns="45720" rIns="45720" tIns="27432" bIns="27432" anchor="t"/>
          <a:lstStyle/>
          <a:p>
            <a:pPr algn="l" marL="155448" indent="-155448">
              <a:spcBef>
                <a:spcPts val="0"/>
              </a:spcBef>
              <a:spcAft>
                <a:spcPts val="400"/>
              </a:spcAft>
              <a:buClr>
                <a:srgbClr val="A8CC2F"/>
              </a:buClr>
              <a:buFont typeface="Arial"/>
              <a:buChar char="•"/>
            </a:pPr>
            <a:r>
              <a:rPr sz="1000" b="0" i="0">
                <a:solidFill>
                  <a:srgbClr val="414141"/>
                </a:solidFill>
                <a:latin typeface="Arial"/>
              </a:rPr>
              <a:t>A matched comparison of strain and flow within one framework</a:t>
            </a:r>
          </a:p>
          <a:p>
            <a:pPr algn="l" marL="155448" indent="-155448">
              <a:spcBef>
                <a:spcPts val="0"/>
              </a:spcBef>
              <a:spcAft>
                <a:spcPts val="400"/>
              </a:spcAft>
              <a:buClr>
                <a:srgbClr val="A8CC2F"/>
              </a:buClr>
              <a:buFont typeface="Arial"/>
              <a:buChar char="•"/>
            </a:pPr>
            <a:r>
              <a:rPr sz="1000" b="0" i="0">
                <a:solidFill>
                  <a:srgbClr val="414141"/>
                </a:solidFill>
                <a:latin typeface="Arial"/>
              </a:rPr>
              <a:t>CASME II is evaluated leave-one-video-out, which is not subject-independent</a:t>
            </a:r>
          </a:p>
          <a:p>
            <a:pPr algn="l" marL="155448" indent="-155448">
              <a:spcBef>
                <a:spcPts val="0"/>
              </a:spcBef>
              <a:spcAft>
                <a:spcPts val="400"/>
              </a:spcAft>
              <a:buClr>
                <a:srgbClr val="A8CC2F"/>
              </a:buClr>
              <a:buFont typeface="Arial"/>
              <a:buChar char="•"/>
            </a:pPr>
            <a:r>
              <a:rPr sz="1000" b="0" i="0">
                <a:solidFill>
                  <a:srgbClr val="414141"/>
                </a:solidFill>
                <a:latin typeface="Arial"/>
              </a:rPr>
              <a:t>Hand-crafted descriptors; it does not establish the gain from a strain channel in a learned sequence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FULL RESULTS FOR THE TWELVE CONFIGURATIONS</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7"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37</a:t>
            </a:fld>
          </a:p>
        </p:txBody>
      </p:sp>
      <p:graphicFrame>
        <p:nvGraphicFramePr>
          <p:cNvPr id="938" name="Table 937"/>
          <p:cNvGraphicFramePr>
            <a:graphicFrameLocks noGrp="1"/>
          </p:cNvGraphicFramePr>
          <p:nvPr/>
        </p:nvGraphicFramePr>
        <p:xfrm>
          <a:off x="685800" y="1783080"/>
          <a:ext cx="7955280" cy="3803904"/>
        </p:xfrm>
        <a:graphic>
          <a:graphicData uri="http://schemas.openxmlformats.org/drawingml/2006/table">
            <a:tbl>
              <a:tblPr firstRow="0" bandRow="0">
                <a:tableStyleId>{2D5ABB26-0587-4C30-8999-92F81FD0307C}</a:tableStyleId>
              </a:tblPr>
              <a:tblGrid>
                <a:gridCol w="548640"/>
                <a:gridCol w="685800"/>
                <a:gridCol w="594360"/>
                <a:gridCol w="685800"/>
                <a:gridCol w="594360"/>
                <a:gridCol w="548640"/>
                <a:gridCol w="914400"/>
                <a:gridCol w="914400"/>
                <a:gridCol w="822960"/>
                <a:gridCol w="822960"/>
                <a:gridCol w="822960"/>
              </a:tblGrid>
              <a:tr h="292608">
                <a:tc>
                  <a:txBody>
                    <a:bodyPr wrap="square"/>
                    <a:lstStyle/>
                    <a:p>
                      <a:pPr algn="ctr" marL="0" indent="0">
                        <a:spcBef>
                          <a:spcPts val="0"/>
                        </a:spcBef>
                        <a:spcAft>
                          <a:spcPts val="0"/>
                        </a:spcAft>
                        <a:buNone/>
                      </a:pPr>
                      <a:r>
                        <a:rPr sz="900" b="1" i="0">
                          <a:solidFill>
                            <a:srgbClr val="FFFFFF"/>
                          </a:solidFill>
                          <a:latin typeface="Arial"/>
                        </a:rPr>
                        <a:t>Rank</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Config.</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EVM</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SimAM</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CNN</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TF</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Macro F1</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Accuracy</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F1 Neg.</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F1 Pos.</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ctr" marL="0" indent="0">
                        <a:spcBef>
                          <a:spcPts val="0"/>
                        </a:spcBef>
                        <a:spcAft>
                          <a:spcPts val="0"/>
                        </a:spcAft>
                        <a:buNone/>
                      </a:pPr>
                      <a:r>
                        <a:rPr sz="900" b="1" i="0">
                          <a:solidFill>
                            <a:srgbClr val="FFFFFF"/>
                          </a:solidFill>
                          <a:latin typeface="Arial"/>
                        </a:rPr>
                        <a:t>F1 Sur.</a:t>
                      </a:r>
                    </a:p>
                  </a:txBody>
                  <a:tcPr marL="54864" marR="54864" marT="18288" marB="18288" anchor="ctr">
                    <a:lnL w="9525">
                      <a:noFill/>
                    </a:lnL>
                    <a:lnR w="9525">
                      <a:noFill/>
                    </a:lnR>
                    <a:lnT w="9525">
                      <a:noFill/>
                    </a:lnT>
                    <a:lnB w="9525">
                      <a:solidFill>
                        <a:srgbClr val="D9D9D9"/>
                      </a:solidFill>
                    </a:lnB>
                    <a:solidFill>
                      <a:srgbClr val="004CA0"/>
                    </a:solidFill>
                  </a:tcPr>
                </a:tc>
              </a:tr>
              <a:tr h="292608">
                <a:tc>
                  <a:txBody>
                    <a:bodyPr wrap="square"/>
                    <a:lstStyle/>
                    <a:p>
                      <a:pPr algn="ctr" marL="0" indent="0">
                        <a:spcBef>
                          <a:spcPts val="0"/>
                        </a:spcBef>
                        <a:spcAft>
                          <a:spcPts val="0"/>
                        </a:spcAft>
                        <a:buNone/>
                      </a:pPr>
                      <a:r>
                        <a:rPr sz="900" b="0" i="0">
                          <a:solidFill>
                            <a:srgbClr val="414141"/>
                          </a:solidFill>
                          <a:latin typeface="Arial"/>
                        </a:rPr>
                        <a:t>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C2</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0.7122</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0.7436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0.8068</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0.6506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0.6792</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ctr" marL="0" indent="0">
                        <a:spcBef>
                          <a:spcPts val="0"/>
                        </a:spcBef>
                        <a:spcAft>
                          <a:spcPts val="0"/>
                        </a:spcAft>
                        <a:buNone/>
                      </a:pPr>
                      <a:r>
                        <a:rPr sz="900" b="0" i="0">
                          <a:solidFill>
                            <a:srgbClr val="414141"/>
                          </a:solidFill>
                          <a:latin typeface="Arial"/>
                        </a:rPr>
                        <a:t>2</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C8</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0.6659</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0.7500</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0.8458</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0.5556</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0.5965</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ctr" marL="0" indent="0">
                        <a:spcBef>
                          <a:spcPts val="0"/>
                        </a:spcBef>
                        <a:spcAft>
                          <a:spcPts val="0"/>
                        </a:spcAft>
                        <a:buNone/>
                      </a:pPr>
                      <a:r>
                        <a:rPr sz="900" b="0" i="0">
                          <a:solidFill>
                            <a:srgbClr val="414141"/>
                          </a:solidFill>
                          <a:latin typeface="Arial"/>
                        </a:rPr>
                        <a:t>3</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C7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0.6625</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0.7051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0.7845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0.5479</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0.6552</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ctr" marL="0" indent="0">
                        <a:spcBef>
                          <a:spcPts val="0"/>
                        </a:spcBef>
                        <a:spcAft>
                          <a:spcPts val="0"/>
                        </a:spcAft>
                        <a:buNone/>
                      </a:pPr>
                      <a:r>
                        <a:rPr sz="900" b="0" i="0">
                          <a:solidFill>
                            <a:srgbClr val="414141"/>
                          </a:solidFill>
                          <a:latin typeface="Arial"/>
                        </a:rPr>
                        <a:t>4</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C12</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0.6581</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0.6795</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0.7485</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0.5591</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0.6667</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ctr" marL="0" indent="0">
                        <a:spcBef>
                          <a:spcPts val="0"/>
                        </a:spcBef>
                        <a:spcAft>
                          <a:spcPts val="0"/>
                        </a:spcAft>
                        <a:buNone/>
                      </a:pPr>
                      <a:r>
                        <a:rPr sz="900" b="0" i="0">
                          <a:solidFill>
                            <a:srgbClr val="414141"/>
                          </a:solidFill>
                          <a:latin typeface="Arial"/>
                        </a:rPr>
                        <a:t>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C6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0.6171</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0.7308</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0.8325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0.4286</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0.5902</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ctr" marL="0" indent="0">
                        <a:spcBef>
                          <a:spcPts val="0"/>
                        </a:spcBef>
                        <a:spcAft>
                          <a:spcPts val="0"/>
                        </a:spcAft>
                        <a:buNone/>
                      </a:pPr>
                      <a:r>
                        <a:rPr sz="900" b="0" i="0">
                          <a:solidFill>
                            <a:srgbClr val="414141"/>
                          </a:solidFill>
                          <a:latin typeface="Arial"/>
                        </a:rPr>
                        <a:t>6</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C9</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0.5830</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0.7308</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0.8491</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0.6000</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0.3000</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ctr" marL="0" indent="0">
                        <a:spcBef>
                          <a:spcPts val="0"/>
                        </a:spcBef>
                        <a:spcAft>
                          <a:spcPts val="0"/>
                        </a:spcAft>
                        <a:buNone/>
                      </a:pPr>
                      <a:r>
                        <a:rPr sz="900" b="0" i="0">
                          <a:solidFill>
                            <a:srgbClr val="414141"/>
                          </a:solidFill>
                          <a:latin typeface="Arial"/>
                        </a:rPr>
                        <a:t>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C13</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0.4480</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0.4359</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0.4127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0.5278</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0.4035</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ctr" marL="0" indent="0">
                        <a:spcBef>
                          <a:spcPts val="0"/>
                        </a:spcBef>
                        <a:spcAft>
                          <a:spcPts val="0"/>
                        </a:spcAft>
                        <a:buNone/>
                      </a:pPr>
                      <a:r>
                        <a:rPr sz="900" b="0" i="0">
                          <a:solidFill>
                            <a:srgbClr val="414141"/>
                          </a:solidFill>
                          <a:latin typeface="Arial"/>
                        </a:rPr>
                        <a:t>8</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C4</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0.4386</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0.4808</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0.5641</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0.5055</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0.2462</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ctr" marL="0" indent="0">
                        <a:spcBef>
                          <a:spcPts val="0"/>
                        </a:spcBef>
                        <a:spcAft>
                          <a:spcPts val="0"/>
                        </a:spcAft>
                        <a:buNone/>
                      </a:pPr>
                      <a:r>
                        <a:rPr sz="900" b="0" i="0">
                          <a:solidFill>
                            <a:srgbClr val="414141"/>
                          </a:solidFill>
                          <a:latin typeface="Arial"/>
                        </a:rPr>
                        <a:t>9</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C1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0.4337</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0.4615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0.5600</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0.3714</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0.3696</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ctr" marL="0" indent="0">
                        <a:spcBef>
                          <a:spcPts val="0"/>
                        </a:spcBef>
                        <a:spcAft>
                          <a:spcPts val="0"/>
                        </a:spcAft>
                        <a:buNone/>
                      </a:pPr>
                      <a:r>
                        <a:rPr sz="900" b="0" i="0">
                          <a:solidFill>
                            <a:srgbClr val="414141"/>
                          </a:solidFill>
                          <a:latin typeface="Arial"/>
                        </a:rPr>
                        <a:t>10</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C5</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0.4302</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0.4231</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0.3840</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0.5227</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0.3838</a:t>
                      </a:r>
                    </a:p>
                  </a:txBody>
                  <a:tcPr marL="54864" marR="54864" marT="18288" marB="18288" anchor="ctr">
                    <a:lnL w="9525">
                      <a:noFill/>
                    </a:lnL>
                    <a:lnR w="9525">
                      <a:noFill/>
                    </a:lnR>
                    <a:lnT w="9525">
                      <a:noFill/>
                    </a:lnT>
                    <a:lnB w="9525">
                      <a:solidFill>
                        <a:srgbClr val="D9D9D9"/>
                      </a:solidFill>
                    </a:lnB>
                    <a:solidFill>
                      <a:srgbClr val="F2F2F2"/>
                    </a:solidFill>
                  </a:tcPr>
                </a:tc>
              </a:tr>
              <a:tr h="292608">
                <a:tc>
                  <a:txBody>
                    <a:bodyPr wrap="square"/>
                    <a:lstStyle/>
                    <a:p>
                      <a:pPr algn="ctr" marL="0" indent="0">
                        <a:spcBef>
                          <a:spcPts val="0"/>
                        </a:spcBef>
                        <a:spcAft>
                          <a:spcPts val="0"/>
                        </a:spcAft>
                        <a:buNone/>
                      </a:pPr>
                      <a:r>
                        <a:rPr sz="900" b="0" i="0">
                          <a:solidFill>
                            <a:srgbClr val="414141"/>
                          </a:solidFill>
                          <a:latin typeface="Arial"/>
                        </a:rPr>
                        <a:t>11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C3</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1" i="0">
                          <a:solidFill>
                            <a:srgbClr val="414141"/>
                          </a:solidFill>
                          <a:latin typeface="Arial"/>
                        </a:rPr>
                        <a:t>0.4252</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0.4167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0.3607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0.5227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ctr" marL="0" indent="0">
                        <a:spcBef>
                          <a:spcPts val="0"/>
                        </a:spcBef>
                        <a:spcAft>
                          <a:spcPts val="0"/>
                        </a:spcAft>
                        <a:buNone/>
                      </a:pPr>
                      <a:r>
                        <a:rPr sz="900" b="0" i="0">
                          <a:solidFill>
                            <a:srgbClr val="414141"/>
                          </a:solidFill>
                          <a:latin typeface="Arial"/>
                        </a:rPr>
                        <a:t>0.3922</a:t>
                      </a:r>
                    </a:p>
                  </a:txBody>
                  <a:tcPr marL="54864" marR="54864" marT="18288" marB="18288" anchor="ctr">
                    <a:lnL w="9525">
                      <a:noFill/>
                    </a:lnL>
                    <a:lnR w="9525">
                      <a:noFill/>
                    </a:lnR>
                    <a:lnT w="9525">
                      <a:noFill/>
                    </a:lnT>
                    <a:lnB w="9525">
                      <a:solidFill>
                        <a:srgbClr val="D9D9D9"/>
                      </a:solidFill>
                    </a:lnB>
                    <a:solidFill>
                      <a:srgbClr val="FFFFFF"/>
                    </a:solidFill>
                  </a:tcPr>
                </a:tc>
              </a:tr>
              <a:tr h="292608">
                <a:tc>
                  <a:txBody>
                    <a:bodyPr wrap="square"/>
                    <a:lstStyle/>
                    <a:p>
                      <a:pPr algn="ctr" marL="0" indent="0">
                        <a:spcBef>
                          <a:spcPts val="0"/>
                        </a:spcBef>
                        <a:spcAft>
                          <a:spcPts val="0"/>
                        </a:spcAft>
                        <a:buNone/>
                      </a:pPr>
                      <a:r>
                        <a:rPr sz="900" b="0" i="0">
                          <a:solidFill>
                            <a:srgbClr val="414141"/>
                          </a:solidFill>
                          <a:latin typeface="Arial"/>
                        </a:rPr>
                        <a:t>12</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C16</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004CA0"/>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8C8C8C"/>
                          </a:solidFill>
                          <a:latin typeface="Arial"/>
                        </a:rPr>
                        <a: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1" i="0">
                          <a:solidFill>
                            <a:srgbClr val="414141"/>
                          </a:solidFill>
                          <a:latin typeface="Arial"/>
                        </a:rPr>
                        <a:t>0.4192</a:t>
                      </a:r>
                    </a:p>
                  </a:txBody>
                  <a:tcPr marL="54864" marR="54864" marT="18288" marB="18288" anchor="ctr">
                    <a:lnL w="9525">
                      <a:noFill/>
                    </a:lnL>
                    <a:lnR w="9525">
                      <a:noFill/>
                    </a:lnR>
                    <a:lnT w="9525">
                      <a:noFill/>
                    </a:lnT>
                    <a:lnB w="9525">
                      <a:solidFill>
                        <a:srgbClr val="D9D9D9"/>
                      </a:solidFill>
                    </a:lnB>
                    <a:solidFill>
                      <a:srgbClr val="E6EDF6"/>
                    </a:solidFill>
                  </a:tcPr>
                </a:tc>
                <a:tc>
                  <a:txBody>
                    <a:bodyPr wrap="square"/>
                    <a:lstStyle/>
                    <a:p>
                      <a:pPr algn="ctr" marL="0" indent="0">
                        <a:spcBef>
                          <a:spcPts val="0"/>
                        </a:spcBef>
                        <a:spcAft>
                          <a:spcPts val="0"/>
                        </a:spcAft>
                        <a:buNone/>
                      </a:pPr>
                      <a:r>
                        <a:rPr sz="900" b="0" i="0">
                          <a:solidFill>
                            <a:srgbClr val="414141"/>
                          </a:solidFill>
                          <a:latin typeface="Arial"/>
                        </a:rPr>
                        <a:t>0.4038</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0.3500</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0.5143</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ctr" marL="0" indent="0">
                        <a:spcBef>
                          <a:spcPts val="0"/>
                        </a:spcBef>
                        <a:spcAft>
                          <a:spcPts val="0"/>
                        </a:spcAft>
                        <a:buNone/>
                      </a:pPr>
                      <a:r>
                        <a:rPr sz="900" b="0" i="0">
                          <a:solidFill>
                            <a:srgbClr val="414141"/>
                          </a:solidFill>
                          <a:latin typeface="Arial"/>
                        </a:rPr>
                        <a:t>0.3934</a:t>
                      </a:r>
                    </a:p>
                  </a:txBody>
                  <a:tcPr marL="54864" marR="54864" marT="18288" marB="18288" anchor="ctr">
                    <a:lnL w="9525">
                      <a:noFill/>
                    </a:lnL>
                    <a:lnR w="9525">
                      <a:noFill/>
                    </a:lnR>
                    <a:lnT w="9525">
                      <a:noFill/>
                    </a:lnT>
                    <a:lnB w="9525">
                      <a:solidFill>
                        <a:srgbClr val="D9D9D9"/>
                      </a:solidFill>
                    </a:lnB>
                    <a:solidFill>
                      <a:srgbClr val="F2F2F2"/>
                    </a:solidFill>
                  </a:tcPr>
                </a:tc>
              </a:tr>
            </a:tbl>
          </a:graphicData>
        </a:graphic>
      </p:graphicFrame>
      <p:sp>
        <p:nvSpPr>
          <p:cNvPr id="939" name="TextBox 938"/>
          <p:cNvSpPr txBox="1"/>
          <p:nvPr/>
        </p:nvSpPr>
        <p:spPr>
          <a:xfrm>
            <a:off x="685800" y="5669280"/>
            <a:ext cx="7955279" cy="274320"/>
          </a:xfrm>
          <a:prstGeom prst="rect">
            <a:avLst/>
          </a:prstGeom>
          <a:noFill/>
        </p:spPr>
        <p:txBody>
          <a:bodyPr wrap="square" lIns="45720" rIns="45720" tIns="27432" bIns="27432" anchor="t"/>
          <a:lstStyle/>
          <a:p>
            <a:pPr algn="l" marL="0" indent="0">
              <a:spcBef>
                <a:spcPts val="0"/>
              </a:spcBef>
              <a:spcAft>
                <a:spcPts val="300"/>
              </a:spcAft>
              <a:buNone/>
            </a:pPr>
            <a:r>
              <a:rPr sz="850" b="0" i="1">
                <a:solidFill>
                  <a:srgbClr val="8C8C8C"/>
                </a:solidFill>
                <a:latin typeface="Arial"/>
              </a:rPr>
              <a:t>Pooled over the 25 leave-one-subject-out folds (156 clips). EVM: magnification; CNN: convolutional stem; TF: transformer.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HOW OFTEN EACH CLASS IS PREDICTED</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8"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38</a:t>
            </a:fld>
          </a:p>
        </p:txBody>
      </p:sp>
      <p:graphicFrame>
        <p:nvGraphicFramePr>
          <p:cNvPr id="939" name="Chart 938"/>
          <p:cNvGraphicFramePr>
            <a:graphicFrameLocks noGrp="1"/>
          </p:cNvGraphicFramePr>
          <p:nvPr/>
        </p:nvGraphicFramePr>
        <p:xfrm>
          <a:off x="594360" y="1691640"/>
          <a:ext cx="5715000" cy="4297680"/>
        </p:xfrm>
        <a:graphic>
          <a:graphicData uri="http://schemas.openxmlformats.org/drawingml/2006/chart">
            <c:chart xmlns:c="http://schemas.openxmlformats.org/drawingml/2006/chart" r:id="rId3"/>
          </a:graphicData>
        </a:graphic>
      </p:graphicFrame>
      <p:sp>
        <p:nvSpPr>
          <p:cNvPr id="940" name="TextBox 939"/>
          <p:cNvSpPr txBox="1"/>
          <p:nvPr/>
        </p:nvSpPr>
        <p:spPr>
          <a:xfrm>
            <a:off x="6446520" y="1783080"/>
            <a:ext cx="2194560" cy="4114800"/>
          </a:xfrm>
          <a:prstGeom prst="rect">
            <a:avLst/>
          </a:prstGeom>
          <a:noFill/>
        </p:spPr>
        <p:txBody>
          <a:bodyPr wrap="square" lIns="45720" rIns="45720" tIns="27432" bIns="27432" anchor="t"/>
          <a:lstStyle/>
          <a:p>
            <a:pPr algn="l" marL="155448" indent="-155448">
              <a:spcBef>
                <a:spcPts val="0"/>
              </a:spcBef>
              <a:spcAft>
                <a:spcPts val="600"/>
              </a:spcAft>
              <a:buClr>
                <a:srgbClr val="A8CC2F"/>
              </a:buClr>
              <a:buFont typeface="Arial"/>
              <a:buChar char="•"/>
            </a:pPr>
            <a:r>
              <a:rPr sz="1050" b="0" i="0">
                <a:solidFill>
                  <a:srgbClr val="414141"/>
                </a:solidFill>
                <a:latin typeface="Arial"/>
              </a:rPr>
              <a:t>First group: true class sizes (99, 32, 25)</a:t>
            </a:r>
          </a:p>
          <a:p>
            <a:pPr algn="l" marL="155448" indent="-155448">
              <a:spcBef>
                <a:spcPts val="0"/>
              </a:spcBef>
              <a:spcAft>
                <a:spcPts val="600"/>
              </a:spcAft>
              <a:buClr>
                <a:srgbClr val="A8CC2F"/>
              </a:buClr>
              <a:buFont typeface="Arial"/>
              <a:buChar char="•"/>
            </a:pPr>
            <a:r>
              <a:rPr sz="1050" b="0" i="0">
                <a:solidFill>
                  <a:srgbClr val="414141"/>
                </a:solidFill>
                <a:latin typeface="Arial"/>
              </a:rPr>
              <a:t>Without the transformer, Surprise is predicted 40 to 97 times and Positive 38 to 59 times</a:t>
            </a:r>
          </a:p>
          <a:p>
            <a:pPr algn="l" marL="155448" indent="-155448">
              <a:spcBef>
                <a:spcPts val="0"/>
              </a:spcBef>
              <a:spcAft>
                <a:spcPts val="600"/>
              </a:spcAft>
              <a:buClr>
                <a:srgbClr val="A8CC2F"/>
              </a:buClr>
              <a:buFont typeface="Arial"/>
              <a:buChar char="•"/>
            </a:pPr>
            <a:r>
              <a:rPr sz="1050" b="0" i="0">
                <a:solidFill>
                  <a:srgbClr val="414141"/>
                </a:solidFill>
                <a:latin typeface="Arial"/>
              </a:rPr>
              <a:t>With the transformer, predicted counts lie much closer to the true counts</a:t>
            </a:r>
          </a:p>
          <a:p>
            <a:pPr algn="l" marL="155448" indent="-155448">
              <a:spcBef>
                <a:spcPts val="0"/>
              </a:spcBef>
              <a:spcAft>
                <a:spcPts val="600"/>
              </a:spcAft>
              <a:buClr>
                <a:srgbClr val="A8CC2F"/>
              </a:buClr>
              <a:buFont typeface="Arial"/>
              <a:buChar char="•"/>
            </a:pPr>
            <a:r>
              <a:rPr sz="1050" b="0" i="0">
                <a:solidFill>
                  <a:srgbClr val="414141"/>
                </a:solidFill>
                <a:latin typeface="Arial"/>
              </a:rPr>
              <a:t>With stem and transformer, Negative is predicted 82 to 113 times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TWELVE DECLARED DIVERGENCES FROM THE REVIEWED LITERATURE</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39"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39</a:t>
            </a:fld>
          </a:p>
        </p:txBody>
      </p:sp>
      <p:graphicFrame>
        <p:nvGraphicFramePr>
          <p:cNvPr id="940" name="Table 939"/>
          <p:cNvGraphicFramePr>
            <a:graphicFrameLocks noGrp="1"/>
          </p:cNvGraphicFramePr>
          <p:nvPr/>
        </p:nvGraphicFramePr>
        <p:xfrm>
          <a:off x="685800" y="1783080"/>
          <a:ext cx="7955280" cy="3877056"/>
        </p:xfrm>
        <a:graphic>
          <a:graphicData uri="http://schemas.openxmlformats.org/drawingml/2006/table">
            <a:tbl>
              <a:tblPr firstRow="0" bandRow="0">
                <a:tableStyleId>{2D5ABB26-0587-4C30-8999-92F81FD0307C}</a:tableStyleId>
              </a:tblPr>
              <a:tblGrid>
                <a:gridCol w="320040"/>
                <a:gridCol w="4206240"/>
                <a:gridCol w="3429000"/>
              </a:tblGrid>
              <a:tr h="256032">
                <a:tc>
                  <a:txBody>
                    <a:bodyPr wrap="square"/>
                    <a:lstStyle/>
                    <a:p>
                      <a:pPr algn="ctr" marL="0" indent="0">
                        <a:spcBef>
                          <a:spcPts val="0"/>
                        </a:spcBef>
                        <a:spcAft>
                          <a:spcPts val="0"/>
                        </a:spcAft>
                        <a:buNone/>
                      </a:pPr>
                      <a:r>
                        <a:rPr sz="850" b="1" i="0">
                          <a:solidFill>
                            <a:srgbClr val="FFFFFF"/>
                          </a:solidFill>
                          <a:latin typeface="Arial"/>
                        </a:rPr>
                        <a:t>#</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850" b="1" i="0">
                          <a:solidFill>
                            <a:srgbClr val="FFFFFF"/>
                          </a:solidFill>
                          <a:latin typeface="Arial"/>
                        </a:rPr>
                        <a:t>Divergence</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850" b="1" i="0">
                          <a:solidFill>
                            <a:srgbClr val="FFFFFF"/>
                          </a:solidFill>
                          <a:latin typeface="Arial"/>
                        </a:rPr>
                        <a:t>Consequence</a:t>
                      </a:r>
                    </a:p>
                  </a:txBody>
                  <a:tcPr marL="54864" marR="54864" marT="18288" marB="18288" anchor="ctr">
                    <a:lnL w="9525">
                      <a:noFill/>
                    </a:lnL>
                    <a:lnR w="9525">
                      <a:noFill/>
                    </a:lnR>
                    <a:lnT w="9525">
                      <a:noFill/>
                    </a:lnT>
                    <a:lnB w="9525">
                      <a:solidFill>
                        <a:srgbClr val="D9D9D9"/>
                      </a:solidFill>
                    </a:lnB>
                    <a:solidFill>
                      <a:srgbClr val="004CA0"/>
                    </a:solidFill>
                  </a:tcPr>
                </a:tc>
              </a:tr>
              <a:tr h="301752">
                <a:tc>
                  <a:txBody>
                    <a:bodyPr wrap="square"/>
                    <a:lstStyle/>
                    <a:p>
                      <a:pPr algn="ctr" marL="0" indent="0">
                        <a:spcBef>
                          <a:spcPts val="0"/>
                        </a:spcBef>
                        <a:spcAft>
                          <a:spcPts val="0"/>
                        </a:spcAft>
                        <a:buNone/>
                      </a:pPr>
                      <a:r>
                        <a:rPr sz="850" b="1" i="0">
                          <a:solidFill>
                            <a:srgbClr val="004CA0"/>
                          </a:solidFill>
                          <a:latin typeface="Arial"/>
                        </a:rPr>
                        <a:t>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Working set of 156 clips (sadness and fear in Negative); MEGC subset has 145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Comparison with challenge results is not like-for-like</a:t>
                      </a:r>
                    </a:p>
                  </a:txBody>
                  <a:tcPr marL="54864" marR="54864" marT="18288" marB="18288" anchor="ctr">
                    <a:lnL w="9525">
                      <a:noFill/>
                    </a:lnL>
                    <a:lnR w="9525">
                      <a:noFill/>
                    </a:lnR>
                    <a:lnT w="9525">
                      <a:noFill/>
                    </a:lnT>
                    <a:lnB w="9525">
                      <a:solidFill>
                        <a:srgbClr val="D9D9D9"/>
                      </a:solidFill>
                    </a:lnB>
                    <a:solidFill>
                      <a:srgbClr val="FFFFFF"/>
                    </a:solidFill>
                  </a:tcPr>
                </a:tc>
              </a:tr>
              <a:tr h="301752">
                <a:tc>
                  <a:txBody>
                    <a:bodyPr wrap="square"/>
                    <a:lstStyle/>
                    <a:p>
                      <a:pPr algn="ctr" marL="0" indent="0">
                        <a:spcBef>
                          <a:spcPts val="0"/>
                        </a:spcBef>
                        <a:spcAft>
                          <a:spcPts val="0"/>
                        </a:spcAft>
                        <a:buNone/>
                      </a:pPr>
                      <a:r>
                        <a:rPr sz="850" b="1" i="0">
                          <a:solidFill>
                            <a:srgbClr val="004CA0"/>
                          </a:solidFill>
                          <a:latin typeface="Arial"/>
                        </a:rPr>
                        <a:t>2</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Original frames used, not the registered release</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No landmark detection or alignment precedes the network</a:t>
                      </a:r>
                    </a:p>
                  </a:txBody>
                  <a:tcPr marL="54864" marR="54864" marT="18288" marB="18288" anchor="ctr">
                    <a:lnL w="9525">
                      <a:noFill/>
                    </a:lnL>
                    <a:lnR w="9525">
                      <a:noFill/>
                    </a:lnR>
                    <a:lnT w="9525">
                      <a:noFill/>
                    </a:lnT>
                    <a:lnB w="9525">
                      <a:solidFill>
                        <a:srgbClr val="D9D9D9"/>
                      </a:solidFill>
                    </a:lnB>
                    <a:solidFill>
                      <a:srgbClr val="F2F2F2"/>
                    </a:solidFill>
                  </a:tcPr>
                </a:tc>
              </a:tr>
              <a:tr h="301752">
                <a:tc>
                  <a:txBody>
                    <a:bodyPr wrap="square"/>
                    <a:lstStyle/>
                    <a:p>
                      <a:pPr algn="ctr" marL="0" indent="0">
                        <a:spcBef>
                          <a:spcPts val="0"/>
                        </a:spcBef>
                        <a:spcAft>
                          <a:spcPts val="0"/>
                        </a:spcAft>
                        <a:buNone/>
                      </a:pPr>
                      <a:r>
                        <a:rPr sz="850" b="1" i="0">
                          <a:solidFill>
                            <a:srgbClr val="004CA0"/>
                          </a:solidFill>
                          <a:latin typeface="Arial"/>
                        </a:rPr>
                        <a:t>3</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Magnification band 5–25 Hz with a Fourier mask, not 15–25 Hz with a Butterworth filter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Admits the low frequencies that Bai et al. rejected</a:t>
                      </a:r>
                    </a:p>
                  </a:txBody>
                  <a:tcPr marL="54864" marR="54864" marT="18288" marB="18288" anchor="ctr">
                    <a:lnL w="9525">
                      <a:noFill/>
                    </a:lnL>
                    <a:lnR w="9525">
                      <a:noFill/>
                    </a:lnR>
                    <a:lnT w="9525">
                      <a:noFill/>
                    </a:lnT>
                    <a:lnB w="9525">
                      <a:solidFill>
                        <a:srgbClr val="D9D9D9"/>
                      </a:solidFill>
                    </a:lnB>
                    <a:solidFill>
                      <a:srgbClr val="FFFFFF"/>
                    </a:solidFill>
                  </a:tcPr>
                </a:tc>
              </a:tr>
              <a:tr h="301752">
                <a:tc>
                  <a:txBody>
                    <a:bodyPr wrap="square"/>
                    <a:lstStyle/>
                    <a:p>
                      <a:pPr algn="ctr" marL="0" indent="0">
                        <a:spcBef>
                          <a:spcPts val="0"/>
                        </a:spcBef>
                        <a:spcAft>
                          <a:spcPts val="0"/>
                        </a:spcAft>
                        <a:buNone/>
                      </a:pPr>
                      <a:r>
                        <a:rPr sz="850" b="1" i="0">
                          <a:solidFill>
                            <a:srgbClr val="004CA0"/>
                          </a:solidFill>
                          <a:latin typeface="Arial"/>
                        </a:rPr>
                        <a:t>4</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Strain magnitude counts shear once, not twice</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Shear weighted lower by √2; untested</a:t>
                      </a:r>
                    </a:p>
                  </a:txBody>
                  <a:tcPr marL="54864" marR="54864" marT="18288" marB="18288" anchor="ctr">
                    <a:lnL w="9525">
                      <a:noFill/>
                    </a:lnL>
                    <a:lnR w="9525">
                      <a:noFill/>
                    </a:lnR>
                    <a:lnT w="9525">
                      <a:noFill/>
                    </a:lnT>
                    <a:lnB w="9525">
                      <a:solidFill>
                        <a:srgbClr val="D9D9D9"/>
                      </a:solidFill>
                    </a:lnB>
                    <a:solidFill>
                      <a:srgbClr val="F2F2F2"/>
                    </a:solidFill>
                  </a:tcPr>
                </a:tc>
              </a:tr>
              <a:tr h="301752">
                <a:tc>
                  <a:txBody>
                    <a:bodyPr wrap="square"/>
                    <a:lstStyle/>
                    <a:p>
                      <a:pPr algn="ctr" marL="0" indent="0">
                        <a:spcBef>
                          <a:spcPts val="0"/>
                        </a:spcBef>
                        <a:spcAft>
                          <a:spcPts val="0"/>
                        </a:spcAft>
                        <a:buNone/>
                      </a:pPr>
                      <a:r>
                        <a:rPr sz="850" b="1" i="0">
                          <a:solidFill>
                            <a:srgbClr val="004CA0"/>
                          </a:solidFill>
                          <a:latin typeface="Arial"/>
                        </a:rPr>
                        <a:t>5</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No dedicated strain filter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Differentiation can amplify noise in the flow estimate</a:t>
                      </a:r>
                    </a:p>
                  </a:txBody>
                  <a:tcPr marL="54864" marR="54864" marT="18288" marB="18288" anchor="ctr">
                    <a:lnL w="9525">
                      <a:noFill/>
                    </a:lnL>
                    <a:lnR w="9525">
                      <a:noFill/>
                    </a:lnR>
                    <a:lnT w="9525">
                      <a:noFill/>
                    </a:lnT>
                    <a:lnB w="9525">
                      <a:solidFill>
                        <a:srgbClr val="D9D9D9"/>
                      </a:solidFill>
                    </a:lnB>
                    <a:solidFill>
                      <a:srgbClr val="FFFFFF"/>
                    </a:solidFill>
                  </a:tcPr>
                </a:tc>
              </a:tr>
              <a:tr h="301752">
                <a:tc>
                  <a:txBody>
                    <a:bodyPr wrap="square"/>
                    <a:lstStyle/>
                    <a:p>
                      <a:pPr algn="ctr" marL="0" indent="0">
                        <a:spcBef>
                          <a:spcPts val="0"/>
                        </a:spcBef>
                        <a:spcAft>
                          <a:spcPts val="0"/>
                        </a:spcAft>
                        <a:buNone/>
                      </a:pPr>
                      <a:r>
                        <a:rPr sz="850" b="1" i="0">
                          <a:solidFill>
                            <a:srgbClr val="004CA0"/>
                          </a:solidFill>
                          <a:latin typeface="Arial"/>
                        </a:rPr>
                        <a:t>6</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Uniform index sampling, not TIM</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Avoids fabricating motion; cannot lengthen short clips</a:t>
                      </a:r>
                    </a:p>
                  </a:txBody>
                  <a:tcPr marL="54864" marR="54864" marT="18288" marB="18288" anchor="ctr">
                    <a:lnL w="9525">
                      <a:noFill/>
                    </a:lnL>
                    <a:lnR w="9525">
                      <a:noFill/>
                    </a:lnR>
                    <a:lnT w="9525">
                      <a:noFill/>
                    </a:lnT>
                    <a:lnB w="9525">
                      <a:solidFill>
                        <a:srgbClr val="D9D9D9"/>
                      </a:solidFill>
                    </a:lnB>
                    <a:solidFill>
                      <a:srgbClr val="F2F2F2"/>
                    </a:solidFill>
                  </a:tcPr>
                </a:tc>
              </a:tr>
              <a:tr h="301752">
                <a:tc>
                  <a:txBody>
                    <a:bodyPr wrap="square"/>
                    <a:lstStyle/>
                    <a:p>
                      <a:pPr algn="ctr" marL="0" indent="0">
                        <a:spcBef>
                          <a:spcPts val="0"/>
                        </a:spcBef>
                        <a:spcAft>
                          <a:spcPts val="0"/>
                        </a:spcAft>
                        <a:buNone/>
                      </a:pPr>
                      <a:r>
                        <a:rPr sz="850" b="1" i="0">
                          <a:solidFill>
                            <a:srgbClr val="004CA0"/>
                          </a:solidFill>
                          <a:latin typeface="Arial"/>
                        </a:rPr>
                        <a:t>7</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Magnification applied after subsampling</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Realised pass-band is clip-dependent and lower than intended</a:t>
                      </a:r>
                    </a:p>
                  </a:txBody>
                  <a:tcPr marL="54864" marR="54864" marT="18288" marB="18288" anchor="ctr">
                    <a:lnL w="9525">
                      <a:noFill/>
                    </a:lnL>
                    <a:lnR w="9525">
                      <a:noFill/>
                    </a:lnR>
                    <a:lnT w="9525">
                      <a:noFill/>
                    </a:lnT>
                    <a:lnB w="9525">
                      <a:solidFill>
                        <a:srgbClr val="D9D9D9"/>
                      </a:solidFill>
                    </a:lnB>
                    <a:solidFill>
                      <a:srgbClr val="FFFFFF"/>
                    </a:solidFill>
                  </a:tcPr>
                </a:tc>
              </a:tr>
              <a:tr h="301752">
                <a:tc>
                  <a:txBody>
                    <a:bodyPr wrap="square"/>
                    <a:lstStyle/>
                    <a:p>
                      <a:pPr algn="ctr" marL="0" indent="0">
                        <a:spcBef>
                          <a:spcPts val="0"/>
                        </a:spcBef>
                        <a:spcAft>
                          <a:spcPts val="0"/>
                        </a:spcAft>
                        <a:buNone/>
                      </a:pPr>
                      <a:r>
                        <a:rPr sz="850" b="1" i="0">
                          <a:solidFill>
                            <a:srgbClr val="004CA0"/>
                          </a:solidFill>
                          <a:latin typeface="Arial"/>
                        </a:rPr>
                        <a:t>8</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Stem kernels are spatial only</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Tests a learned spatial stem, not spatio-temporal convolution</a:t>
                      </a:r>
                    </a:p>
                  </a:txBody>
                  <a:tcPr marL="54864" marR="54864" marT="18288" marB="18288" anchor="ctr">
                    <a:lnL w="9525">
                      <a:noFill/>
                    </a:lnL>
                    <a:lnR w="9525">
                      <a:noFill/>
                    </a:lnR>
                    <a:lnT w="9525">
                      <a:noFill/>
                    </a:lnT>
                    <a:lnB w="9525">
                      <a:solidFill>
                        <a:srgbClr val="D9D9D9"/>
                      </a:solidFill>
                    </a:lnB>
                    <a:solidFill>
                      <a:srgbClr val="F2F2F2"/>
                    </a:solidFill>
                  </a:tcPr>
                </a:tc>
              </a:tr>
              <a:tr h="301752">
                <a:tc>
                  <a:txBody>
                    <a:bodyPr wrap="square"/>
                    <a:lstStyle/>
                    <a:p>
                      <a:pPr algn="ctr" marL="0" indent="0">
                        <a:spcBef>
                          <a:spcPts val="0"/>
                        </a:spcBef>
                        <a:spcAft>
                          <a:spcPts val="0"/>
                        </a:spcAft>
                        <a:buNone/>
                      </a:pPr>
                      <a:r>
                        <a:rPr sz="850" b="1" i="0">
                          <a:solidFill>
                            <a:srgbClr val="004CA0"/>
                          </a:solidFill>
                          <a:latin typeface="Arial"/>
                        </a:rPr>
                        <a:t>9</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Stem input is 224 × 224, above the 100 × 100 of Xia et al.</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Stem effect may reflect resolution as much as architecture</a:t>
                      </a:r>
                    </a:p>
                  </a:txBody>
                  <a:tcPr marL="54864" marR="54864" marT="18288" marB="18288" anchor="ctr">
                    <a:lnL w="9525">
                      <a:noFill/>
                    </a:lnL>
                    <a:lnR w="9525">
                      <a:noFill/>
                    </a:lnR>
                    <a:lnT w="9525">
                      <a:noFill/>
                    </a:lnT>
                    <a:lnB w="9525">
                      <a:solidFill>
                        <a:srgbClr val="D9D9D9"/>
                      </a:solidFill>
                    </a:lnB>
                    <a:solidFill>
                      <a:srgbClr val="FFFFFF"/>
                    </a:solidFill>
                  </a:tcPr>
                </a:tc>
              </a:tr>
              <a:tr h="301752">
                <a:tc>
                  <a:txBody>
                    <a:bodyPr wrap="square"/>
                    <a:lstStyle/>
                    <a:p>
                      <a:pPr algn="ctr" marL="0" indent="0">
                        <a:spcBef>
                          <a:spcPts val="0"/>
                        </a:spcBef>
                        <a:spcAft>
                          <a:spcPts val="0"/>
                        </a:spcAft>
                        <a:buNone/>
                      </a:pPr>
                      <a:r>
                        <a:rPr sz="850" b="1" i="0">
                          <a:solidFill>
                            <a:srgbClr val="004CA0"/>
                          </a:solidFill>
                          <a:latin typeface="Arial"/>
                        </a:rPr>
                        <a:t>10</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SimAM statistics over the whole clip; λ not re-tuned</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Activations judged against the clip, not the frame</a:t>
                      </a:r>
                    </a:p>
                  </a:txBody>
                  <a:tcPr marL="54864" marR="54864" marT="18288" marB="18288" anchor="ctr">
                    <a:lnL w="9525">
                      <a:noFill/>
                    </a:lnL>
                    <a:lnR w="9525">
                      <a:noFill/>
                    </a:lnR>
                    <a:lnT w="9525">
                      <a:noFill/>
                    </a:lnT>
                    <a:lnB w="9525">
                      <a:solidFill>
                        <a:srgbClr val="D9D9D9"/>
                      </a:solidFill>
                    </a:lnB>
                    <a:solidFill>
                      <a:srgbClr val="F2F2F2"/>
                    </a:solidFill>
                  </a:tcPr>
                </a:tc>
              </a:tr>
              <a:tr h="301752">
                <a:tc>
                  <a:txBody>
                    <a:bodyPr wrap="square"/>
                    <a:lstStyle/>
                    <a:p>
                      <a:pPr algn="ctr" marL="0" indent="0">
                        <a:spcBef>
                          <a:spcPts val="0"/>
                        </a:spcBef>
                        <a:spcAft>
                          <a:spcPts val="0"/>
                        </a:spcAft>
                        <a:buNone/>
                      </a:pPr>
                      <a:r>
                        <a:rPr sz="850" b="1" i="0">
                          <a:solidFill>
                            <a:srgbClr val="004CA0"/>
                          </a:solidFill>
                          <a:latin typeface="Arial"/>
                        </a:rPr>
                        <a:t>11</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Six differences from published SLSTT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850" b="0" i="0">
                          <a:solidFill>
                            <a:srgbClr val="414141"/>
                          </a:solidFill>
                          <a:latin typeface="Arial"/>
                        </a:rPr>
                        <a:t>The temporal encoder is not a reproduction of SLSTT</a:t>
                      </a:r>
                    </a:p>
                  </a:txBody>
                  <a:tcPr marL="54864" marR="54864" marT="18288" marB="18288" anchor="ctr">
                    <a:lnL w="9525">
                      <a:noFill/>
                    </a:lnL>
                    <a:lnR w="9525">
                      <a:noFill/>
                    </a:lnR>
                    <a:lnT w="9525">
                      <a:noFill/>
                    </a:lnT>
                    <a:lnB w="9525">
                      <a:solidFill>
                        <a:srgbClr val="D9D9D9"/>
                      </a:solidFill>
                    </a:lnB>
                    <a:solidFill>
                      <a:srgbClr val="FFFFFF"/>
                    </a:solidFill>
                  </a:tcPr>
                </a:tc>
              </a:tr>
              <a:tr h="301752">
                <a:tc>
                  <a:txBody>
                    <a:bodyPr wrap="square"/>
                    <a:lstStyle/>
                    <a:p>
                      <a:pPr algn="ctr" marL="0" indent="0">
                        <a:spcBef>
                          <a:spcPts val="0"/>
                        </a:spcBef>
                        <a:spcAft>
                          <a:spcPts val="0"/>
                        </a:spcAft>
                        <a:buNone/>
                      </a:pPr>
                      <a:r>
                        <a:rPr sz="850" b="1" i="0">
                          <a:solidFill>
                            <a:srgbClr val="004CA0"/>
                          </a:solidFill>
                          <a:latin typeface="Arial"/>
                        </a:rPr>
                        <a:t>12</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Label smoothing of 0.05</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850" b="0" i="0">
                          <a:solidFill>
                            <a:srgbClr val="414141"/>
                          </a:solidFill>
                          <a:latin typeface="Arial"/>
                        </a:rPr>
                        <a:t>Neither supported nor contradicted by the reviewed literature</a:t>
                      </a:r>
                    </a:p>
                  </a:txBody>
                  <a:tcPr marL="54864" marR="54864" marT="18288" marB="18288" anchor="ctr">
                    <a:lnL w="9525">
                      <a:noFill/>
                    </a:lnL>
                    <a:lnR w="9525">
                      <a:noFill/>
                    </a:lnR>
                    <a:lnT w="9525">
                      <a:noFill/>
                    </a:lnT>
                    <a:lnB w="9525">
                      <a:solidFill>
                        <a:srgbClr val="D9D9D9"/>
                      </a:solidFill>
                    </a:lnB>
                    <a:solidFill>
                      <a:srgbClr val="F2F2F2"/>
                    </a:solidFill>
                  </a:tcPr>
                </a:tc>
              </a:tr>
            </a:tbl>
          </a:graphicData>
        </a:graphic>
      </p:graphicFrame>
      <p:sp>
        <p:nvSpPr>
          <p:cNvPr id="941" name="TextBox 940"/>
          <p:cNvSpPr txBox="1"/>
          <p:nvPr/>
        </p:nvSpPr>
        <p:spPr>
          <a:xfrm>
            <a:off x="685800" y="5806440"/>
            <a:ext cx="7955279" cy="274320"/>
          </a:xfrm>
          <a:prstGeom prst="rect">
            <a:avLst/>
          </a:prstGeom>
          <a:noFill/>
        </p:spPr>
        <p:txBody>
          <a:bodyPr wrap="square" lIns="45720" rIns="45720" tIns="27432" bIns="27432" anchor="t"/>
          <a:lstStyle/>
          <a:p>
            <a:pPr algn="l" marL="0" indent="0">
              <a:spcBef>
                <a:spcPts val="0"/>
              </a:spcBef>
              <a:spcAft>
                <a:spcPts val="300"/>
              </a:spcAft>
              <a:buNone/>
            </a:pPr>
            <a:r>
              <a:rPr sz="850" b="0" i="1">
                <a:solidFill>
                  <a:srgbClr val="8C8C8C"/>
                </a:solidFill>
                <a:latin typeface="Arial"/>
              </a:rPr>
              <a:t>None invalidates the ablation, because every configuration shares them. They constrain the wording of the conclusions.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marL="0" indent="0">
              <a:spcBef>
                <a:spcPts val="0"/>
              </a:spcBef>
              <a:spcAft>
                <a:spcPts val="0"/>
              </a:spcAft>
              <a:buNone/>
            </a:pPr>
            <a:r>
              <a:rPr sz="1800" b="1" i="0">
                <a:solidFill>
                  <a:srgbClr val="A8CC2F"/>
                </a:solidFill>
                <a:latin typeface="Arial"/>
              </a:rPr>
              <a:t>RESEARCH GAP AND LIMITATION FOR EACH COMPONENT</a:t>
            </a:r>
          </a:p>
        </p:txBody>
      </p:sp>
      <p:sp>
        <p:nvSpPr>
          <p:cNvPr id="3" name="Footer"/>
          <p:cNvSpPr txBox="1"/>
          <p:nvPr/>
        </p:nvSpPr>
        <p:spPr>
          <a:xfrm>
            <a:off x="457200" y="6248095"/>
            <a:ext cx="5184648" cy="365760"/>
          </a:xfrm>
          <a:prstGeom prst="rect">
            <a:avLst/>
          </a:prstGeom>
          <a:noFill/>
        </p:spPr>
        <p:txBody>
          <a:bodyPr wrap="square" lIns="89611" rIns="89611" tIns="27432" bIns="27432" anchor="t"/>
          <a:lstStyle/>
          <a:p>
            <a:pPr algn="l" marL="0" indent="0">
              <a:spcBef>
                <a:spcPts val="0"/>
              </a:spcBef>
              <a:spcAft>
                <a:spcPts val="0"/>
              </a:spcAft>
              <a:buNone/>
            </a:pPr>
            <a:r>
              <a:rPr sz="1000" b="0" i="0">
                <a:solidFill>
                  <a:srgbClr val="A8CC2F"/>
                </a:solidFill>
                <a:latin typeface="Arial"/>
              </a:rPr>
              <a:t>05 · BACKUP SLIDES</a:t>
            </a:r>
          </a:p>
        </p:txBody>
      </p:sp>
      <p:sp>
        <p:nvSpPr>
          <p:cNvPr id="940" name="Slide Number"/>
          <p:cNvSpPr>
            <a:spLocks noGrp="1"/>
          </p:cNvSpPr>
          <p:nvPr>
            <p:ph type="sldNum" idx="1"/>
          </p:nvPr>
        </p:nvSpPr>
        <p:spPr>
          <a:xfrm>
            <a:off x="6781680" y="6248160"/>
            <a:ext cx="1905120" cy="457200"/>
          </a:xfrm>
        </p:spPr>
        <p:txBody>
          <a:bodyPr/>
          <a:lstStyle/>
          <a:p>
            <a:pPr algn="r"/>
            <a:fld id="{B6F15528-21DE-4FAA-801E-634DDDAF4B2B}" type="slidenum">
              <a:rPr lang="en-GB" sz="1000">
                <a:solidFill>
                  <a:srgbClr val="A8CC2F"/>
                </a:solidFill>
                <a:latin typeface="Arial"/>
              </a:rPr>
              <a:t>40</a:t>
            </a:fld>
          </a:p>
        </p:txBody>
      </p:sp>
      <p:graphicFrame>
        <p:nvGraphicFramePr>
          <p:cNvPr id="941" name="Table 940"/>
          <p:cNvGraphicFramePr>
            <a:graphicFrameLocks noGrp="1"/>
          </p:cNvGraphicFramePr>
          <p:nvPr/>
        </p:nvGraphicFramePr>
        <p:xfrm>
          <a:off x="685800" y="1783080"/>
          <a:ext cx="7955280" cy="3346704"/>
        </p:xfrm>
        <a:graphic>
          <a:graphicData uri="http://schemas.openxmlformats.org/drawingml/2006/table">
            <a:tbl>
              <a:tblPr firstRow="0" bandRow="0">
                <a:tableStyleId>{2D5ABB26-0587-4C30-8999-92F81FD0307C}</a:tableStyleId>
              </a:tblPr>
              <a:tblGrid>
                <a:gridCol w="1463040"/>
                <a:gridCol w="3383280"/>
                <a:gridCol w="3108960"/>
              </a:tblGrid>
              <a:tr h="274320">
                <a:tc>
                  <a:txBody>
                    <a:bodyPr wrap="square"/>
                    <a:lstStyle/>
                    <a:p>
                      <a:pPr algn="l" marL="0" indent="0">
                        <a:spcBef>
                          <a:spcPts val="0"/>
                        </a:spcBef>
                        <a:spcAft>
                          <a:spcPts val="0"/>
                        </a:spcAft>
                        <a:buNone/>
                      </a:pPr>
                      <a:r>
                        <a:rPr sz="900" b="1" i="0">
                          <a:solidFill>
                            <a:srgbClr val="FFFFFF"/>
                          </a:solidFill>
                          <a:latin typeface="Arial"/>
                        </a:rPr>
                        <a:t>Component</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00" b="1" i="0">
                          <a:solidFill>
                            <a:srgbClr val="FFFFFF"/>
                          </a:solidFill>
                          <a:latin typeface="Arial"/>
                        </a:rPr>
                        <a:t>Research gap in the reviewed literature</a:t>
                      </a:r>
                    </a:p>
                  </a:txBody>
                  <a:tcPr marL="54864" marR="54864" marT="18288" marB="18288" anchor="ctr">
                    <a:lnL w="9525">
                      <a:noFill/>
                    </a:lnL>
                    <a:lnR w="9525">
                      <a:noFill/>
                    </a:lnR>
                    <a:lnT w="9525">
                      <a:noFill/>
                    </a:lnT>
                    <a:lnB w="9525">
                      <a:solidFill>
                        <a:srgbClr val="D9D9D9"/>
                      </a:solidFill>
                    </a:lnB>
                    <a:solidFill>
                      <a:srgbClr val="004CA0"/>
                    </a:solidFill>
                  </a:tcPr>
                </a:tc>
                <a:tc>
                  <a:txBody>
                    <a:bodyPr wrap="square"/>
                    <a:lstStyle/>
                    <a:p>
                      <a:pPr algn="l" marL="0" indent="0">
                        <a:spcBef>
                          <a:spcPts val="0"/>
                        </a:spcBef>
                        <a:spcAft>
                          <a:spcPts val="0"/>
                        </a:spcAft>
                        <a:buNone/>
                      </a:pPr>
                      <a:r>
                        <a:rPr sz="900" b="1" i="0">
                          <a:solidFill>
                            <a:srgbClr val="FFFFFF"/>
                          </a:solidFill>
                          <a:latin typeface="Arial"/>
                        </a:rPr>
                        <a:t>Limitation in this thesis</a:t>
                      </a:r>
                    </a:p>
                  </a:txBody>
                  <a:tcPr marL="54864" marR="54864" marT="18288" marB="18288" anchor="ctr">
                    <a:lnL w="9525">
                      <a:noFill/>
                    </a:lnL>
                    <a:lnR w="9525">
                      <a:noFill/>
                    </a:lnR>
                    <a:lnT w="9525">
                      <a:noFill/>
                    </a:lnT>
                    <a:lnB w="9525">
                      <a:solidFill>
                        <a:srgbClr val="D9D9D9"/>
                      </a:solidFill>
                    </a:lnB>
                    <a:solidFill>
                      <a:srgbClr val="004CA0"/>
                    </a:solidFill>
                  </a:tcPr>
                </a:tc>
              </a:tr>
              <a:tr h="438912">
                <a:tc>
                  <a:txBody>
                    <a:bodyPr wrap="square"/>
                    <a:lstStyle/>
                    <a:p>
                      <a:pPr algn="l" marL="0" indent="0">
                        <a:spcBef>
                          <a:spcPts val="0"/>
                        </a:spcBef>
                        <a:spcAft>
                          <a:spcPts val="0"/>
                        </a:spcAft>
                        <a:buNone/>
                      </a:pPr>
                      <a:r>
                        <a:rPr sz="900" b="1" i="0">
                          <a:solidFill>
                            <a:srgbClr val="004CA0"/>
                          </a:solidFill>
                          <a:latin typeface="Arial"/>
                        </a:rPr>
                        <a:t>Magnification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Evaluated only in front of appearance-based descriptors, never with an explicit motion field</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α = 10 not varied; band, filter and ordering depart from the reference; no alignment</a:t>
                      </a:r>
                    </a:p>
                  </a:txBody>
                  <a:tcPr marL="54864" marR="54864" marT="18288" marB="18288" anchor="ctr">
                    <a:lnL w="9525">
                      <a:noFill/>
                    </a:lnL>
                    <a:lnR w="9525">
                      <a:noFill/>
                    </a:lnR>
                    <a:lnT w="9525">
                      <a:noFill/>
                    </a:lnT>
                    <a:lnB w="9525">
                      <a:solidFill>
                        <a:srgbClr val="D9D9D9"/>
                      </a:solidFill>
                    </a:lnB>
                    <a:solidFill>
                      <a:srgbClr val="FFFFFF"/>
                    </a:solidFill>
                  </a:tcPr>
                </a:tc>
              </a:tr>
              <a:tr h="438912">
                <a:tc>
                  <a:txBody>
                    <a:bodyPr wrap="square"/>
                    <a:lstStyle/>
                    <a:p>
                      <a:pPr algn="l" marL="0" indent="0">
                        <a:spcBef>
                          <a:spcPts val="0"/>
                        </a:spcBef>
                        <a:spcAft>
                          <a:spcPts val="0"/>
                        </a:spcAft>
                        <a:buNone/>
                      </a:pPr>
                      <a:r>
                        <a:rPr sz="900" b="1" i="0">
                          <a:solidFill>
                            <a:srgbClr val="004CA0"/>
                          </a:solidFill>
                          <a:latin typeface="Arial"/>
                        </a:rPr>
                        <a:t>Optical flow</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00" b="0" i="0">
                          <a:solidFill>
                            <a:srgbClr val="414141"/>
                          </a:solidFill>
                          <a:latin typeface="Arial"/>
                        </a:rPr>
                        <a:t>Estimator not settled; a single onset-to-apex field against a flow sequence has not been measured</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00" b="0" i="0">
                          <a:solidFill>
                            <a:srgbClr val="414141"/>
                          </a:solidFill>
                          <a:latin typeface="Arial"/>
                        </a:rPr>
                        <a:t>Farnebäck only; consecutive-frame flow; no flow-based alignment</a:t>
                      </a:r>
                    </a:p>
                  </a:txBody>
                  <a:tcPr marL="54864" marR="54864" marT="18288" marB="18288" anchor="ctr">
                    <a:lnL w="9525">
                      <a:noFill/>
                    </a:lnL>
                    <a:lnR w="9525">
                      <a:noFill/>
                    </a:lnR>
                    <a:lnT w="9525">
                      <a:noFill/>
                    </a:lnT>
                    <a:lnB w="9525">
                      <a:solidFill>
                        <a:srgbClr val="D9D9D9"/>
                      </a:solidFill>
                    </a:lnB>
                    <a:solidFill>
                      <a:srgbClr val="F2F2F2"/>
                    </a:solidFill>
                  </a:tcPr>
                </a:tc>
              </a:tr>
              <a:tr h="438912">
                <a:tc>
                  <a:txBody>
                    <a:bodyPr wrap="square"/>
                    <a:lstStyle/>
                    <a:p>
                      <a:pPr algn="l" marL="0" indent="0">
                        <a:spcBef>
                          <a:spcPts val="0"/>
                        </a:spcBef>
                        <a:spcAft>
                          <a:spcPts val="0"/>
                        </a:spcAft>
                        <a:buNone/>
                      </a:pPr>
                      <a:r>
                        <a:rPr sz="900" b="1" i="0">
                          <a:solidFill>
                            <a:srgbClr val="004CA0"/>
                          </a:solidFill>
                          <a:latin typeface="Arial"/>
                        </a:rPr>
                        <a:t>Optical strain</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Evidence from hand-crafted descriptors under a protocol that is not subject-independent</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Shear counted once; no strain filter; present in all twelve configurations</a:t>
                      </a:r>
                    </a:p>
                  </a:txBody>
                  <a:tcPr marL="54864" marR="54864" marT="18288" marB="18288" anchor="ctr">
                    <a:lnL w="9525">
                      <a:noFill/>
                    </a:lnL>
                    <a:lnR w="9525">
                      <a:noFill/>
                    </a:lnR>
                    <a:lnT w="9525">
                      <a:noFill/>
                    </a:lnT>
                    <a:lnB w="9525">
                      <a:solidFill>
                        <a:srgbClr val="D9D9D9"/>
                      </a:solidFill>
                    </a:lnB>
                    <a:solidFill>
                      <a:srgbClr val="FFFFFF"/>
                    </a:solidFill>
                  </a:tcPr>
                </a:tc>
              </a:tr>
              <a:tr h="438912">
                <a:tc>
                  <a:txBody>
                    <a:bodyPr wrap="square"/>
                    <a:lstStyle/>
                    <a:p>
                      <a:pPr algn="l" marL="0" indent="0">
                        <a:spcBef>
                          <a:spcPts val="0"/>
                        </a:spcBef>
                        <a:spcAft>
                          <a:spcPts val="0"/>
                        </a:spcAft>
                        <a:buNone/>
                      </a:pPr>
                      <a:r>
                        <a:rPr sz="900" b="1" i="0">
                          <a:solidFill>
                            <a:srgbClr val="004CA0"/>
                          </a:solidFill>
                          <a:latin typeface="Arial"/>
                        </a:rPr>
                        <a:t>Convolutional stem</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00" b="0" i="0">
                          <a:solidFill>
                            <a:srgbClr val="414141"/>
                          </a:solidFill>
                          <a:latin typeface="Arial"/>
                        </a:rPr>
                        <a:t>No study removes the learned stem; depth and resolution reduce performance on composite data</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00" b="0" i="0">
                          <a:solidFill>
                            <a:srgbClr val="414141"/>
                          </a:solidFill>
                          <a:latin typeface="Arial"/>
                        </a:rPr>
                        <a:t>Spatial kernels only; 224 × 224 input</a:t>
                      </a:r>
                    </a:p>
                  </a:txBody>
                  <a:tcPr marL="54864" marR="54864" marT="18288" marB="18288" anchor="ctr">
                    <a:lnL w="9525">
                      <a:noFill/>
                    </a:lnL>
                    <a:lnR w="9525">
                      <a:noFill/>
                    </a:lnR>
                    <a:lnT w="9525">
                      <a:noFill/>
                    </a:lnT>
                    <a:lnB w="9525">
                      <a:solidFill>
                        <a:srgbClr val="D9D9D9"/>
                      </a:solidFill>
                    </a:lnB>
                    <a:solidFill>
                      <a:srgbClr val="F2F2F2"/>
                    </a:solidFill>
                  </a:tcPr>
                </a:tc>
              </a:tr>
              <a:tr h="438912">
                <a:tc>
                  <a:txBody>
                    <a:bodyPr wrap="square"/>
                    <a:lstStyle/>
                    <a:p>
                      <a:pPr algn="l" marL="0" indent="0">
                        <a:spcBef>
                          <a:spcPts val="0"/>
                        </a:spcBef>
                        <a:spcAft>
                          <a:spcPts val="0"/>
                        </a:spcAft>
                        <a:buNone/>
                      </a:pPr>
                      <a:r>
                        <a:rPr sz="900" b="1" i="0">
                          <a:solidFill>
                            <a:srgbClr val="004CA0"/>
                          </a:solidFill>
                          <a:latin typeface="Arial"/>
                        </a:rPr>
                        <a:t>SimAM</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Evaluated on natural images; per-frame against per-clip statistics untested</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Clip-level statistics; λ not re-tuned; four pairs only</a:t>
                      </a:r>
                    </a:p>
                  </a:txBody>
                  <a:tcPr marL="54864" marR="54864" marT="18288" marB="18288" anchor="ctr">
                    <a:lnL w="9525">
                      <a:noFill/>
                    </a:lnL>
                    <a:lnR w="9525">
                      <a:noFill/>
                    </a:lnR>
                    <a:lnT w="9525">
                      <a:noFill/>
                    </a:lnT>
                    <a:lnB w="9525">
                      <a:solidFill>
                        <a:srgbClr val="D9D9D9"/>
                      </a:solidFill>
                    </a:lnB>
                    <a:solidFill>
                      <a:srgbClr val="FFFFFF"/>
                    </a:solidFill>
                  </a:tcPr>
                </a:tc>
              </a:tr>
              <a:tr h="438912">
                <a:tc>
                  <a:txBody>
                    <a:bodyPr wrap="square"/>
                    <a:lstStyle/>
                    <a:p>
                      <a:pPr algn="l" marL="0" indent="0">
                        <a:spcBef>
                          <a:spcPts val="0"/>
                        </a:spcBef>
                        <a:spcAft>
                          <a:spcPts val="0"/>
                        </a:spcAft>
                        <a:buNone/>
                      </a:pPr>
                      <a:r>
                        <a:rPr sz="900" b="1" i="0">
                          <a:solidFill>
                            <a:srgbClr val="007A33"/>
                          </a:solidFill>
                          <a:latin typeface="Arial"/>
                        </a:rPr>
                        <a:t>Temporal normalisation</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00" b="0" i="0">
                          <a:solidFill>
                            <a:srgbClr val="414141"/>
                          </a:solidFill>
                          <a:latin typeface="Arial"/>
                        </a:rPr>
                        <a:t>Ten frames by convention; studies report different optima; no comparison for motion input</a:t>
                      </a:r>
                    </a:p>
                  </a:txBody>
                  <a:tcPr marL="54864" marR="54864" marT="18288" marB="18288" anchor="ctr">
                    <a:lnL w="9525">
                      <a:noFill/>
                    </a:lnL>
                    <a:lnR w="9525">
                      <a:noFill/>
                    </a:lnR>
                    <a:lnT w="9525">
                      <a:noFill/>
                    </a:lnT>
                    <a:lnB w="9525">
                      <a:solidFill>
                        <a:srgbClr val="D9D9D9"/>
                      </a:solidFill>
                    </a:lnB>
                    <a:solidFill>
                      <a:srgbClr val="F2F2F2"/>
                    </a:solidFill>
                  </a:tcPr>
                </a:tc>
                <a:tc>
                  <a:txBody>
                    <a:bodyPr wrap="square"/>
                    <a:lstStyle/>
                    <a:p>
                      <a:pPr algn="l" marL="0" indent="0">
                        <a:spcBef>
                          <a:spcPts val="0"/>
                        </a:spcBef>
                        <a:spcAft>
                          <a:spcPts val="0"/>
                        </a:spcAft>
                        <a:buNone/>
                      </a:pPr>
                      <a:r>
                        <a:rPr sz="900" b="0" i="0">
                          <a:solidFill>
                            <a:srgbClr val="414141"/>
                          </a:solidFill>
                          <a:latin typeface="Arial"/>
                        </a:rPr>
                        <a:t>Uniform sampling, not TIM; 33 frames not varied</a:t>
                      </a:r>
                    </a:p>
                  </a:txBody>
                  <a:tcPr marL="54864" marR="54864" marT="18288" marB="18288" anchor="ctr">
                    <a:lnL w="9525">
                      <a:noFill/>
                    </a:lnL>
                    <a:lnR w="9525">
                      <a:noFill/>
                    </a:lnR>
                    <a:lnT w="9525">
                      <a:noFill/>
                    </a:lnT>
                    <a:lnB w="9525">
                      <a:solidFill>
                        <a:srgbClr val="D9D9D9"/>
                      </a:solidFill>
                    </a:lnB>
                    <a:solidFill>
                      <a:srgbClr val="F2F2F2"/>
                    </a:solidFill>
                  </a:tcPr>
                </a:tc>
              </a:tr>
              <a:tr h="438912">
                <a:tc>
                  <a:txBody>
                    <a:bodyPr wrap="square"/>
                    <a:lstStyle/>
                    <a:p>
                      <a:pPr algn="l" marL="0" indent="0">
                        <a:spcBef>
                          <a:spcPts val="0"/>
                        </a:spcBef>
                        <a:spcAft>
                          <a:spcPts val="0"/>
                        </a:spcAft>
                        <a:buNone/>
                      </a:pPr>
                      <a:r>
                        <a:rPr sz="900" b="1" i="0">
                          <a:solidFill>
                            <a:srgbClr val="007A33"/>
                          </a:solidFill>
                          <a:latin typeface="Arial"/>
                        </a:rPr>
                        <a:t>Transformer</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Best results combine a pre-trained spatial transformer with an LSTM; from-scratch benefit not isolated</a:t>
                      </a:r>
                    </a:p>
                  </a:txBody>
                  <a:tcPr marL="54864" marR="54864" marT="18288" marB="18288" anchor="ctr">
                    <a:lnL w="9525">
                      <a:noFill/>
                    </a:lnL>
                    <a:lnR w="9525">
                      <a:noFill/>
                    </a:lnR>
                    <a:lnT w="9525">
                      <a:noFill/>
                    </a:lnT>
                    <a:lnB w="9525">
                      <a:solidFill>
                        <a:srgbClr val="D9D9D9"/>
                      </a:solidFill>
                    </a:lnB>
                    <a:solidFill>
                      <a:srgbClr val="FFFFFF"/>
                    </a:solidFill>
                  </a:tcPr>
                </a:tc>
                <a:tc>
                  <a:txBody>
                    <a:bodyPr wrap="square"/>
                    <a:lstStyle/>
                    <a:p>
                      <a:pPr algn="l" marL="0" indent="0">
                        <a:spcBef>
                          <a:spcPts val="0"/>
                        </a:spcBef>
                        <a:spcAft>
                          <a:spcPts val="0"/>
                        </a:spcAft>
                        <a:buNone/>
                      </a:pPr>
                      <a:r>
                        <a:rPr sz="900" b="0" i="0">
                          <a:solidFill>
                            <a:srgbClr val="414141"/>
                          </a:solidFill>
                          <a:latin typeface="Arial"/>
                        </a:rPr>
                        <a:t>Six differences from SLSTT; self-attention not isolated</a:t>
                      </a:r>
                    </a:p>
                  </a:txBody>
                  <a:tcPr marL="54864" marR="54864" marT="18288" marB="18288" anchor="ctr">
                    <a:lnL w="9525">
                      <a:noFill/>
                    </a:lnL>
                    <a:lnR w="9525">
                      <a:noFill/>
                    </a:lnR>
                    <a:lnT w="9525">
                      <a:noFill/>
                    </a:lnT>
                    <a:lnB w="9525">
                      <a:solidFill>
                        <a:srgbClr val="D9D9D9"/>
                      </a:solidFill>
                    </a:lnB>
                    <a:solidFill>
                      <a:srgbClr val="FFFFFF"/>
                    </a:solidFill>
                  </a:tcPr>
                </a:tc>
              </a:tr>
            </a:tbl>
          </a:graphicData>
        </a:graphic>
      </p:graphicFrame>
      <p:sp>
        <p:nvSpPr>
          <p:cNvPr id="942" name="TextBox 941"/>
          <p:cNvSpPr txBox="1"/>
          <p:nvPr/>
        </p:nvSpPr>
        <p:spPr>
          <a:xfrm>
            <a:off x="685800" y="5257800"/>
            <a:ext cx="7955279" cy="594360"/>
          </a:xfrm>
          <a:prstGeom prst="rect">
            <a:avLst/>
          </a:prstGeom>
          <a:noFill/>
        </p:spPr>
        <p:txBody>
          <a:bodyPr wrap="square" lIns="45720" rIns="45720" tIns="27432" bIns="27432" anchor="t"/>
          <a:lstStyle/>
          <a:p>
            <a:pPr algn="l" marL="0" indent="0">
              <a:spcBef>
                <a:spcPts val="0"/>
              </a:spcBef>
              <a:spcAft>
                <a:spcPts val="300"/>
              </a:spcAft>
              <a:buNone/>
            </a:pPr>
            <a:r>
              <a:rPr sz="900" b="0" i="1">
                <a:solidFill>
                  <a:srgbClr val="8C8C8C"/>
                </a:solidFill>
                <a:latin typeface="Arial"/>
              </a:rPr>
              <a:t>Blue: motion modelling. Green: temporal modelling. Training: the imbalance treatment, γ and label smoothing are identical in all configurations, so their effects are not measured.</a:t>
            </a:r>
          </a:p>
        </p:txBody>
      </p:sp>
    </p:spTree>
  </p:cSld>
  <p:clrMapOvr>
    <a:masterClrMapping/>
  </p:clrMapOvr>
</p:sld>
</file>

<file path=ppt/theme/theme1.xml><?xml version="1.0" encoding="utf-8"?>
<a:theme xmlns:a="http://schemas.openxmlformats.org/drawingml/2006/main" xmlns:r="http://schemas.openxmlformats.org/officeDocument/2006/relationships" name="Office">
  <a:themeElements>
    <a:clrScheme name="BTU">
      <a:dk1>
        <a:srgbClr val="000000"/>
      </a:dk1>
      <a:lt1>
        <a:srgbClr val="FFFFFF"/>
      </a:lt1>
      <a:dk2>
        <a:srgbClr val="414141"/>
      </a:dk2>
      <a:lt2>
        <a:srgbClr val="F2F2F2"/>
      </a:lt2>
      <a:accent1>
        <a:srgbClr val="004CA0"/>
      </a:accent1>
      <a:accent2>
        <a:srgbClr val="A8CC2F"/>
      </a:accent2>
      <a:accent3>
        <a:srgbClr val="00A0C8"/>
      </a:accent3>
      <a:accent4>
        <a:srgbClr val="D2007E"/>
      </a:accent4>
      <a:accent5>
        <a:srgbClr val="00A033"/>
      </a:accent5>
      <a:accent6>
        <a:srgbClr val="8C8C8C"/>
      </a:accent6>
      <a:hlink>
        <a:srgbClr val="004CA0"/>
      </a:hlink>
      <a:folHlink>
        <a:srgbClr val="D2007E"/>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LibreOffice/26.8.1.1$MacOSX_AARCH64 LibreOffice_project/bf6ef2662401c7d6dce671ab4deb26ee0af3a7c1</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2010-05-17T12:02:14Z</dcterms:created>
  <dc:creator>s k</dc:creator>
  <dc:description/>
  <dc:language>en-US</dc:language>
  <cp:lastModifiedBy>Haase, Nina-Franziska</cp:lastModifiedBy>
  <cp:lastPrinted>2009-05-24T14:49:37Z</cp:lastPrinted>
  <dcterms:modified xsi:type="dcterms:W3CDTF">2016-10-14T07:39:43Z</dcterms:modified>
  <cp:revision>88</cp:revision>
  <dc:subject/>
  <dc:title>Improving Micro-Expression Recognition through Temporal and Motion Modeling</dc:title>
</cp:coreProperties>
</file>