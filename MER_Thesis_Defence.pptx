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4f7a61-e84a-8547-4ee3-e30356c6c516}">
          <p14:sldIdLst>
            <p14:sldId id="256"/>
            <p14:sldId id="257"/>
            <p14:sldId id="258"/>
            <p14:sldId id="259"/>
            <p14:sldId id="260"/>
          </p14:sldIdLst>
        </p14:section>
        <p14:section name="Method" id="{b0ad3eb5-271d-706e-b044-301d42de57d2}">
          <p14:sldIdLst>
            <p14:sldId id="261"/>
            <p14:sldId id="262"/>
            <p14:sldId id="263"/>
            <p14:sldId id="264"/>
            <p14:sldId id="265"/>
            <p14:sldId id="266"/>
          </p14:sldIdLst>
        </p14:section>
        <p14:section name="Results" id="{96382a85-3dba-04ba-cb62-82ccc3d473a3}">
          <p14:sldIdLst>
            <p14:sldId id="267"/>
            <p14:sldId id="268"/>
            <p14:sldId id="269"/>
            <p14:sldId id="270"/>
            <p14:sldId id="271"/>
            <p14:sldId id="272"/>
          </p14:sldIdLst>
        </p14:section>
        <p14:section name="Discussion" id="{9e4e25dc-2b82-41b1-784b-e3fce5ec7714}">
          <p14:sldIdLst>
            <p14:sldId id="273"/>
            <p14:sldId id="274"/>
          </p14:sldIdLst>
        </p14:section>
        <p14:section name="Conclusion" id="{3c03a1cf-b10d-19b2-1d6c-b6896f70f2c6}">
          <p14:sldIdLst>
            <p14:sldId id="275"/>
            <p14:sldId id="276"/>
            <p14:sldId id="277"/>
            <p14:sldId id="278"/>
            <p14:sldId id="279"/>
          </p14:sldIdLst>
        </p14:section>
        <p14:section name="Backup" id="{c52fb7f4-8c6e-cd1d-a427-3d3911fb6599}">
          <p14:sldIdLst>
            <p14:sldId id="280"/>
            <p14:sldId id="281"/>
            <p14:sldId id="282"/>
            <p14:sldId id="283"/>
            <p14:sldId id="284"/>
            <p14:sldId id="285"/>
            <p14:sldId id="286"/>
            <p14:sldId id="287"/>
            <p14:sldId id="288"/>
            <p14:sldId id="289"/>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Clips</c:v>
                </c:pt>
              </c:strCache>
            </c:strRef>
          </c:tx>
          <c:spPr>
            <a:solidFill>
              <a:srgbClr val="0E6B7A"/>
            </a:solidFill>
            <a:effectLst/>
          </c:spPr>
          <c:invertIfNegative val="0"/>
          <c:dLbls>
            <c:numFmt formatCode="#,##0" sourceLinked="0"/>
            <c:txPr>
              <a:bodyPr/>
              <a:lstStyle/>
              <a:p>
                <a:pPr>
                  <a:defRPr b="1" i="0" strike="noStrike" sz="140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E08E2B"/>
              </a:solidFill>
              <a:effectLst/>
            </c:spPr>
          </c:dPt>
          <c:dPt>
            <c:idx val="2"/>
            <c:invertIfNegative val="0"/>
            <c:bubble3D val="0"/>
            <c:spPr>
              <a:solidFill>
                <a:srgbClr val="3F8F6B"/>
              </a:solidFill>
              <a:effectLst/>
            </c:spPr>
          </c:dPt>
          <c:cat>
            <c:multiLvlStrRef>
              <c:f>Sheet1!$A$2:$A$4</c:f>
              <c:multiLvlStrCache>
                <c:ptCount val="3"/>
                <c:lvl>
                  <c:pt idx="0">
                    <c:v>Negative</c:v>
                  </c:pt>
                  <c:pt idx="1">
                    <c:v>Positive</c:v>
                  </c:pt>
                  <c:pt idx="2">
                    <c:v>Surprise</c:v>
                  </c:pt>
                </c:lvl>
              </c:multiLvlStrCache>
            </c:multiLvlStrRef>
          </c:cat>
          <c:val>
            <c:numRef>
              <c:f>Sheet1!$B$2:$B$4</c:f>
              <c:numCache>
                <c:formatCode>General</c:formatCode>
                <c:ptCount val="3"/>
                <c:pt idx="0">
                  <c:v>99</c:v>
                </c:pt>
                <c:pt idx="1">
                  <c:v>32</c:v>
                </c:pt>
                <c:pt idx="2">
                  <c:v>25</c:v>
                </c:pt>
              </c:numCache>
            </c:numRef>
          </c:val>
        </c:ser>
        <c:dLbls>
          <c:numFmt formatCode="#,##0" sourceLinked="0"/>
          <c:txPr>
            <a:bodyPr/>
            <a:lstStyle/>
            <a:p>
              <a:pPr>
                <a:defRPr b="1" i="0" strike="noStrike" sz="1400" u="none">
                  <a:solidFill>
                    <a:srgbClr val="1B2B3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Pooled macro F1</c:v>
                </c:pt>
              </c:strCache>
            </c:strRef>
          </c:tx>
          <c:spPr>
            <a:solidFill>
              <a:srgbClr val="0E6B7A"/>
            </a:solidFill>
            <a:effectLst/>
          </c:spPr>
          <c:invertIfNegative val="0"/>
          <c:dLbls>
            <c:numFmt formatCode="0.000" sourceLinked="0"/>
            <c:txPr>
              <a:bodyPr/>
              <a:lstStyle/>
              <a:p>
                <a:pPr>
                  <a:defRPr b="0" i="0" strike="noStrike" sz="10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0E6B7A"/>
              </a:solidFill>
              <a:effectLst/>
            </c:spPr>
          </c:dPt>
          <c:dPt>
            <c:idx val="3"/>
            <c:invertIfNegative val="0"/>
            <c:bubble3D val="0"/>
            <c:spPr>
              <a:solidFill>
                <a:srgbClr val="0E6B7A"/>
              </a:solidFill>
              <a:effectLst/>
            </c:spPr>
          </c:dPt>
          <c:dPt>
            <c:idx val="4"/>
            <c:invertIfNegative val="0"/>
            <c:bubble3D val="0"/>
            <c:spPr>
              <a:solidFill>
                <a:srgbClr val="0E6B7A"/>
              </a:solidFill>
              <a:effectLst/>
            </c:spPr>
          </c:dPt>
          <c:dPt>
            <c:idx val="5"/>
            <c:invertIfNegative val="0"/>
            <c:bubble3D val="0"/>
            <c:spPr>
              <a:solidFill>
                <a:srgbClr val="0E6B7A"/>
              </a:solidFill>
              <a:effectLst/>
            </c:spPr>
          </c:dPt>
          <c:dPt>
            <c:idx val="6"/>
            <c:invertIfNegative val="0"/>
            <c:bubble3D val="0"/>
            <c:spPr>
              <a:solidFill>
                <a:srgbClr val="7C8D99"/>
              </a:solidFill>
              <a:effectLst/>
            </c:spPr>
          </c:dPt>
          <c:dPt>
            <c:idx val="7"/>
            <c:invertIfNegative val="0"/>
            <c:bubble3D val="0"/>
            <c:spPr>
              <a:solidFill>
                <a:srgbClr val="7C8D99"/>
              </a:solidFill>
              <a:effectLst/>
            </c:spPr>
          </c:dPt>
          <c:dPt>
            <c:idx val="8"/>
            <c:invertIfNegative val="0"/>
            <c:bubble3D val="0"/>
            <c:spPr>
              <a:solidFill>
                <a:srgbClr val="7C8D99"/>
              </a:solidFill>
              <a:effectLst/>
            </c:spPr>
          </c:dPt>
          <c:dPt>
            <c:idx val="9"/>
            <c:invertIfNegative val="0"/>
            <c:bubble3D val="0"/>
            <c:spPr>
              <a:solidFill>
                <a:srgbClr val="7C8D99"/>
              </a:solidFill>
              <a:effectLst/>
            </c:spPr>
          </c:dPt>
          <c:dPt>
            <c:idx val="10"/>
            <c:invertIfNegative val="0"/>
            <c:bubble3D val="0"/>
            <c:spPr>
              <a:solidFill>
                <a:srgbClr val="7C8D99"/>
              </a:solidFill>
              <a:effectLst/>
            </c:spPr>
          </c:dPt>
          <c:dPt>
            <c:idx val="11"/>
            <c:invertIfNegative val="0"/>
            <c:bubble3D val="0"/>
            <c:spPr>
              <a:solidFill>
                <a:srgbClr val="7C8D99"/>
              </a:solidFill>
              <a:effectLst/>
            </c:spPr>
          </c:dPt>
          <c:cat>
            <c:multiLvlStrRef>
              <c:f>Sheet1!$A$2:$A$13</c:f>
              <c:multiLvlStrCache>
                <c:ptCount val="12"/>
                <c:lvl>
                  <c:pt idx="0">
                    <c:v>C2</c:v>
                  </c:pt>
                  <c:pt idx="1">
                    <c:v>C8</c:v>
                  </c:pt>
                  <c:pt idx="2">
                    <c:v>C7</c:v>
                  </c:pt>
                  <c:pt idx="3">
                    <c:v>C12</c:v>
                  </c:pt>
                  <c:pt idx="4">
                    <c:v>C6</c:v>
                  </c:pt>
                  <c:pt idx="5">
                    <c:v>C9</c:v>
                  </c:pt>
                  <c:pt idx="6">
                    <c:v>C13</c:v>
                  </c:pt>
                  <c:pt idx="7">
                    <c:v>C4</c:v>
                  </c:pt>
                  <c:pt idx="8">
                    <c:v>C1</c:v>
                  </c:pt>
                  <c:pt idx="9">
                    <c:v>C5</c:v>
                  </c:pt>
                  <c:pt idx="10">
                    <c:v>C3</c:v>
                  </c:pt>
                  <c:pt idx="11">
                    <c:v>C16</c:v>
                  </c:pt>
                </c:lvl>
              </c:multiLvlStrCache>
            </c:multiLvlStrRef>
          </c:cat>
          <c:val>
            <c:numRef>
              <c:f>Sheet1!$B$2:$B$13</c:f>
              <c:numCache>
                <c:formatCode>General</c:formatCode>
                <c:ptCount val="12"/>
                <c:pt idx="0">
                  <c:v>0.7122</c:v>
                </c:pt>
                <c:pt idx="1">
                  <c:v>0.6659</c:v>
                </c:pt>
                <c:pt idx="2">
                  <c:v>0.6625</c:v>
                </c:pt>
                <c:pt idx="3">
                  <c:v>0.6581</c:v>
                </c:pt>
                <c:pt idx="4">
                  <c:v>0.6171</c:v>
                </c:pt>
                <c:pt idx="5">
                  <c:v>0.583</c:v>
                </c:pt>
                <c:pt idx="6">
                  <c:v>0.448</c:v>
                </c:pt>
                <c:pt idx="7">
                  <c:v>0.4386</c:v>
                </c:pt>
                <c:pt idx="8">
                  <c:v>0.4337</c:v>
                </c:pt>
                <c:pt idx="9">
                  <c:v>0.4302</c:v>
                </c:pt>
                <c:pt idx="10">
                  <c:v>0.4252</c:v>
                </c:pt>
                <c:pt idx="11">
                  <c:v>0.4192</c:v>
                </c:pt>
              </c:numCache>
            </c:numRef>
          </c:val>
        </c:ser>
        <c:dLbls>
          <c:numFmt formatCode="0.000" sourceLinked="0"/>
          <c:txPr>
            <a:bodyPr/>
            <a:lstStyle/>
            <a:p>
              <a:pPr>
                <a:defRPr b="0" i="0" strike="noStrike" sz="1050" u="none">
                  <a:solidFill>
                    <a:srgbClr val="1B2B3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DDE5E8"/>
              </a:solidFill>
              <a:prstDash val="solid"/>
              <a:round/>
            </a:ln>
          </c:spPr>
        </c:majorGridlines>
        <c:title>
          <c:tx>
            <c:rich>
              <a:bodyPr/>
              <a:lstStyle/>
              <a:p>
                <a:pPr>
                  <a:defRPr sz="1200" b="0" i="0" u="none" strike="noStrike">
                    <a:solidFill>
                      <a:srgbClr val="7C8D99"/>
                    </a:solidFill>
                    <a:latin typeface="+mn-lt"/>
                  </a:defRPr>
                </a:pPr>
                <a:r>
                  <a:rPr sz="1200" b="0" i="0" u="none" strike="noStrike">
                    <a:solidFill>
                      <a:srgbClr val="7C8D99"/>
                    </a:solidFill>
                    <a:latin typeface="+mn-lt"/>
                  </a:rPr>
                  <a:t>Pooled macro F1</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effect</c:v>
                </c:pt>
              </c:strCache>
            </c:strRef>
          </c:tx>
          <c:spPr>
            <a:solidFill>
              <a:srgbClr val="0E6B7A"/>
            </a:solidFill>
            <a:effectLst/>
          </c:spPr>
          <c:invertIfNegative val="0"/>
          <c:dLbls>
            <c:numFmt formatCode="+0.0000;-0.0000" sourceLinked="0"/>
            <c:txPr>
              <a:bodyPr/>
              <a:lstStyle/>
              <a:p>
                <a:pPr>
                  <a:defRPr b="1" i="0" strike="noStrike" sz="130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7C8D99"/>
              </a:solidFill>
              <a:effectLst/>
            </c:spPr>
          </c:dPt>
          <c:dPt>
            <c:idx val="2"/>
            <c:invertIfNegative val="0"/>
            <c:bubble3D val="0"/>
            <c:spPr>
              <a:solidFill>
                <a:srgbClr val="7C8D99"/>
              </a:solidFill>
              <a:effectLst/>
            </c:spPr>
          </c:dPt>
          <c:dPt>
            <c:idx val="3"/>
            <c:invertIfNegative val="0"/>
            <c:bubble3D val="0"/>
            <c:spPr>
              <a:solidFill>
                <a:srgbClr val="B4433A"/>
              </a:solidFill>
              <a:effectLst/>
            </c:spPr>
          </c:dPt>
          <c:cat>
            <c:multiLvlStrRef>
              <c:f>Sheet1!$A$2:$A$5</c:f>
              <c:multiLvlStrCache>
                <c:ptCount val="4"/>
                <c:lvl>
                  <c:pt idx="0">
                    <c:v>Transformer</c:v>
                  </c:pt>
                  <c:pt idx="1">
                    <c:v>Magnification</c:v>
                  </c:pt>
                  <c:pt idx="2">
                    <c:v>SimAM</c:v>
                  </c:pt>
                  <c:pt idx="3">
                    <c:v>Conv. stem</c:v>
                  </c:pt>
                </c:lvl>
              </c:multiLvlStrCache>
            </c:multiLvlStrRef>
          </c:cat>
          <c:val>
            <c:numRef>
              <c:f>Sheet1!$B$2:$B$5</c:f>
              <c:numCache>
                <c:formatCode>General</c:formatCode>
                <c:ptCount val="4"/>
                <c:pt idx="0">
                  <c:v>0.2173</c:v>
                </c:pt>
                <c:pt idx="1">
                  <c:v>0.0152</c:v>
                </c:pt>
                <c:pt idx="2">
                  <c:v>0.0034</c:v>
                </c:pt>
                <c:pt idx="3">
                  <c:v>-0.031</c:v>
                </c:pt>
              </c:numCache>
            </c:numRef>
          </c:val>
        </c:ser>
        <c:dLbls>
          <c:numFmt formatCode="+0.0000;-0.0000" sourceLinked="0"/>
          <c:txPr>
            <a:bodyPr/>
            <a:lstStyle/>
            <a:p>
              <a:pPr>
                <a:defRPr b="1" i="0" strike="noStrike" sz="1300" u="none">
                  <a:solidFill>
                    <a:srgbClr val="1B2B3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25"/>
          <c:min val="-0.05"/>
        </c:scaling>
        <c:delete val="0"/>
        <c:axPos val="l"/>
        <c:majorGridlines>
          <c:spPr>
            <a:ln w="6350" cap="flat">
              <a:solidFill>
                <a:srgbClr val="DDE5E8"/>
              </a:solidFill>
              <a:prstDash val="solid"/>
              <a:round/>
            </a:ln>
          </c:spPr>
        </c:majorGridlines>
        <c:title>
          <c:tx>
            <c:rich>
              <a:bodyPr/>
              <a:lstStyle/>
              <a:p>
                <a:pPr>
                  <a:defRPr sz="1200" b="0" i="0" u="none" strike="noStrike">
                    <a:solidFill>
                      <a:srgbClr val="7C8D99"/>
                    </a:solidFill>
                    <a:latin typeface="+mn-lt"/>
                  </a:defRPr>
                </a:pPr>
                <a:r>
                  <a:rPr sz="1200" b="0" i="0" u="none" strike="noStrike">
                    <a:solidFill>
                      <a:srgbClr val="7C8D99"/>
                    </a:solidFill>
                    <a:latin typeface="+mn-lt"/>
                  </a:rPr>
                  <a:t>Mean change in pooled macro F1</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Transformer</c:v>
                </c:pt>
              </c:strCache>
            </c:strRef>
          </c:tx>
          <c:spPr>
            <a:solidFill>
              <a:srgbClr val="0E6B7A"/>
            </a:solidFill>
            <a:effectLst/>
          </c:spPr>
          <c:invertIfNegative val="0"/>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0E6B7A"/>
              </a:solidFill>
              <a:effectLst/>
            </c:spPr>
          </c:dPt>
          <c:dPt>
            <c:idx val="3"/>
            <c:invertIfNegative val="0"/>
            <c:bubble3D val="0"/>
            <c:spPr>
              <a:solidFill>
                <a:srgbClr val="0E6B7A"/>
              </a:solidFill>
              <a:effectLst/>
            </c:spPr>
          </c:dPt>
          <c:dPt>
            <c:idx val="4"/>
            <c:invertIfNegative val="0"/>
            <c:bubble3D val="0"/>
            <c:spPr>
              <a:solidFill>
                <a:srgbClr val="0E6B7A"/>
              </a:solidFill>
              <a:effectLst/>
            </c:spPr>
          </c:dPt>
          <c:dPt>
            <c:idx val="5"/>
            <c:invertIfNegative val="0"/>
            <c:bubble3D val="0"/>
            <c:spPr>
              <a:solidFill>
                <a:srgbClr val="0E6B7A"/>
              </a:solidFill>
              <a:effectLst/>
            </c:spPr>
          </c:dPt>
          <c:cat>
            <c:multiLvlStrRef>
              <c:f>Sheet1!$A$2:$A$7</c:f>
              <c:multiLvlStrCache>
                <c:ptCount val="6"/>
                <c:lvl>
                  <c:pt idx="0">
                    <c:v>1→2</c:v>
                  </c:pt>
                  <c:pt idx="1">
                    <c:v>16→8</c:v>
                  </c:pt>
                  <c:pt idx="2">
                    <c:v>4→12</c:v>
                  </c:pt>
                  <c:pt idx="3">
                    <c:v>13→7</c:v>
                  </c:pt>
                  <c:pt idx="4">
                    <c:v>5→6</c:v>
                  </c:pt>
                  <c:pt idx="5">
                    <c:v>3→9</c:v>
                  </c:pt>
                </c:lvl>
              </c:multiLvlStrCache>
            </c:multiLvlStrRef>
          </c:cat>
          <c:val>
            <c:numRef>
              <c:f>Sheet1!$B$2:$B$7</c:f>
              <c:numCache>
                <c:formatCode>General</c:formatCode>
                <c:ptCount val="6"/>
                <c:pt idx="0">
                  <c:v>0.2786</c:v>
                </c:pt>
                <c:pt idx="1">
                  <c:v>0.2467</c:v>
                </c:pt>
                <c:pt idx="2">
                  <c:v>0.2195</c:v>
                </c:pt>
                <c:pt idx="3">
                  <c:v>0.2146</c:v>
                </c:pt>
                <c:pt idx="4">
                  <c:v>0.1869</c:v>
                </c:pt>
                <c:pt idx="5">
                  <c:v>0.1578</c:v>
                </c:pt>
              </c:numCache>
            </c:numRef>
          </c:val>
        </c:ser>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4"/>
          <c:min val="-0.2"/>
        </c:scaling>
        <c:delete val="0"/>
        <c:axPos val="l"/>
        <c:majorGridlines>
          <c:spPr>
            <a:ln w="6350" cap="flat">
              <a:solidFill>
                <a:srgbClr val="DDE5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C8D9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Magnification</c:v>
                </c:pt>
              </c:strCache>
            </c:strRef>
          </c:tx>
          <c:spPr>
            <a:solidFill>
              <a:srgbClr val="0E6B7A"/>
            </a:solidFill>
            <a:effectLst/>
          </c:spPr>
          <c:invertIfNegative val="0"/>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0E6B7A"/>
              </a:solidFill>
              <a:effectLst/>
            </c:spPr>
          </c:dPt>
          <c:dPt>
            <c:idx val="3"/>
            <c:invertIfNegative val="0"/>
            <c:bubble3D val="0"/>
            <c:spPr>
              <a:solidFill>
                <a:srgbClr val="0E6B7A"/>
              </a:solidFill>
              <a:effectLst/>
            </c:spPr>
          </c:dPt>
          <c:dPt>
            <c:idx val="4"/>
            <c:invertIfNegative val="0"/>
            <c:bubble3D val="0"/>
            <c:spPr>
              <a:solidFill>
                <a:srgbClr val="B4433A"/>
              </a:solidFill>
              <a:effectLst/>
            </c:spPr>
          </c:dPt>
          <c:dPt>
            <c:idx val="5"/>
            <c:invertIfNegative val="0"/>
            <c:bubble3D val="0"/>
            <c:spPr>
              <a:solidFill>
                <a:srgbClr val="B4433A"/>
              </a:solidFill>
              <a:effectLst/>
            </c:spPr>
          </c:dPt>
          <c:cat>
            <c:multiLvlStrRef>
              <c:f>Sheet1!$A$2:$A$7</c:f>
              <c:multiLvlStrCache>
                <c:ptCount val="6"/>
                <c:lvl>
                  <c:pt idx="0">
                    <c:v>9→7</c:v>
                  </c:pt>
                  <c:pt idx="1">
                    <c:v>6→8</c:v>
                  </c:pt>
                  <c:pt idx="2">
                    <c:v>3→13</c:v>
                  </c:pt>
                  <c:pt idx="3">
                    <c:v>1→4</c:v>
                  </c:pt>
                  <c:pt idx="4">
                    <c:v>5→16</c:v>
                  </c:pt>
                  <c:pt idx="5">
                    <c:v>2→12</c:v>
                  </c:pt>
                </c:lvl>
              </c:multiLvlStrCache>
            </c:multiLvlStrRef>
          </c:cat>
          <c:val>
            <c:numRef>
              <c:f>Sheet1!$B$2:$B$7</c:f>
              <c:numCache>
                <c:formatCode>General</c:formatCode>
                <c:ptCount val="6"/>
                <c:pt idx="0">
                  <c:v>0.0795</c:v>
                </c:pt>
                <c:pt idx="1">
                  <c:v>0.0488</c:v>
                </c:pt>
                <c:pt idx="2">
                  <c:v>0.0228</c:v>
                </c:pt>
                <c:pt idx="3">
                  <c:v>0.0049</c:v>
                </c:pt>
                <c:pt idx="4">
                  <c:v>-0.0109</c:v>
                </c:pt>
                <c:pt idx="5">
                  <c:v>-0.0541</c:v>
                </c:pt>
              </c:numCache>
            </c:numRef>
          </c:val>
        </c:ser>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4"/>
          <c:min val="-0.2"/>
        </c:scaling>
        <c:delete val="0"/>
        <c:axPos val="l"/>
        <c:majorGridlines>
          <c:spPr>
            <a:ln w="6350" cap="flat">
              <a:solidFill>
                <a:srgbClr val="DDE5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C8D9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SimAM</c:v>
                </c:pt>
              </c:strCache>
            </c:strRef>
          </c:tx>
          <c:spPr>
            <a:solidFill>
              <a:srgbClr val="0E6B7A"/>
            </a:solidFill>
            <a:effectLst/>
          </c:spPr>
          <c:invertIfNegative val="0"/>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0E6B7A"/>
              </a:solidFill>
              <a:effectLst/>
            </c:spPr>
          </c:dPt>
          <c:dPt>
            <c:idx val="3"/>
            <c:invertIfNegative val="0"/>
            <c:bubble3D val="0"/>
            <c:spPr>
              <a:solidFill>
                <a:srgbClr val="B4433A"/>
              </a:solidFill>
              <a:effectLst/>
            </c:spPr>
          </c:dPt>
          <c:cat>
            <c:multiLvlStrRef>
              <c:f>Sheet1!$A$2:$A$5</c:f>
              <c:multiLvlStrCache>
                <c:ptCount val="4"/>
                <c:lvl>
                  <c:pt idx="0">
                    <c:v>9→6</c:v>
                  </c:pt>
                  <c:pt idx="1">
                    <c:v>3→5</c:v>
                  </c:pt>
                  <c:pt idx="2">
                    <c:v>7→8</c:v>
                  </c:pt>
                  <c:pt idx="3">
                    <c:v>13→16</c:v>
                  </c:pt>
                </c:lvl>
              </c:multiLvlStrCache>
            </c:multiLvlStrRef>
          </c:cat>
          <c:val>
            <c:numRef>
              <c:f>Sheet1!$B$2:$B$5</c:f>
              <c:numCache>
                <c:formatCode>General</c:formatCode>
                <c:ptCount val="4"/>
                <c:pt idx="0">
                  <c:v>0.0341</c:v>
                </c:pt>
                <c:pt idx="1">
                  <c:v>0.005</c:v>
                </c:pt>
                <c:pt idx="2">
                  <c:v>0.0034</c:v>
                </c:pt>
                <c:pt idx="3">
                  <c:v>-0.0288</c:v>
                </c:pt>
              </c:numCache>
            </c:numRef>
          </c:val>
        </c:ser>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4"/>
          <c:min val="-0.2"/>
        </c:scaling>
        <c:delete val="0"/>
        <c:axPos val="l"/>
        <c:majorGridlines>
          <c:spPr>
            <a:ln w="6350" cap="flat">
              <a:solidFill>
                <a:srgbClr val="DDE5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C8D9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Convolutional stem</c:v>
                </c:pt>
              </c:strCache>
            </c:strRef>
          </c:tx>
          <c:spPr>
            <a:solidFill>
              <a:srgbClr val="0E6B7A"/>
            </a:solidFill>
            <a:effectLst/>
          </c:spPr>
          <c:invertIfNegative val="0"/>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B4433A"/>
              </a:solidFill>
              <a:effectLst/>
            </c:spPr>
          </c:dPt>
          <c:dPt>
            <c:idx val="3"/>
            <c:invertIfNegative val="0"/>
            <c:bubble3D val="0"/>
            <c:spPr>
              <a:solidFill>
                <a:srgbClr val="B4433A"/>
              </a:solidFill>
              <a:effectLst/>
            </c:spPr>
          </c:dPt>
          <c:cat>
            <c:multiLvlStrRef>
              <c:f>Sheet1!$A$2:$A$5</c:f>
              <c:multiLvlStrCache>
                <c:ptCount val="4"/>
                <c:lvl>
                  <c:pt idx="0">
                    <c:v>4→13</c:v>
                  </c:pt>
                  <c:pt idx="1">
                    <c:v>12→7</c:v>
                  </c:pt>
                  <c:pt idx="2">
                    <c:v>1→3</c:v>
                  </c:pt>
                  <c:pt idx="3">
                    <c:v>2→9</c:v>
                  </c:pt>
                </c:lvl>
              </c:multiLvlStrCache>
            </c:multiLvlStrRef>
          </c:cat>
          <c:val>
            <c:numRef>
              <c:f>Sheet1!$B$2:$B$5</c:f>
              <c:numCache>
                <c:formatCode>General</c:formatCode>
                <c:ptCount val="4"/>
                <c:pt idx="0">
                  <c:v>0.0094</c:v>
                </c:pt>
                <c:pt idx="1">
                  <c:v>0.0044</c:v>
                </c:pt>
                <c:pt idx="2">
                  <c:v>-0.0085</c:v>
                </c:pt>
                <c:pt idx="3">
                  <c:v>-0.1292</c:v>
                </c:pt>
              </c:numCache>
            </c:numRef>
          </c:val>
        </c:ser>
        <c:dLbls>
          <c:numFmt formatCode="+0.000;-0.000" sourceLinked="0"/>
          <c:txPr>
            <a:bodyPr/>
            <a:lstStyle/>
            <a:p>
              <a:pPr>
                <a:defRPr b="0" i="0" strike="noStrike" sz="950" u="none">
                  <a:solidFill>
                    <a:srgbClr val="1B2B3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0.4"/>
          <c:min val="-0.2"/>
        </c:scaling>
        <c:delete val="0"/>
        <c:axPos val="l"/>
        <c:majorGridlines>
          <c:spPr>
            <a:ln w="6350" cap="flat">
              <a:solidFill>
                <a:srgbClr val="DDE5E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7C8D99"/>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Negative (99 clips)</c:v>
                </c:pt>
              </c:strCache>
            </c:strRef>
          </c:tx>
          <c:spPr>
            <a:solidFill>
              <a:srgbClr val="0E6B7A"/>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Sheet1!$A$2:$A$13</c:f>
              <c:multiLvlStrCache>
                <c:ptCount val="12"/>
                <c:lvl>
                  <c:pt idx="0">
                    <c:v>C2</c:v>
                  </c:pt>
                  <c:pt idx="1">
                    <c:v>C8</c:v>
                  </c:pt>
                  <c:pt idx="2">
                    <c:v>C7</c:v>
                  </c:pt>
                  <c:pt idx="3">
                    <c:v>C12</c:v>
                  </c:pt>
                  <c:pt idx="4">
                    <c:v>C6</c:v>
                  </c:pt>
                  <c:pt idx="5">
                    <c:v>C9</c:v>
                  </c:pt>
                  <c:pt idx="6">
                    <c:v>C13</c:v>
                  </c:pt>
                  <c:pt idx="7">
                    <c:v>C4</c:v>
                  </c:pt>
                  <c:pt idx="8">
                    <c:v>C1</c:v>
                  </c:pt>
                  <c:pt idx="9">
                    <c:v>C5</c:v>
                  </c:pt>
                  <c:pt idx="10">
                    <c:v>C3</c:v>
                  </c:pt>
                  <c:pt idx="11">
                    <c:v>C16</c:v>
                  </c:pt>
                </c:lvl>
              </c:multiLvlStrCache>
            </c:multiLvlStrRef>
          </c:cat>
          <c:val>
            <c:numRef>
              <c:f>Sheet1!$B$2:$B$13</c:f>
              <c:numCache>
                <c:formatCode>General</c:formatCode>
                <c:ptCount val="12"/>
                <c:pt idx="0">
                  <c:v>0.8068</c:v>
                </c:pt>
                <c:pt idx="1">
                  <c:v>0.8458</c:v>
                </c:pt>
                <c:pt idx="2">
                  <c:v>0.7845</c:v>
                </c:pt>
                <c:pt idx="3">
                  <c:v>0.7485</c:v>
                </c:pt>
                <c:pt idx="4">
                  <c:v>0.8325</c:v>
                </c:pt>
                <c:pt idx="5">
                  <c:v>0.8491</c:v>
                </c:pt>
                <c:pt idx="6">
                  <c:v>0.4127</c:v>
                </c:pt>
                <c:pt idx="7">
                  <c:v>0.5641</c:v>
                </c:pt>
                <c:pt idx="8">
                  <c:v>0.56</c:v>
                </c:pt>
                <c:pt idx="9">
                  <c:v>0.384</c:v>
                </c:pt>
                <c:pt idx="10">
                  <c:v>0.3607</c:v>
                </c:pt>
                <c:pt idx="11">
                  <c:v>0.35</c:v>
                </c:pt>
              </c:numCache>
            </c:numRef>
          </c:val>
        </c:ser>
        <c:ser>
          <c:idx val="1"/>
          <c:order val="1"/>
          <c:tx>
            <c:strRef>
              <c:f>Sheet1!$C$1</c:f>
              <c:strCache>
                <c:ptCount val="1"/>
                <c:pt idx="0">
                  <c:v>Positive (32 clips)</c:v>
                </c:pt>
              </c:strCache>
            </c:strRef>
          </c:tx>
          <c:spPr>
            <a:solidFill>
              <a:srgbClr val="E08E2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Sheet1!$A$2:$A$13</c:f>
              <c:multiLvlStrCache>
                <c:ptCount val="12"/>
                <c:lvl>
                  <c:pt idx="0">
                    <c:v>C2</c:v>
                  </c:pt>
                  <c:pt idx="1">
                    <c:v>C8</c:v>
                  </c:pt>
                  <c:pt idx="2">
                    <c:v>C7</c:v>
                  </c:pt>
                  <c:pt idx="3">
                    <c:v>C12</c:v>
                  </c:pt>
                  <c:pt idx="4">
                    <c:v>C6</c:v>
                  </c:pt>
                  <c:pt idx="5">
                    <c:v>C9</c:v>
                  </c:pt>
                  <c:pt idx="6">
                    <c:v>C13</c:v>
                  </c:pt>
                  <c:pt idx="7">
                    <c:v>C4</c:v>
                  </c:pt>
                  <c:pt idx="8">
                    <c:v>C1</c:v>
                  </c:pt>
                  <c:pt idx="9">
                    <c:v>C5</c:v>
                  </c:pt>
                  <c:pt idx="10">
                    <c:v>C3</c:v>
                  </c:pt>
                  <c:pt idx="11">
                    <c:v>C16</c:v>
                  </c:pt>
                </c:lvl>
              </c:multiLvlStrCache>
            </c:multiLvlStrRef>
          </c:cat>
          <c:val>
            <c:numRef>
              <c:f>Sheet1!$C$2:$C$13</c:f>
              <c:numCache>
                <c:formatCode>General</c:formatCode>
                <c:ptCount val="12"/>
                <c:pt idx="0">
                  <c:v>0.6506</c:v>
                </c:pt>
                <c:pt idx="1">
                  <c:v>0.5556</c:v>
                </c:pt>
                <c:pt idx="2">
                  <c:v>0.5479</c:v>
                </c:pt>
                <c:pt idx="3">
                  <c:v>0.5591</c:v>
                </c:pt>
                <c:pt idx="4">
                  <c:v>0.4286</c:v>
                </c:pt>
                <c:pt idx="5">
                  <c:v>0.6</c:v>
                </c:pt>
                <c:pt idx="6">
                  <c:v>0.5278</c:v>
                </c:pt>
                <c:pt idx="7">
                  <c:v>0.5055</c:v>
                </c:pt>
                <c:pt idx="8">
                  <c:v>0.3714</c:v>
                </c:pt>
                <c:pt idx="9">
                  <c:v>0.5227</c:v>
                </c:pt>
                <c:pt idx="10">
                  <c:v>0.5227</c:v>
                </c:pt>
                <c:pt idx="11">
                  <c:v>0.5143</c:v>
                </c:pt>
              </c:numCache>
            </c:numRef>
          </c:val>
        </c:ser>
        <c:ser>
          <c:idx val="2"/>
          <c:order val="2"/>
          <c:tx>
            <c:strRef>
              <c:f>Sheet1!$D$1</c:f>
              <c:strCache>
                <c:ptCount val="1"/>
                <c:pt idx="0">
                  <c:v>Surprise (25 clips)</c:v>
                </c:pt>
              </c:strCache>
            </c:strRef>
          </c:tx>
          <c:spPr>
            <a:solidFill>
              <a:srgbClr val="3F8F6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Sheet1!$A$2:$A$13</c:f>
              <c:multiLvlStrCache>
                <c:ptCount val="12"/>
                <c:lvl>
                  <c:pt idx="0">
                    <c:v>C2</c:v>
                  </c:pt>
                  <c:pt idx="1">
                    <c:v>C8</c:v>
                  </c:pt>
                  <c:pt idx="2">
                    <c:v>C7</c:v>
                  </c:pt>
                  <c:pt idx="3">
                    <c:v>C12</c:v>
                  </c:pt>
                  <c:pt idx="4">
                    <c:v>C6</c:v>
                  </c:pt>
                  <c:pt idx="5">
                    <c:v>C9</c:v>
                  </c:pt>
                  <c:pt idx="6">
                    <c:v>C13</c:v>
                  </c:pt>
                  <c:pt idx="7">
                    <c:v>C4</c:v>
                  </c:pt>
                  <c:pt idx="8">
                    <c:v>C1</c:v>
                  </c:pt>
                  <c:pt idx="9">
                    <c:v>C5</c:v>
                  </c:pt>
                  <c:pt idx="10">
                    <c:v>C3</c:v>
                  </c:pt>
                  <c:pt idx="11">
                    <c:v>C16</c:v>
                  </c:pt>
                </c:lvl>
              </c:multiLvlStrCache>
            </c:multiLvlStrRef>
          </c:cat>
          <c:val>
            <c:numRef>
              <c:f>Sheet1!$D$2:$D$13</c:f>
              <c:numCache>
                <c:formatCode>General</c:formatCode>
                <c:ptCount val="12"/>
                <c:pt idx="0">
                  <c:v>0.6792</c:v>
                </c:pt>
                <c:pt idx="1">
                  <c:v>0.5965</c:v>
                </c:pt>
                <c:pt idx="2">
                  <c:v>0.6552</c:v>
                </c:pt>
                <c:pt idx="3">
                  <c:v>0.6667</c:v>
                </c:pt>
                <c:pt idx="4">
                  <c:v>0.5902</c:v>
                </c:pt>
                <c:pt idx="5">
                  <c:v>0.3</c:v>
                </c:pt>
                <c:pt idx="6">
                  <c:v>0.4035</c:v>
                </c:pt>
                <c:pt idx="7">
                  <c:v>0.2462</c:v>
                </c:pt>
                <c:pt idx="8">
                  <c:v>0.3696</c:v>
                </c:pt>
                <c:pt idx="9">
                  <c:v>0.3838</c:v>
                </c:pt>
                <c:pt idx="10">
                  <c:v>0.3922</c:v>
                </c:pt>
                <c:pt idx="11">
                  <c:v>0.3934</c:v>
                </c:pt>
              </c:numCache>
            </c:numRef>
          </c:val>
        </c:ser>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5E8"/>
              </a:solidFill>
              <a:prstDash val="solid"/>
              <a:round/>
            </a:ln>
          </c:spPr>
        </c:majorGridlines>
        <c:title>
          <c:tx>
            <c:rich>
              <a:bodyPr/>
              <a:lstStyle/>
              <a:p>
                <a:pPr>
                  <a:defRPr sz="1200" b="0" i="0" u="none" strike="noStrike">
                    <a:solidFill>
                      <a:srgbClr val="7C8D99"/>
                    </a:solidFill>
                    <a:latin typeface="+mn-lt"/>
                  </a:defRPr>
                </a:pPr>
                <a:r>
                  <a:rPr sz="1200" b="0" i="0" u="none" strike="noStrike">
                    <a:solidFill>
                      <a:srgbClr val="7C8D99"/>
                    </a:solidFill>
                    <a:latin typeface="+mn-lt"/>
                  </a:rPr>
                  <a:t>Pooled per-class F1</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UF1</c:v>
                </c:pt>
              </c:strCache>
            </c:strRef>
          </c:tx>
          <c:spPr>
            <a:solidFill>
              <a:srgbClr val="0E6B7A"/>
            </a:solidFill>
            <a:effectLst/>
          </c:spPr>
          <c:invertIfNegative val="0"/>
          <c:dLbls>
            <c:numFmt formatCode="0.0000" sourceLinked="0"/>
            <c:txPr>
              <a:bodyPr/>
              <a:lstStyle/>
              <a:p>
                <a:pPr>
                  <a:defRPr b="0" i="0" strike="noStrike" sz="115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E08E2B"/>
              </a:solidFill>
              <a:effectLst/>
            </c:spPr>
          </c:dPt>
          <c:dPt>
            <c:idx val="3"/>
            <c:invertIfNegative val="0"/>
            <c:bubble3D val="0"/>
            <c:spPr>
              <a:solidFill>
                <a:srgbClr val="0E6B7A"/>
              </a:solidFill>
              <a:effectLst/>
            </c:spPr>
          </c:dPt>
          <c:dPt>
            <c:idx val="4"/>
            <c:invertIfNegative val="0"/>
            <c:bubble3D val="0"/>
            <c:spPr>
              <a:solidFill>
                <a:srgbClr val="0E6B7A"/>
              </a:solidFill>
              <a:effectLst/>
            </c:spPr>
          </c:dPt>
          <c:dPt>
            <c:idx val="5"/>
            <c:invertIfNegative val="0"/>
            <c:bubble3D val="0"/>
            <c:spPr>
              <a:solidFill>
                <a:srgbClr val="0E6B7A"/>
              </a:solidFill>
              <a:effectLst/>
            </c:spPr>
          </c:dPt>
          <c:dPt>
            <c:idx val="6"/>
            <c:invertIfNegative val="0"/>
            <c:bubble3D val="0"/>
            <c:spPr>
              <a:solidFill>
                <a:srgbClr val="0E6B7A"/>
              </a:solidFill>
              <a:effectLst/>
            </c:spPr>
          </c:dPt>
          <c:dPt>
            <c:idx val="7"/>
            <c:invertIfNegative val="0"/>
            <c:bubble3D val="0"/>
            <c:spPr>
              <a:solidFill>
                <a:srgbClr val="0E6B7A"/>
              </a:solidFill>
              <a:effectLst/>
            </c:spPr>
          </c:dPt>
          <c:cat>
            <c:multiLvlStrRef>
              <c:f>Sheet1!$A$2:$A$9</c:f>
              <c:multiLvlStrCache>
                <c:ptCount val="8"/>
                <c:lvl>
                  <c:pt idx="0">
                    <c:v>LBP-TOP</c:v>
                  </c:pt>
                  <c:pt idx="1">
                    <c:v>Quang et al.</c:v>
                  </c:pt>
                  <c:pt idx="2">
                    <c:v>This study (C2)</c:v>
                  </c:pt>
                  <c:pt idx="3">
                    <c:v>Bi-WOOF</c:v>
                  </c:pt>
                  <c:pt idx="4">
                    <c:v>EMR</c:v>
                  </c:pt>
                  <c:pt idx="5">
                    <c:v>STSTNet</c:v>
                  </c:pt>
                  <c:pt idx="6">
                    <c:v>Zhou et al.</c:v>
                  </c:pt>
                  <c:pt idx="7">
                    <c:v>OFF-ApexNet</c:v>
                  </c:pt>
                </c:lvl>
              </c:multiLvlStrCache>
            </c:multiLvlStrRef>
          </c:cat>
          <c:val>
            <c:numRef>
              <c:f>Sheet1!$B$2:$B$9</c:f>
              <c:numCache>
                <c:formatCode>General</c:formatCode>
                <c:ptCount val="8"/>
                <c:pt idx="0">
                  <c:v>0.7026</c:v>
                </c:pt>
                <c:pt idx="1">
                  <c:v>0.7068</c:v>
                </c:pt>
                <c:pt idx="2">
                  <c:v>0.7122</c:v>
                </c:pt>
                <c:pt idx="3">
                  <c:v>0.7805</c:v>
                </c:pt>
                <c:pt idx="4">
                  <c:v>0.8293</c:v>
                </c:pt>
                <c:pt idx="5">
                  <c:v>0.8382</c:v>
                </c:pt>
                <c:pt idx="6">
                  <c:v>0.8621</c:v>
                </c:pt>
                <c:pt idx="7">
                  <c:v>0.8764</c:v>
                </c:pt>
              </c:numCache>
            </c:numRef>
          </c:val>
        </c:ser>
        <c:dLbls>
          <c:numFmt formatCode="0.0000" sourceLinked="0"/>
          <c:txPr>
            <a:bodyPr/>
            <a:lstStyle/>
            <a:p>
              <a:pPr>
                <a:defRPr b="0" i="0" strike="noStrike" sz="1150" u="none">
                  <a:solidFill>
                    <a:srgbClr val="1B2B3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DE5E8"/>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Clips</c:v>
                </c:pt>
              </c:strCache>
            </c:strRef>
          </c:tx>
          <c:spPr>
            <a:solidFill>
              <a:srgbClr val="0E6B7A"/>
            </a:solidFill>
            <a:effectLst/>
          </c:spPr>
          <c:invertIfNegative val="0"/>
          <c:dLbls>
            <c:numFmt formatCode="#,##0" sourceLinked="0"/>
            <c:txPr>
              <a:bodyPr/>
              <a:lstStyle/>
              <a:p>
                <a:pPr>
                  <a:defRPr b="1" i="0" strike="noStrike" sz="1200" u="none">
                    <a:solidFill>
                      <a:srgbClr val="1B2B34"/>
                    </a:solidFill>
                    <a:latin typeface="+mn-lt"/>
                  </a:defRPr>
                </a:pPr>
              </a:p>
            </c:txPr>
            <c:showLegendKey val="0"/>
            <c:showVal val="1"/>
            <c:showCatName val="0"/>
            <c:showSerName val="0"/>
            <c:showPercent val="0"/>
            <c:showBubbleSize val="0"/>
            <c:showLeaderLines val="0"/>
          </c:dLbls>
          <c:dPt>
            <c:idx val="0"/>
            <c:invertIfNegative val="0"/>
            <c:bubble3D val="0"/>
            <c:spPr>
              <a:solidFill>
                <a:srgbClr val="0E6B7A"/>
              </a:solidFill>
              <a:effectLst/>
            </c:spPr>
          </c:dPt>
          <c:dPt>
            <c:idx val="1"/>
            <c:invertIfNegative val="0"/>
            <c:bubble3D val="0"/>
            <c:spPr>
              <a:solidFill>
                <a:srgbClr val="0E6B7A"/>
              </a:solidFill>
              <a:effectLst/>
            </c:spPr>
          </c:dPt>
          <c:dPt>
            <c:idx val="2"/>
            <c:invertIfNegative val="0"/>
            <c:bubble3D val="0"/>
            <c:spPr>
              <a:solidFill>
                <a:srgbClr val="0E6B7A"/>
              </a:solidFill>
              <a:effectLst/>
            </c:spPr>
          </c:dPt>
          <c:dPt>
            <c:idx val="3"/>
            <c:invertIfNegative val="0"/>
            <c:bubble3D val="0"/>
            <c:spPr>
              <a:solidFill>
                <a:srgbClr val="0E6B7A"/>
              </a:solidFill>
              <a:effectLst/>
            </c:spPr>
          </c:dPt>
          <c:dPt>
            <c:idx val="4"/>
            <c:invertIfNegative val="0"/>
            <c:bubble3D val="0"/>
            <c:spPr>
              <a:solidFill>
                <a:srgbClr val="E08E2B"/>
              </a:solidFill>
              <a:effectLst/>
            </c:spPr>
          </c:dPt>
          <c:dPt>
            <c:idx val="5"/>
            <c:invertIfNegative val="0"/>
            <c:bubble3D val="0"/>
            <c:spPr>
              <a:solidFill>
                <a:srgbClr val="3F8F6B"/>
              </a:solidFill>
              <a:effectLst/>
            </c:spPr>
          </c:dPt>
          <c:dPt>
            <c:idx val="6"/>
            <c:invertIfNegative val="0"/>
            <c:bubble3D val="0"/>
            <c:spPr>
              <a:solidFill>
                <a:srgbClr val="7C8D99"/>
              </a:solidFill>
              <a:effectLst/>
            </c:spPr>
          </c:dPt>
          <c:cat>
            <c:multiLvlStrRef>
              <c:f>Sheet1!$A$2:$A$8</c:f>
              <c:multiLvlStrCache>
                <c:ptCount val="7"/>
                <c:lvl>
                  <c:pt idx="0">
                    <c:v>Disgust</c:v>
                  </c:pt>
                  <c:pt idx="1">
                    <c:v>Repression</c:v>
                  </c:pt>
                  <c:pt idx="2">
                    <c:v>Sadness</c:v>
                  </c:pt>
                  <c:pt idx="3">
                    <c:v>Fear</c:v>
                  </c:pt>
                  <c:pt idx="4">
                    <c:v>Happiness</c:v>
                  </c:pt>
                  <c:pt idx="5">
                    <c:v>Surprise</c:v>
                  </c:pt>
                  <c:pt idx="6">
                    <c:v>Others</c:v>
                  </c:pt>
                </c:lvl>
              </c:multiLvlStrCache>
            </c:multiLvlStrRef>
          </c:cat>
          <c:val>
            <c:numRef>
              <c:f>Sheet1!$B$2:$B$8</c:f>
              <c:numCache>
                <c:formatCode>General</c:formatCode>
                <c:ptCount val="7"/>
                <c:pt idx="0">
                  <c:v>63</c:v>
                </c:pt>
                <c:pt idx="1">
                  <c:v>27</c:v>
                </c:pt>
                <c:pt idx="2">
                  <c:v>7</c:v>
                </c:pt>
                <c:pt idx="3">
                  <c:v>2</c:v>
                </c:pt>
                <c:pt idx="4">
                  <c:v>32</c:v>
                </c:pt>
                <c:pt idx="5">
                  <c:v>25</c:v>
                </c:pt>
                <c:pt idx="6">
                  <c:v>99</c:v>
                </c:pt>
              </c:numCache>
            </c:numRef>
          </c:val>
        </c:ser>
        <c:dLbls>
          <c:numFmt formatCode="#,##0" sourceLinked="0"/>
          <c:txPr>
            <a:bodyPr/>
            <a:lstStyle/>
            <a:p>
              <a:pPr>
                <a:defRPr b="1" i="0" strike="noStrike" sz="1200" u="none">
                  <a:solidFill>
                    <a:srgbClr val="1B2B3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Negative</c:v>
                </c:pt>
              </c:strCache>
            </c:strRef>
          </c:tx>
          <c:spPr>
            <a:solidFill>
              <a:srgbClr val="0E6B7A"/>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Sheet1!$A$2:$A$14</c:f>
              <c:multiLvlStrCache>
                <c:ptCount val="13"/>
                <c:lvl>
                  <c:pt idx="0">
                    <c:v>True</c:v>
                  </c:pt>
                  <c:pt idx="1">
                    <c:v>C2</c:v>
                  </c:pt>
                  <c:pt idx="2">
                    <c:v>C8</c:v>
                  </c:pt>
                  <c:pt idx="3">
                    <c:v>C7</c:v>
                  </c:pt>
                  <c:pt idx="4">
                    <c:v>C12</c:v>
                  </c:pt>
                  <c:pt idx="5">
                    <c:v>C6</c:v>
                  </c:pt>
                  <c:pt idx="6">
                    <c:v>C9</c:v>
                  </c:pt>
                  <c:pt idx="7">
                    <c:v>C13</c:v>
                  </c:pt>
                  <c:pt idx="8">
                    <c:v>C4</c:v>
                  </c:pt>
                  <c:pt idx="9">
                    <c:v>C1</c:v>
                  </c:pt>
                  <c:pt idx="10">
                    <c:v>C5</c:v>
                  </c:pt>
                  <c:pt idx="11">
                    <c:v>C3</c:v>
                  </c:pt>
                  <c:pt idx="12">
                    <c:v>C16</c:v>
                  </c:pt>
                </c:lvl>
              </c:multiLvlStrCache>
            </c:multiLvlStrRef>
          </c:cat>
          <c:val>
            <c:numRef>
              <c:f>Sheet1!$B$2:$B$14</c:f>
              <c:numCache>
                <c:formatCode>General</c:formatCode>
                <c:ptCount val="13"/>
                <c:pt idx="0">
                  <c:v>99</c:v>
                </c:pt>
                <c:pt idx="1">
                  <c:v>77</c:v>
                </c:pt>
                <c:pt idx="2">
                  <c:v>102</c:v>
                </c:pt>
                <c:pt idx="3">
                  <c:v>82</c:v>
                </c:pt>
                <c:pt idx="4">
                  <c:v>72</c:v>
                </c:pt>
                <c:pt idx="5">
                  <c:v>110</c:v>
                </c:pt>
                <c:pt idx="6">
                  <c:v>113</c:v>
                </c:pt>
                <c:pt idx="7">
                  <c:v>27</c:v>
                </c:pt>
                <c:pt idx="8">
                  <c:v>57</c:v>
                </c:pt>
                <c:pt idx="9">
                  <c:v>51</c:v>
                </c:pt>
                <c:pt idx="10">
                  <c:v>26</c:v>
                </c:pt>
                <c:pt idx="11">
                  <c:v>23</c:v>
                </c:pt>
                <c:pt idx="12">
                  <c:v>21</c:v>
                </c:pt>
              </c:numCache>
            </c:numRef>
          </c:val>
        </c:ser>
        <c:ser>
          <c:idx val="1"/>
          <c:order val="1"/>
          <c:tx>
            <c:strRef>
              <c:f>Sheet1!$C$1</c:f>
              <c:strCache>
                <c:ptCount val="1"/>
                <c:pt idx="0">
                  <c:v>Positive</c:v>
                </c:pt>
              </c:strCache>
            </c:strRef>
          </c:tx>
          <c:spPr>
            <a:solidFill>
              <a:srgbClr val="E08E2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Sheet1!$A$2:$A$14</c:f>
              <c:multiLvlStrCache>
                <c:ptCount val="13"/>
                <c:lvl>
                  <c:pt idx="0">
                    <c:v>True</c:v>
                  </c:pt>
                  <c:pt idx="1">
                    <c:v>C2</c:v>
                  </c:pt>
                  <c:pt idx="2">
                    <c:v>C8</c:v>
                  </c:pt>
                  <c:pt idx="3">
                    <c:v>C7</c:v>
                  </c:pt>
                  <c:pt idx="4">
                    <c:v>C12</c:v>
                  </c:pt>
                  <c:pt idx="5">
                    <c:v>C6</c:v>
                  </c:pt>
                  <c:pt idx="6">
                    <c:v>C9</c:v>
                  </c:pt>
                  <c:pt idx="7">
                    <c:v>C13</c:v>
                  </c:pt>
                  <c:pt idx="8">
                    <c:v>C4</c:v>
                  </c:pt>
                  <c:pt idx="9">
                    <c:v>C1</c:v>
                  </c:pt>
                  <c:pt idx="10">
                    <c:v>C5</c:v>
                  </c:pt>
                  <c:pt idx="11">
                    <c:v>C3</c:v>
                  </c:pt>
                  <c:pt idx="12">
                    <c:v>C16</c:v>
                  </c:pt>
                </c:lvl>
              </c:multiLvlStrCache>
            </c:multiLvlStrRef>
          </c:cat>
          <c:val>
            <c:numRef>
              <c:f>Sheet1!$C$2:$C$14</c:f>
              <c:numCache>
                <c:formatCode>General</c:formatCode>
                <c:ptCount val="13"/>
                <c:pt idx="0">
                  <c:v>32</c:v>
                </c:pt>
                <c:pt idx="1">
                  <c:v>51</c:v>
                </c:pt>
                <c:pt idx="2">
                  <c:v>22</c:v>
                </c:pt>
                <c:pt idx="3">
                  <c:v>41</c:v>
                </c:pt>
                <c:pt idx="4">
                  <c:v>61</c:v>
                </c:pt>
                <c:pt idx="5">
                  <c:v>10</c:v>
                </c:pt>
                <c:pt idx="6">
                  <c:v>28</c:v>
                </c:pt>
                <c:pt idx="7">
                  <c:v>40</c:v>
                </c:pt>
                <c:pt idx="8">
                  <c:v>59</c:v>
                </c:pt>
                <c:pt idx="9">
                  <c:v>38</c:v>
                </c:pt>
                <c:pt idx="10">
                  <c:v>56</c:v>
                </c:pt>
                <c:pt idx="11">
                  <c:v>56</c:v>
                </c:pt>
                <c:pt idx="12">
                  <c:v>38</c:v>
                </c:pt>
              </c:numCache>
            </c:numRef>
          </c:val>
        </c:ser>
        <c:ser>
          <c:idx val="2"/>
          <c:order val="2"/>
          <c:tx>
            <c:strRef>
              <c:f>Sheet1!$D$1</c:f>
              <c:strCache>
                <c:ptCount val="1"/>
                <c:pt idx="0">
                  <c:v>Surprise</c:v>
                </c:pt>
              </c:strCache>
            </c:strRef>
          </c:tx>
          <c:spPr>
            <a:solidFill>
              <a:srgbClr val="3F8F6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cat>
            <c:multiLvlStrRef>
              <c:f>Sheet1!$A$2:$A$14</c:f>
              <c:multiLvlStrCache>
                <c:ptCount val="13"/>
                <c:lvl>
                  <c:pt idx="0">
                    <c:v>True</c:v>
                  </c:pt>
                  <c:pt idx="1">
                    <c:v>C2</c:v>
                  </c:pt>
                  <c:pt idx="2">
                    <c:v>C8</c:v>
                  </c:pt>
                  <c:pt idx="3">
                    <c:v>C7</c:v>
                  </c:pt>
                  <c:pt idx="4">
                    <c:v>C12</c:v>
                  </c:pt>
                  <c:pt idx="5">
                    <c:v>C6</c:v>
                  </c:pt>
                  <c:pt idx="6">
                    <c:v>C9</c:v>
                  </c:pt>
                  <c:pt idx="7">
                    <c:v>C13</c:v>
                  </c:pt>
                  <c:pt idx="8">
                    <c:v>C4</c:v>
                  </c:pt>
                  <c:pt idx="9">
                    <c:v>C1</c:v>
                  </c:pt>
                  <c:pt idx="10">
                    <c:v>C5</c:v>
                  </c:pt>
                  <c:pt idx="11">
                    <c:v>C3</c:v>
                  </c:pt>
                  <c:pt idx="12">
                    <c:v>C16</c:v>
                  </c:pt>
                </c:lvl>
              </c:multiLvlStrCache>
            </c:multiLvlStrRef>
          </c:cat>
          <c:val>
            <c:numRef>
              <c:f>Sheet1!$D$2:$D$14</c:f>
              <c:numCache>
                <c:formatCode>General</c:formatCode>
                <c:ptCount val="13"/>
                <c:pt idx="0">
                  <c:v>25</c:v>
                </c:pt>
                <c:pt idx="1">
                  <c:v>28</c:v>
                </c:pt>
                <c:pt idx="2">
                  <c:v>32</c:v>
                </c:pt>
                <c:pt idx="3">
                  <c:v>33</c:v>
                </c:pt>
                <c:pt idx="4">
                  <c:v>23</c:v>
                </c:pt>
                <c:pt idx="5">
                  <c:v>36</c:v>
                </c:pt>
                <c:pt idx="6">
                  <c:v>15</c:v>
                </c:pt>
                <c:pt idx="7">
                  <c:v>89</c:v>
                </c:pt>
                <c:pt idx="8">
                  <c:v>40</c:v>
                </c:pt>
                <c:pt idx="9">
                  <c:v>67</c:v>
                </c:pt>
                <c:pt idx="10">
                  <c:v>74</c:v>
                </c:pt>
                <c:pt idx="11">
                  <c:v>77</c:v>
                </c:pt>
                <c:pt idx="12">
                  <c:v>97</c:v>
                </c:pt>
              </c:numCache>
            </c:numRef>
          </c:val>
        </c:ser>
        <c:dLbls>
          <c:numFmt formatCode="#,##0" sourceLinked="0"/>
          <c:txPr>
            <a:bodyPr/>
            <a:lstStyle/>
            <a:p>
              <a:pPr>
                <a:defRPr b="0" i="0" strike="noStrike" sz="1100" u="none">
                  <a:solidFill>
                    <a:srgbClr val="1B2B34"/>
                  </a:solidFill>
                  <a:latin typeface="+mn-lt"/>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DE5E8"/>
              </a:solidFill>
              <a:prstDash val="solid"/>
              <a:round/>
            </a:ln>
          </c:spPr>
        </c:majorGridlines>
        <c:title>
          <c:tx>
            <c:rich>
              <a:bodyPr/>
              <a:lstStyle/>
              <a:p>
                <a:pPr>
                  <a:defRPr sz="1200" b="0" i="0" u="none" strike="noStrike">
                    <a:solidFill>
                      <a:srgbClr val="7C8D99"/>
                    </a:solidFill>
                    <a:latin typeface="+mn-lt"/>
                  </a:defRPr>
                </a:pPr>
                <a:r>
                  <a:rPr sz="1200" b="0" i="0" u="none" strike="noStrike">
                    <a:solidFill>
                      <a:srgbClr val="7C8D99"/>
                    </a:solidFill>
                    <a:latin typeface="+mn-lt"/>
                  </a:rPr>
                  <a:t>Clips predicted as each class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D99"/>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attending my thesis defence. My thesis is titled "Improving Micro-Expression Recognition through Temporal and Motion Modeling".
In one sentence: I took a standard micro-expression recognition pipeline, switched four of its components on and off in every valid combination, and measured what each component actually contributes on the CASME II dataset.
I will first explain what micro-expressions are and why recognising them is difficult. Then I will present the research gap and my research questions, the method, the results, and finally the conclusions, limitations and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micro-expression is a brief, involuntary facial movement that reveals an emotion a person is trying to conceal.
The figure shows an example from CASME II. The movement is a lowering of the inner brow, action units 4 and 9, labelled as disgust. The apex, the point of greatest intensity, occurs about 110 milliseconds after the onset.
Three properties define the problem. First, micro-expressions are brief: they last no longer than about half a second. Second, they are faint: they are local, low-intensity movements close to the noise level of ordinary video. Third, they are involuntary: they cannot be produced on instruction, so data must be elicited in a laboratory.
The field is motivated by possible applications such as police interrogation, clinical diagnosis and lie detection. I want to be clear that these are motivating claims in the literature, not records of deployed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three properties, short, faint and scarce, work against simply applying a classifier to face images.
The field has responded in a consistent way: systems are built as pipelines. The small motion is amplified. The video is re-expressed as a description of movement, typically optical flow and optical strain. The clip is resampled to a fixed length. A spatial feature extractor reduces each frame, and a temporal model processes the sequence.
Each of these stages was introduced separately, with its own justification and its own reported gain, and the stages now tend to be adopted together.
This creates a practical difficulty for anyone building such a system. Implementation and tuning effort is finite, so you have to decide which stages justify the investment. The published literature does not answer that, because each component is almost always evaluated inside a complete system that differs from its predecessor in more than one respect. That is the motivation of this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literature review identified four limitations that are common to the reviewed studies.
A: components are isolated one at a time, inside one proposed design. Nobody varies several components together, so interactions are never observed.
B: evaluation protocols are inconsistent. For CASME II alone, three sample counts circulate, 247, 255 and 145, and studies differ in whether they leave out one subject, one video or one sample.
C: the strongest results depend on training conditions that a single-dataset study cannot reproduce, namely composite-dataset training or ImageNet pre-training.
D: preprocessing parameters such as the magnification factor, the sequence length and the input resolution have interior optima, but values are transferred between pipelines without re-validation.
Together these define the research gap: no reviewed study varies several stages of the standard pipeline jointly under one protocol. So the literature cannot tell us which stages are necessary, which are inherited convention, and which depend on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research question is: how can the modelling of temporal phases and motion cues improve recognition accuracy for subtle and short-lived facial expressions?
I address it through three more specific questions, one for each kind of component.
Question one concerns temporal modelling: to what extent does a transformer encoder improve recognition, compared with an otherwise identical pipeline without it?
Question two concerns motion magnification: does amplifying subtle facial motion with Eulerian video magnification improve recognition?
Question three concerns learned spatial processing: do a learned convolutional stem and parameter-free attention add anything beyond the hand-computed motion representation alone?
The key phrase in all three is "otherwise identical". Every comparison in this thesis removes one component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experiments use CASME II. It contains spontaneous micro-expressions recorded at 200 frames per second, with onset, apex and offset annotation. It has the highest temporal resolution among the spontaneous datasets of comparable size.
The released coding contains 255 clips from 26 subjects. I exclude the "Others" category, which has 99 clips, because a class defined by exclusion gives no meaningful training signal. That also removes subject 18, who has only "Others" clips. The working set is 156 clips from 25 subjects.
The emotions are grouped by valence into three classes: Negative with 99 clips, Positive with 32 and Surprise with 25.
This imbalance matters. A classifier that always predicts Negative reaches 63 percent accuracy but a macro F1 of only 0.26. So accuracy alone is uninformative, and I use macro F1 as the primary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has two stages. Stage one is preprocessing and runs once per clip.
Each clip is loaded in greyscale and resized to 224 by 224 pixels. I then sample 33 frames uniformly between onset and offset. If magnification is enabled, Eulerian video magnification is applied here, with an amplification factor of 10 and a band of 5 to 25 hertz. Farnebäck optical flow is computed for the 32 adjacent frame pairs. Optical strain is derived from the spatial gradients of the flow. Finally the horizontal flow, vertical flow and strain magnitude are stacked and normalised.
The result is a tensor of 3 by 32 by 224 by 224.
Note that the network never sees pixel intensities, only displacement and deformation fields, and that I use the original frames, with no face detection, alignment or cropping.
Because stage one finishes before any training, all configurations are compared on identical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components that the ablation switches on and off.
The first three belong to motion modelling. Eulerian video magnification amplifies subtle motion before optical flow is computed. The convolutional stem has three streams with separate weights, one per input channel. Its kernels are spatial only. SimAM is a parameter-free attention module that re-weights the stem's activations; it needs the stem to act on.
The fourth component is temporal modelling: a transformer encoder with sinusoidal positional encoding, four pre-norm layers and eight attention heads, applied to the sequence of 32 time steps.
A disabled component is not simply deleted; it is replaced by a minimal operation. Without the stem, each frame is average-pooled to a four by four grid and projected linearly. Without the transformer, the sequence is averaged over time, which has no parameters and no notion of temporal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is training and evaluation. All twelve configurations are branches of a single model, in which each component is executed or skipped by a switch.
The motion tensor passes through the convolutional stem and SimAM if they are enabled. Spatial pooling then removes the spatial dimensions and leaves a sequence of 32 time steps with 96 features each. The transformer processes this sequence, the result is averaged over time, and the classifier head produces three class scores.
Because every configuration shares the same implementation, initialisation and layer order, two configurations that differ in one switch differ in nothing else.
The parameter counts are on the slide. The stem has about 14,500 parameters, the transformer about 349,000. SimAM and magnification add none. So in the complete model the transformer holds about 96 percent of the parameters. So the transformer adds capacity as well as temporal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binary components give two to the power of four, sixteen combinations. Four of them enable SimAM without the convolutional stem. Without the stem, SimAM has nothing to act on, so those four are not trained. That leaves twelve valid configurations, shown in the table. The numbering skips the four excluded ones.
The analysis rests on matched pairs. A matched pair is two configurations that differ in exactly one component. For example, C1 and C2 differ only in the transformer. The difference between their scores estimates the contribution of that component with everything else held fixed. The effect I report for a component is the mean over all of its pairs.
The transformer and magnification each have six pairs. SimAM and the stem have four each, because SimAM requires the stem. In total there are twenty matched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is identical for all twelve configurations. Every model is trained from scratch, without pre-training or auxiliary data.
The loss is focal loss with gamma equal to two, combined with label smoothing of 0.05. The class imbalance is corrected by a class-balanced sampler, and the loss carries no class weights, because applying both would correct the same imbalance twice. I use AdamW for fifty epochs with a batch size of eight, and one fixed random seed. No hyperparameter search was performed.
Evaluation uses leave-one-subject-out cross-validation with 25 folds, so no subject appears in both training and test data.
The primary metric is pooled macro F1: confusion matrices are summed over all folds first. I do not average per-fold scores, because many folds lack one or two classes, which caps a mean-of-folds macro F1 at 0.627.
One declared limitation: the best epoch is chosen on the held-out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ranks the twelve configurations by pooled macro F1.
The most striking feature is the separation into two groups. The six teal bars are the configurations with the transformer. They score between 0.583 and 0.712. The six grey bars are the configurations without it. They score between 0.419 and 0.448.
The two groups do not overlap. The closest members are separated by 0.135. No other component divides the configurations into non-overlapping groups.
So the first result is simple: whether a configuration contains the temporal transformer determines which group it falls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configuration is C2, which contains only the temporal transformer. It reaches a pooled macro F1 of 0.7122 and an accuracy of 0.7436.
C8 enables all four components. It scores 0.6659, which is 0.0463 lower.
Interestingly, C8 has a slightly higher accuracy: it classifies 117 clips correctly against 116 for C2. So the two metrics select different configurations. The reason is that C8 is stronger on the majority class, while C2 is stronger on the two minority classes, and macro F1 weights all classes equally.
For reference, a classifier that always predicts Negative has a macro F1 of 0.2588. All twelve configurations exceed that.
The difference is a point estimate from a single seed, not a statistically established advantage. But the finding matters: an evaluation of the complete system alone would have reported the lower figure, with no way of discovering that a subset of its own architecture performs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the mean effect of each component over its matched pairs.
The temporal transformer improves pooled macro F1 by 0.2173 on average, and all six of its pairs are positive, ranging from plus 0.158 to plus 0.279.
Motion magnification has a mean effect of plus 0.0152. Four of six pairs improve, two decline.
SimAM has a mean effect of plus 0.0034, the smallest of the four. Three of four pairs are positive.
The convolutional stem is the only component with a negative mean effect, minus 0.0310. Two pairs are slightly positive and two are negative.
Two observations. Even the smallest transformer gain is larger than the mean effect of any other component. And the effects are not additive: enabling every component does not maximise the score.
So temporal modelling carries almost all of the measured effect in this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twenty matched pairs behind those means. Each bar is one pair, labelled "off to on" by configuration number, and all four panels share the same vertical scale.
For the transformer, every bar is clearly positive. The largest gain is from C1 to C2, plus 0.279.
For magnification the picture is mixed. The largest gain, plus 0.080, is from C9 to C7, where the stem and the transformer are present. The largest loss, minus 0.054, occurs when magnification is added to the best configuration, C2 to C12.
For the convolutional stem, three of the four differences are smaller than 0.01. The mean is dominated by one pair: adding the stem to the best configuration, C2 to C9, loses 0.129.
So small means can hide considerable variation, and the two large losses both occur when a component is added to the transformer-only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Macro F1 is an average over the three classes, so it is worth looking at the classes separately.
First, every configuration has a nonzero F1 on all three classes. No configuration abandons a class.
Second, C2, the best configuration, has the highest Positive and Surprise scores, 0.65 and 0.68. Its advantage in macro F1 comes from the minority classes.
Third, C9, the stem plus the transformer, has the highest Negative F1 of all, 0.85, but a Surprise F1 of only 0.30. Its accuracy is nevertheless 0.73. This shows that high accuracy can coincide with weak minority-class performance, which is exactly why accuracy is not my primary metric.
Fourth, the Negative class separates the two groups most clearly: with the transformer, Negative F1 is between 0.75 and 0.85; without it, between 0.35 and 0.56.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confusion matrices show how the models fail. Rows are true classes and columns are predictions.
On the left is C1, with no components. It over-predicts the minority classes. Of the 99 Negative clips, 35 are predicted as Surprise and 22 as Positive. This pattern holds for all six configurations without the transformer: their Negative recall is only 0.21 to 0.44. A likely cause is the balanced sampler: the model learns class frequencies near one third each, and when the features discriminate poorly, predictions follow that prior.
In the centre is C8, with all components. The stem shifts transformer configurations towards the majority class: 13 of 32 Positive clips are predicted as Negative.
On the right is C2. It recognises all three classes with similar recall: 0.72, 0.84 and 0.72. Its main error is predicting Positive for 20 Negative clips.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the components behave this way? These are plausible explanations; none was isolated experimentally.
The transformer: without it, the sequence is averaged over time. A micro-expression rises to its apex and returns towards neutral, so the displacements of the two phases partly cancel and their order is lost. The transformer can relate onset, apex and offset. But it also adds about 349,000 parameters, so I cannot separate temporal order from added capacity.
Magnification: optical flow already recovers faint motion, and per-channel normalisation removes differences in amplitude. Without alignment, head movement is amplified too.
SimAM: its weight is bounded between about 0.62 and 1, so it can only attenuate moderately, and its output is then averaged over the whole frame.
The stem: its output is averaged over the whole frame, which discards where the movement occurs, whereas the replacement keeps a coarse four by four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places my best result next to the results reported for the CASME II subset in the MEGC 2019 challenge.
My best score, 0.7122, lies above LBP-TOP and the method of Quang et al., and below the other five entries.
However, this is not a like-for-like comparison, for three reasons.
First, training data. The published entries were trained on the composite dataset of 442 samples from 68 subjects, about 2.8 times more than my 156 clips from 25 subjects.
Second, evaluation data. The MEGC subset has 145 clips; I use 156, because I include sadness and fear in the Negative class.
Third, checkpoint selection. I select the epoch on the held-out subject. That bias can only raise my scores, so it cannot explain why they are lower.
So the comparison locates my results within the published range. It does not claim state-of-the-art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now answer the research questions.
Question one, temporal modelling. The transformer produced by far the largest improvement: plus 0.2173 on average, with all six pairs improving. The best configuration contains the transformer alone.
Question two, motion magnification. In this pipeline it did not improve recognition reliably. The mean effect was plus 0.0152, four of six pairs improved, and adding it to the best configuration reduced the score by 0.0541.
Question three, learned spatial features and attention. Neither added to the motion representation. The stem had a negative mean effect, and SimAM was indistinguishable from zero.
For the central question: on a small dataset, the improvement comes from modelling the temporal evolution of an analytically computed motion representation, not from more preprocessing or learned spatial processing. I did not measure robustness to noise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results hold within clear limits.
First, the evaluation protocol. Each configuration was trained once with one random seed, so there are no confidence intervals. The epoch was selected on the same held-out subject that was scored, which biases the scores upwards by an unknown amount. And per-clip predictions were not retained, so no paired significance test such as McNemar's test can be computed.
Second, fixed settings. The magnification factor, the sequence length, the SimAM constant and the focal loss exponent were taken from the literature and not searched. Each component was varied only as present or absent.
Third, departures from the reviewed methods. There are twelve declared divergences. For example, the stem has no temporal kernels, and magnification is applied after subsampling.
Fourth, a single dataset: 156 clips from 25 subjects, one ethnicity, a narrow age range and laboratory recording. No claim extends beyond these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limitations point directly to future work.
For the evaluation: select the training epoch on subjects withheld from the training set, keep per-clip predictions so that configurations can be compared with McNemar's test, and repeat the experiment with several seeds to obtain confidence intervals.
For the convolutional stem: retrain it at lower resolutions, such as 28 by 28 and 56 by 56, and keep the spatial layout of its features instead of averaging them over the frame.
For the motion representation: apply magnification before subsampling, vary the amplification factor, compare Farnebäck with TV-L1.
For temporal modelling: test an LSTM aggregator, onset-referenced flow and learned positional embeddings, and add a control with a comparable number of parameters but no temporal modelling, to isolate self-attention from capacity.
Finally, evaluate on a composite dataset and on SAMM, CAS(ME) cubed and DFME to test whether the effects hold beyond CASME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thesis makes three contributions.
First, a factorial evaluation of a standard micro-expression recognition pipeline: all twelve valid combinations of four components, under one leave-one-subject-out protocol, so that each contribution is measured against an otherwise identical pipeline.
Second, a measured account of temporal and motion modelling. The transformer carries almost all of the effect. Magnification and SimAM are small or indistinguishable from noise, and the convolutional stem is negative on average.
Third, evidence that the full pipeline is not the best configuration. The transformer alone reaches 0.7122, against 0.6659 for all four components.
The overall conclusion is that, within one dataset, one training protocol and one setting of the preprocessing parameters, modelling the temporal evolution of facial motion matters more than adding further preprocessing or spatial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Thank you for your attention.
To summarise in two numbers: the best configuration, with the temporal transformer alone, reaches a pooled macro F1 of 0.7122, and the transformer improves the score by 0.2173 on average over six matched pairs.
I am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These are not part of the talk. Jump to one only when a question calls for it. They cover: datasets, CASME II labels, fold composition, magnification, optical flow and strain, temporal sampling, the convolutional stream and SimAM, the transformer and SLSTT, training settings, metrics, the published evidence, the full results table, the predicted class distribution, the twelve divergences, and the research gap per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why I chose CASME II or how it compares with other datasets.
The table lists the spontaneous micro-expression datasets most widely used for recognition. CASME II has 26 subjects in the released coding, 200 frames per second and FACS coding. SMIC is not FACS-coded. SAMM addresses the demographic narrowness with 13 ethnicities. CAS(ME) squared and MMEW also contain macro-expressions. DFME is far larger, with 7,526 clips from 671 participants.
I chose CASME II for three reasons: the highest temporal resolution among datasets of comparable size, well-defined onset and offset annotation, and its status as the most widely reported single-dataset benchmark. The price is that no result extends to other populations or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about the class grouping or why my sample count differs from other papers.
The released coding has seven labels: disgust 63, repression 27, sadness 7, fear 2, happiness 32, surprise 25 and others 99. Seven-class recognition is not viable with two fear clips and seven sadness clips.
Three sample counts circulate for CASME II. The paper reports 247. The released coding file contains 255. MEGC 2019 uses 145, because its Negative class is disgust and repression only.
I use 156: I add sadness and fear to Negative, following the mapping MEGC gives for SAMM. Nine of the eleven extra clips are sadness and fear; two are unexplained, because disgust and repression number 90 in the released coding against 88 in the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why I pool the confusion matrices instead of averaging per-fold scores.
Each bar is one held-out subject, and the number above it is how many of the three classes that subject has. The folds are very unequal: subject 17 alone contributes 33 clips, and three subjects contribute a single clip.
Ten folds contain only one class, eight contain two, and seven contain all three. A class that is absent from a fold contributes an F1 of zero, so a one-class fold can score at most one third and a two-class fold at most two thirds.
The mean-of-folds macro F1 is therefore capped at about 0.627, however good the model is. Pooling the counts over all 156 clips avoids this ceiling, and it is exactly how the UF1 of MEGC 2019 is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how magnification works or how my implementation differs from the reference.
The first equation is the small-motion approximation: a small displacement delta changes the intensity by delta times the spatial gradient. Amplifying that variation by alpha gives an intensity that resembles a displacement enlarged by one plus alpha.
The table lists the implementation choices. The band is the full 5 to 25 hertz, where Bai et al. narrowed it to 15 to 25 to reduce noise. The filter is a hard Fourier mask, not a Butterworth filter. The same alpha of 10 is applied to every level of a four-level Laplacian pyramid. And, most importantly, magnification is applied after the clip is sampled to 33 frames, so the realised pass-band depends on the clip length: about 2.5 to 12.5 hertz at the median length.
The filter separates frequencies, not causes, so head movement in the band is amplified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for the mathematics of the motion representation.
Optical flow rests on brightness constancy: a moving point keeps its intensity. A first-order expansion gives the flow constraint equation, which is one equation in two unknowns. That is the aperture problem, and it is why estimators add neighbourhood assumptions. I use the Farnebäck estimator.
Optical strain is the symmetric part of the gradient of the displacement field. Its normal components describe stretching and compression, and the off-diagonal component describes shear. A uniform translation has zero strain.
My scalar magnitude counts the shear component once. The Frobenius norm used by Liong et al. counts it twice. This is a declared divergence and was not tested experimentally.
The three fields, u, v and the strain magnitude, form the three input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about the sequence length, the frame rate or the Temporal Interpolation Model.
Clips are between 31 and 126 frames long, with a median of 66. I sample 33 frames uniformly, so the effective frame rate is 6600 divided by the clip length: 100 frames per second at the median, and about 52 for the longest clip. 81 of the 156 clips are downsampled by a factor of two or more. Three clips have only 31 frames, so indices repeat and give near-zero flow.
I sample existing frames and do not use the Temporal Interpolation Model, because synthesised frames would produce synthesised displacements.
In the literature, ten frames is a convention, and the studies that test the length disagree: Li et al. find ten frames best, Ben et al. find sixty. I did not vary the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for the exact layers of the stem or the SimAM formula.
Each stream has two convolutions with spatial kernels of one by three by three, with 16 and then 32 filters, each followed by batch normalisation, ReLU and channel-wise dropout of 0.3, and a final max pooling that halves height and width. The three streams are concatenated to 96 channels. No kernel spans time.
SimAM computes the mean and variance of each channel, here over the whole clip. For each activation it computes a reciprocal energy that grows with the squared distance from the mean, and multiplies the activation by the sigmoid of that value.
Because the reciprocal energy is at least one half, the weight lies between about 0.62 and 1. So SimAM can only attenuate moderately, which is one reason its measured effect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how my transformer relates to SLSTT.
The top equation is scaled dot-product self-attention. The second is the fixed sinusoidal positional encoding added to the 32 tokens; the feature dimension is 96.
The table lists the six differences from published SLSTT. In SLSTT, self-attention is spatial, over patches within a frame, and an LSTM models time. In my model, self-attention is temporal, over the tokens of a clip, followed by a mean. SLSTT uses an ImageNet-pre-trained ViT-B/16 with twelve layers; mine has four small layers trained from scratch. SLSTT uses learned positions and onset-referenced flow; I use sinusoidal positions and consecutive-frame flow.
So my component is a small temporal transformer encoder, not a reproduction of SLSTT, and I do not claim to validate SLSTT.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for exact training settings or the loss.
The table gives the full recipe, identical for all configurations and folds. Focal loss with gamma of two, label smoothing of 0.05, a class-balanced sampler, AdamW with a learning rate and weight decay of ten to the minus four, five warmup epochs and cosine annealing, fifty epochs, batch size eight, gradient clipping and mixed precision.
On the right are the loss formulas. The focal term reduces the contribution of confidently classified examples. It depends on difficulty, not on class frequency, so the frequency correction must come from the sampler.
The class-weighting rule says that loss weights are used only when the sampler is inactive. It was introduced after two failures in opposite directions during development. I report that as context: its causal effect was not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to define the metrics.
Precision is the share of predictions of a class that are correct. Recall is the share of clips of a class that are found. F1 is their harmonic mean. Macro F1 is the mean of the three class F1 scores, so each class has equal weight.
My primary metric is pooled macro F1: the confusion matrices of the 25 folds are summed first, and the class F1 scores are computed once. This is identical in construction to the UF1 of MEGC 2019.
I reject the mean of per-fold scores because of the fold composition: it is capped at 0.627.
I report pooled accuracy alongside, but accuracy equals micro F1 and is dominated by the majority class. Always predicting Negative gives 0.6346 accuracy and only 0.2588 macro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what the literature says about magnification and strain.
On the left is the only controlled comparison with and without magnification in the reviewed literature, from Li et al. 2018. On CASME II, magnification raises accuracy by about 5 points for LBP, 6.5 for HOG and 10 for HIGO. The curve over alpha is non-monotonic, with the best range 8 to 16. But all of these descriptors are computed on magnified pixel intensities; none is an explicit motion field. That is exactly the case my thesis tests.
On the right is Liong et al. 2016. Strain features alone are below the texture baseline; combined with strain weighting they reach 63.16 percent on CASME II, against 55.87 for the matched flow descriptors. But CASME II is evaluated leave-one-video-out there, which is not subject-independent, and these are hand-crafted descriptors.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for an exact number for any configuration.
The table gives, for all twelve configurations in rank order, the components that are enabled, the pooled macro F1, the pooled accuracy and the three per-class F1 scores.
Points worth knowing. C2 is first in macro F1 with 0.7122. C8 has the highest accuracy, 0.7500. C9 has the highest Negative F1, 0.8491, but a Surprise F1 of 0.3000. The lowest single class score is the Surprise F1 of C4, 0.2462. The six configurations without the transformer all lie between 0.4192 and 0.4480 in macro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why the models without a transformer have low accuracy.
The chart shows how many clips each configuration predicts as each class. The first group shows the true class sizes: 99, 32 and 25.
The six configurations on the right have no transformer. They predict Surprise between 40 and 97 times, although only 25 clips are Surprise, and they predict Positive more often than its 32 clips. Most Negative clips are therefore misclassified.
A likely cause is the balanced sampler: the model learns class frequencies near one third each, and when the features are weak, predictions follow that prior.
The configurations with the transformer are much closer to the true distribution. Those that also contain the stem predict Negative 82 to 113 times, a shift towards the majority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how my implementation differs from the methods it draws on.
The literature review identified twelve points of departure, and I declare all of them so that no result rests on an unstated assumption.
Three were identified by the review itself and were not deliberate design decisions: the strain formula, the order of magnification and sampling, and the input resolution.
None of them invalidates the ablation, because every configuration shares them. What they do is constrain the wording of the conclusions. What I measure is the contribution of a spatial stem at 224 by 224 and of a temporal encoder within this pipeline. It is not a verdict on temporal convolution or on SLSTT.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for a specific component, what was unknown and what my study does not cover.
For each component the table gives the research gap left by the reviewed literature and the limitation of my implementation. The first five rows are motion modelling; the last two are temporal modelling.
For example, magnification has only been evaluated in front of appearance-based descriptors, and I fix alpha at 10. No study removes the learned spatial stem, and mine has spatial kernels only at 224 by 224. The best transformer results combine a pre-trained spatial transformer with an LSTM, and my ablation compares the complete encoder with mean pooling without isolating self-attention.
For training, the imbalance treatment, gamma and label smoothing are identical in all configurations, so their effects are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3703320"/>
            <a:ext cx="10515600" cy="8229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8686800" cy="274320"/>
          </a:xfrm>
          <a:prstGeom prst="rect">
            <a:avLst/>
          </a:prstGeom>
          <a:noFill/>
          <a:ln/>
        </p:spPr>
        <p:txBody>
          <a:bodyPr wrap="square" lIns="0" tIns="0" rIns="0" bIns="0" rtlCol="0" anchor="ctr"/>
          <a:lstStyle/>
          <a:p>
            <a:pPr indent="0" marL="0">
              <a:buNone/>
            </a:pPr>
            <a:r>
              <a:rPr lang="en-US" sz="1000" dirty="0">
                <a:solidFill>
                  <a:schemeClr val="accent3"/>
                </a:solidFill>
              </a:rPr>
              <a:t>Improving Micro-Expression Recognition through Temporal and Motion Modeling</a:t>
            </a:r>
            <a:endParaRPr lang="en-US" sz="10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chart" Target="/ppt/charts/chart7.xml"/><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2011680"/>
          </a:xfrm>
          <a:prstGeom prst="rect">
            <a:avLst/>
          </a:prstGeom>
          <a:noFill/>
          <a:ln/>
        </p:spPr>
        <p:txBody>
          <a:bodyPr wrap="square" lIns="0" tIns="0" rIns="0" bIns="0" rtlCol="0" anchor="ctr"/>
          <a:lstStyle/>
          <a:p>
            <a:pPr algn="l" indent="0" marL="0">
              <a:buNone/>
            </a:pPr>
            <a:r>
              <a:rPr lang="en-US" sz="4000" b="1" dirty="0">
                <a:solidFill>
                  <a:schemeClr val="bg1"/>
                </a:solidFill>
              </a:rPr>
              <a:t>Improving Micro-Expression Recognition through Temporal and Motion Modeling</a:t>
            </a:r>
            <a:endParaRPr lang="en-US" sz="4000" dirty="0"/>
          </a:p>
        </p:txBody>
      </p:sp>
      <p:sp>
        <p:nvSpPr>
          <p:cNvPr id="4" name="Text 0"/>
          <p:cNvSpPr/>
          <p:nvPr>
            <p:ph idx="101" type="body" hasCustomPrompt="1"/>
          </p:nvPr>
        </p:nvSpPr>
        <p:spPr>
          <a:xfrm>
            <a:off x="822960" y="3703320"/>
            <a:ext cx="10515600" cy="822960"/>
          </a:xfrm>
          <a:prstGeom prst="rect">
            <a:avLst/>
          </a:prstGeom>
          <a:noFill/>
          <a:ln/>
        </p:spPr>
        <p:txBody>
          <a:bodyPr wrap="square" lIns="0" tIns="0" rIns="0" bIns="0" rtlCol="0" anchor="t"/>
          <a:lstStyle/>
          <a:p>
            <a:pPr algn="l" indent="0" marL="0">
              <a:buNone/>
            </a:pPr>
            <a:r>
              <a:rPr lang="en-US" sz="2000" dirty="0">
                <a:solidFill>
                  <a:schemeClr val="bg2"/>
                </a:solidFill>
              </a:rPr>
              <a:t>A factorial ablation of a standard recognition pipeline on CASME II</a:t>
            </a:r>
            <a:endParaRPr lang="en-US" sz="2000" dirty="0"/>
          </a:p>
        </p:txBody>
      </p:sp>
      <p:sp>
        <p:nvSpPr>
          <p:cNvPr id="5" name="text-1"/>
          <p:cNvSpPr txBox="1"/>
          <p:nvPr/>
        </p:nvSpPr>
        <p:spPr>
          <a:xfrm>
            <a:off x="822960" y="4800600"/>
            <a:ext cx="10515600" cy="365760"/>
          </a:xfrm>
          <a:prstGeom prst="rect">
            <a:avLst/>
          </a:prstGeom>
          <a:noFill/>
          <a:ln/>
        </p:spPr>
        <p:txBody>
          <a:bodyPr wrap="square" lIns="0" tIns="0" rIns="0" bIns="0" rtlCol="0" anchor="t"/>
          <a:lstStyle/>
          <a:p>
            <a:pPr indent="0" marL="0">
              <a:buNone/>
            </a:pPr>
            <a:r>
              <a:rPr lang="en-US" sz="1750" b="1" dirty="0">
                <a:solidFill>
                  <a:schemeClr val="accent2"/>
                </a:solidFill>
              </a:rPr>
              <a:t>Master's thesis defence</a:t>
            </a:r>
            <a:endParaRPr lang="en-US" sz="1750" dirty="0"/>
          </a:p>
        </p:txBody>
      </p:sp>
      <p:sp>
        <p:nvSpPr>
          <p:cNvPr id="6" name="text-2"/>
          <p:cNvSpPr txBox="1"/>
          <p:nvPr/>
        </p:nvSpPr>
        <p:spPr>
          <a:xfrm>
            <a:off x="822960" y="5212080"/>
            <a:ext cx="10515600" cy="365760"/>
          </a:xfrm>
          <a:prstGeom prst="rect">
            <a:avLst/>
          </a:prstGeom>
          <a:noFill/>
          <a:ln/>
        </p:spPr>
        <p:txBody>
          <a:bodyPr wrap="square" lIns="0" tIns="0" rIns="0" bIns="0" rtlCol="0" anchor="t"/>
          <a:lstStyle/>
          <a:p>
            <a:pPr indent="0" marL="0">
              <a:buNone/>
            </a:pPr>
            <a:r>
              <a:rPr lang="en-US" sz="1550" dirty="0">
                <a:solidFill>
                  <a:schemeClr val="bg2"/>
                </a:solidFill>
              </a:rPr>
              <a:t>[Your name]   |   Supervisor: [name]   |   [University, date]</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Micro-expressions are brief, faint and involuntary</a:t>
            </a:r>
            <a:endParaRPr lang="en-US" sz="3000" dirty="0"/>
          </a:p>
        </p:txBody>
      </p:sp>
      <p:pic>
        <p:nvPicPr>
          <p:cNvPr id="4" name="Image 0" descr="Frame sequence of a CASME II micro-expression from onset to offset">    </p:cNvPr>
          <p:cNvPicPr>
            <a:picLocks noChangeAspect="1"/>
          </p:cNvPicPr>
          <p:nvPr/>
        </p:nvPicPr>
        <p:blipFill>
          <a:blip r:embed="rId1"/>
          <a:stretch>
            <a:fillRect/>
          </a:stretch>
        </p:blipFill>
        <p:spPr>
          <a:xfrm>
            <a:off x="548640" y="1371600"/>
            <a:ext cx="7498080" cy="2506788"/>
          </a:xfrm>
          <a:prstGeom prst="rect">
            <a:avLst/>
          </a:prstGeom>
        </p:spPr>
      </p:pic>
      <p:sp>
        <p:nvSpPr>
          <p:cNvPr id="5" name="text-3"/>
          <p:cNvSpPr txBox="1"/>
          <p:nvPr/>
        </p:nvSpPr>
        <p:spPr>
          <a:xfrm>
            <a:off x="548640" y="3950208"/>
            <a:ext cx="7498080" cy="548640"/>
          </a:xfrm>
          <a:prstGeom prst="rect">
            <a:avLst/>
          </a:prstGeom>
          <a:noFill/>
          <a:ln/>
        </p:spPr>
        <p:txBody>
          <a:bodyPr wrap="square" lIns="0" tIns="0" rIns="0" bIns="0" rtlCol="0" anchor="t"/>
          <a:lstStyle/>
          <a:p>
            <a:pPr indent="0" marL="0">
              <a:buNone/>
            </a:pPr>
            <a:r>
              <a:rPr lang="en-US" sz="1300" i="1" dirty="0">
                <a:solidFill>
                  <a:schemeClr val="accent3"/>
                </a:solidFill>
              </a:rPr>
              <a:t>A CASME II micro-expression: AU 4 and AU 9, labelled as disgust. The apex occurs about 110 ms after onset (Yan et al., 2014).</a:t>
            </a:r>
            <a:endParaRPr lang="en-US" sz="1300" dirty="0"/>
          </a:p>
        </p:txBody>
      </p:sp>
      <p:sp>
        <p:nvSpPr>
          <p:cNvPr id="6" name="card-4"/>
          <p:cNvSpPr/>
          <p:nvPr/>
        </p:nvSpPr>
        <p:spPr>
          <a:xfrm>
            <a:off x="8412480" y="1371600"/>
            <a:ext cx="3227832" cy="932688"/>
          </a:xfrm>
          <a:prstGeom prst="roundRect">
            <a:avLst>
              <a:gd name="adj" fmla="val 9804"/>
            </a:avLst>
          </a:prstGeom>
          <a:solidFill>
            <a:schemeClr val="bg2"/>
          </a:solidFill>
          <a:ln w="6350">
            <a:solidFill>
              <a:schemeClr val="bg2"/>
            </a:solidFill>
            <a:prstDash val="solid"/>
          </a:ln>
        </p:spPr>
      </p:sp>
      <p:sp>
        <p:nvSpPr>
          <p:cNvPr id="7" name="text-5"/>
          <p:cNvSpPr txBox="1"/>
          <p:nvPr/>
        </p:nvSpPr>
        <p:spPr>
          <a:xfrm>
            <a:off x="8577072" y="1463040"/>
            <a:ext cx="2926080" cy="777240"/>
          </a:xfrm>
          <a:prstGeom prst="rect">
            <a:avLst/>
          </a:prstGeom>
          <a:noFill/>
          <a:ln/>
        </p:spPr>
        <p:txBody>
          <a:bodyPr wrap="square" lIns="0" tIns="0" rIns="0" bIns="0" rtlCol="0" anchor="t"/>
          <a:lstStyle/>
          <a:p>
            <a:pPr indent="0" marL="0">
              <a:buNone/>
            </a:pPr>
            <a:r>
              <a:rPr lang="en-US" sz="1750" b="1" dirty="0">
                <a:solidFill>
                  <a:schemeClr val="accent1"/>
                </a:solidFill>
              </a:rPr>
              <a:t>Brief</a:t>
            </a:r>
            <a:endParaRPr lang="en-US" sz="1650" dirty="0"/>
          </a:p>
          <a:p>
            <a:pPr indent="0" marL="0">
              <a:buNone/>
            </a:pPr>
            <a:r>
              <a:rPr lang="en-US" sz="1400" dirty="0">
                <a:solidFill>
                  <a:schemeClr val="tx1"/>
                </a:solidFill>
              </a:rPr>
              <a:t>They last no longer than about half a second.</a:t>
            </a:r>
            <a:endParaRPr lang="en-US" sz="1650" dirty="0"/>
          </a:p>
        </p:txBody>
      </p:sp>
      <p:sp>
        <p:nvSpPr>
          <p:cNvPr id="8" name="card-6"/>
          <p:cNvSpPr/>
          <p:nvPr/>
        </p:nvSpPr>
        <p:spPr>
          <a:xfrm>
            <a:off x="8412480" y="2450592"/>
            <a:ext cx="3227832" cy="932688"/>
          </a:xfrm>
          <a:prstGeom prst="roundRect">
            <a:avLst>
              <a:gd name="adj" fmla="val 9804"/>
            </a:avLst>
          </a:prstGeom>
          <a:solidFill>
            <a:schemeClr val="bg2"/>
          </a:solidFill>
          <a:ln w="6350">
            <a:solidFill>
              <a:schemeClr val="bg2"/>
            </a:solidFill>
            <a:prstDash val="solid"/>
          </a:ln>
        </p:spPr>
      </p:sp>
      <p:sp>
        <p:nvSpPr>
          <p:cNvPr id="9" name="text-7"/>
          <p:cNvSpPr txBox="1"/>
          <p:nvPr/>
        </p:nvSpPr>
        <p:spPr>
          <a:xfrm>
            <a:off x="8577072" y="2542032"/>
            <a:ext cx="2926080" cy="777240"/>
          </a:xfrm>
          <a:prstGeom prst="rect">
            <a:avLst/>
          </a:prstGeom>
          <a:noFill/>
          <a:ln/>
        </p:spPr>
        <p:txBody>
          <a:bodyPr wrap="square" lIns="0" tIns="0" rIns="0" bIns="0" rtlCol="0" anchor="t"/>
          <a:lstStyle/>
          <a:p>
            <a:pPr indent="0" marL="0">
              <a:buNone/>
            </a:pPr>
            <a:r>
              <a:rPr lang="en-US" sz="1750" b="1" dirty="0">
                <a:solidFill>
                  <a:schemeClr val="accent1"/>
                </a:solidFill>
              </a:rPr>
              <a:t>Faint</a:t>
            </a:r>
            <a:endParaRPr lang="en-US" sz="1650" dirty="0"/>
          </a:p>
          <a:p>
            <a:pPr indent="0" marL="0">
              <a:buNone/>
            </a:pPr>
            <a:r>
              <a:rPr lang="en-US" sz="1400" dirty="0">
                <a:solidFill>
                  <a:schemeClr val="tx1"/>
                </a:solidFill>
              </a:rPr>
              <a:t>Local, low-intensity movements close to the noise level of video.</a:t>
            </a:r>
            <a:endParaRPr lang="en-US" sz="1650" dirty="0"/>
          </a:p>
        </p:txBody>
      </p:sp>
      <p:sp>
        <p:nvSpPr>
          <p:cNvPr id="10" name="card-8"/>
          <p:cNvSpPr/>
          <p:nvPr/>
        </p:nvSpPr>
        <p:spPr>
          <a:xfrm>
            <a:off x="8412480" y="3529584"/>
            <a:ext cx="3227832" cy="932688"/>
          </a:xfrm>
          <a:prstGeom prst="roundRect">
            <a:avLst>
              <a:gd name="adj" fmla="val 9804"/>
            </a:avLst>
          </a:prstGeom>
          <a:solidFill>
            <a:schemeClr val="bg2"/>
          </a:solidFill>
          <a:ln w="6350">
            <a:solidFill>
              <a:schemeClr val="bg2"/>
            </a:solidFill>
            <a:prstDash val="solid"/>
          </a:ln>
        </p:spPr>
      </p:sp>
      <p:sp>
        <p:nvSpPr>
          <p:cNvPr id="11" name="text-9"/>
          <p:cNvSpPr txBox="1"/>
          <p:nvPr/>
        </p:nvSpPr>
        <p:spPr>
          <a:xfrm>
            <a:off x="8577072" y="3621024"/>
            <a:ext cx="2926080" cy="777240"/>
          </a:xfrm>
          <a:prstGeom prst="rect">
            <a:avLst/>
          </a:prstGeom>
          <a:noFill/>
          <a:ln/>
        </p:spPr>
        <p:txBody>
          <a:bodyPr wrap="square" lIns="0" tIns="0" rIns="0" bIns="0" rtlCol="0" anchor="t"/>
          <a:lstStyle/>
          <a:p>
            <a:pPr indent="0" marL="0">
              <a:buNone/>
            </a:pPr>
            <a:r>
              <a:rPr lang="en-US" sz="1750" b="1" dirty="0">
                <a:solidFill>
                  <a:schemeClr val="accent1"/>
                </a:solidFill>
              </a:rPr>
              <a:t>Involuntary</a:t>
            </a:r>
            <a:endParaRPr lang="en-US" sz="1650" dirty="0"/>
          </a:p>
          <a:p>
            <a:pPr indent="0" marL="0">
              <a:buNone/>
            </a:pPr>
            <a:r>
              <a:rPr lang="en-US" sz="1400" dirty="0">
                <a:solidFill>
                  <a:schemeClr val="tx1"/>
                </a:solidFill>
              </a:rPr>
              <a:t>They cannot be posed, so data must be elicited in the laboratory.</a:t>
            </a:r>
            <a:endParaRPr lang="en-US" sz="1650" dirty="0"/>
          </a:p>
        </p:txBody>
      </p:sp>
      <p:sp>
        <p:nvSpPr>
          <p:cNvPr id="12" name="card-10"/>
          <p:cNvSpPr/>
          <p:nvPr/>
        </p:nvSpPr>
        <p:spPr>
          <a:xfrm>
            <a:off x="548640" y="4754880"/>
            <a:ext cx="11094415" cy="1325880"/>
          </a:xfrm>
          <a:prstGeom prst="roundRect">
            <a:avLst>
              <a:gd name="adj" fmla="val 6897"/>
            </a:avLst>
          </a:prstGeom>
          <a:solidFill>
            <a:schemeClr val="tx2"/>
          </a:solidFill>
          <a:ln w="6350">
            <a:solidFill>
              <a:schemeClr val="tx2"/>
            </a:solidFill>
            <a:prstDash val="solid"/>
          </a:ln>
        </p:spPr>
      </p:sp>
      <p:sp>
        <p:nvSpPr>
          <p:cNvPr id="13" name="text-11"/>
          <p:cNvSpPr txBox="1"/>
          <p:nvPr/>
        </p:nvSpPr>
        <p:spPr>
          <a:xfrm>
            <a:off x="822960" y="4901184"/>
            <a:ext cx="10545775" cy="1051560"/>
          </a:xfrm>
          <a:prstGeom prst="rect">
            <a:avLst/>
          </a:prstGeom>
          <a:noFill/>
          <a:ln/>
        </p:spPr>
        <p:txBody>
          <a:bodyPr wrap="square" lIns="0" tIns="0" rIns="0" bIns="0" rtlCol="0" anchor="t"/>
          <a:lstStyle/>
          <a:p>
            <a:pPr indent="0" marL="0">
              <a:buNone/>
            </a:pPr>
            <a:r>
              <a:rPr lang="en-US" sz="1650" b="1" dirty="0">
                <a:solidFill>
                  <a:schemeClr val="accent2"/>
                </a:solidFill>
              </a:rPr>
              <a:t>Why it matters</a:t>
            </a:r>
            <a:endParaRPr lang="en-US" sz="1650" dirty="0"/>
          </a:p>
          <a:p>
            <a:pPr indent="0" marL="0">
              <a:buNone/>
            </a:pPr>
            <a:r>
              <a:rPr lang="en-US" sz="1550" dirty="0">
                <a:solidFill>
                  <a:schemeClr val="bg1"/>
                </a:solidFill>
              </a:rPr>
              <a:t>A micro-expression reveals an emotion that a person is trying to conceal. Reported motivations include national safety, police interrogation, clinical diagnosis, lie detection and negotiation. These are motivating claims of the field, not deployed systems.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Recognition systems are pipelines of separate stages</a:t>
            </a:r>
            <a:endParaRPr lang="en-US" sz="3000" dirty="0"/>
          </a:p>
        </p:txBody>
      </p:sp>
      <p:sp>
        <p:nvSpPr>
          <p:cNvPr id="4" name="box-12"/>
          <p:cNvSpPr/>
          <p:nvPr/>
        </p:nvSpPr>
        <p:spPr>
          <a:xfrm>
            <a:off x="548640" y="1554480"/>
            <a:ext cx="1920240"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500" b="1" dirty="0">
                <a:solidFill>
                  <a:schemeClr val="tx2"/>
                </a:solidFill>
              </a:rPr>
              <a:t>Magnify</a:t>
            </a:r>
            <a:endParaRPr lang="en-US" sz="1500" dirty="0"/>
          </a:p>
          <a:p>
            <a:pPr algn="ctr" indent="0" marL="0">
              <a:buNone/>
            </a:pPr>
            <a:r>
              <a:rPr lang="en-US" sz="1200" dirty="0">
                <a:solidFill>
                  <a:schemeClr val="tx1"/>
                </a:solidFill>
              </a:rPr>
              <a:t>amplify the small facial motion</a:t>
            </a:r>
            <a:endParaRPr lang="en-US" sz="1500" dirty="0"/>
          </a:p>
        </p:txBody>
      </p:sp>
      <p:sp>
        <p:nvSpPr>
          <p:cNvPr id="5" name="arrow-13"/>
          <p:cNvSpPr/>
          <p:nvPr/>
        </p:nvSpPr>
        <p:spPr>
          <a:xfrm>
            <a:off x="2505456" y="2125980"/>
            <a:ext cx="292608" cy="0"/>
          </a:xfrm>
          <a:prstGeom prst="line">
            <a:avLst/>
          </a:prstGeom>
          <a:noFill/>
          <a:ln w="22225">
            <a:solidFill>
              <a:srgbClr val="7C8D99"/>
            </a:solidFill>
            <a:prstDash val="solid"/>
            <a:tailEnd type="triangle"/>
          </a:ln>
        </p:spPr>
      </p:sp>
      <p:sp>
        <p:nvSpPr>
          <p:cNvPr id="6" name="box-14"/>
          <p:cNvSpPr/>
          <p:nvPr/>
        </p:nvSpPr>
        <p:spPr>
          <a:xfrm>
            <a:off x="2834640" y="1554480"/>
            <a:ext cx="1920240"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500" b="1" dirty="0">
                <a:solidFill>
                  <a:schemeClr val="tx2"/>
                </a:solidFill>
              </a:rPr>
              <a:t>Describe motion</a:t>
            </a:r>
            <a:endParaRPr lang="en-US" sz="1500" dirty="0"/>
          </a:p>
          <a:p>
            <a:pPr algn="ctr" indent="0" marL="0">
              <a:buNone/>
            </a:pPr>
            <a:r>
              <a:rPr lang="en-US" sz="1200" dirty="0">
                <a:solidFill>
                  <a:schemeClr val="tx1"/>
                </a:solidFill>
              </a:rPr>
              <a:t>optical flow and optical strain</a:t>
            </a:r>
            <a:endParaRPr lang="en-US" sz="1500" dirty="0"/>
          </a:p>
        </p:txBody>
      </p:sp>
      <p:sp>
        <p:nvSpPr>
          <p:cNvPr id="7" name="arrow-15"/>
          <p:cNvSpPr/>
          <p:nvPr/>
        </p:nvSpPr>
        <p:spPr>
          <a:xfrm>
            <a:off x="4791456" y="2125980"/>
            <a:ext cx="292608" cy="0"/>
          </a:xfrm>
          <a:prstGeom prst="line">
            <a:avLst/>
          </a:prstGeom>
          <a:noFill/>
          <a:ln w="22225">
            <a:solidFill>
              <a:srgbClr val="7C8D99"/>
            </a:solidFill>
            <a:prstDash val="solid"/>
            <a:tailEnd type="triangle"/>
          </a:ln>
        </p:spPr>
      </p:sp>
      <p:sp>
        <p:nvSpPr>
          <p:cNvPr id="8" name="box-16"/>
          <p:cNvSpPr/>
          <p:nvPr/>
        </p:nvSpPr>
        <p:spPr>
          <a:xfrm>
            <a:off x="5120640" y="1554480"/>
            <a:ext cx="1920240"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500" b="1" dirty="0">
                <a:solidFill>
                  <a:schemeClr val="tx2"/>
                </a:solidFill>
              </a:rPr>
              <a:t>Normalise duration</a:t>
            </a:r>
            <a:endParaRPr lang="en-US" sz="1500" dirty="0"/>
          </a:p>
          <a:p>
            <a:pPr algn="ctr" indent="0" marL="0">
              <a:buNone/>
            </a:pPr>
            <a:r>
              <a:rPr lang="en-US" sz="1200" dirty="0">
                <a:solidFill>
                  <a:schemeClr val="tx1"/>
                </a:solidFill>
              </a:rPr>
              <a:t>resample to a fixed length</a:t>
            </a:r>
            <a:endParaRPr lang="en-US" sz="1500" dirty="0"/>
          </a:p>
        </p:txBody>
      </p:sp>
      <p:sp>
        <p:nvSpPr>
          <p:cNvPr id="9" name="arrow-17"/>
          <p:cNvSpPr/>
          <p:nvPr/>
        </p:nvSpPr>
        <p:spPr>
          <a:xfrm>
            <a:off x="7077456" y="2125980"/>
            <a:ext cx="292608" cy="0"/>
          </a:xfrm>
          <a:prstGeom prst="line">
            <a:avLst/>
          </a:prstGeom>
          <a:noFill/>
          <a:ln w="22225">
            <a:solidFill>
              <a:srgbClr val="7C8D99"/>
            </a:solidFill>
            <a:prstDash val="solid"/>
            <a:tailEnd type="triangle"/>
          </a:ln>
        </p:spPr>
      </p:sp>
      <p:sp>
        <p:nvSpPr>
          <p:cNvPr id="10" name="box-18"/>
          <p:cNvSpPr/>
          <p:nvPr/>
        </p:nvSpPr>
        <p:spPr>
          <a:xfrm>
            <a:off x="7406640" y="1554480"/>
            <a:ext cx="1920240"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500" b="1" dirty="0">
                <a:solidFill>
                  <a:schemeClr val="tx2"/>
                </a:solidFill>
              </a:rPr>
              <a:t>Spatial features</a:t>
            </a:r>
            <a:endParaRPr lang="en-US" sz="1500" dirty="0"/>
          </a:p>
          <a:p>
            <a:pPr algn="ctr" indent="0" marL="0">
              <a:buNone/>
            </a:pPr>
            <a:r>
              <a:rPr lang="en-US" sz="1200" dirty="0">
                <a:solidFill>
                  <a:schemeClr val="tx1"/>
                </a:solidFill>
              </a:rPr>
              <a:t>reduce each frame</a:t>
            </a:r>
            <a:endParaRPr lang="en-US" sz="1500" dirty="0"/>
          </a:p>
        </p:txBody>
      </p:sp>
      <p:sp>
        <p:nvSpPr>
          <p:cNvPr id="11" name="arrow-19"/>
          <p:cNvSpPr/>
          <p:nvPr/>
        </p:nvSpPr>
        <p:spPr>
          <a:xfrm>
            <a:off x="9363456" y="2125980"/>
            <a:ext cx="292608" cy="0"/>
          </a:xfrm>
          <a:prstGeom prst="line">
            <a:avLst/>
          </a:prstGeom>
          <a:noFill/>
          <a:ln w="22225">
            <a:solidFill>
              <a:srgbClr val="7C8D99"/>
            </a:solidFill>
            <a:prstDash val="solid"/>
            <a:tailEnd type="triangle"/>
          </a:ln>
        </p:spPr>
      </p:sp>
      <p:sp>
        <p:nvSpPr>
          <p:cNvPr id="12" name="box-20"/>
          <p:cNvSpPr/>
          <p:nvPr/>
        </p:nvSpPr>
        <p:spPr>
          <a:xfrm>
            <a:off x="9692640" y="1554480"/>
            <a:ext cx="1920240"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500" b="1" dirty="0">
                <a:solidFill>
                  <a:schemeClr val="tx2"/>
                </a:solidFill>
              </a:rPr>
              <a:t>Temporal model</a:t>
            </a:r>
            <a:endParaRPr lang="en-US" sz="1500" dirty="0"/>
          </a:p>
          <a:p>
            <a:pPr algn="ctr" indent="0" marL="0">
              <a:buNone/>
            </a:pPr>
            <a:r>
              <a:rPr lang="en-US" sz="1200" dirty="0">
                <a:solidFill>
                  <a:schemeClr val="tx1"/>
                </a:solidFill>
              </a:rPr>
              <a:t>process the sequence</a:t>
            </a:r>
            <a:endParaRPr lang="en-US" sz="1500" dirty="0"/>
          </a:p>
        </p:txBody>
      </p:sp>
      <p:sp>
        <p:nvSpPr>
          <p:cNvPr id="13" name="card-21"/>
          <p:cNvSpPr/>
          <p:nvPr/>
        </p:nvSpPr>
        <p:spPr>
          <a:xfrm>
            <a:off x="548640" y="3108960"/>
            <a:ext cx="3566160" cy="2971800"/>
          </a:xfrm>
          <a:prstGeom prst="roundRect">
            <a:avLst>
              <a:gd name="adj" fmla="val 3077"/>
            </a:avLst>
          </a:prstGeom>
          <a:solidFill>
            <a:schemeClr val="bg2"/>
          </a:solidFill>
          <a:ln w="6350">
            <a:solidFill>
              <a:schemeClr val="bg2"/>
            </a:solidFill>
            <a:prstDash val="solid"/>
          </a:ln>
        </p:spPr>
      </p:sp>
      <p:sp>
        <p:nvSpPr>
          <p:cNvPr id="14" name="text-22"/>
          <p:cNvSpPr txBox="1"/>
          <p:nvPr/>
        </p:nvSpPr>
        <p:spPr>
          <a:xfrm>
            <a:off x="777240" y="3246120"/>
            <a:ext cx="3108960" cy="365760"/>
          </a:xfrm>
          <a:prstGeom prst="rect">
            <a:avLst/>
          </a:prstGeom>
          <a:noFill/>
          <a:ln/>
        </p:spPr>
        <p:txBody>
          <a:bodyPr wrap="square" lIns="0" tIns="0" rIns="0" bIns="0" rtlCol="0" anchor="t"/>
          <a:lstStyle/>
          <a:p>
            <a:pPr indent="0" marL="0">
              <a:buNone/>
            </a:pPr>
            <a:r>
              <a:rPr lang="en-US" sz="1750" b="1" dirty="0">
                <a:solidFill>
                  <a:schemeClr val="accent1"/>
                </a:solidFill>
              </a:rPr>
              <a:t>Three constraints</a:t>
            </a:r>
            <a:endParaRPr lang="en-US" sz="1750" dirty="0"/>
          </a:p>
        </p:txBody>
      </p:sp>
      <p:sp>
        <p:nvSpPr>
          <p:cNvPr id="15" name="text-23"/>
          <p:cNvSpPr txBox="1"/>
          <p:nvPr/>
        </p:nvSpPr>
        <p:spPr>
          <a:xfrm>
            <a:off x="777240" y="370332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Short: few frames carry the information</a:t>
            </a:r>
            <a:endParaRPr lang="en-US" sz="1650" dirty="0"/>
          </a:p>
          <a:p>
            <a:pPr marL="342900" indent="-342900">
              <a:spcAft>
                <a:spcPts val="700"/>
              </a:spcAft>
              <a:buSzPct val="100000"/>
              <a:buChar char="•"/>
            </a:pPr>
            <a:r>
              <a:rPr lang="en-US" sz="1500" dirty="0">
                <a:solidFill>
                  <a:schemeClr val="tx1"/>
                </a:solidFill>
              </a:rPr>
              <a:t>Faint: the signal lies close to the noise level</a:t>
            </a:r>
            <a:endParaRPr lang="en-US" sz="1650" dirty="0"/>
          </a:p>
          <a:p>
            <a:pPr marL="342900" indent="-342900">
              <a:spcAft>
                <a:spcPts val="700"/>
              </a:spcAft>
              <a:buSzPct val="100000"/>
              <a:buChar char="•"/>
            </a:pPr>
            <a:r>
              <a:rPr lang="en-US" sz="1500" dirty="0">
                <a:solidFill>
                  <a:schemeClr val="tx1"/>
                </a:solidFill>
              </a:rPr>
              <a:t>Scarce: laboratory elicitation keeps datasets small</a:t>
            </a:r>
            <a:endParaRPr lang="en-US" sz="1650" dirty="0"/>
          </a:p>
        </p:txBody>
      </p:sp>
      <p:sp>
        <p:nvSpPr>
          <p:cNvPr id="16" name="card-24"/>
          <p:cNvSpPr/>
          <p:nvPr/>
        </p:nvSpPr>
        <p:spPr>
          <a:xfrm>
            <a:off x="4315968" y="3108960"/>
            <a:ext cx="3566160" cy="2971800"/>
          </a:xfrm>
          <a:prstGeom prst="roundRect">
            <a:avLst>
              <a:gd name="adj" fmla="val 3077"/>
            </a:avLst>
          </a:prstGeom>
          <a:solidFill>
            <a:schemeClr val="bg2"/>
          </a:solidFill>
          <a:ln w="6350">
            <a:solidFill>
              <a:schemeClr val="bg2"/>
            </a:solidFill>
            <a:prstDash val="solid"/>
          </a:ln>
        </p:spPr>
      </p:sp>
      <p:sp>
        <p:nvSpPr>
          <p:cNvPr id="17" name="text-25"/>
          <p:cNvSpPr txBox="1"/>
          <p:nvPr/>
        </p:nvSpPr>
        <p:spPr>
          <a:xfrm>
            <a:off x="4544568" y="3246120"/>
            <a:ext cx="3108960" cy="365760"/>
          </a:xfrm>
          <a:prstGeom prst="rect">
            <a:avLst/>
          </a:prstGeom>
          <a:noFill/>
          <a:ln/>
        </p:spPr>
        <p:txBody>
          <a:bodyPr wrap="square" lIns="0" tIns="0" rIns="0" bIns="0" rtlCol="0" anchor="t"/>
          <a:lstStyle/>
          <a:p>
            <a:pPr indent="0" marL="0">
              <a:buNone/>
            </a:pPr>
            <a:r>
              <a:rPr lang="en-US" sz="1750" b="1" dirty="0">
                <a:solidFill>
                  <a:schemeClr val="accent1"/>
                </a:solidFill>
              </a:rPr>
              <a:t>How the field responded</a:t>
            </a:r>
            <a:endParaRPr lang="en-US" sz="1750" dirty="0"/>
          </a:p>
        </p:txBody>
      </p:sp>
      <p:sp>
        <p:nvSpPr>
          <p:cNvPr id="18" name="text-26"/>
          <p:cNvSpPr txBox="1"/>
          <p:nvPr/>
        </p:nvSpPr>
        <p:spPr>
          <a:xfrm>
            <a:off x="4544568" y="370332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Each stage was introduced with its own justification and its own reported gain</a:t>
            </a:r>
            <a:endParaRPr lang="en-US" sz="1650" dirty="0"/>
          </a:p>
          <a:p>
            <a:pPr marL="342900" indent="-342900">
              <a:spcAft>
                <a:spcPts val="700"/>
              </a:spcAft>
              <a:buSzPct val="100000"/>
              <a:buChar char="•"/>
            </a:pPr>
            <a:r>
              <a:rPr lang="en-US" sz="1500" dirty="0">
                <a:solidFill>
                  <a:schemeClr val="tx1"/>
                </a:solidFill>
              </a:rPr>
              <a:t>The stages tend to be adopted together</a:t>
            </a:r>
            <a:endParaRPr lang="en-US" sz="1650" dirty="0"/>
          </a:p>
        </p:txBody>
      </p:sp>
      <p:sp>
        <p:nvSpPr>
          <p:cNvPr id="19" name="card-27"/>
          <p:cNvSpPr/>
          <p:nvPr/>
        </p:nvSpPr>
        <p:spPr>
          <a:xfrm>
            <a:off x="8083296" y="3108960"/>
            <a:ext cx="3566160" cy="2971800"/>
          </a:xfrm>
          <a:prstGeom prst="roundRect">
            <a:avLst>
              <a:gd name="adj" fmla="val 3077"/>
            </a:avLst>
          </a:prstGeom>
          <a:solidFill>
            <a:schemeClr val="bg2"/>
          </a:solidFill>
          <a:ln w="6350">
            <a:solidFill>
              <a:schemeClr val="bg2"/>
            </a:solidFill>
            <a:prstDash val="solid"/>
          </a:ln>
        </p:spPr>
      </p:sp>
      <p:sp>
        <p:nvSpPr>
          <p:cNvPr id="20" name="text-28"/>
          <p:cNvSpPr txBox="1"/>
          <p:nvPr/>
        </p:nvSpPr>
        <p:spPr>
          <a:xfrm>
            <a:off x="8311896" y="3246120"/>
            <a:ext cx="3108960" cy="365760"/>
          </a:xfrm>
          <a:prstGeom prst="rect">
            <a:avLst/>
          </a:prstGeom>
          <a:noFill/>
          <a:ln/>
        </p:spPr>
        <p:txBody>
          <a:bodyPr wrap="square" lIns="0" tIns="0" rIns="0" bIns="0" rtlCol="0" anchor="t"/>
          <a:lstStyle/>
          <a:p>
            <a:pPr indent="0" marL="0">
              <a:buNone/>
            </a:pPr>
            <a:r>
              <a:rPr lang="en-US" sz="1750" b="1" dirty="0">
                <a:solidFill>
                  <a:schemeClr val="accent1"/>
                </a:solidFill>
              </a:rPr>
              <a:t>The practical difficulty</a:t>
            </a:r>
            <a:endParaRPr lang="en-US" sz="1750" dirty="0"/>
          </a:p>
        </p:txBody>
      </p:sp>
      <p:sp>
        <p:nvSpPr>
          <p:cNvPr id="21" name="text-29"/>
          <p:cNvSpPr txBox="1"/>
          <p:nvPr/>
        </p:nvSpPr>
        <p:spPr>
          <a:xfrm>
            <a:off x="8311896" y="370332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Implementation and tuning effort is finite</a:t>
            </a:r>
            <a:endParaRPr lang="en-US" sz="1650" dirty="0"/>
          </a:p>
          <a:p>
            <a:pPr marL="342900" indent="-342900">
              <a:spcAft>
                <a:spcPts val="700"/>
              </a:spcAft>
              <a:buSzPct val="100000"/>
              <a:buChar char="•"/>
            </a:pPr>
            <a:r>
              <a:rPr lang="en-US" sz="1500" dirty="0">
                <a:solidFill>
                  <a:schemeClr val="tx1"/>
                </a:solidFill>
              </a:rPr>
              <a:t>Each component is almost always evaluated inside a complete system that differs from its predecessor in more than one respect</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Research gap: pipeline stages are never varied jointly</a:t>
            </a:r>
            <a:endParaRPr lang="en-US" sz="3000" dirty="0"/>
          </a:p>
        </p:txBody>
      </p:sp>
      <p:sp>
        <p:nvSpPr>
          <p:cNvPr id="4" name="card-30"/>
          <p:cNvSpPr/>
          <p:nvPr/>
        </p:nvSpPr>
        <p:spPr>
          <a:xfrm>
            <a:off x="548640" y="1371600"/>
            <a:ext cx="5449824" cy="1417320"/>
          </a:xfrm>
          <a:prstGeom prst="roundRect">
            <a:avLst>
              <a:gd name="adj" fmla="val 6452"/>
            </a:avLst>
          </a:prstGeom>
          <a:solidFill>
            <a:schemeClr val="bg2"/>
          </a:solidFill>
          <a:ln w="6350">
            <a:solidFill>
              <a:schemeClr val="bg2"/>
            </a:solidFill>
            <a:prstDash val="solid"/>
          </a:ln>
        </p:spPr>
      </p:sp>
      <p:sp>
        <p:nvSpPr>
          <p:cNvPr id="5" name="badge-31"/>
          <p:cNvSpPr/>
          <p:nvPr/>
        </p:nvSpPr>
        <p:spPr>
          <a:xfrm>
            <a:off x="777240" y="16002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 name="text-32"/>
          <p:cNvSpPr txBox="1"/>
          <p:nvPr/>
        </p:nvSpPr>
        <p:spPr>
          <a:xfrm>
            <a:off x="1417320" y="1554480"/>
            <a:ext cx="4389120" cy="1143000"/>
          </a:xfrm>
          <a:prstGeom prst="rect">
            <a:avLst/>
          </a:prstGeom>
          <a:noFill/>
          <a:ln/>
        </p:spPr>
        <p:txBody>
          <a:bodyPr wrap="square" lIns="0" tIns="0" rIns="0" bIns="0" rtlCol="0" anchor="t"/>
          <a:lstStyle/>
          <a:p>
            <a:pPr indent="0" marL="0">
              <a:buNone/>
            </a:pPr>
            <a:r>
              <a:rPr lang="en-US" sz="1750" b="1" dirty="0">
                <a:solidFill>
                  <a:schemeClr val="tx2"/>
                </a:solidFill>
              </a:rPr>
              <a:t>One component at a time</a:t>
            </a:r>
            <a:endParaRPr lang="en-US" sz="1650" dirty="0"/>
          </a:p>
          <a:p>
            <a:pPr indent="0" marL="0">
              <a:buNone/>
            </a:pPr>
            <a:r>
              <a:rPr lang="en-US" sz="1450" dirty="0">
                <a:solidFill>
                  <a:schemeClr val="tx1"/>
                </a:solidFill>
              </a:rPr>
              <a:t>Ablations stay inside one proposed design and change one factor from its defaults. Interactions between components are never observed.</a:t>
            </a:r>
            <a:endParaRPr lang="en-US" sz="1650" dirty="0"/>
          </a:p>
        </p:txBody>
      </p:sp>
      <p:sp>
        <p:nvSpPr>
          <p:cNvPr id="7" name="card-33"/>
          <p:cNvSpPr/>
          <p:nvPr/>
        </p:nvSpPr>
        <p:spPr>
          <a:xfrm>
            <a:off x="6190488" y="1371600"/>
            <a:ext cx="5449824" cy="1417320"/>
          </a:xfrm>
          <a:prstGeom prst="roundRect">
            <a:avLst>
              <a:gd name="adj" fmla="val 6452"/>
            </a:avLst>
          </a:prstGeom>
          <a:solidFill>
            <a:schemeClr val="bg2"/>
          </a:solidFill>
          <a:ln w="6350">
            <a:solidFill>
              <a:schemeClr val="bg2"/>
            </a:solidFill>
            <a:prstDash val="solid"/>
          </a:ln>
        </p:spPr>
      </p:sp>
      <p:sp>
        <p:nvSpPr>
          <p:cNvPr id="8" name="badge-34"/>
          <p:cNvSpPr/>
          <p:nvPr/>
        </p:nvSpPr>
        <p:spPr>
          <a:xfrm>
            <a:off x="6419088" y="16002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9" name="text-35"/>
          <p:cNvSpPr txBox="1"/>
          <p:nvPr/>
        </p:nvSpPr>
        <p:spPr>
          <a:xfrm>
            <a:off x="7059168" y="1554480"/>
            <a:ext cx="4389120" cy="1143000"/>
          </a:xfrm>
          <a:prstGeom prst="rect">
            <a:avLst/>
          </a:prstGeom>
          <a:noFill/>
          <a:ln/>
        </p:spPr>
        <p:txBody>
          <a:bodyPr wrap="square" lIns="0" tIns="0" rIns="0" bIns="0" rtlCol="0" anchor="t"/>
          <a:lstStyle/>
          <a:p>
            <a:pPr indent="0" marL="0">
              <a:buNone/>
            </a:pPr>
            <a:r>
              <a:rPr lang="en-US" sz="1750" b="1" dirty="0">
                <a:solidFill>
                  <a:schemeClr val="tx2"/>
                </a:solidFill>
              </a:rPr>
              <a:t>Inconsistent protocols</a:t>
            </a:r>
            <a:endParaRPr lang="en-US" sz="1650" dirty="0"/>
          </a:p>
          <a:p>
            <a:pPr indent="0" marL="0">
              <a:buNone/>
            </a:pPr>
            <a:r>
              <a:rPr lang="en-US" sz="1450" dirty="0">
                <a:solidFill>
                  <a:schemeClr val="tx1"/>
                </a:solidFill>
              </a:rPr>
              <a:t>Sample counts (247, 255, 145), label sets and the choice of leave-one-subject, video or sample out differ between studies.</a:t>
            </a:r>
            <a:endParaRPr lang="en-US" sz="1650" dirty="0"/>
          </a:p>
        </p:txBody>
      </p:sp>
      <p:sp>
        <p:nvSpPr>
          <p:cNvPr id="10" name="card-36"/>
          <p:cNvSpPr/>
          <p:nvPr/>
        </p:nvSpPr>
        <p:spPr>
          <a:xfrm>
            <a:off x="548640" y="2971800"/>
            <a:ext cx="5449824" cy="1417320"/>
          </a:xfrm>
          <a:prstGeom prst="roundRect">
            <a:avLst>
              <a:gd name="adj" fmla="val 6452"/>
            </a:avLst>
          </a:prstGeom>
          <a:solidFill>
            <a:schemeClr val="bg2"/>
          </a:solidFill>
          <a:ln w="6350">
            <a:solidFill>
              <a:schemeClr val="bg2"/>
            </a:solidFill>
            <a:prstDash val="solid"/>
          </a:ln>
        </p:spPr>
      </p:sp>
      <p:sp>
        <p:nvSpPr>
          <p:cNvPr id="11" name="badge-37"/>
          <p:cNvSpPr/>
          <p:nvPr/>
        </p:nvSpPr>
        <p:spPr>
          <a:xfrm>
            <a:off x="777240" y="32004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12" name="text-38"/>
          <p:cNvSpPr txBox="1"/>
          <p:nvPr/>
        </p:nvSpPr>
        <p:spPr>
          <a:xfrm>
            <a:off x="1417320" y="3154680"/>
            <a:ext cx="4389120" cy="1143000"/>
          </a:xfrm>
          <a:prstGeom prst="rect">
            <a:avLst/>
          </a:prstGeom>
          <a:noFill/>
          <a:ln/>
        </p:spPr>
        <p:txBody>
          <a:bodyPr wrap="square" lIns="0" tIns="0" rIns="0" bIns="0" rtlCol="0" anchor="t"/>
          <a:lstStyle/>
          <a:p>
            <a:pPr indent="0" marL="0">
              <a:buNone/>
            </a:pPr>
            <a:r>
              <a:rPr lang="en-US" sz="1750" b="1" dirty="0">
                <a:solidFill>
                  <a:schemeClr val="tx2"/>
                </a:solidFill>
              </a:rPr>
              <a:t>Richer training conditions</a:t>
            </a:r>
            <a:endParaRPr lang="en-US" sz="1650" dirty="0"/>
          </a:p>
          <a:p>
            <a:pPr indent="0" marL="0">
              <a:buNone/>
            </a:pPr>
            <a:r>
              <a:rPr lang="en-US" sz="1450" dirty="0">
                <a:solidFill>
                  <a:schemeClr val="tx1"/>
                </a:solidFill>
              </a:rPr>
              <a:t>The strongest CASME II results rely on composite-dataset training or ImageNet pre-training, not on one small dataset.</a:t>
            </a:r>
            <a:endParaRPr lang="en-US" sz="1650" dirty="0"/>
          </a:p>
        </p:txBody>
      </p:sp>
      <p:sp>
        <p:nvSpPr>
          <p:cNvPr id="13" name="card-39"/>
          <p:cNvSpPr/>
          <p:nvPr/>
        </p:nvSpPr>
        <p:spPr>
          <a:xfrm>
            <a:off x="6190488" y="2971800"/>
            <a:ext cx="5449824" cy="1417320"/>
          </a:xfrm>
          <a:prstGeom prst="roundRect">
            <a:avLst>
              <a:gd name="adj" fmla="val 6452"/>
            </a:avLst>
          </a:prstGeom>
          <a:solidFill>
            <a:schemeClr val="bg2"/>
          </a:solidFill>
          <a:ln w="6350">
            <a:solidFill>
              <a:schemeClr val="bg2"/>
            </a:solidFill>
            <a:prstDash val="solid"/>
          </a:ln>
        </p:spPr>
      </p:sp>
      <p:sp>
        <p:nvSpPr>
          <p:cNvPr id="14" name="badge-40"/>
          <p:cNvSpPr/>
          <p:nvPr/>
        </p:nvSpPr>
        <p:spPr>
          <a:xfrm>
            <a:off x="6419088" y="32004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15" name="text-41"/>
          <p:cNvSpPr txBox="1"/>
          <p:nvPr/>
        </p:nvSpPr>
        <p:spPr>
          <a:xfrm>
            <a:off x="7059168" y="3154680"/>
            <a:ext cx="4389120" cy="1143000"/>
          </a:xfrm>
          <a:prstGeom prst="rect">
            <a:avLst/>
          </a:prstGeom>
          <a:noFill/>
          <a:ln/>
        </p:spPr>
        <p:txBody>
          <a:bodyPr wrap="square" lIns="0" tIns="0" rIns="0" bIns="0" rtlCol="0" anchor="t"/>
          <a:lstStyle/>
          <a:p>
            <a:pPr indent="0" marL="0">
              <a:buNone/>
            </a:pPr>
            <a:r>
              <a:rPr lang="en-US" sz="1750" b="1" dirty="0">
                <a:solidFill>
                  <a:schemeClr val="tx2"/>
                </a:solidFill>
              </a:rPr>
              <a:t>Transferred parameters</a:t>
            </a:r>
            <a:endParaRPr lang="en-US" sz="1650" dirty="0"/>
          </a:p>
          <a:p>
            <a:pPr indent="0" marL="0">
              <a:buNone/>
            </a:pPr>
            <a:r>
              <a:rPr lang="en-US" sz="1450" dirty="0">
                <a:solidFill>
                  <a:schemeClr val="tx1"/>
                </a:solidFill>
              </a:rPr>
              <a:t>Magnification factor, sequence length and input resolution have interior optima but are reused without re-validation.</a:t>
            </a:r>
            <a:endParaRPr lang="en-US" sz="1650" dirty="0"/>
          </a:p>
        </p:txBody>
      </p:sp>
      <p:sp>
        <p:nvSpPr>
          <p:cNvPr id="16" name="card-42"/>
          <p:cNvSpPr/>
          <p:nvPr/>
        </p:nvSpPr>
        <p:spPr>
          <a:xfrm>
            <a:off x="548640" y="4663440"/>
            <a:ext cx="11094415" cy="1417320"/>
          </a:xfrm>
          <a:prstGeom prst="roundRect">
            <a:avLst>
              <a:gd name="adj" fmla="val 6452"/>
            </a:avLst>
          </a:prstGeom>
          <a:solidFill>
            <a:schemeClr val="tx2"/>
          </a:solidFill>
          <a:ln w="6350">
            <a:solidFill>
              <a:schemeClr val="tx2"/>
            </a:solidFill>
            <a:prstDash val="solid"/>
          </a:ln>
        </p:spPr>
      </p:sp>
      <p:sp>
        <p:nvSpPr>
          <p:cNvPr id="17" name="text-43"/>
          <p:cNvSpPr txBox="1"/>
          <p:nvPr/>
        </p:nvSpPr>
        <p:spPr>
          <a:xfrm>
            <a:off x="822960" y="4800600"/>
            <a:ext cx="10545775" cy="1188720"/>
          </a:xfrm>
          <a:prstGeom prst="rect">
            <a:avLst/>
          </a:prstGeom>
          <a:noFill/>
          <a:ln/>
        </p:spPr>
        <p:txBody>
          <a:bodyPr wrap="square" lIns="0" tIns="0" rIns="0" bIns="0" rtlCol="0" anchor="t"/>
          <a:lstStyle/>
          <a:p>
            <a:pPr indent="0" marL="0">
              <a:buNone/>
            </a:pPr>
            <a:r>
              <a:rPr lang="en-US" sz="1650" b="1" dirty="0">
                <a:solidFill>
                  <a:schemeClr val="accent2"/>
                </a:solidFill>
              </a:rPr>
              <a:t>The gap</a:t>
            </a:r>
            <a:endParaRPr lang="en-US" sz="1650" dirty="0"/>
          </a:p>
          <a:p>
            <a:pPr indent="0" marL="0">
              <a:buNone/>
            </a:pPr>
            <a:r>
              <a:rPr lang="en-US" sz="1600" dirty="0">
                <a:solidFill>
                  <a:schemeClr val="bg1"/>
                </a:solidFill>
              </a:rPr>
              <a:t>No reviewed study varies several stages of the standard pipeline jointly under one protocol, so the literature cannot show which stages are necessary, which are inherited convention, and which depend on the presence of another.</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Aim and research questions</a:t>
            </a:r>
            <a:endParaRPr lang="en-US" sz="3000" dirty="0"/>
          </a:p>
        </p:txBody>
      </p:sp>
      <p:sp>
        <p:nvSpPr>
          <p:cNvPr id="4" name="card-44"/>
          <p:cNvSpPr/>
          <p:nvPr/>
        </p:nvSpPr>
        <p:spPr>
          <a:xfrm>
            <a:off x="548640" y="1371600"/>
            <a:ext cx="11094415" cy="1325880"/>
          </a:xfrm>
          <a:prstGeom prst="roundRect">
            <a:avLst>
              <a:gd name="adj" fmla="val 6897"/>
            </a:avLst>
          </a:prstGeom>
          <a:solidFill>
            <a:schemeClr val="tx2"/>
          </a:solidFill>
          <a:ln w="6350">
            <a:solidFill>
              <a:schemeClr val="tx2"/>
            </a:solidFill>
            <a:prstDash val="solid"/>
          </a:ln>
        </p:spPr>
      </p:sp>
      <p:sp>
        <p:nvSpPr>
          <p:cNvPr id="5" name="text-45"/>
          <p:cNvSpPr txBox="1"/>
          <p:nvPr/>
        </p:nvSpPr>
        <p:spPr>
          <a:xfrm>
            <a:off x="822960" y="1508760"/>
            <a:ext cx="10545775" cy="1097280"/>
          </a:xfrm>
          <a:prstGeom prst="rect">
            <a:avLst/>
          </a:prstGeom>
          <a:noFill/>
          <a:ln/>
        </p:spPr>
        <p:txBody>
          <a:bodyPr wrap="square" lIns="0" tIns="0" rIns="0" bIns="0" rtlCol="0" anchor="t"/>
          <a:lstStyle/>
          <a:p>
            <a:pPr indent="0" marL="0">
              <a:buNone/>
            </a:pPr>
            <a:r>
              <a:rPr lang="en-US" sz="1550" b="1" dirty="0">
                <a:solidFill>
                  <a:schemeClr val="accent2"/>
                </a:solidFill>
              </a:rPr>
              <a:t>Central research question</a:t>
            </a:r>
            <a:endParaRPr lang="en-US" sz="1650" dirty="0"/>
          </a:p>
          <a:p>
            <a:pPr indent="0" marL="0">
              <a:buNone/>
            </a:pPr>
            <a:r>
              <a:rPr lang="en-US" sz="2100" i="1" dirty="0">
                <a:solidFill>
                  <a:schemeClr val="bg1"/>
                </a:solidFill>
              </a:rPr>
              <a:t>How can the modelling of temporal phases and motion cues improve recognition accuracy for subtle and short-lived facial expressions?</a:t>
            </a:r>
            <a:endParaRPr lang="en-US" sz="1650" dirty="0"/>
          </a:p>
        </p:txBody>
      </p:sp>
      <p:sp>
        <p:nvSpPr>
          <p:cNvPr id="6" name="card-46"/>
          <p:cNvSpPr/>
          <p:nvPr/>
        </p:nvSpPr>
        <p:spPr>
          <a:xfrm>
            <a:off x="548640" y="2926080"/>
            <a:ext cx="11094415" cy="932688"/>
          </a:xfrm>
          <a:prstGeom prst="roundRect">
            <a:avLst>
              <a:gd name="adj" fmla="val 9804"/>
            </a:avLst>
          </a:prstGeom>
          <a:solidFill>
            <a:schemeClr val="bg2"/>
          </a:solidFill>
          <a:ln w="6350">
            <a:solidFill>
              <a:schemeClr val="bg2"/>
            </a:solidFill>
            <a:prstDash val="solid"/>
          </a:ln>
        </p:spPr>
      </p:sp>
      <p:sp>
        <p:nvSpPr>
          <p:cNvPr id="7" name="badge-47"/>
          <p:cNvSpPr/>
          <p:nvPr/>
        </p:nvSpPr>
        <p:spPr>
          <a:xfrm>
            <a:off x="777240" y="3163824"/>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48"/>
          <p:cNvSpPr txBox="1"/>
          <p:nvPr/>
        </p:nvSpPr>
        <p:spPr>
          <a:xfrm>
            <a:off x="1463040" y="3035808"/>
            <a:ext cx="2743200" cy="731520"/>
          </a:xfrm>
          <a:prstGeom prst="rect">
            <a:avLst/>
          </a:prstGeom>
          <a:noFill/>
          <a:ln/>
        </p:spPr>
        <p:txBody>
          <a:bodyPr wrap="square" lIns="0" tIns="0" rIns="0" bIns="0" rtlCol="0" anchor="ctr"/>
          <a:lstStyle/>
          <a:p>
            <a:pPr indent="0" marL="0">
              <a:buNone/>
            </a:pPr>
            <a:r>
              <a:rPr lang="en-US" sz="1750" b="1" dirty="0">
                <a:solidFill>
                  <a:schemeClr val="accent1"/>
                </a:solidFill>
              </a:rPr>
              <a:t>Temporal modelling</a:t>
            </a:r>
            <a:endParaRPr lang="en-US" sz="1750" dirty="0"/>
          </a:p>
        </p:txBody>
      </p:sp>
      <p:sp>
        <p:nvSpPr>
          <p:cNvPr id="9" name="text-49"/>
          <p:cNvSpPr txBox="1"/>
          <p:nvPr/>
        </p:nvSpPr>
        <p:spPr>
          <a:xfrm>
            <a:off x="4206240" y="3035808"/>
            <a:ext cx="7223760" cy="731520"/>
          </a:xfrm>
          <a:prstGeom prst="rect">
            <a:avLst/>
          </a:prstGeom>
          <a:noFill/>
          <a:ln/>
        </p:spPr>
        <p:txBody>
          <a:bodyPr wrap="square" lIns="0" tIns="0" rIns="0" bIns="0" rtlCol="0" anchor="ctr"/>
          <a:lstStyle/>
          <a:p>
            <a:pPr indent="0" marL="0">
              <a:buNone/>
            </a:pPr>
            <a:r>
              <a:rPr lang="en-US" sz="1550" dirty="0">
                <a:solidFill>
                  <a:schemeClr val="tx1"/>
                </a:solidFill>
              </a:rPr>
              <a:t>To what extent does a transformer encoder improve recognition, compared with an otherwise identical pipeline without it?</a:t>
            </a:r>
            <a:endParaRPr lang="en-US" sz="1550" dirty="0"/>
          </a:p>
        </p:txBody>
      </p:sp>
      <p:sp>
        <p:nvSpPr>
          <p:cNvPr id="10" name="card-50"/>
          <p:cNvSpPr/>
          <p:nvPr/>
        </p:nvSpPr>
        <p:spPr>
          <a:xfrm>
            <a:off x="548640" y="3995928"/>
            <a:ext cx="11094415" cy="932688"/>
          </a:xfrm>
          <a:prstGeom prst="roundRect">
            <a:avLst>
              <a:gd name="adj" fmla="val 9804"/>
            </a:avLst>
          </a:prstGeom>
          <a:solidFill>
            <a:schemeClr val="bg2"/>
          </a:solidFill>
          <a:ln w="6350">
            <a:solidFill>
              <a:schemeClr val="bg2"/>
            </a:solidFill>
            <a:prstDash val="solid"/>
          </a:ln>
        </p:spPr>
      </p:sp>
      <p:sp>
        <p:nvSpPr>
          <p:cNvPr id="11" name="badge-51"/>
          <p:cNvSpPr/>
          <p:nvPr/>
        </p:nvSpPr>
        <p:spPr>
          <a:xfrm>
            <a:off x="777240" y="423367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52"/>
          <p:cNvSpPr txBox="1"/>
          <p:nvPr/>
        </p:nvSpPr>
        <p:spPr>
          <a:xfrm>
            <a:off x="1463040" y="4105656"/>
            <a:ext cx="2743200" cy="731520"/>
          </a:xfrm>
          <a:prstGeom prst="rect">
            <a:avLst/>
          </a:prstGeom>
          <a:noFill/>
          <a:ln/>
        </p:spPr>
        <p:txBody>
          <a:bodyPr wrap="square" lIns="0" tIns="0" rIns="0" bIns="0" rtlCol="0" anchor="ctr"/>
          <a:lstStyle/>
          <a:p>
            <a:pPr indent="0" marL="0">
              <a:buNone/>
            </a:pPr>
            <a:r>
              <a:rPr lang="en-US" sz="1750" b="1" dirty="0">
                <a:solidFill>
                  <a:schemeClr val="accent1"/>
                </a:solidFill>
              </a:rPr>
              <a:t>Motion magnification</a:t>
            </a:r>
            <a:endParaRPr lang="en-US" sz="1750" dirty="0"/>
          </a:p>
        </p:txBody>
      </p:sp>
      <p:sp>
        <p:nvSpPr>
          <p:cNvPr id="13" name="text-53"/>
          <p:cNvSpPr txBox="1"/>
          <p:nvPr/>
        </p:nvSpPr>
        <p:spPr>
          <a:xfrm>
            <a:off x="4206240" y="4105656"/>
            <a:ext cx="7223760" cy="731520"/>
          </a:xfrm>
          <a:prstGeom prst="rect">
            <a:avLst/>
          </a:prstGeom>
          <a:noFill/>
          <a:ln/>
        </p:spPr>
        <p:txBody>
          <a:bodyPr wrap="square" lIns="0" tIns="0" rIns="0" bIns="0" rtlCol="0" anchor="ctr"/>
          <a:lstStyle/>
          <a:p>
            <a:pPr indent="0" marL="0">
              <a:buNone/>
            </a:pPr>
            <a:r>
              <a:rPr lang="en-US" sz="1550" dirty="0">
                <a:solidFill>
                  <a:schemeClr val="tx1"/>
                </a:solidFill>
              </a:rPr>
              <a:t>Does amplifying subtle facial motion through Eulerian video magnification, before the motion representation is computed, improve recognition?</a:t>
            </a:r>
            <a:endParaRPr lang="en-US" sz="1550" dirty="0"/>
          </a:p>
        </p:txBody>
      </p:sp>
      <p:sp>
        <p:nvSpPr>
          <p:cNvPr id="14" name="card-54"/>
          <p:cNvSpPr/>
          <p:nvPr/>
        </p:nvSpPr>
        <p:spPr>
          <a:xfrm>
            <a:off x="548640" y="5065776"/>
            <a:ext cx="11094415" cy="932688"/>
          </a:xfrm>
          <a:prstGeom prst="roundRect">
            <a:avLst>
              <a:gd name="adj" fmla="val 9804"/>
            </a:avLst>
          </a:prstGeom>
          <a:solidFill>
            <a:schemeClr val="bg2"/>
          </a:solidFill>
          <a:ln w="6350">
            <a:solidFill>
              <a:schemeClr val="bg2"/>
            </a:solidFill>
            <a:prstDash val="solid"/>
          </a:ln>
        </p:spPr>
      </p:sp>
      <p:sp>
        <p:nvSpPr>
          <p:cNvPr id="15" name="badge-55"/>
          <p:cNvSpPr/>
          <p:nvPr/>
        </p:nvSpPr>
        <p:spPr>
          <a:xfrm>
            <a:off x="777240" y="530352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56"/>
          <p:cNvSpPr txBox="1"/>
          <p:nvPr/>
        </p:nvSpPr>
        <p:spPr>
          <a:xfrm>
            <a:off x="1463040" y="5175504"/>
            <a:ext cx="2743200" cy="731520"/>
          </a:xfrm>
          <a:prstGeom prst="rect">
            <a:avLst/>
          </a:prstGeom>
          <a:noFill/>
          <a:ln/>
        </p:spPr>
        <p:txBody>
          <a:bodyPr wrap="square" lIns="0" tIns="0" rIns="0" bIns="0" rtlCol="0" anchor="ctr"/>
          <a:lstStyle/>
          <a:p>
            <a:pPr indent="0" marL="0">
              <a:buNone/>
            </a:pPr>
            <a:r>
              <a:rPr lang="en-US" sz="1750" b="1" dirty="0">
                <a:solidFill>
                  <a:schemeClr val="accent1"/>
                </a:solidFill>
              </a:rPr>
              <a:t>Learned spatial features</a:t>
            </a:r>
            <a:endParaRPr lang="en-US" sz="1750" dirty="0"/>
          </a:p>
        </p:txBody>
      </p:sp>
      <p:sp>
        <p:nvSpPr>
          <p:cNvPr id="17" name="text-57"/>
          <p:cNvSpPr txBox="1"/>
          <p:nvPr/>
        </p:nvSpPr>
        <p:spPr>
          <a:xfrm>
            <a:off x="4206240" y="5175504"/>
            <a:ext cx="7223760" cy="731520"/>
          </a:xfrm>
          <a:prstGeom prst="rect">
            <a:avLst/>
          </a:prstGeom>
          <a:noFill/>
          <a:ln/>
        </p:spPr>
        <p:txBody>
          <a:bodyPr wrap="square" lIns="0" tIns="0" rIns="0" bIns="0" rtlCol="0" anchor="ctr"/>
          <a:lstStyle/>
          <a:p>
            <a:pPr indent="0" marL="0">
              <a:buNone/>
            </a:pPr>
            <a:r>
              <a:rPr lang="en-US" sz="1550" dirty="0">
                <a:solidFill>
                  <a:schemeClr val="tx1"/>
                </a:solidFill>
              </a:rPr>
              <a:t>Do a learned convolutional stem and parameter-free attention add to the performance of the hand-computed motion representation alone?</a:t>
            </a:r>
            <a:endParaRPr lang="en-US" sz="15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Dataset: CASME II, 156 clips in three classes</a:t>
            </a:r>
            <a:endParaRPr lang="en-US" sz="3000" dirty="0"/>
          </a:p>
        </p:txBody>
      </p:sp>
      <p:sp>
        <p:nvSpPr>
          <p:cNvPr id="4" name="text-58"/>
          <p:cNvSpPr txBox="1"/>
          <p:nvPr/>
        </p:nvSpPr>
        <p:spPr>
          <a:xfrm>
            <a:off x="548640" y="1371600"/>
            <a:ext cx="57607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Spontaneous micro-expressions recorded at 200 fps and 640 × 480 pixels, with onset, apex and offset annotation</a:t>
            </a:r>
            <a:endParaRPr lang="en-US" sz="1650" dirty="0"/>
          </a:p>
          <a:p>
            <a:pPr marL="342900" indent="-342900">
              <a:spcAft>
                <a:spcPts val="800"/>
              </a:spcAft>
              <a:buSzPct val="100000"/>
              <a:buChar char="•"/>
            </a:pPr>
            <a:r>
              <a:rPr lang="en-US" sz="1600" dirty="0">
                <a:solidFill>
                  <a:schemeClr val="tx1"/>
                </a:solidFill>
              </a:rPr>
              <a:t>The released coding contains 255 clips from 26 subjects</a:t>
            </a:r>
            <a:endParaRPr lang="en-US" sz="1650" dirty="0"/>
          </a:p>
          <a:p>
            <a:pPr marL="342900" indent="-342900">
              <a:spcAft>
                <a:spcPts val="800"/>
              </a:spcAft>
              <a:buSzPct val="100000"/>
              <a:buChar char="•"/>
            </a:pPr>
            <a:r>
              <a:rPr lang="en-US" sz="1600" dirty="0">
                <a:solidFill>
                  <a:schemeClr val="tx1"/>
                </a:solidFill>
              </a:rPr>
              <a:t>The residual Others category (99 clips) is excluded, which also removes subject 18</a:t>
            </a:r>
            <a:endParaRPr lang="en-US" sz="1650" dirty="0"/>
          </a:p>
          <a:p>
            <a:pPr marL="342900" indent="-342900">
              <a:spcAft>
                <a:spcPts val="800"/>
              </a:spcAft>
              <a:buSzPct val="100000"/>
              <a:buChar char="•"/>
            </a:pPr>
            <a:r>
              <a:rPr lang="en-US" sz="1600" dirty="0">
                <a:solidFill>
                  <a:schemeClr val="tx1"/>
                </a:solidFill>
              </a:rPr>
              <a:t>Working set: 156 clips from 25 subjects</a:t>
            </a:r>
            <a:endParaRPr lang="en-US" sz="1650" dirty="0"/>
          </a:p>
          <a:p>
            <a:pPr marL="342900" indent="-342900">
              <a:spcAft>
                <a:spcPts val="800"/>
              </a:spcAft>
              <a:buSzPct val="100000"/>
              <a:buChar char="•"/>
            </a:pPr>
            <a:r>
              <a:rPr lang="en-US" sz="1600" dirty="0">
                <a:solidFill>
                  <a:schemeClr val="tx1"/>
                </a:solidFill>
              </a:rPr>
              <a:t>Negative = disgust, repression, sadness, fear; Positive = happiness; Surprise = surprise</a:t>
            </a:r>
            <a:endParaRPr lang="en-US" sz="1650" dirty="0"/>
          </a:p>
        </p:txBody>
      </p:sp>
      <p:sp>
        <p:nvSpPr>
          <p:cNvPr id="5" name="card-59"/>
          <p:cNvSpPr/>
          <p:nvPr/>
        </p:nvSpPr>
        <p:spPr>
          <a:xfrm>
            <a:off x="548640" y="4709160"/>
            <a:ext cx="5760720" cy="1371600"/>
          </a:xfrm>
          <a:prstGeom prst="roundRect">
            <a:avLst>
              <a:gd name="adj" fmla="val 6667"/>
            </a:avLst>
          </a:prstGeom>
          <a:solidFill>
            <a:schemeClr val="bg2"/>
          </a:solidFill>
          <a:ln w="6350">
            <a:solidFill>
              <a:schemeClr val="bg2"/>
            </a:solidFill>
            <a:prstDash val="solid"/>
          </a:ln>
        </p:spPr>
      </p:sp>
      <p:sp>
        <p:nvSpPr>
          <p:cNvPr id="6" name="text-60"/>
          <p:cNvSpPr txBox="1"/>
          <p:nvPr/>
        </p:nvSpPr>
        <p:spPr>
          <a:xfrm>
            <a:off x="777240" y="4828032"/>
            <a:ext cx="5303520" cy="1143000"/>
          </a:xfrm>
          <a:prstGeom prst="rect">
            <a:avLst/>
          </a:prstGeom>
          <a:noFill/>
          <a:ln/>
        </p:spPr>
        <p:txBody>
          <a:bodyPr wrap="square" lIns="0" tIns="0" rIns="0" bIns="0" rtlCol="0" anchor="t"/>
          <a:lstStyle/>
          <a:p>
            <a:pPr indent="0" marL="0">
              <a:buNone/>
            </a:pPr>
            <a:r>
              <a:rPr lang="en-US" sz="1550" b="1" dirty="0">
                <a:solidFill>
                  <a:schemeClr val="accent1"/>
                </a:solidFill>
              </a:rPr>
              <a:t>Majority-class reference</a:t>
            </a:r>
            <a:endParaRPr lang="en-US" sz="1650" dirty="0"/>
          </a:p>
          <a:p>
            <a:pPr indent="0" marL="0">
              <a:buNone/>
            </a:pPr>
            <a:r>
              <a:rPr lang="en-US" sz="1500" dirty="0">
                <a:solidFill>
                  <a:schemeClr val="tx1"/>
                </a:solidFill>
              </a:rPr>
              <a:t>Always predicting Negative gives an accuracy of 0.6346 but a macro F1 of only 0.2588. Accuracy alone is therefore uninformative.</a:t>
            </a:r>
            <a:endParaRPr lang="en-US" sz="1650" dirty="0"/>
          </a:p>
        </p:txBody>
      </p:sp>
      <p:graphicFrame>
        <p:nvGraphicFramePr>
          <p:cNvPr id="7" name="Chart 0" descr="Bar chart of class sizes: Negative 99, Positive 32, Surprise 25"/>
          <p:cNvGraphicFramePr/>
          <p:nvPr/>
        </p:nvGraphicFramePr>
        <p:xfrm>
          <a:off x="6583680" y="1325880"/>
          <a:ext cx="5056632" cy="4206240"/>
        </p:xfrm>
        <a:graphic xmlns:a="http://schemas.openxmlformats.org/drawingml/2006/main">
          <a:graphicData uri="http://schemas.openxmlformats.org/drawingml/2006/chart">
            <c:chart xmlns:c="http://schemas.openxmlformats.org/drawingml/2006/chart" r:id="rId1"/>
          </a:graphicData>
        </a:graphic>
      </p:graphicFrame>
      <p:sp>
        <p:nvSpPr>
          <p:cNvPr id="8" name="text-61"/>
          <p:cNvSpPr txBox="1"/>
          <p:nvPr/>
        </p:nvSpPr>
        <p:spPr>
          <a:xfrm>
            <a:off x="6583680" y="5623560"/>
            <a:ext cx="5056632" cy="365760"/>
          </a:xfrm>
          <a:prstGeom prst="rect">
            <a:avLst/>
          </a:prstGeom>
          <a:noFill/>
          <a:ln/>
        </p:spPr>
        <p:txBody>
          <a:bodyPr wrap="square" lIns="0" tIns="0" rIns="0" bIns="0" rtlCol="0" anchor="t"/>
          <a:lstStyle/>
          <a:p>
            <a:pPr algn="ctr" indent="0" marL="0">
              <a:buNone/>
            </a:pPr>
            <a:r>
              <a:rPr lang="en-US" sz="1300" i="1" dirty="0">
                <a:solidFill>
                  <a:schemeClr val="accent3"/>
                </a:solidFill>
              </a:rPr>
              <a:t>Class distribution of the working set: a ratio of about 4 : 1.3 : 1</a:t>
            </a:r>
            <a:endParaRPr lang="en-US" sz="13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Stage 1: from video clip to motion tensor</a:t>
            </a:r>
            <a:endParaRPr lang="en-US" sz="3000" dirty="0"/>
          </a:p>
        </p:txBody>
      </p:sp>
      <p:sp>
        <p:nvSpPr>
          <p:cNvPr id="4" name="box-62"/>
          <p:cNvSpPr/>
          <p:nvPr/>
        </p:nvSpPr>
        <p:spPr>
          <a:xfrm>
            <a:off x="548640" y="1554480"/>
            <a:ext cx="1618488" cy="1188720"/>
          </a:xfrm>
          <a:prstGeom prst="roundRect">
            <a:avLst>
              <a:gd name="adj" fmla="val 6154"/>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Frame preparation</a:t>
            </a:r>
            <a:endParaRPr lang="en-US" sz="1300" dirty="0"/>
          </a:p>
          <a:p>
            <a:pPr algn="ctr" indent="0" marL="0">
              <a:buNone/>
            </a:pPr>
            <a:r>
              <a:rPr lang="en-US" sz="1150" dirty="0">
                <a:solidFill>
                  <a:schemeClr val="tx1"/>
                </a:solidFill>
              </a:rPr>
              <a:t>greyscale, 224 × 224</a:t>
            </a:r>
            <a:endParaRPr lang="en-US" sz="1300" dirty="0"/>
          </a:p>
        </p:txBody>
      </p:sp>
      <p:sp>
        <p:nvSpPr>
          <p:cNvPr id="5" name="arrow-63"/>
          <p:cNvSpPr/>
          <p:nvPr/>
        </p:nvSpPr>
        <p:spPr>
          <a:xfrm>
            <a:off x="2194560" y="2148840"/>
            <a:ext cx="221285" cy="0"/>
          </a:xfrm>
          <a:prstGeom prst="line">
            <a:avLst/>
          </a:prstGeom>
          <a:noFill/>
          <a:ln w="22225">
            <a:solidFill>
              <a:srgbClr val="7C8D99"/>
            </a:solidFill>
            <a:prstDash val="solid"/>
            <a:tailEnd type="triangle"/>
          </a:ln>
        </p:spPr>
      </p:sp>
      <p:sp>
        <p:nvSpPr>
          <p:cNvPr id="6" name="box-64"/>
          <p:cNvSpPr/>
          <p:nvPr/>
        </p:nvSpPr>
        <p:spPr>
          <a:xfrm>
            <a:off x="2443277" y="1554480"/>
            <a:ext cx="1618488" cy="1188720"/>
          </a:xfrm>
          <a:prstGeom prst="roundRect">
            <a:avLst>
              <a:gd name="adj" fmla="val 6154"/>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Uniform sampling</a:t>
            </a:r>
            <a:endParaRPr lang="en-US" sz="1300" dirty="0"/>
          </a:p>
          <a:p>
            <a:pPr algn="ctr" indent="0" marL="0">
              <a:buNone/>
            </a:pPr>
            <a:r>
              <a:rPr lang="en-US" sz="1150" dirty="0">
                <a:solidFill>
                  <a:schemeClr val="tx1"/>
                </a:solidFill>
              </a:rPr>
              <a:t>33 frames, onset to offset</a:t>
            </a:r>
            <a:endParaRPr lang="en-US" sz="1300" dirty="0"/>
          </a:p>
        </p:txBody>
      </p:sp>
      <p:sp>
        <p:nvSpPr>
          <p:cNvPr id="7" name="arrow-65"/>
          <p:cNvSpPr/>
          <p:nvPr/>
        </p:nvSpPr>
        <p:spPr>
          <a:xfrm>
            <a:off x="4089197" y="2148840"/>
            <a:ext cx="221285" cy="0"/>
          </a:xfrm>
          <a:prstGeom prst="line">
            <a:avLst/>
          </a:prstGeom>
          <a:noFill/>
          <a:ln w="22225">
            <a:solidFill>
              <a:srgbClr val="7C8D99"/>
            </a:solidFill>
            <a:prstDash val="solid"/>
            <a:tailEnd type="triangle"/>
          </a:ln>
        </p:spPr>
      </p:sp>
      <p:sp>
        <p:nvSpPr>
          <p:cNvPr id="8" name="box-66"/>
          <p:cNvSpPr/>
          <p:nvPr/>
        </p:nvSpPr>
        <p:spPr>
          <a:xfrm>
            <a:off x="4337914" y="1554480"/>
            <a:ext cx="1618488" cy="1188720"/>
          </a:xfrm>
          <a:prstGeom prst="roundRect">
            <a:avLst>
              <a:gd name="adj" fmla="val 6154"/>
            </a:avLst>
          </a:prstGeom>
          <a:solidFill>
            <a:srgbClr val="FFFFFF"/>
          </a:solidFill>
          <a:ln w="25400">
            <a:solidFill>
              <a:srgbClr val="E08E2B"/>
            </a:solidFill>
            <a:prstDash val="dash"/>
          </a:ln>
        </p:spPr>
        <p:txBody>
          <a:bodyPr wrap="square" lIns="50800" tIns="50800" rIns="50800" bIns="50800" rtlCol="0" anchor="ctr"/>
          <a:lstStyle/>
          <a:p>
            <a:pPr algn="ctr" indent="0" marL="0">
              <a:buNone/>
            </a:pPr>
            <a:r>
              <a:rPr lang="en-US" sz="1300" b="1" dirty="0">
                <a:solidFill>
                  <a:schemeClr val="tx2"/>
                </a:solidFill>
              </a:rPr>
              <a:t>Magnification</a:t>
            </a:r>
            <a:endParaRPr lang="en-US" sz="1300" dirty="0"/>
          </a:p>
          <a:p>
            <a:pPr algn="ctr" indent="0" marL="0">
              <a:buNone/>
            </a:pPr>
            <a:r>
              <a:rPr lang="en-US" sz="1150" dirty="0">
                <a:solidFill>
                  <a:schemeClr val="tx1"/>
                </a:solidFill>
              </a:rPr>
              <a:t>Eulerian, α = 10, 5–25 Hz</a:t>
            </a:r>
            <a:endParaRPr lang="en-US" sz="1300" dirty="0"/>
          </a:p>
        </p:txBody>
      </p:sp>
      <p:sp>
        <p:nvSpPr>
          <p:cNvPr id="9" name="arrow-67"/>
          <p:cNvSpPr/>
          <p:nvPr/>
        </p:nvSpPr>
        <p:spPr>
          <a:xfrm>
            <a:off x="5983834" y="2148840"/>
            <a:ext cx="221285" cy="0"/>
          </a:xfrm>
          <a:prstGeom prst="line">
            <a:avLst/>
          </a:prstGeom>
          <a:noFill/>
          <a:ln w="22225">
            <a:solidFill>
              <a:srgbClr val="7C8D99"/>
            </a:solidFill>
            <a:prstDash val="solid"/>
            <a:tailEnd type="triangle"/>
          </a:ln>
        </p:spPr>
      </p:sp>
      <p:sp>
        <p:nvSpPr>
          <p:cNvPr id="10" name="box-68"/>
          <p:cNvSpPr/>
          <p:nvPr/>
        </p:nvSpPr>
        <p:spPr>
          <a:xfrm>
            <a:off x="6232550" y="1554480"/>
            <a:ext cx="1618488" cy="1188720"/>
          </a:xfrm>
          <a:prstGeom prst="roundRect">
            <a:avLst>
              <a:gd name="adj" fmla="val 6154"/>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Optical flow</a:t>
            </a:r>
            <a:endParaRPr lang="en-US" sz="1300" dirty="0"/>
          </a:p>
          <a:p>
            <a:pPr algn="ctr" indent="0" marL="0">
              <a:buNone/>
            </a:pPr>
            <a:r>
              <a:rPr lang="en-US" sz="1150" dirty="0">
                <a:solidFill>
                  <a:schemeClr val="tx1"/>
                </a:solidFill>
              </a:rPr>
              <a:t>Farnebäck, 32 frame pairs</a:t>
            </a:r>
            <a:endParaRPr lang="en-US" sz="1300" dirty="0"/>
          </a:p>
        </p:txBody>
      </p:sp>
      <p:sp>
        <p:nvSpPr>
          <p:cNvPr id="11" name="arrow-69"/>
          <p:cNvSpPr/>
          <p:nvPr/>
        </p:nvSpPr>
        <p:spPr>
          <a:xfrm>
            <a:off x="7878470" y="2148840"/>
            <a:ext cx="221285" cy="0"/>
          </a:xfrm>
          <a:prstGeom prst="line">
            <a:avLst/>
          </a:prstGeom>
          <a:noFill/>
          <a:ln w="22225">
            <a:solidFill>
              <a:srgbClr val="7C8D99"/>
            </a:solidFill>
            <a:prstDash val="solid"/>
            <a:tailEnd type="triangle"/>
          </a:ln>
        </p:spPr>
      </p:sp>
      <p:sp>
        <p:nvSpPr>
          <p:cNvPr id="12" name="box-70"/>
          <p:cNvSpPr/>
          <p:nvPr/>
        </p:nvSpPr>
        <p:spPr>
          <a:xfrm>
            <a:off x="8127187" y="1554480"/>
            <a:ext cx="1618488" cy="1188720"/>
          </a:xfrm>
          <a:prstGeom prst="roundRect">
            <a:avLst>
              <a:gd name="adj" fmla="val 6154"/>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Optical strain</a:t>
            </a:r>
            <a:endParaRPr lang="en-US" sz="1300" dirty="0"/>
          </a:p>
          <a:p>
            <a:pPr algn="ctr" indent="0" marL="0">
              <a:buNone/>
            </a:pPr>
            <a:r>
              <a:rPr lang="en-US" sz="1150" dirty="0">
                <a:solidFill>
                  <a:schemeClr val="tx1"/>
                </a:solidFill>
              </a:rPr>
              <a:t>from spatial gradients</a:t>
            </a:r>
            <a:endParaRPr lang="en-US" sz="1300" dirty="0"/>
          </a:p>
        </p:txBody>
      </p:sp>
      <p:sp>
        <p:nvSpPr>
          <p:cNvPr id="13" name="arrow-71"/>
          <p:cNvSpPr/>
          <p:nvPr/>
        </p:nvSpPr>
        <p:spPr>
          <a:xfrm>
            <a:off x="9773107" y="2148840"/>
            <a:ext cx="221285" cy="0"/>
          </a:xfrm>
          <a:prstGeom prst="line">
            <a:avLst/>
          </a:prstGeom>
          <a:noFill/>
          <a:ln w="22225">
            <a:solidFill>
              <a:srgbClr val="7C8D99"/>
            </a:solidFill>
            <a:prstDash val="solid"/>
            <a:tailEnd type="triangle"/>
          </a:ln>
        </p:spPr>
      </p:sp>
      <p:sp>
        <p:nvSpPr>
          <p:cNvPr id="14" name="box-72"/>
          <p:cNvSpPr/>
          <p:nvPr/>
        </p:nvSpPr>
        <p:spPr>
          <a:xfrm>
            <a:off x="10021824" y="1554480"/>
            <a:ext cx="1618488" cy="1188720"/>
          </a:xfrm>
          <a:prstGeom prst="roundRect">
            <a:avLst>
              <a:gd name="adj" fmla="val 6154"/>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Stack and normalise</a:t>
            </a:r>
            <a:endParaRPr lang="en-US" sz="1300" dirty="0"/>
          </a:p>
          <a:p>
            <a:pPr algn="ctr" indent="0" marL="0">
              <a:buNone/>
            </a:pPr>
            <a:r>
              <a:rPr lang="en-US" sz="1150" dirty="0">
                <a:solidFill>
                  <a:schemeClr val="tx1"/>
                </a:solidFill>
              </a:rPr>
              <a:t>[u, v, ε] to [0, 1]</a:t>
            </a:r>
            <a:endParaRPr lang="en-US" sz="1300" dirty="0"/>
          </a:p>
        </p:txBody>
      </p:sp>
      <p:sp>
        <p:nvSpPr>
          <p:cNvPr id="15" name="text-73"/>
          <p:cNvSpPr txBox="1"/>
          <p:nvPr/>
        </p:nvSpPr>
        <p:spPr>
          <a:xfrm>
            <a:off x="548640" y="2834640"/>
            <a:ext cx="11094415" cy="274320"/>
          </a:xfrm>
          <a:prstGeom prst="rect">
            <a:avLst/>
          </a:prstGeom>
          <a:noFill/>
          <a:ln/>
        </p:spPr>
        <p:txBody>
          <a:bodyPr wrap="square" lIns="0" tIns="0" rIns="0" bIns="0" rtlCol="0" anchor="t"/>
          <a:lstStyle/>
          <a:p>
            <a:pPr indent="0" marL="0">
              <a:buNone/>
            </a:pPr>
            <a:r>
              <a:rPr lang="en-US" sz="1250" i="1" dirty="0">
                <a:solidFill>
                  <a:schemeClr val="accent2"/>
                </a:solidFill>
              </a:rPr>
              <a:t>Dashed box: component switched on and off in the ablation</a:t>
            </a:r>
            <a:endParaRPr lang="en-US" sz="1250" dirty="0"/>
          </a:p>
        </p:txBody>
      </p:sp>
      <p:sp>
        <p:nvSpPr>
          <p:cNvPr id="16" name="card-74"/>
          <p:cNvSpPr/>
          <p:nvPr/>
        </p:nvSpPr>
        <p:spPr>
          <a:xfrm>
            <a:off x="548640" y="3291840"/>
            <a:ext cx="4023360" cy="2514600"/>
          </a:xfrm>
          <a:prstGeom prst="roundRect">
            <a:avLst>
              <a:gd name="adj" fmla="val 3636"/>
            </a:avLst>
          </a:prstGeom>
          <a:solidFill>
            <a:schemeClr val="tx2"/>
          </a:solidFill>
          <a:ln w="6350">
            <a:solidFill>
              <a:schemeClr val="tx2"/>
            </a:solidFill>
            <a:prstDash val="solid"/>
          </a:ln>
        </p:spPr>
      </p:sp>
      <p:sp>
        <p:nvSpPr>
          <p:cNvPr id="17" name="text-75"/>
          <p:cNvSpPr txBox="1"/>
          <p:nvPr/>
        </p:nvSpPr>
        <p:spPr>
          <a:xfrm>
            <a:off x="822960" y="3456432"/>
            <a:ext cx="3520440" cy="2468880"/>
          </a:xfrm>
          <a:prstGeom prst="rect">
            <a:avLst/>
          </a:prstGeom>
          <a:noFill/>
          <a:ln/>
        </p:spPr>
        <p:txBody>
          <a:bodyPr wrap="square" lIns="0" tIns="0" rIns="0" bIns="0" rtlCol="0" anchor="t"/>
          <a:lstStyle/>
          <a:p>
            <a:pPr indent="0" marL="0">
              <a:spcAft>
                <a:spcPts val="600"/>
              </a:spcAft>
              <a:buNone/>
            </a:pPr>
            <a:r>
              <a:rPr lang="en-US" sz="1550" b="1" dirty="0">
                <a:solidFill>
                  <a:schemeClr val="accent2"/>
                </a:solidFill>
              </a:rPr>
              <a:t>Input tensor</a:t>
            </a:r>
            <a:endParaRPr lang="en-US" sz="1650" dirty="0"/>
          </a:p>
          <a:p>
            <a:pPr indent="0" marL="0">
              <a:spcAft>
                <a:spcPts val="600"/>
              </a:spcAft>
              <a:buNone/>
            </a:pPr>
            <a:r>
              <a:rPr lang="en-US" sz="3000" b="1" dirty="0">
                <a:solidFill>
                  <a:schemeClr val="bg1"/>
                </a:solidFill>
              </a:rPr>
              <a:t>3 × 32 × 224 × 224</a:t>
            </a:r>
            <a:endParaRPr lang="en-US" sz="1650" dirty="0"/>
          </a:p>
          <a:p>
            <a:pPr indent="0" marL="0">
              <a:spcAft>
                <a:spcPts val="600"/>
              </a:spcAft>
              <a:buNone/>
            </a:pPr>
            <a:r>
              <a:rPr lang="en-US" sz="1400" dirty="0">
                <a:solidFill>
                  <a:schemeClr val="bg2"/>
                </a:solidFill>
              </a:rPr>
              <a:t>channels × frame pairs × height × width</a:t>
            </a:r>
            <a:endParaRPr lang="en-US" sz="1650" dirty="0"/>
          </a:p>
          <a:p>
            <a:pPr indent="0" marL="0">
              <a:spcAft>
                <a:spcPts val="600"/>
              </a:spcAft>
              <a:buNone/>
            </a:pPr>
            <a:r>
              <a:rPr lang="en-US" sz="1450" dirty="0">
                <a:solidFill>
                  <a:schemeClr val="bg1"/>
                </a:solidFill>
              </a:rPr>
              <a:t>Channels: horizontal flow u, vertical flow v and strain magnitude ε</a:t>
            </a:r>
            <a:endParaRPr lang="en-US" sz="1650" dirty="0"/>
          </a:p>
        </p:txBody>
      </p:sp>
      <p:sp>
        <p:nvSpPr>
          <p:cNvPr id="18" name="text-76"/>
          <p:cNvSpPr txBox="1"/>
          <p:nvPr/>
        </p:nvSpPr>
        <p:spPr>
          <a:xfrm>
            <a:off x="4937760" y="3383280"/>
            <a:ext cx="6702552"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rPr>
              <a:t>The network never receives pixel intensities, only displacement and deformation fields</a:t>
            </a:r>
            <a:endParaRPr lang="en-US" sz="1650" dirty="0"/>
          </a:p>
          <a:p>
            <a:pPr marL="342900" indent="-342900">
              <a:spcAft>
                <a:spcPts val="900"/>
              </a:spcAft>
              <a:buSzPct val="100000"/>
              <a:buChar char="•"/>
            </a:pPr>
            <a:r>
              <a:rPr lang="en-US" sz="1600" dirty="0">
                <a:solidFill>
                  <a:schemeClr val="tx1"/>
                </a:solidFill>
              </a:rPr>
              <a:t>The original frames are used: no face detection, alignment or cropping</a:t>
            </a:r>
            <a:endParaRPr lang="en-US" sz="1650" dirty="0"/>
          </a:p>
          <a:p>
            <a:pPr marL="342900" indent="-342900">
              <a:spcAft>
                <a:spcPts val="900"/>
              </a:spcAft>
              <a:buSzPct val="100000"/>
              <a:buChar char="•"/>
            </a:pPr>
            <a:r>
              <a:rPr lang="en-US" sz="1600" dirty="0">
                <a:solidFill>
                  <a:schemeClr val="tx1"/>
                </a:solidFill>
              </a:rPr>
              <a:t>Existing frames are sampled; no frames are synthesised by interpolation</a:t>
            </a:r>
            <a:endParaRPr lang="en-US" sz="1650" dirty="0"/>
          </a:p>
          <a:p>
            <a:pPr marL="342900" indent="-342900">
              <a:spcAft>
                <a:spcPts val="900"/>
              </a:spcAft>
              <a:buSzPct val="100000"/>
              <a:buChar char="•"/>
            </a:pPr>
            <a:r>
              <a:rPr lang="en-US" sz="1600" dirty="0">
                <a:solidFill>
                  <a:schemeClr val="tx1"/>
                </a:solidFill>
              </a:rPr>
              <a:t>Stage 1 runs once per clip, so all configurations are compared on identical inputs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Four components are switched on and off</a:t>
            </a:r>
            <a:endParaRPr lang="en-US" sz="3000" dirty="0"/>
          </a:p>
        </p:txBody>
      </p:sp>
      <p:sp>
        <p:nvSpPr>
          <p:cNvPr id="4" name="text-77"/>
          <p:cNvSpPr txBox="1"/>
          <p:nvPr/>
        </p:nvSpPr>
        <p:spPr>
          <a:xfrm>
            <a:off x="548640" y="1298448"/>
            <a:ext cx="8321040" cy="274320"/>
          </a:xfrm>
          <a:prstGeom prst="rect">
            <a:avLst/>
          </a:prstGeom>
          <a:noFill/>
          <a:ln/>
        </p:spPr>
        <p:txBody>
          <a:bodyPr wrap="square" lIns="0" tIns="0" rIns="0" bIns="0" rtlCol="0" anchor="t"/>
          <a:lstStyle/>
          <a:p>
            <a:pPr indent="0" marL="0">
              <a:buNone/>
            </a:pPr>
            <a:r>
              <a:rPr lang="en-US" sz="1300" b="1" spc="200" kern="0" dirty="0">
                <a:solidFill>
                  <a:schemeClr val="accent3"/>
                </a:solidFill>
              </a:rPr>
              <a:t>MOTION MODELLING</a:t>
            </a:r>
            <a:endParaRPr lang="en-US" sz="1300" dirty="0"/>
          </a:p>
        </p:txBody>
      </p:sp>
      <p:sp>
        <p:nvSpPr>
          <p:cNvPr id="5" name="text-78"/>
          <p:cNvSpPr txBox="1"/>
          <p:nvPr/>
        </p:nvSpPr>
        <p:spPr>
          <a:xfrm>
            <a:off x="9015984" y="1298448"/>
            <a:ext cx="2624328" cy="274320"/>
          </a:xfrm>
          <a:prstGeom prst="rect">
            <a:avLst/>
          </a:prstGeom>
          <a:noFill/>
          <a:ln/>
        </p:spPr>
        <p:txBody>
          <a:bodyPr wrap="square" lIns="0" tIns="0" rIns="0" bIns="0" rtlCol="0" anchor="t"/>
          <a:lstStyle/>
          <a:p>
            <a:pPr indent="0" marL="0">
              <a:buNone/>
            </a:pPr>
            <a:r>
              <a:rPr lang="en-US" sz="1300" b="1" spc="200" kern="0" dirty="0">
                <a:solidFill>
                  <a:schemeClr val="accent3"/>
                </a:solidFill>
              </a:rPr>
              <a:t>TEMPORAL MODELLING</a:t>
            </a:r>
            <a:endParaRPr lang="en-US" sz="1300" dirty="0"/>
          </a:p>
        </p:txBody>
      </p:sp>
      <p:sp>
        <p:nvSpPr>
          <p:cNvPr id="6" name="card-79"/>
          <p:cNvSpPr/>
          <p:nvPr/>
        </p:nvSpPr>
        <p:spPr>
          <a:xfrm>
            <a:off x="548640" y="1645920"/>
            <a:ext cx="2624328" cy="4434840"/>
          </a:xfrm>
          <a:prstGeom prst="roundRect">
            <a:avLst>
              <a:gd name="adj" fmla="val 3484"/>
            </a:avLst>
          </a:prstGeom>
          <a:solidFill>
            <a:schemeClr val="bg2"/>
          </a:solidFill>
          <a:ln w="6350">
            <a:solidFill>
              <a:schemeClr val="bg2"/>
            </a:solidFill>
            <a:prstDash val="solid"/>
          </a:ln>
        </p:spPr>
      </p:sp>
      <p:sp>
        <p:nvSpPr>
          <p:cNvPr id="7" name="badge-80"/>
          <p:cNvSpPr/>
          <p:nvPr/>
        </p:nvSpPr>
        <p:spPr>
          <a:xfrm>
            <a:off x="777240" y="18288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81"/>
          <p:cNvSpPr txBox="1"/>
          <p:nvPr/>
        </p:nvSpPr>
        <p:spPr>
          <a:xfrm>
            <a:off x="777240" y="2423160"/>
            <a:ext cx="2167128" cy="685800"/>
          </a:xfrm>
          <a:prstGeom prst="rect">
            <a:avLst/>
          </a:prstGeom>
          <a:noFill/>
          <a:ln/>
        </p:spPr>
        <p:txBody>
          <a:bodyPr wrap="square" lIns="0" tIns="0" rIns="0" bIns="0" rtlCol="0" anchor="t"/>
          <a:lstStyle/>
          <a:p>
            <a:pPr indent="0" marL="0">
              <a:buNone/>
            </a:pPr>
            <a:r>
              <a:rPr lang="en-US" sz="1750" b="1" dirty="0">
                <a:solidFill>
                  <a:schemeClr val="tx2"/>
                </a:solidFill>
              </a:rPr>
              <a:t>Eulerian video magnification</a:t>
            </a:r>
            <a:endParaRPr lang="en-US" sz="1750" dirty="0"/>
          </a:p>
        </p:txBody>
      </p:sp>
      <p:sp>
        <p:nvSpPr>
          <p:cNvPr id="9" name="text-82"/>
          <p:cNvSpPr txBox="1"/>
          <p:nvPr/>
        </p:nvSpPr>
        <p:spPr>
          <a:xfrm>
            <a:off x="777240" y="3154680"/>
            <a:ext cx="2167128" cy="1325880"/>
          </a:xfrm>
          <a:prstGeom prst="rect">
            <a:avLst/>
          </a:prstGeom>
          <a:noFill/>
          <a:ln/>
        </p:spPr>
        <p:txBody>
          <a:bodyPr wrap="square" lIns="0" tIns="0" rIns="0" bIns="0" rtlCol="0" anchor="t"/>
          <a:lstStyle/>
          <a:p>
            <a:pPr indent="0" marL="0">
              <a:buNone/>
            </a:pPr>
            <a:r>
              <a:rPr lang="en-US" sz="1450" dirty="0">
                <a:solidFill>
                  <a:schemeClr val="tx1"/>
                </a:solidFill>
              </a:rPr>
              <a:t>Amplifies subtle motion in a temporal frequency band before optical flow is computed.</a:t>
            </a:r>
            <a:endParaRPr lang="en-US" sz="1450" dirty="0"/>
          </a:p>
        </p:txBody>
      </p:sp>
      <p:sp>
        <p:nvSpPr>
          <p:cNvPr id="10" name="text-83"/>
          <p:cNvSpPr txBox="1"/>
          <p:nvPr/>
        </p:nvSpPr>
        <p:spPr>
          <a:xfrm>
            <a:off x="777240" y="4572000"/>
            <a:ext cx="2167128" cy="1371600"/>
          </a:xfrm>
          <a:prstGeom prst="rect">
            <a:avLst/>
          </a:prstGeom>
          <a:noFill/>
          <a:ln/>
        </p:spPr>
        <p:txBody>
          <a:bodyPr wrap="square" lIns="0" tIns="0" rIns="0" bIns="0" rtlCol="0" anchor="t"/>
          <a:lstStyle/>
          <a:p>
            <a:pPr indent="0" marL="0">
              <a:buNone/>
            </a:pPr>
            <a:r>
              <a:rPr lang="en-US" sz="1300" b="1" dirty="0">
                <a:solidFill>
                  <a:schemeClr val="accent1"/>
                </a:solidFill>
              </a:rPr>
              <a:t>When disabled</a:t>
            </a:r>
            <a:endParaRPr lang="en-US" sz="1650" dirty="0"/>
          </a:p>
          <a:p>
            <a:pPr indent="0" marL="0">
              <a:buNone/>
            </a:pPr>
            <a:r>
              <a:rPr lang="en-US" sz="1400" dirty="0">
                <a:solidFill>
                  <a:schemeClr val="tx1"/>
                </a:solidFill>
              </a:rPr>
              <a:t>No magnification</a:t>
            </a:r>
            <a:endParaRPr lang="en-US" sz="1650" dirty="0"/>
          </a:p>
        </p:txBody>
      </p:sp>
      <p:sp>
        <p:nvSpPr>
          <p:cNvPr id="11" name="card-84"/>
          <p:cNvSpPr/>
          <p:nvPr/>
        </p:nvSpPr>
        <p:spPr>
          <a:xfrm>
            <a:off x="3371393" y="1645920"/>
            <a:ext cx="2624328" cy="4434840"/>
          </a:xfrm>
          <a:prstGeom prst="roundRect">
            <a:avLst>
              <a:gd name="adj" fmla="val 3484"/>
            </a:avLst>
          </a:prstGeom>
          <a:solidFill>
            <a:schemeClr val="bg2"/>
          </a:solidFill>
          <a:ln w="6350">
            <a:solidFill>
              <a:schemeClr val="bg2"/>
            </a:solidFill>
            <a:prstDash val="solid"/>
          </a:ln>
        </p:spPr>
      </p:sp>
      <p:sp>
        <p:nvSpPr>
          <p:cNvPr id="12" name="badge-85"/>
          <p:cNvSpPr/>
          <p:nvPr/>
        </p:nvSpPr>
        <p:spPr>
          <a:xfrm>
            <a:off x="3599993" y="18288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86"/>
          <p:cNvSpPr txBox="1"/>
          <p:nvPr/>
        </p:nvSpPr>
        <p:spPr>
          <a:xfrm>
            <a:off x="3599993" y="2423160"/>
            <a:ext cx="2167128" cy="685800"/>
          </a:xfrm>
          <a:prstGeom prst="rect">
            <a:avLst/>
          </a:prstGeom>
          <a:noFill/>
          <a:ln/>
        </p:spPr>
        <p:txBody>
          <a:bodyPr wrap="square" lIns="0" tIns="0" rIns="0" bIns="0" rtlCol="0" anchor="t"/>
          <a:lstStyle/>
          <a:p>
            <a:pPr indent="0" marL="0">
              <a:buNone/>
            </a:pPr>
            <a:r>
              <a:rPr lang="en-US" sz="1750" b="1" dirty="0">
                <a:solidFill>
                  <a:schemeClr val="tx2"/>
                </a:solidFill>
              </a:rPr>
              <a:t>Convolutional stem</a:t>
            </a:r>
            <a:endParaRPr lang="en-US" sz="1750" dirty="0"/>
          </a:p>
        </p:txBody>
      </p:sp>
      <p:sp>
        <p:nvSpPr>
          <p:cNvPr id="14" name="text-87"/>
          <p:cNvSpPr txBox="1"/>
          <p:nvPr/>
        </p:nvSpPr>
        <p:spPr>
          <a:xfrm>
            <a:off x="3599993" y="3154680"/>
            <a:ext cx="2167128" cy="1325880"/>
          </a:xfrm>
          <a:prstGeom prst="rect">
            <a:avLst/>
          </a:prstGeom>
          <a:noFill/>
          <a:ln/>
        </p:spPr>
        <p:txBody>
          <a:bodyPr wrap="square" lIns="0" tIns="0" rIns="0" bIns="0" rtlCol="0" anchor="t"/>
          <a:lstStyle/>
          <a:p>
            <a:pPr indent="0" marL="0">
              <a:buNone/>
            </a:pPr>
            <a:r>
              <a:rPr lang="en-US" sz="1450" dirty="0">
                <a:solidFill>
                  <a:schemeClr val="tx1"/>
                </a:solidFill>
              </a:rPr>
              <a:t>Three streams with unshared weights, one per channel, using spatial-only kernels (1, 3, 3).</a:t>
            </a:r>
            <a:endParaRPr lang="en-US" sz="1450" dirty="0"/>
          </a:p>
        </p:txBody>
      </p:sp>
      <p:sp>
        <p:nvSpPr>
          <p:cNvPr id="15" name="text-88"/>
          <p:cNvSpPr txBox="1"/>
          <p:nvPr/>
        </p:nvSpPr>
        <p:spPr>
          <a:xfrm>
            <a:off x="3599993" y="4572000"/>
            <a:ext cx="2167128" cy="1371600"/>
          </a:xfrm>
          <a:prstGeom prst="rect">
            <a:avLst/>
          </a:prstGeom>
          <a:noFill/>
          <a:ln/>
        </p:spPr>
        <p:txBody>
          <a:bodyPr wrap="square" lIns="0" tIns="0" rIns="0" bIns="0" rtlCol="0" anchor="t"/>
          <a:lstStyle/>
          <a:p>
            <a:pPr indent="0" marL="0">
              <a:buNone/>
            </a:pPr>
            <a:r>
              <a:rPr lang="en-US" sz="1300" b="1" dirty="0">
                <a:solidFill>
                  <a:schemeClr val="accent1"/>
                </a:solidFill>
              </a:rPr>
              <a:t>When disabled</a:t>
            </a:r>
            <a:endParaRPr lang="en-US" sz="1650" dirty="0"/>
          </a:p>
          <a:p>
            <a:pPr indent="0" marL="0">
              <a:buNone/>
            </a:pPr>
            <a:r>
              <a:rPr lang="en-US" sz="1400" dirty="0">
                <a:solidFill>
                  <a:schemeClr val="tx1"/>
                </a:solidFill>
              </a:rPr>
              <a:t>4 × 4 average pooling per frame and a linear projection 48 → 96</a:t>
            </a:r>
            <a:endParaRPr lang="en-US" sz="1650" dirty="0"/>
          </a:p>
        </p:txBody>
      </p:sp>
      <p:sp>
        <p:nvSpPr>
          <p:cNvPr id="16" name="card-89"/>
          <p:cNvSpPr/>
          <p:nvPr/>
        </p:nvSpPr>
        <p:spPr>
          <a:xfrm>
            <a:off x="6194146" y="1645920"/>
            <a:ext cx="2624328" cy="4434840"/>
          </a:xfrm>
          <a:prstGeom prst="roundRect">
            <a:avLst>
              <a:gd name="adj" fmla="val 3484"/>
            </a:avLst>
          </a:prstGeom>
          <a:solidFill>
            <a:schemeClr val="bg2"/>
          </a:solidFill>
          <a:ln w="6350">
            <a:solidFill>
              <a:schemeClr val="bg2"/>
            </a:solidFill>
            <a:prstDash val="solid"/>
          </a:ln>
        </p:spPr>
      </p:sp>
      <p:sp>
        <p:nvSpPr>
          <p:cNvPr id="17" name="badge-90"/>
          <p:cNvSpPr/>
          <p:nvPr/>
        </p:nvSpPr>
        <p:spPr>
          <a:xfrm>
            <a:off x="6422746" y="182880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91"/>
          <p:cNvSpPr txBox="1"/>
          <p:nvPr/>
        </p:nvSpPr>
        <p:spPr>
          <a:xfrm>
            <a:off x="6422746" y="2423160"/>
            <a:ext cx="2167128" cy="685800"/>
          </a:xfrm>
          <a:prstGeom prst="rect">
            <a:avLst/>
          </a:prstGeom>
          <a:noFill/>
          <a:ln/>
        </p:spPr>
        <p:txBody>
          <a:bodyPr wrap="square" lIns="0" tIns="0" rIns="0" bIns="0" rtlCol="0" anchor="t"/>
          <a:lstStyle/>
          <a:p>
            <a:pPr indent="0" marL="0">
              <a:buNone/>
            </a:pPr>
            <a:r>
              <a:rPr lang="en-US" sz="1750" b="1" dirty="0">
                <a:solidFill>
                  <a:schemeClr val="tx2"/>
                </a:solidFill>
              </a:rPr>
              <a:t>SimAM attention</a:t>
            </a:r>
            <a:endParaRPr lang="en-US" sz="1750" dirty="0"/>
          </a:p>
        </p:txBody>
      </p:sp>
      <p:sp>
        <p:nvSpPr>
          <p:cNvPr id="19" name="text-92"/>
          <p:cNvSpPr txBox="1"/>
          <p:nvPr/>
        </p:nvSpPr>
        <p:spPr>
          <a:xfrm>
            <a:off x="6422746" y="3154680"/>
            <a:ext cx="2167128" cy="1325880"/>
          </a:xfrm>
          <a:prstGeom prst="rect">
            <a:avLst/>
          </a:prstGeom>
          <a:noFill/>
          <a:ln/>
        </p:spPr>
        <p:txBody>
          <a:bodyPr wrap="square" lIns="0" tIns="0" rIns="0" bIns="0" rtlCol="0" anchor="t"/>
          <a:lstStyle/>
          <a:p>
            <a:pPr indent="0" marL="0">
              <a:buNone/>
            </a:pPr>
            <a:r>
              <a:rPr lang="en-US" sz="1450" dirty="0">
                <a:solidFill>
                  <a:schemeClr val="tx1"/>
                </a:solidFill>
              </a:rPr>
              <a:t>Parameter-free re-weighting of the stem's activations. Requires the stem.</a:t>
            </a:r>
            <a:endParaRPr lang="en-US" sz="1450" dirty="0"/>
          </a:p>
        </p:txBody>
      </p:sp>
      <p:sp>
        <p:nvSpPr>
          <p:cNvPr id="20" name="text-93"/>
          <p:cNvSpPr txBox="1"/>
          <p:nvPr/>
        </p:nvSpPr>
        <p:spPr>
          <a:xfrm>
            <a:off x="6422746" y="4572000"/>
            <a:ext cx="2167128" cy="1371600"/>
          </a:xfrm>
          <a:prstGeom prst="rect">
            <a:avLst/>
          </a:prstGeom>
          <a:noFill/>
          <a:ln/>
        </p:spPr>
        <p:txBody>
          <a:bodyPr wrap="square" lIns="0" tIns="0" rIns="0" bIns="0" rtlCol="0" anchor="t"/>
          <a:lstStyle/>
          <a:p>
            <a:pPr indent="0" marL="0">
              <a:buNone/>
            </a:pPr>
            <a:r>
              <a:rPr lang="en-US" sz="1300" b="1" dirty="0">
                <a:solidFill>
                  <a:schemeClr val="accent1"/>
                </a:solidFill>
              </a:rPr>
              <a:t>When disabled</a:t>
            </a:r>
            <a:endParaRPr lang="en-US" sz="1650" dirty="0"/>
          </a:p>
          <a:p>
            <a:pPr indent="0" marL="0">
              <a:buNone/>
            </a:pPr>
            <a:r>
              <a:rPr lang="en-US" sz="1400" dirty="0">
                <a:solidFill>
                  <a:schemeClr val="tx1"/>
                </a:solidFill>
              </a:rPr>
              <a:t>Unmodified stream outputs</a:t>
            </a:r>
            <a:endParaRPr lang="en-US" sz="1650" dirty="0"/>
          </a:p>
        </p:txBody>
      </p:sp>
      <p:sp>
        <p:nvSpPr>
          <p:cNvPr id="21" name="card-94"/>
          <p:cNvSpPr/>
          <p:nvPr/>
        </p:nvSpPr>
        <p:spPr>
          <a:xfrm>
            <a:off x="9016898" y="1645920"/>
            <a:ext cx="2624328" cy="4434840"/>
          </a:xfrm>
          <a:prstGeom prst="roundRect">
            <a:avLst>
              <a:gd name="adj" fmla="val 3484"/>
            </a:avLst>
          </a:prstGeom>
          <a:solidFill>
            <a:schemeClr val="tx2"/>
          </a:solidFill>
          <a:ln w="6350">
            <a:solidFill>
              <a:schemeClr val="tx2"/>
            </a:solidFill>
            <a:prstDash val="solid"/>
          </a:ln>
        </p:spPr>
      </p:sp>
      <p:sp>
        <p:nvSpPr>
          <p:cNvPr id="22" name="badge-95"/>
          <p:cNvSpPr/>
          <p:nvPr/>
        </p:nvSpPr>
        <p:spPr>
          <a:xfrm>
            <a:off x="9245498" y="1828800"/>
            <a:ext cx="457200" cy="457200"/>
          </a:xfrm>
          <a:prstGeom prst="ellipse">
            <a:avLst/>
          </a:prstGeom>
          <a:solidFill>
            <a:schemeClr val="accent2"/>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3" name="text-96"/>
          <p:cNvSpPr txBox="1"/>
          <p:nvPr/>
        </p:nvSpPr>
        <p:spPr>
          <a:xfrm>
            <a:off x="9245498" y="2423160"/>
            <a:ext cx="2167128" cy="685800"/>
          </a:xfrm>
          <a:prstGeom prst="rect">
            <a:avLst/>
          </a:prstGeom>
          <a:noFill/>
          <a:ln/>
        </p:spPr>
        <p:txBody>
          <a:bodyPr wrap="square" lIns="0" tIns="0" rIns="0" bIns="0" rtlCol="0" anchor="t"/>
          <a:lstStyle/>
          <a:p>
            <a:pPr indent="0" marL="0">
              <a:buNone/>
            </a:pPr>
            <a:r>
              <a:rPr lang="en-US" sz="1750" b="1" dirty="0">
                <a:solidFill>
                  <a:schemeClr val="bg1"/>
                </a:solidFill>
              </a:rPr>
              <a:t>Temporal transformer</a:t>
            </a:r>
            <a:endParaRPr lang="en-US" sz="1750" dirty="0"/>
          </a:p>
        </p:txBody>
      </p:sp>
      <p:sp>
        <p:nvSpPr>
          <p:cNvPr id="24" name="text-97"/>
          <p:cNvSpPr txBox="1"/>
          <p:nvPr/>
        </p:nvSpPr>
        <p:spPr>
          <a:xfrm>
            <a:off x="9245498" y="3154680"/>
            <a:ext cx="2167128" cy="1325880"/>
          </a:xfrm>
          <a:prstGeom prst="rect">
            <a:avLst/>
          </a:prstGeom>
          <a:noFill/>
          <a:ln/>
        </p:spPr>
        <p:txBody>
          <a:bodyPr wrap="square" lIns="0" tIns="0" rIns="0" bIns="0" rtlCol="0" anchor="t"/>
          <a:lstStyle/>
          <a:p>
            <a:pPr indent="0" marL="0">
              <a:buNone/>
            </a:pPr>
            <a:r>
              <a:rPr lang="en-US" sz="1450" dirty="0">
                <a:solidFill>
                  <a:schemeClr val="bg1"/>
                </a:solidFill>
              </a:rPr>
              <a:t>Sinusoidal positions, four pre-norm layers and eight heads over 32 time steps.</a:t>
            </a:r>
            <a:endParaRPr lang="en-US" sz="1450" dirty="0"/>
          </a:p>
        </p:txBody>
      </p:sp>
      <p:sp>
        <p:nvSpPr>
          <p:cNvPr id="25" name="text-98"/>
          <p:cNvSpPr txBox="1"/>
          <p:nvPr/>
        </p:nvSpPr>
        <p:spPr>
          <a:xfrm>
            <a:off x="9245498" y="4572000"/>
            <a:ext cx="2167128" cy="1371600"/>
          </a:xfrm>
          <a:prstGeom prst="rect">
            <a:avLst/>
          </a:prstGeom>
          <a:noFill/>
          <a:ln/>
        </p:spPr>
        <p:txBody>
          <a:bodyPr wrap="square" lIns="0" tIns="0" rIns="0" bIns="0" rtlCol="0" anchor="t"/>
          <a:lstStyle/>
          <a:p>
            <a:pPr indent="0" marL="0">
              <a:buNone/>
            </a:pPr>
            <a:r>
              <a:rPr lang="en-US" sz="1300" b="1" dirty="0">
                <a:solidFill>
                  <a:schemeClr val="accent2"/>
                </a:solidFill>
              </a:rPr>
              <a:t>When disabled</a:t>
            </a:r>
            <a:endParaRPr lang="en-US" sz="1650" dirty="0"/>
          </a:p>
          <a:p>
            <a:pPr indent="0" marL="0">
              <a:buNone/>
            </a:pPr>
            <a:r>
              <a:rPr lang="en-US" sz="1400" dirty="0">
                <a:solidFill>
                  <a:schemeClr val="bg1"/>
                </a:solidFill>
              </a:rPr>
              <a:t>Mean over time: no parameters, no temporal order</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Stage 2: one model with four switches</a:t>
            </a:r>
            <a:endParaRPr lang="en-US" sz="3000" dirty="0"/>
          </a:p>
        </p:txBody>
      </p:sp>
      <p:sp>
        <p:nvSpPr>
          <p:cNvPr id="4" name="box-99"/>
          <p:cNvSpPr/>
          <p:nvPr/>
        </p:nvSpPr>
        <p:spPr>
          <a:xfrm>
            <a:off x="548640" y="1508760"/>
            <a:ext cx="1618488"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Motion tensor</a:t>
            </a:r>
            <a:endParaRPr lang="en-US" sz="1300" dirty="0"/>
          </a:p>
          <a:p>
            <a:pPr algn="ctr" indent="0" marL="0">
              <a:buNone/>
            </a:pPr>
            <a:r>
              <a:rPr lang="en-US" sz="1150" dirty="0">
                <a:solidFill>
                  <a:schemeClr val="tx1"/>
                </a:solidFill>
              </a:rPr>
              <a:t>3 × 32 × 224 × 224</a:t>
            </a:r>
            <a:endParaRPr lang="en-US" sz="1300" dirty="0"/>
          </a:p>
        </p:txBody>
      </p:sp>
      <p:sp>
        <p:nvSpPr>
          <p:cNvPr id="5" name="arrow-100"/>
          <p:cNvSpPr/>
          <p:nvPr/>
        </p:nvSpPr>
        <p:spPr>
          <a:xfrm>
            <a:off x="2194560" y="2080260"/>
            <a:ext cx="221285" cy="0"/>
          </a:xfrm>
          <a:prstGeom prst="line">
            <a:avLst/>
          </a:prstGeom>
          <a:noFill/>
          <a:ln w="22225">
            <a:solidFill>
              <a:srgbClr val="7C8D99"/>
            </a:solidFill>
            <a:prstDash val="solid"/>
            <a:tailEnd type="triangle"/>
          </a:ln>
        </p:spPr>
      </p:sp>
      <p:sp>
        <p:nvSpPr>
          <p:cNvPr id="6" name="box-101"/>
          <p:cNvSpPr/>
          <p:nvPr/>
        </p:nvSpPr>
        <p:spPr>
          <a:xfrm>
            <a:off x="2443277" y="1508760"/>
            <a:ext cx="1618488" cy="1143000"/>
          </a:xfrm>
          <a:prstGeom prst="roundRect">
            <a:avLst>
              <a:gd name="adj" fmla="val 6400"/>
            </a:avLst>
          </a:prstGeom>
          <a:solidFill>
            <a:srgbClr val="FFFFFF"/>
          </a:solidFill>
          <a:ln w="25400">
            <a:solidFill>
              <a:srgbClr val="E08E2B"/>
            </a:solidFill>
            <a:prstDash val="dash"/>
          </a:ln>
        </p:spPr>
        <p:txBody>
          <a:bodyPr wrap="square" lIns="50800" tIns="50800" rIns="50800" bIns="50800" rtlCol="0" anchor="ctr"/>
          <a:lstStyle/>
          <a:p>
            <a:pPr algn="ctr" indent="0" marL="0">
              <a:buNone/>
            </a:pPr>
            <a:r>
              <a:rPr lang="en-US" sz="1300" b="1" dirty="0">
                <a:solidFill>
                  <a:schemeClr val="tx2"/>
                </a:solidFill>
              </a:rPr>
              <a:t>Convolutional stem</a:t>
            </a:r>
            <a:endParaRPr lang="en-US" sz="1300" dirty="0"/>
          </a:p>
          <a:p>
            <a:pPr algn="ctr" indent="0" marL="0">
              <a:buNone/>
            </a:pPr>
            <a:r>
              <a:rPr lang="en-US" sz="1150" dirty="0">
                <a:solidFill>
                  <a:schemeClr val="tx1"/>
                </a:solidFill>
              </a:rPr>
              <a:t>three streams</a:t>
            </a:r>
            <a:endParaRPr lang="en-US" sz="1300" dirty="0"/>
          </a:p>
        </p:txBody>
      </p:sp>
      <p:sp>
        <p:nvSpPr>
          <p:cNvPr id="7" name="arrow-102"/>
          <p:cNvSpPr/>
          <p:nvPr/>
        </p:nvSpPr>
        <p:spPr>
          <a:xfrm>
            <a:off x="4089197" y="2080260"/>
            <a:ext cx="221285" cy="0"/>
          </a:xfrm>
          <a:prstGeom prst="line">
            <a:avLst/>
          </a:prstGeom>
          <a:noFill/>
          <a:ln w="22225">
            <a:solidFill>
              <a:srgbClr val="7C8D99"/>
            </a:solidFill>
            <a:prstDash val="solid"/>
            <a:tailEnd type="triangle"/>
          </a:ln>
        </p:spPr>
      </p:sp>
      <p:sp>
        <p:nvSpPr>
          <p:cNvPr id="8" name="box-103"/>
          <p:cNvSpPr/>
          <p:nvPr/>
        </p:nvSpPr>
        <p:spPr>
          <a:xfrm>
            <a:off x="4337914" y="1508760"/>
            <a:ext cx="1618488" cy="1143000"/>
          </a:xfrm>
          <a:prstGeom prst="roundRect">
            <a:avLst>
              <a:gd name="adj" fmla="val 6400"/>
            </a:avLst>
          </a:prstGeom>
          <a:solidFill>
            <a:srgbClr val="FFFFFF"/>
          </a:solidFill>
          <a:ln w="25400">
            <a:solidFill>
              <a:srgbClr val="E08E2B"/>
            </a:solidFill>
            <a:prstDash val="dash"/>
          </a:ln>
        </p:spPr>
        <p:txBody>
          <a:bodyPr wrap="square" lIns="50800" tIns="50800" rIns="50800" bIns="50800" rtlCol="0" anchor="ctr"/>
          <a:lstStyle/>
          <a:p>
            <a:pPr algn="ctr" indent="0" marL="0">
              <a:buNone/>
            </a:pPr>
            <a:r>
              <a:rPr lang="en-US" sz="1300" b="1" dirty="0">
                <a:solidFill>
                  <a:schemeClr val="tx2"/>
                </a:solidFill>
              </a:rPr>
              <a:t>SimAM</a:t>
            </a:r>
            <a:endParaRPr lang="en-US" sz="1300" dirty="0"/>
          </a:p>
          <a:p>
            <a:pPr algn="ctr" indent="0" marL="0">
              <a:buNone/>
            </a:pPr>
            <a:r>
              <a:rPr lang="en-US" sz="1150" dirty="0">
                <a:solidFill>
                  <a:schemeClr val="tx1"/>
                </a:solidFill>
              </a:rPr>
              <a:t>parameter-free gate</a:t>
            </a:r>
            <a:endParaRPr lang="en-US" sz="1300" dirty="0"/>
          </a:p>
        </p:txBody>
      </p:sp>
      <p:sp>
        <p:nvSpPr>
          <p:cNvPr id="9" name="arrow-104"/>
          <p:cNvSpPr/>
          <p:nvPr/>
        </p:nvSpPr>
        <p:spPr>
          <a:xfrm>
            <a:off x="5983834" y="2080260"/>
            <a:ext cx="221285" cy="0"/>
          </a:xfrm>
          <a:prstGeom prst="line">
            <a:avLst/>
          </a:prstGeom>
          <a:noFill/>
          <a:ln w="22225">
            <a:solidFill>
              <a:srgbClr val="7C8D99"/>
            </a:solidFill>
            <a:prstDash val="solid"/>
            <a:tailEnd type="triangle"/>
          </a:ln>
        </p:spPr>
      </p:sp>
      <p:sp>
        <p:nvSpPr>
          <p:cNvPr id="10" name="box-105"/>
          <p:cNvSpPr/>
          <p:nvPr/>
        </p:nvSpPr>
        <p:spPr>
          <a:xfrm>
            <a:off x="6232550" y="1508760"/>
            <a:ext cx="1618488"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Spatial pooling</a:t>
            </a:r>
            <a:endParaRPr lang="en-US" sz="1300" dirty="0"/>
          </a:p>
          <a:p>
            <a:pPr algn="ctr" indent="0" marL="0">
              <a:buNone/>
            </a:pPr>
            <a:r>
              <a:rPr lang="en-US" sz="1150" dirty="0">
                <a:solidFill>
                  <a:schemeClr val="tx1"/>
                </a:solidFill>
              </a:rPr>
              <a:t>sequence of 32 × 96</a:t>
            </a:r>
            <a:endParaRPr lang="en-US" sz="1300" dirty="0"/>
          </a:p>
        </p:txBody>
      </p:sp>
      <p:sp>
        <p:nvSpPr>
          <p:cNvPr id="11" name="arrow-106"/>
          <p:cNvSpPr/>
          <p:nvPr/>
        </p:nvSpPr>
        <p:spPr>
          <a:xfrm>
            <a:off x="7878470" y="2080260"/>
            <a:ext cx="221285" cy="0"/>
          </a:xfrm>
          <a:prstGeom prst="line">
            <a:avLst/>
          </a:prstGeom>
          <a:noFill/>
          <a:ln w="22225">
            <a:solidFill>
              <a:srgbClr val="7C8D99"/>
            </a:solidFill>
            <a:prstDash val="solid"/>
            <a:tailEnd type="triangle"/>
          </a:ln>
        </p:spPr>
      </p:sp>
      <p:sp>
        <p:nvSpPr>
          <p:cNvPr id="12" name="box-107"/>
          <p:cNvSpPr/>
          <p:nvPr/>
        </p:nvSpPr>
        <p:spPr>
          <a:xfrm>
            <a:off x="8127187" y="1508760"/>
            <a:ext cx="1618488" cy="1143000"/>
          </a:xfrm>
          <a:prstGeom prst="roundRect">
            <a:avLst>
              <a:gd name="adj" fmla="val 6400"/>
            </a:avLst>
          </a:prstGeom>
          <a:solidFill>
            <a:srgbClr val="FFFFFF"/>
          </a:solidFill>
          <a:ln w="25400">
            <a:solidFill>
              <a:srgbClr val="E08E2B"/>
            </a:solidFill>
            <a:prstDash val="dash"/>
          </a:ln>
        </p:spPr>
        <p:txBody>
          <a:bodyPr wrap="square" lIns="50800" tIns="50800" rIns="50800" bIns="50800" rtlCol="0" anchor="ctr"/>
          <a:lstStyle/>
          <a:p>
            <a:pPr algn="ctr" indent="0" marL="0">
              <a:buNone/>
            </a:pPr>
            <a:r>
              <a:rPr lang="en-US" sz="1300" b="1" dirty="0">
                <a:solidFill>
                  <a:schemeClr val="tx2"/>
                </a:solidFill>
              </a:rPr>
              <a:t>Transformer</a:t>
            </a:r>
            <a:endParaRPr lang="en-US" sz="1300" dirty="0"/>
          </a:p>
          <a:p>
            <a:pPr algn="ctr" indent="0" marL="0">
              <a:buNone/>
            </a:pPr>
            <a:r>
              <a:rPr lang="en-US" sz="1150" dirty="0">
                <a:solidFill>
                  <a:schemeClr val="tx1"/>
                </a:solidFill>
              </a:rPr>
              <a:t>4 layers, 8 heads</a:t>
            </a:r>
            <a:endParaRPr lang="en-US" sz="1300" dirty="0"/>
          </a:p>
        </p:txBody>
      </p:sp>
      <p:sp>
        <p:nvSpPr>
          <p:cNvPr id="13" name="arrow-108"/>
          <p:cNvSpPr/>
          <p:nvPr/>
        </p:nvSpPr>
        <p:spPr>
          <a:xfrm>
            <a:off x="9773107" y="2080260"/>
            <a:ext cx="221285" cy="0"/>
          </a:xfrm>
          <a:prstGeom prst="line">
            <a:avLst/>
          </a:prstGeom>
          <a:noFill/>
          <a:ln w="22225">
            <a:solidFill>
              <a:srgbClr val="7C8D99"/>
            </a:solidFill>
            <a:prstDash val="solid"/>
            <a:tailEnd type="triangle"/>
          </a:ln>
        </p:spPr>
      </p:sp>
      <p:sp>
        <p:nvSpPr>
          <p:cNvPr id="14" name="box-109"/>
          <p:cNvSpPr/>
          <p:nvPr/>
        </p:nvSpPr>
        <p:spPr>
          <a:xfrm>
            <a:off x="10021824" y="1508760"/>
            <a:ext cx="1618488" cy="1143000"/>
          </a:xfrm>
          <a:prstGeom prst="roundRect">
            <a:avLst>
              <a:gd name="adj" fmla="val 6400"/>
            </a:avLst>
          </a:prstGeom>
          <a:solidFill>
            <a:srgbClr val="EAF1F3"/>
          </a:solidFill>
          <a:ln w="9525">
            <a:solidFill>
              <a:srgbClr val="EAF1F3"/>
            </a:solidFill>
            <a:prstDash val="solid"/>
          </a:ln>
        </p:spPr>
        <p:txBody>
          <a:bodyPr wrap="square" lIns="50800" tIns="50800" rIns="50800" bIns="50800" rtlCol="0" anchor="ctr"/>
          <a:lstStyle/>
          <a:p>
            <a:pPr algn="ctr" indent="0" marL="0">
              <a:buNone/>
            </a:pPr>
            <a:r>
              <a:rPr lang="en-US" sz="1300" b="1" dirty="0">
                <a:solidFill>
                  <a:schemeClr val="tx2"/>
                </a:solidFill>
              </a:rPr>
              <a:t>Classifier head</a:t>
            </a:r>
            <a:endParaRPr lang="en-US" sz="1300" dirty="0"/>
          </a:p>
          <a:p>
            <a:pPr algn="ctr" indent="0" marL="0">
              <a:buNone/>
            </a:pPr>
            <a:r>
              <a:rPr lang="en-US" sz="1150" dirty="0">
                <a:solidFill>
                  <a:schemeClr val="tx1"/>
                </a:solidFill>
              </a:rPr>
              <a:t>three class logits</a:t>
            </a:r>
            <a:endParaRPr lang="en-US" sz="1300" dirty="0"/>
          </a:p>
        </p:txBody>
      </p:sp>
      <p:sp>
        <p:nvSpPr>
          <p:cNvPr id="15" name="text-110"/>
          <p:cNvSpPr txBox="1"/>
          <p:nvPr/>
        </p:nvSpPr>
        <p:spPr>
          <a:xfrm>
            <a:off x="548640" y="2743200"/>
            <a:ext cx="11094415" cy="274320"/>
          </a:xfrm>
          <a:prstGeom prst="rect">
            <a:avLst/>
          </a:prstGeom>
          <a:noFill/>
          <a:ln/>
        </p:spPr>
        <p:txBody>
          <a:bodyPr wrap="square" lIns="0" tIns="0" rIns="0" bIns="0" rtlCol="0" anchor="t"/>
          <a:lstStyle/>
          <a:p>
            <a:pPr indent="0" marL="0">
              <a:buNone/>
            </a:pPr>
            <a:r>
              <a:rPr lang="en-US" sz="1250" i="1" dirty="0">
                <a:solidFill>
                  <a:schemeClr val="accent2"/>
                </a:solidFill>
              </a:rPr>
              <a:t>Dashed boxes: ablated components. Each is replaced by a defined operation when disabled.</a:t>
            </a:r>
            <a:endParaRPr lang="en-US" sz="1250" dirty="0"/>
          </a:p>
        </p:txBody>
      </p:sp>
      <p:graphicFrame>
        <p:nvGraphicFramePr>
          <p:cNvPr id="10" name="table-params"/>
          <p:cNvGraphicFramePr>
            <a:graphicFrameLocks noGrp="1"/>
          </p:cNvGraphicFramePr>
          <p:nvPr>
            <p:extLst>
              <p:ext uri="{D42A27DB-BD31-4B8C-83A1-F6EECF244321}">
                <p14:modId xmlns:p14="http://schemas.microsoft.com/office/powerpoint/2010/main" val="1579011935"/>
              </p:ext>
            </p:extLst>
          </p:nvPr>
        </p:nvGraphicFramePr>
        <p:xfrm>
          <a:off x="548640" y="3246120"/>
          <a:ext cx="5120640" cy="914400"/>
        </p:xfrm>
        <a:graphic>
          <a:graphicData uri="http://schemas.openxmlformats.org/drawingml/2006/table">
            <a:tbl>
              <a:tblPr/>
              <a:tblGrid>
                <a:gridCol w="3566160"/>
                <a:gridCol w="1554480"/>
              </a:tblGrid>
              <a:tr h="420624">
                <a:tc>
                  <a:txBody>
                    <a:bodyPr/>
                    <a:lstStyle/>
                    <a:p>
                      <a:pPr algn="l" indent="0" marL="0">
                        <a:buNone/>
                      </a:pPr>
                      <a:r>
                        <a:rPr lang="en-US" sz="1400" b="1" dirty="0">
                          <a:solidFill>
                            <a:srgbClr val="FFFFFF"/>
                          </a:solidFill>
                        </a:rPr>
                        <a:t>Component</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r" indent="0" marL="0">
                        <a:buNone/>
                      </a:pPr>
                      <a:r>
                        <a:rPr lang="en-US" sz="1400" b="1" dirty="0">
                          <a:solidFill>
                            <a:srgbClr val="FFFFFF"/>
                          </a:solidFill>
                        </a:rPr>
                        <a:t>Parameters</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400" dirty="0">
                          <a:solidFill>
                            <a:srgbClr val="1B2B34"/>
                          </a:solidFill>
                        </a:rPr>
                        <a:t>Convolutional stem (3 streams)</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14,544</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Temporal transformer</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348,736</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Replacement projection</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4,704</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Classifier head</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483</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SimAM, magnification</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0</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graphicFrame>
        <p:nvGraphicFramePr>
          <p:cNvPr id="19" name="table-totals"/>
          <p:cNvGraphicFramePr>
            <a:graphicFrameLocks noGrp="1"/>
          </p:cNvGraphicFramePr>
          <p:nvPr>
            <p:extLst>
              <p:ext uri="{D42A27DB-BD31-4B8C-83A1-F6EECF244321}">
                <p14:modId xmlns:p14="http://schemas.microsoft.com/office/powerpoint/2010/main" val="1579011935"/>
              </p:ext>
            </p:extLst>
          </p:nvPr>
        </p:nvGraphicFramePr>
        <p:xfrm>
          <a:off x="6035040" y="3246120"/>
          <a:ext cx="5605272" cy="914400"/>
        </p:xfrm>
        <a:graphic>
          <a:graphicData uri="http://schemas.openxmlformats.org/drawingml/2006/table">
            <a:tbl>
              <a:tblPr/>
              <a:tblGrid>
                <a:gridCol w="3840480"/>
                <a:gridCol w="1764792"/>
              </a:tblGrid>
              <a:tr h="420624">
                <a:tc>
                  <a:txBody>
                    <a:bodyPr/>
                    <a:lstStyle/>
                    <a:p>
                      <a:pPr algn="l" indent="0" marL="0">
                        <a:buNone/>
                      </a:pPr>
                      <a:r>
                        <a:rPr lang="en-US" sz="1400" b="1" dirty="0">
                          <a:solidFill>
                            <a:srgbClr val="FFFFFF"/>
                          </a:solidFill>
                        </a:rPr>
                        <a:t>Combination</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r" indent="0" marL="0">
                        <a:buNone/>
                      </a:pPr>
                      <a:r>
                        <a:rPr lang="en-US" sz="1400" b="1" dirty="0">
                          <a:solidFill>
                            <a:srgbClr val="FFFFFF"/>
                          </a:solidFill>
                        </a:rPr>
                        <a:t>Total</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400" dirty="0">
                          <a:solidFill>
                            <a:srgbClr val="1B2B34"/>
                          </a:solidFill>
                        </a:rPr>
                        <a:t>No stem, no transformer</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5,187</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Stem only</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15,027</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Transformer only</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b="1" dirty="0">
                          <a:solidFill>
                            <a:srgbClr val="1B2B34"/>
                          </a:solidFill>
                        </a:rPr>
                        <a:t>353,923</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400" dirty="0">
                          <a:solidFill>
                            <a:srgbClr val="1B2B34"/>
                          </a:solidFill>
                        </a:rPr>
                        <a:t>Stem and transformer</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r" indent="0" marL="0">
                        <a:buNone/>
                      </a:pPr>
                      <a:r>
                        <a:rPr lang="en-US" sz="1400" dirty="0">
                          <a:solidFill>
                            <a:srgbClr val="1B2B34"/>
                          </a:solidFill>
                        </a:rPr>
                        <a:t>363,763</a:t>
                      </a:r>
                      <a:endParaRPr lang="en-US" sz="140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18" name="text-111"/>
          <p:cNvSpPr txBox="1"/>
          <p:nvPr/>
        </p:nvSpPr>
        <p:spPr>
          <a:xfrm>
            <a:off x="6035040" y="5486400"/>
            <a:ext cx="5605272" cy="685800"/>
          </a:xfrm>
          <a:prstGeom prst="rect">
            <a:avLst/>
          </a:prstGeom>
          <a:noFill/>
          <a:ln/>
        </p:spPr>
        <p:txBody>
          <a:bodyPr wrap="square" lIns="0" tIns="0" rIns="0" bIns="0" rtlCol="0" anchor="t"/>
          <a:lstStyle/>
          <a:p>
            <a:pPr indent="0" marL="0">
              <a:buNone/>
            </a:pPr>
            <a:r>
              <a:rPr lang="en-US" sz="1450" dirty="0">
                <a:solidFill>
                  <a:schemeClr val="tx1"/>
                </a:solidFill>
              </a:rPr>
              <a:t>The transformer holds about 96 % of the parameters of the complete model. All configurations share the same implementation, initialisation and layer order.</a:t>
            </a:r>
            <a:endParaRPr lang="en-US" sz="14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Factorial design: 12 configurations, 20 matched pairs</a:t>
            </a:r>
            <a:endParaRPr lang="en-US" sz="3000" dirty="0"/>
          </a:p>
        </p:txBody>
      </p:sp>
      <p:graphicFrame>
        <p:nvGraphicFramePr>
          <p:cNvPr id="11" name="table-configs"/>
          <p:cNvGraphicFramePr>
            <a:graphicFrameLocks noGrp="1"/>
          </p:cNvGraphicFramePr>
          <p:nvPr>
            <p:extLst>
              <p:ext uri="{D42A27DB-BD31-4B8C-83A1-F6EECF244321}">
                <p14:modId xmlns:p14="http://schemas.microsoft.com/office/powerpoint/2010/main" val="1579011935"/>
              </p:ext>
            </p:extLst>
          </p:nvPr>
        </p:nvGraphicFramePr>
        <p:xfrm>
          <a:off x="548640" y="1325880"/>
          <a:ext cx="4754880" cy="914400"/>
        </p:xfrm>
        <a:graphic>
          <a:graphicData uri="http://schemas.openxmlformats.org/drawingml/2006/table">
            <a:tbl>
              <a:tblPr/>
              <a:tblGrid>
                <a:gridCol w="1097280"/>
                <a:gridCol w="914400"/>
                <a:gridCol w="914400"/>
                <a:gridCol w="914400"/>
                <a:gridCol w="914400"/>
              </a:tblGrid>
              <a:tr h="352044">
                <a:tc>
                  <a:txBody>
                    <a:bodyPr/>
                    <a:lstStyle/>
                    <a:p>
                      <a:pPr algn="ctr" indent="0" marL="0">
                        <a:buNone/>
                      </a:pPr>
                      <a:r>
                        <a:rPr lang="en-US" sz="1250" b="1" dirty="0">
                          <a:solidFill>
                            <a:srgbClr val="FFFFFF"/>
                          </a:solidFill>
                        </a:rPr>
                        <a:t>Config.</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EVM</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SimAM</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CNN</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TF</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52044">
                <a:tc>
                  <a:txBody>
                    <a:bodyPr/>
                    <a:lstStyle/>
                    <a:p>
                      <a:pPr algn="ctr" indent="0" marL="0">
                        <a:buNone/>
                      </a:pPr>
                      <a:r>
                        <a:rPr lang="en-US" sz="1250" b="1" dirty="0">
                          <a:solidFill>
                            <a:srgbClr val="0B3C49"/>
                          </a:solidFill>
                        </a:rPr>
                        <a:t>C1</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r h="352044">
                <a:tc>
                  <a:txBody>
                    <a:bodyPr/>
                    <a:lstStyle/>
                    <a:p>
                      <a:pPr algn="ctr" indent="0" marL="0">
                        <a:buNone/>
                      </a:pPr>
                      <a:r>
                        <a:rPr lang="en-US" sz="1250" b="1" dirty="0">
                          <a:solidFill>
                            <a:srgbClr val="0B3C49"/>
                          </a:solidFill>
                        </a:rPr>
                        <a:t>C2</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C3</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r h="352044">
                <a:tc>
                  <a:txBody>
                    <a:bodyPr/>
                    <a:lstStyle/>
                    <a:p>
                      <a:pPr algn="ctr" indent="0" marL="0">
                        <a:buNone/>
                      </a:pPr>
                      <a:r>
                        <a:rPr lang="en-US" sz="1250" b="1" dirty="0">
                          <a:solidFill>
                            <a:srgbClr val="0B3C49"/>
                          </a:solidFill>
                        </a:rPr>
                        <a:t>C4</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r h="352044">
                <a:tc>
                  <a:txBody>
                    <a:bodyPr/>
                    <a:lstStyle/>
                    <a:p>
                      <a:pPr algn="ctr" indent="0" marL="0">
                        <a:buNone/>
                      </a:pPr>
                      <a:r>
                        <a:rPr lang="en-US" sz="1250" b="1" dirty="0">
                          <a:solidFill>
                            <a:srgbClr val="0B3C49"/>
                          </a:solidFill>
                        </a:rPr>
                        <a:t>C5</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r h="352044">
                <a:tc>
                  <a:txBody>
                    <a:bodyPr/>
                    <a:lstStyle/>
                    <a:p>
                      <a:pPr algn="ctr" indent="0" marL="0">
                        <a:buNone/>
                      </a:pPr>
                      <a:r>
                        <a:rPr lang="en-US" sz="1250" b="1" dirty="0">
                          <a:solidFill>
                            <a:srgbClr val="0B3C49"/>
                          </a:solidFill>
                        </a:rPr>
                        <a:t>C6</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C7</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C8</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C9</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C12</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352044">
                <a:tc>
                  <a:txBody>
                    <a:bodyPr/>
                    <a:lstStyle/>
                    <a:p>
                      <a:pPr algn="ctr" indent="0" marL="0">
                        <a:buNone/>
                      </a:pPr>
                      <a:r>
                        <a:rPr lang="en-US" sz="1250" b="1" dirty="0">
                          <a:solidFill>
                            <a:srgbClr val="0B3C49"/>
                          </a:solidFill>
                        </a:rPr>
                        <a:t>C13</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r h="352044">
                <a:tc>
                  <a:txBody>
                    <a:bodyPr/>
                    <a:lstStyle/>
                    <a:p>
                      <a:pPr algn="ctr" indent="0" marL="0">
                        <a:buNone/>
                      </a:pPr>
                      <a:r>
                        <a:rPr lang="en-US" sz="1250" b="1" dirty="0">
                          <a:solidFill>
                            <a:srgbClr val="0B3C49"/>
                          </a:solidFill>
                        </a:rPr>
                        <a:t>C16</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b="1" dirty="0">
                          <a:solidFill>
                            <a:srgbClr val="0E6B7A"/>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250" dirty="0">
                          <a:solidFill>
                            <a:srgbClr val="7C8D99"/>
                          </a:solidFill>
                        </a:rPr>
                        <a: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FFFFFF"/>
                    </a:solidFill>
                  </a:tcPr>
                </a:tc>
              </a:tr>
            </a:tbl>
          </a:graphicData>
        </a:graphic>
      </p:graphicFrame>
      <p:sp>
        <p:nvSpPr>
          <p:cNvPr id="5" name="text-112"/>
          <p:cNvSpPr txBox="1"/>
          <p:nvPr/>
        </p:nvSpPr>
        <p:spPr>
          <a:xfrm>
            <a:off x="548640" y="5961888"/>
            <a:ext cx="4754880" cy="274320"/>
          </a:xfrm>
          <a:prstGeom prst="rect">
            <a:avLst/>
          </a:prstGeom>
          <a:noFill/>
          <a:ln/>
        </p:spPr>
        <p:txBody>
          <a:bodyPr wrap="square" lIns="0" tIns="0" rIns="0" bIns="0" rtlCol="0" anchor="t"/>
          <a:lstStyle/>
          <a:p>
            <a:pPr indent="0" marL="0">
              <a:buNone/>
            </a:pPr>
            <a:r>
              <a:rPr lang="en-US" sz="1100" i="1" dirty="0">
                <a:solidFill>
                  <a:schemeClr val="accent3"/>
                </a:solidFill>
              </a:rPr>
              <a:t>EVM: magnification; CNN: convolutional stem; TF: transformer</a:t>
            </a:r>
            <a:endParaRPr lang="en-US" sz="1100" dirty="0"/>
          </a:p>
        </p:txBody>
      </p:sp>
      <p:sp>
        <p:nvSpPr>
          <p:cNvPr id="6" name="text-113"/>
          <p:cNvSpPr txBox="1"/>
          <p:nvPr/>
        </p:nvSpPr>
        <p:spPr>
          <a:xfrm>
            <a:off x="5669280" y="1325880"/>
            <a:ext cx="5971032" cy="1600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Four binary components give 2⁴ = 16 combinations</a:t>
            </a:r>
            <a:endParaRPr lang="en-US" sz="1650" dirty="0"/>
          </a:p>
          <a:p>
            <a:pPr marL="342900" indent="-342900">
              <a:spcAft>
                <a:spcPts val="700"/>
              </a:spcAft>
              <a:buSzPct val="100000"/>
              <a:buChar char="•"/>
            </a:pPr>
            <a:r>
              <a:rPr lang="en-US" sz="1600" dirty="0">
                <a:solidFill>
                  <a:schemeClr val="tx1"/>
                </a:solidFill>
              </a:rPr>
              <a:t>Four enable SimAM without the stem: ill-formed, so not trained</a:t>
            </a:r>
            <a:endParaRPr lang="en-US" sz="1650" dirty="0"/>
          </a:p>
          <a:p>
            <a:pPr marL="342900" indent="-342900">
              <a:spcAft>
                <a:spcPts val="700"/>
              </a:spcAft>
              <a:buSzPct val="100000"/>
              <a:buChar char="•"/>
            </a:pPr>
            <a:r>
              <a:rPr lang="en-US" sz="1600" dirty="0">
                <a:solidFill>
                  <a:schemeClr val="tx1"/>
                </a:solidFill>
              </a:rPr>
              <a:t>Each of the 12 valid configurations is trained from scratch</a:t>
            </a:r>
            <a:endParaRPr lang="en-US" sz="1650" dirty="0"/>
          </a:p>
        </p:txBody>
      </p:sp>
      <p:sp>
        <p:nvSpPr>
          <p:cNvPr id="7" name="card-114"/>
          <p:cNvSpPr/>
          <p:nvPr/>
        </p:nvSpPr>
        <p:spPr>
          <a:xfrm>
            <a:off x="5669280" y="3017520"/>
            <a:ext cx="5971032" cy="1463040"/>
          </a:xfrm>
          <a:prstGeom prst="roundRect">
            <a:avLst>
              <a:gd name="adj" fmla="val 6250"/>
            </a:avLst>
          </a:prstGeom>
          <a:solidFill>
            <a:schemeClr val="tx2"/>
          </a:solidFill>
          <a:ln w="6350">
            <a:solidFill>
              <a:schemeClr val="tx2"/>
            </a:solidFill>
            <a:prstDash val="solid"/>
          </a:ln>
        </p:spPr>
      </p:sp>
      <p:sp>
        <p:nvSpPr>
          <p:cNvPr id="8" name="text-115"/>
          <p:cNvSpPr txBox="1"/>
          <p:nvPr/>
        </p:nvSpPr>
        <p:spPr>
          <a:xfrm>
            <a:off x="5897880" y="3127248"/>
            <a:ext cx="5532120" cy="1280160"/>
          </a:xfrm>
          <a:prstGeom prst="rect">
            <a:avLst/>
          </a:prstGeom>
          <a:noFill/>
          <a:ln/>
        </p:spPr>
        <p:txBody>
          <a:bodyPr wrap="square" lIns="0" tIns="0" rIns="0" bIns="0" rtlCol="0" anchor="t"/>
          <a:lstStyle/>
          <a:p>
            <a:pPr indent="0" marL="0">
              <a:buNone/>
            </a:pPr>
            <a:r>
              <a:rPr lang="en-US" sz="1550" b="1" dirty="0">
                <a:solidFill>
                  <a:schemeClr val="accent2"/>
                </a:solidFill>
              </a:rPr>
              <a:t>Matched pair</a:t>
            </a:r>
            <a:endParaRPr lang="en-US" sz="1650" dirty="0"/>
          </a:p>
          <a:p>
            <a:pPr indent="0" marL="0">
              <a:buNone/>
            </a:pPr>
            <a:r>
              <a:rPr lang="en-US" sz="1500" dirty="0">
                <a:solidFill>
                  <a:schemeClr val="bg1"/>
                </a:solidFill>
              </a:rPr>
              <a:t>Two configurations that differ in exactly one component. The difference between their scores estimates the contribution of that component; its effect is the mean over all of its pairs.</a:t>
            </a:r>
            <a:endParaRPr lang="en-US" sz="1650" dirty="0"/>
          </a:p>
        </p:txBody>
      </p:sp>
      <p:sp>
        <p:nvSpPr>
          <p:cNvPr id="9" name="card-116"/>
          <p:cNvSpPr/>
          <p:nvPr/>
        </p:nvSpPr>
        <p:spPr>
          <a:xfrm>
            <a:off x="5669280" y="4663440"/>
            <a:ext cx="1417320" cy="1280160"/>
          </a:xfrm>
          <a:prstGeom prst="roundRect">
            <a:avLst>
              <a:gd name="adj" fmla="val 7143"/>
            </a:avLst>
          </a:prstGeom>
          <a:solidFill>
            <a:schemeClr val="bg2"/>
          </a:solidFill>
          <a:ln w="6350">
            <a:solidFill>
              <a:schemeClr val="bg2"/>
            </a:solidFill>
            <a:prstDash val="solid"/>
          </a:ln>
        </p:spPr>
      </p:sp>
      <p:sp>
        <p:nvSpPr>
          <p:cNvPr id="10" name="text-117"/>
          <p:cNvSpPr txBox="1"/>
          <p:nvPr/>
        </p:nvSpPr>
        <p:spPr>
          <a:xfrm>
            <a:off x="5669280" y="4727448"/>
            <a:ext cx="1417320" cy="685800"/>
          </a:xfrm>
          <a:prstGeom prst="rect">
            <a:avLst/>
          </a:prstGeom>
          <a:noFill/>
          <a:ln/>
        </p:spPr>
        <p:txBody>
          <a:bodyPr wrap="square" lIns="0" tIns="0" rIns="0" bIns="0" rtlCol="0" anchor="ctr"/>
          <a:lstStyle/>
          <a:p>
            <a:pPr algn="ctr" indent="0" marL="0">
              <a:buNone/>
            </a:pPr>
            <a:r>
              <a:rPr lang="en-US" sz="3400" b="1" dirty="0">
                <a:solidFill>
                  <a:schemeClr val="accent1"/>
                </a:solidFill>
              </a:rPr>
              <a:t>6</a:t>
            </a:r>
            <a:endParaRPr lang="en-US" sz="3400" dirty="0"/>
          </a:p>
        </p:txBody>
      </p:sp>
      <p:sp>
        <p:nvSpPr>
          <p:cNvPr id="11" name="text-118"/>
          <p:cNvSpPr txBox="1"/>
          <p:nvPr/>
        </p:nvSpPr>
        <p:spPr>
          <a:xfrm>
            <a:off x="5669280" y="5440680"/>
            <a:ext cx="1417320" cy="365760"/>
          </a:xfrm>
          <a:prstGeom prst="rect">
            <a:avLst/>
          </a:prstGeom>
          <a:noFill/>
          <a:ln/>
        </p:spPr>
        <p:txBody>
          <a:bodyPr wrap="square" lIns="0" tIns="0" rIns="0" bIns="0" rtlCol="0" anchor="t"/>
          <a:lstStyle/>
          <a:p>
            <a:pPr algn="ctr" indent="0" marL="0">
              <a:buNone/>
            </a:pPr>
            <a:r>
              <a:rPr lang="en-US" sz="1300" dirty="0">
                <a:solidFill>
                  <a:schemeClr val="tx1"/>
                </a:solidFill>
              </a:rPr>
              <a:t>Transformer pairs</a:t>
            </a:r>
            <a:endParaRPr lang="en-US" sz="1300" dirty="0"/>
          </a:p>
        </p:txBody>
      </p:sp>
      <p:sp>
        <p:nvSpPr>
          <p:cNvPr id="12" name="card-119"/>
          <p:cNvSpPr/>
          <p:nvPr/>
        </p:nvSpPr>
        <p:spPr>
          <a:xfrm>
            <a:off x="7187184" y="4663440"/>
            <a:ext cx="1417320" cy="1280160"/>
          </a:xfrm>
          <a:prstGeom prst="roundRect">
            <a:avLst>
              <a:gd name="adj" fmla="val 7143"/>
            </a:avLst>
          </a:prstGeom>
          <a:solidFill>
            <a:schemeClr val="bg2"/>
          </a:solidFill>
          <a:ln w="6350">
            <a:solidFill>
              <a:schemeClr val="bg2"/>
            </a:solidFill>
            <a:prstDash val="solid"/>
          </a:ln>
        </p:spPr>
      </p:sp>
      <p:sp>
        <p:nvSpPr>
          <p:cNvPr id="13" name="text-120"/>
          <p:cNvSpPr txBox="1"/>
          <p:nvPr/>
        </p:nvSpPr>
        <p:spPr>
          <a:xfrm>
            <a:off x="7187184" y="4727448"/>
            <a:ext cx="1417320" cy="685800"/>
          </a:xfrm>
          <a:prstGeom prst="rect">
            <a:avLst/>
          </a:prstGeom>
          <a:noFill/>
          <a:ln/>
        </p:spPr>
        <p:txBody>
          <a:bodyPr wrap="square" lIns="0" tIns="0" rIns="0" bIns="0" rtlCol="0" anchor="ctr"/>
          <a:lstStyle/>
          <a:p>
            <a:pPr algn="ctr" indent="0" marL="0">
              <a:buNone/>
            </a:pPr>
            <a:r>
              <a:rPr lang="en-US" sz="3400" b="1" dirty="0">
                <a:solidFill>
                  <a:schemeClr val="accent1"/>
                </a:solidFill>
              </a:rPr>
              <a:t>6</a:t>
            </a:r>
            <a:endParaRPr lang="en-US" sz="3400" dirty="0"/>
          </a:p>
        </p:txBody>
      </p:sp>
      <p:sp>
        <p:nvSpPr>
          <p:cNvPr id="14" name="text-121"/>
          <p:cNvSpPr txBox="1"/>
          <p:nvPr/>
        </p:nvSpPr>
        <p:spPr>
          <a:xfrm>
            <a:off x="7187184" y="5440680"/>
            <a:ext cx="1417320" cy="365760"/>
          </a:xfrm>
          <a:prstGeom prst="rect">
            <a:avLst/>
          </a:prstGeom>
          <a:noFill/>
          <a:ln/>
        </p:spPr>
        <p:txBody>
          <a:bodyPr wrap="square" lIns="0" tIns="0" rIns="0" bIns="0" rtlCol="0" anchor="t"/>
          <a:lstStyle/>
          <a:p>
            <a:pPr algn="ctr" indent="0" marL="0">
              <a:buNone/>
            </a:pPr>
            <a:r>
              <a:rPr lang="en-US" sz="1300" dirty="0">
                <a:solidFill>
                  <a:schemeClr val="tx1"/>
                </a:solidFill>
              </a:rPr>
              <a:t>EVM pairs</a:t>
            </a:r>
            <a:endParaRPr lang="en-US" sz="1300" dirty="0"/>
          </a:p>
        </p:txBody>
      </p:sp>
      <p:sp>
        <p:nvSpPr>
          <p:cNvPr id="15" name="card-122"/>
          <p:cNvSpPr/>
          <p:nvPr/>
        </p:nvSpPr>
        <p:spPr>
          <a:xfrm>
            <a:off x="8705088" y="4663440"/>
            <a:ext cx="1417320" cy="1280160"/>
          </a:xfrm>
          <a:prstGeom prst="roundRect">
            <a:avLst>
              <a:gd name="adj" fmla="val 7143"/>
            </a:avLst>
          </a:prstGeom>
          <a:solidFill>
            <a:schemeClr val="bg2"/>
          </a:solidFill>
          <a:ln w="6350">
            <a:solidFill>
              <a:schemeClr val="bg2"/>
            </a:solidFill>
            <a:prstDash val="solid"/>
          </a:ln>
        </p:spPr>
      </p:sp>
      <p:sp>
        <p:nvSpPr>
          <p:cNvPr id="16" name="text-123"/>
          <p:cNvSpPr txBox="1"/>
          <p:nvPr/>
        </p:nvSpPr>
        <p:spPr>
          <a:xfrm>
            <a:off x="8705088" y="4727448"/>
            <a:ext cx="1417320" cy="685800"/>
          </a:xfrm>
          <a:prstGeom prst="rect">
            <a:avLst/>
          </a:prstGeom>
          <a:noFill/>
          <a:ln/>
        </p:spPr>
        <p:txBody>
          <a:bodyPr wrap="square" lIns="0" tIns="0" rIns="0" bIns="0" rtlCol="0" anchor="ctr"/>
          <a:lstStyle/>
          <a:p>
            <a:pPr algn="ctr" indent="0" marL="0">
              <a:buNone/>
            </a:pPr>
            <a:r>
              <a:rPr lang="en-US" sz="3400" b="1" dirty="0">
                <a:solidFill>
                  <a:schemeClr val="accent1"/>
                </a:solidFill>
              </a:rPr>
              <a:t>4</a:t>
            </a:r>
            <a:endParaRPr lang="en-US" sz="3400" dirty="0"/>
          </a:p>
        </p:txBody>
      </p:sp>
      <p:sp>
        <p:nvSpPr>
          <p:cNvPr id="17" name="text-124"/>
          <p:cNvSpPr txBox="1"/>
          <p:nvPr/>
        </p:nvSpPr>
        <p:spPr>
          <a:xfrm>
            <a:off x="8705088" y="5440680"/>
            <a:ext cx="1417320" cy="365760"/>
          </a:xfrm>
          <a:prstGeom prst="rect">
            <a:avLst/>
          </a:prstGeom>
          <a:noFill/>
          <a:ln/>
        </p:spPr>
        <p:txBody>
          <a:bodyPr wrap="square" lIns="0" tIns="0" rIns="0" bIns="0" rtlCol="0" anchor="t"/>
          <a:lstStyle/>
          <a:p>
            <a:pPr algn="ctr" indent="0" marL="0">
              <a:buNone/>
            </a:pPr>
            <a:r>
              <a:rPr lang="en-US" sz="1300" dirty="0">
                <a:solidFill>
                  <a:schemeClr val="tx1"/>
                </a:solidFill>
              </a:rPr>
              <a:t>SimAM pairs</a:t>
            </a:r>
            <a:endParaRPr lang="en-US" sz="1300" dirty="0"/>
          </a:p>
        </p:txBody>
      </p:sp>
      <p:sp>
        <p:nvSpPr>
          <p:cNvPr id="18" name="card-125"/>
          <p:cNvSpPr/>
          <p:nvPr/>
        </p:nvSpPr>
        <p:spPr>
          <a:xfrm>
            <a:off x="10222992" y="4663440"/>
            <a:ext cx="1417320" cy="1280160"/>
          </a:xfrm>
          <a:prstGeom prst="roundRect">
            <a:avLst>
              <a:gd name="adj" fmla="val 7143"/>
            </a:avLst>
          </a:prstGeom>
          <a:solidFill>
            <a:schemeClr val="bg2"/>
          </a:solidFill>
          <a:ln w="6350">
            <a:solidFill>
              <a:schemeClr val="bg2"/>
            </a:solidFill>
            <a:prstDash val="solid"/>
          </a:ln>
        </p:spPr>
      </p:sp>
      <p:sp>
        <p:nvSpPr>
          <p:cNvPr id="19" name="text-126"/>
          <p:cNvSpPr txBox="1"/>
          <p:nvPr/>
        </p:nvSpPr>
        <p:spPr>
          <a:xfrm>
            <a:off x="10222992" y="4727448"/>
            <a:ext cx="1417320" cy="685800"/>
          </a:xfrm>
          <a:prstGeom prst="rect">
            <a:avLst/>
          </a:prstGeom>
          <a:noFill/>
          <a:ln/>
        </p:spPr>
        <p:txBody>
          <a:bodyPr wrap="square" lIns="0" tIns="0" rIns="0" bIns="0" rtlCol="0" anchor="ctr"/>
          <a:lstStyle/>
          <a:p>
            <a:pPr algn="ctr" indent="0" marL="0">
              <a:buNone/>
            </a:pPr>
            <a:r>
              <a:rPr lang="en-US" sz="3400" b="1" dirty="0">
                <a:solidFill>
                  <a:schemeClr val="accent1"/>
                </a:solidFill>
              </a:rPr>
              <a:t>4</a:t>
            </a:r>
            <a:endParaRPr lang="en-US" sz="3400" dirty="0"/>
          </a:p>
        </p:txBody>
      </p:sp>
      <p:sp>
        <p:nvSpPr>
          <p:cNvPr id="20" name="text-127"/>
          <p:cNvSpPr txBox="1"/>
          <p:nvPr/>
        </p:nvSpPr>
        <p:spPr>
          <a:xfrm>
            <a:off x="10222992" y="5440680"/>
            <a:ext cx="1417320" cy="365760"/>
          </a:xfrm>
          <a:prstGeom prst="rect">
            <a:avLst/>
          </a:prstGeom>
          <a:noFill/>
          <a:ln/>
        </p:spPr>
        <p:txBody>
          <a:bodyPr wrap="square" lIns="0" tIns="0" rIns="0" bIns="0" rtlCol="0" anchor="t"/>
          <a:lstStyle/>
          <a:p>
            <a:pPr algn="ctr" indent="0" marL="0">
              <a:buNone/>
            </a:pPr>
            <a:r>
              <a:rPr lang="en-US" sz="1300" dirty="0">
                <a:solidFill>
                  <a:schemeClr val="tx1"/>
                </a:solidFill>
              </a:rPr>
              <a:t>CNN stem pairs</a:t>
            </a:r>
            <a:endParaRPr lang="en-US" sz="13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Training and evaluation protocol</a:t>
            </a:r>
            <a:endParaRPr lang="en-US" sz="3000" dirty="0"/>
          </a:p>
        </p:txBody>
      </p:sp>
      <p:sp>
        <p:nvSpPr>
          <p:cNvPr id="4" name="card-128"/>
          <p:cNvSpPr/>
          <p:nvPr/>
        </p:nvSpPr>
        <p:spPr>
          <a:xfrm>
            <a:off x="548640" y="1371600"/>
            <a:ext cx="5449824" cy="4709160"/>
          </a:xfrm>
          <a:prstGeom prst="roundRect">
            <a:avLst>
              <a:gd name="adj" fmla="val 1942"/>
            </a:avLst>
          </a:prstGeom>
          <a:solidFill>
            <a:schemeClr val="bg2"/>
          </a:solidFill>
          <a:ln w="6350">
            <a:solidFill>
              <a:schemeClr val="bg2"/>
            </a:solidFill>
            <a:prstDash val="solid"/>
          </a:ln>
        </p:spPr>
      </p:sp>
      <p:sp>
        <p:nvSpPr>
          <p:cNvPr id="5" name="text-129"/>
          <p:cNvSpPr txBox="1"/>
          <p:nvPr/>
        </p:nvSpPr>
        <p:spPr>
          <a:xfrm>
            <a:off x="822960" y="1508760"/>
            <a:ext cx="4937760" cy="365760"/>
          </a:xfrm>
          <a:prstGeom prst="rect">
            <a:avLst/>
          </a:prstGeom>
          <a:noFill/>
          <a:ln/>
        </p:spPr>
        <p:txBody>
          <a:bodyPr wrap="square" lIns="0" tIns="0" rIns="0" bIns="0" rtlCol="0" anchor="t"/>
          <a:lstStyle/>
          <a:p>
            <a:pPr indent="0" marL="0">
              <a:buNone/>
            </a:pPr>
            <a:r>
              <a:rPr lang="en-US" sz="1750" b="1" dirty="0">
                <a:solidFill>
                  <a:schemeClr val="accent1"/>
                </a:solidFill>
              </a:rPr>
              <a:t>Training (identical for all configurations)</a:t>
            </a:r>
            <a:endParaRPr lang="en-US" sz="1750" dirty="0"/>
          </a:p>
        </p:txBody>
      </p:sp>
      <p:sp>
        <p:nvSpPr>
          <p:cNvPr id="6" name="text-130"/>
          <p:cNvSpPr txBox="1"/>
          <p:nvPr/>
        </p:nvSpPr>
        <p:spPr>
          <a:xfrm>
            <a:off x="822960" y="1965960"/>
            <a:ext cx="4937760" cy="40233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Trained from scratch: no pre-training, no auxiliary data</a:t>
            </a:r>
            <a:endParaRPr lang="en-US" sz="1650" dirty="0"/>
          </a:p>
          <a:p>
            <a:pPr marL="342900" indent="-342900">
              <a:spcAft>
                <a:spcPts val="700"/>
              </a:spcAft>
              <a:buSzPct val="100000"/>
              <a:buChar char="•"/>
            </a:pPr>
            <a:r>
              <a:rPr lang="en-US" sz="1500" dirty="0">
                <a:solidFill>
                  <a:schemeClr val="tx1"/>
                </a:solidFill>
              </a:rPr>
              <a:t>Focal loss (γ = 2) with label smoothing 0.05, no class weights</a:t>
            </a:r>
            <a:endParaRPr lang="en-US" sz="1650" dirty="0"/>
          </a:p>
          <a:p>
            <a:pPr marL="342900" indent="-342900">
              <a:spcAft>
                <a:spcPts val="700"/>
              </a:spcAft>
              <a:buSzPct val="100000"/>
              <a:buChar char="•"/>
            </a:pPr>
            <a:r>
              <a:rPr lang="en-US" sz="1500" dirty="0">
                <a:solidFill>
                  <a:schemeClr val="tx1"/>
                </a:solidFill>
              </a:rPr>
              <a:t>Class-balanced sampler corrects the imbalance</a:t>
            </a:r>
            <a:endParaRPr lang="en-US" sz="1650" dirty="0"/>
          </a:p>
          <a:p>
            <a:pPr marL="342900" indent="-342900">
              <a:spcAft>
                <a:spcPts val="700"/>
              </a:spcAft>
              <a:buSzPct val="100000"/>
              <a:buChar char="•"/>
            </a:pPr>
            <a:r>
              <a:rPr lang="en-US" sz="1500" dirty="0">
                <a:solidFill>
                  <a:schemeClr val="tx1"/>
                </a:solidFill>
              </a:rPr>
              <a:t>Random horizontal flip, with the horizontal flow negated</a:t>
            </a:r>
            <a:endParaRPr lang="en-US" sz="1650" dirty="0"/>
          </a:p>
          <a:p>
            <a:pPr marL="342900" indent="-342900">
              <a:spcAft>
                <a:spcPts val="700"/>
              </a:spcAft>
              <a:buSzPct val="100000"/>
              <a:buChar char="•"/>
            </a:pPr>
            <a:r>
              <a:rPr lang="en-US" sz="1500" dirty="0">
                <a:solidFill>
                  <a:schemeClr val="tx1"/>
                </a:solidFill>
              </a:rPr>
              <a:t>AdamW, learning rate 10⁻⁴, weight decay 10⁻⁴</a:t>
            </a:r>
            <a:endParaRPr lang="en-US" sz="1650" dirty="0"/>
          </a:p>
          <a:p>
            <a:pPr marL="342900" indent="-342900">
              <a:spcAft>
                <a:spcPts val="700"/>
              </a:spcAft>
              <a:buSzPct val="100000"/>
              <a:buChar char="•"/>
            </a:pPr>
            <a:r>
              <a:rPr lang="en-US" sz="1500" dirty="0">
                <a:solidFill>
                  <a:schemeClr val="tx1"/>
                </a:solidFill>
              </a:rPr>
              <a:t>Five warmup epochs, then cosine annealing; 50 epochs, batch 8</a:t>
            </a:r>
            <a:endParaRPr lang="en-US" sz="1650" dirty="0"/>
          </a:p>
          <a:p>
            <a:pPr marL="342900" indent="-342900">
              <a:spcAft>
                <a:spcPts val="700"/>
              </a:spcAft>
              <a:buSzPct val="100000"/>
              <a:buChar char="•"/>
            </a:pPr>
            <a:r>
              <a:rPr lang="en-US" sz="1500" dirty="0">
                <a:solidFill>
                  <a:schemeClr val="tx1"/>
                </a:solidFill>
              </a:rPr>
              <a:t>Random seed 42, reset for every configuration and fold</a:t>
            </a:r>
            <a:endParaRPr lang="en-US" sz="1650" dirty="0"/>
          </a:p>
        </p:txBody>
      </p:sp>
      <p:sp>
        <p:nvSpPr>
          <p:cNvPr id="7" name="card-131"/>
          <p:cNvSpPr/>
          <p:nvPr/>
        </p:nvSpPr>
        <p:spPr>
          <a:xfrm>
            <a:off x="6190488" y="1371600"/>
            <a:ext cx="5449824" cy="4709160"/>
          </a:xfrm>
          <a:prstGeom prst="roundRect">
            <a:avLst>
              <a:gd name="adj" fmla="val 1942"/>
            </a:avLst>
          </a:prstGeom>
          <a:solidFill>
            <a:schemeClr val="bg2"/>
          </a:solidFill>
          <a:ln w="6350">
            <a:solidFill>
              <a:schemeClr val="bg2"/>
            </a:solidFill>
            <a:prstDash val="solid"/>
          </a:ln>
        </p:spPr>
      </p:sp>
      <p:sp>
        <p:nvSpPr>
          <p:cNvPr id="8" name="text-132"/>
          <p:cNvSpPr txBox="1"/>
          <p:nvPr/>
        </p:nvSpPr>
        <p:spPr>
          <a:xfrm>
            <a:off x="6464808" y="1508760"/>
            <a:ext cx="4937760" cy="365760"/>
          </a:xfrm>
          <a:prstGeom prst="rect">
            <a:avLst/>
          </a:prstGeom>
          <a:noFill/>
          <a:ln/>
        </p:spPr>
        <p:txBody>
          <a:bodyPr wrap="square" lIns="0" tIns="0" rIns="0" bIns="0" rtlCol="0" anchor="t"/>
          <a:lstStyle/>
          <a:p>
            <a:pPr indent="0" marL="0">
              <a:buNone/>
            </a:pPr>
            <a:r>
              <a:rPr lang="en-US" sz="1750" b="1" dirty="0">
                <a:solidFill>
                  <a:schemeClr val="accent1"/>
                </a:solidFill>
              </a:rPr>
              <a:t>Evaluation</a:t>
            </a:r>
            <a:endParaRPr lang="en-US" sz="1750" dirty="0"/>
          </a:p>
        </p:txBody>
      </p:sp>
      <p:sp>
        <p:nvSpPr>
          <p:cNvPr id="9" name="text-133"/>
          <p:cNvSpPr txBox="1"/>
          <p:nvPr/>
        </p:nvSpPr>
        <p:spPr>
          <a:xfrm>
            <a:off x="6464808" y="1965960"/>
            <a:ext cx="4937760" cy="251460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Leave-one-subject-out cross-validation: 25 folds</a:t>
            </a:r>
            <a:endParaRPr lang="en-US" sz="1650" dirty="0"/>
          </a:p>
          <a:p>
            <a:pPr marL="342900" indent="-342900">
              <a:spcAft>
                <a:spcPts val="700"/>
              </a:spcAft>
              <a:buSzPct val="100000"/>
              <a:buChar char="•"/>
            </a:pPr>
            <a:r>
              <a:rPr lang="en-US" sz="1500" dirty="0">
                <a:solidFill>
                  <a:schemeClr val="tx1"/>
                </a:solidFill>
              </a:rPr>
              <a:t>Confusion matrices are summed over all folds</a:t>
            </a:r>
            <a:endParaRPr lang="en-US" sz="1650" dirty="0"/>
          </a:p>
          <a:p>
            <a:pPr marL="342900" indent="-342900">
              <a:spcAft>
                <a:spcPts val="700"/>
              </a:spcAft>
              <a:buSzPct val="100000"/>
              <a:buChar char="•"/>
            </a:pPr>
            <a:r>
              <a:rPr lang="en-US" sz="1500" dirty="0">
                <a:solidFill>
                  <a:schemeClr val="tx1"/>
                </a:solidFill>
              </a:rPr>
              <a:t>Primary metric: pooled macro F1, identical in construction to the UF1 of MEGC 2019</a:t>
            </a:r>
            <a:endParaRPr lang="en-US" sz="1650" dirty="0"/>
          </a:p>
          <a:p>
            <a:pPr marL="342900" indent="-342900">
              <a:spcAft>
                <a:spcPts val="700"/>
              </a:spcAft>
              <a:buSzPct val="100000"/>
              <a:buChar char="•"/>
            </a:pPr>
            <a:r>
              <a:rPr lang="en-US" sz="1500" dirty="0">
                <a:solidFill>
                  <a:schemeClr val="tx1"/>
                </a:solidFill>
              </a:rPr>
              <a:t>Best epoch selected on the held-out subject (no inner validation split: a declared limitation)</a:t>
            </a:r>
            <a:endParaRPr lang="en-US" sz="1650" dirty="0"/>
          </a:p>
        </p:txBody>
      </p:sp>
      <p:sp>
        <p:nvSpPr>
          <p:cNvPr id="10" name="card-134"/>
          <p:cNvSpPr/>
          <p:nvPr/>
        </p:nvSpPr>
        <p:spPr>
          <a:xfrm>
            <a:off x="6464808" y="4526280"/>
            <a:ext cx="4901184" cy="1371600"/>
          </a:xfrm>
          <a:prstGeom prst="roundRect">
            <a:avLst>
              <a:gd name="adj" fmla="val 6667"/>
            </a:avLst>
          </a:prstGeom>
          <a:solidFill>
            <a:schemeClr val="tx2"/>
          </a:solidFill>
          <a:ln w="6350">
            <a:solidFill>
              <a:schemeClr val="tx2"/>
            </a:solidFill>
            <a:prstDash val="solid"/>
          </a:ln>
        </p:spPr>
      </p:sp>
      <p:sp>
        <p:nvSpPr>
          <p:cNvPr id="11" name="text-135"/>
          <p:cNvSpPr txBox="1"/>
          <p:nvPr/>
        </p:nvSpPr>
        <p:spPr>
          <a:xfrm>
            <a:off x="6647688" y="4617720"/>
            <a:ext cx="4535424" cy="1188720"/>
          </a:xfrm>
          <a:prstGeom prst="rect">
            <a:avLst/>
          </a:prstGeom>
          <a:noFill/>
          <a:ln/>
        </p:spPr>
        <p:txBody>
          <a:bodyPr wrap="square" lIns="0" tIns="0" rIns="0" bIns="0" rtlCol="0" anchor="t"/>
          <a:lstStyle/>
          <a:p>
            <a:pPr indent="0" marL="0">
              <a:buNone/>
            </a:pPr>
            <a:r>
              <a:rPr lang="en-US" sz="1450" b="1" dirty="0">
                <a:solidFill>
                  <a:schemeClr val="accent2"/>
                </a:solidFill>
              </a:rPr>
              <a:t>Why pooled, not mean of folds</a:t>
            </a:r>
            <a:endParaRPr lang="en-US" sz="1650" dirty="0"/>
          </a:p>
          <a:p>
            <a:pPr indent="0" marL="0">
              <a:buNone/>
            </a:pPr>
            <a:r>
              <a:rPr lang="en-US" sz="1450" dirty="0">
                <a:solidFill>
                  <a:schemeClr val="bg1"/>
                </a:solidFill>
              </a:rPr>
              <a:t>10 folds contain one class, 8 contain two and 7 contain three, so a mean-of-folds macro F1 cannot exceed 0.627.</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The transformer separates the twelve configurations</a:t>
            </a:r>
            <a:endParaRPr lang="en-US" sz="3000" dirty="0"/>
          </a:p>
        </p:txBody>
      </p:sp>
      <p:graphicFrame>
        <p:nvGraphicFramePr>
          <p:cNvPr id="4" name="Chart 0" descr="Bar chart of pooled macro F1 for the twelve configurations in rank order"/>
          <p:cNvGraphicFramePr/>
          <p:nvPr/>
        </p:nvGraphicFramePr>
        <p:xfrm>
          <a:off x="548640" y="1280160"/>
          <a:ext cx="7863840" cy="4846320"/>
        </p:xfrm>
        <a:graphic xmlns:a="http://schemas.openxmlformats.org/drawingml/2006/main">
          <a:graphicData uri="http://schemas.openxmlformats.org/drawingml/2006/chart">
            <c:chart xmlns:c="http://schemas.openxmlformats.org/drawingml/2006/chart" r:id="rId1"/>
          </a:graphicData>
        </a:graphic>
      </p:graphicFrame>
      <p:sp>
        <p:nvSpPr>
          <p:cNvPr id="5" name="card-136"/>
          <p:cNvSpPr/>
          <p:nvPr/>
        </p:nvSpPr>
        <p:spPr>
          <a:xfrm>
            <a:off x="8686800" y="1371600"/>
            <a:ext cx="2953512" cy="1188720"/>
          </a:xfrm>
          <a:prstGeom prst="roundRect">
            <a:avLst>
              <a:gd name="adj" fmla="val 7692"/>
            </a:avLst>
          </a:prstGeom>
          <a:solidFill>
            <a:schemeClr val="tx2"/>
          </a:solidFill>
          <a:ln w="6350">
            <a:solidFill>
              <a:schemeClr val="tx2"/>
            </a:solidFill>
            <a:prstDash val="solid"/>
          </a:ln>
        </p:spPr>
      </p:sp>
      <p:sp>
        <p:nvSpPr>
          <p:cNvPr id="6" name="text-137"/>
          <p:cNvSpPr txBox="1"/>
          <p:nvPr/>
        </p:nvSpPr>
        <p:spPr>
          <a:xfrm>
            <a:off x="8869680" y="1463040"/>
            <a:ext cx="2606040" cy="1005840"/>
          </a:xfrm>
          <a:prstGeom prst="rect">
            <a:avLst/>
          </a:prstGeom>
          <a:noFill/>
          <a:ln/>
        </p:spPr>
        <p:txBody>
          <a:bodyPr wrap="square" lIns="0" tIns="0" rIns="0" bIns="0" rtlCol="0" anchor="ctr"/>
          <a:lstStyle/>
          <a:p>
            <a:pPr indent="0" marL="0">
              <a:buNone/>
            </a:pPr>
            <a:r>
              <a:rPr lang="en-US" sz="1450" b="1" dirty="0">
                <a:solidFill>
                  <a:schemeClr val="accent2"/>
                </a:solidFill>
              </a:rPr>
              <a:t>With transformer</a:t>
            </a:r>
            <a:endParaRPr lang="en-US" sz="1650" dirty="0"/>
          </a:p>
          <a:p>
            <a:pPr indent="0" marL="0">
              <a:buNone/>
            </a:pPr>
            <a:r>
              <a:rPr lang="en-US" sz="2200" b="1" dirty="0">
                <a:solidFill>
                  <a:schemeClr val="bg1"/>
                </a:solidFill>
              </a:rPr>
              <a:t>0.5830 to 0.7122</a:t>
            </a:r>
            <a:endParaRPr lang="en-US" sz="1650" dirty="0"/>
          </a:p>
        </p:txBody>
      </p:sp>
      <p:sp>
        <p:nvSpPr>
          <p:cNvPr id="7" name="card-138"/>
          <p:cNvSpPr/>
          <p:nvPr/>
        </p:nvSpPr>
        <p:spPr>
          <a:xfrm>
            <a:off x="8686800" y="2697480"/>
            <a:ext cx="2953512" cy="1188720"/>
          </a:xfrm>
          <a:prstGeom prst="roundRect">
            <a:avLst>
              <a:gd name="adj" fmla="val 7692"/>
            </a:avLst>
          </a:prstGeom>
          <a:solidFill>
            <a:schemeClr val="accent3"/>
          </a:solidFill>
          <a:ln w="6350">
            <a:solidFill>
              <a:schemeClr val="accent3"/>
            </a:solidFill>
            <a:prstDash val="solid"/>
          </a:ln>
        </p:spPr>
      </p:sp>
      <p:sp>
        <p:nvSpPr>
          <p:cNvPr id="8" name="text-139"/>
          <p:cNvSpPr txBox="1"/>
          <p:nvPr/>
        </p:nvSpPr>
        <p:spPr>
          <a:xfrm>
            <a:off x="8869680" y="2788920"/>
            <a:ext cx="2606040" cy="1005840"/>
          </a:xfrm>
          <a:prstGeom prst="rect">
            <a:avLst/>
          </a:prstGeom>
          <a:noFill/>
          <a:ln/>
        </p:spPr>
        <p:txBody>
          <a:bodyPr wrap="square" lIns="0" tIns="0" rIns="0" bIns="0" rtlCol="0" anchor="ctr"/>
          <a:lstStyle/>
          <a:p>
            <a:pPr indent="0" marL="0">
              <a:buNone/>
            </a:pPr>
            <a:r>
              <a:rPr lang="en-US" sz="1450" b="1" dirty="0">
                <a:solidFill>
                  <a:schemeClr val="bg1"/>
                </a:solidFill>
              </a:rPr>
              <a:t>Without transformer</a:t>
            </a:r>
            <a:endParaRPr lang="en-US" sz="1650" dirty="0"/>
          </a:p>
          <a:p>
            <a:pPr indent="0" marL="0">
              <a:buNone/>
            </a:pPr>
            <a:r>
              <a:rPr lang="en-US" sz="2200" b="1" dirty="0">
                <a:solidFill>
                  <a:schemeClr val="bg1"/>
                </a:solidFill>
              </a:rPr>
              <a:t>0.4192 to 0.4480</a:t>
            </a:r>
            <a:endParaRPr lang="en-US" sz="1650" dirty="0"/>
          </a:p>
        </p:txBody>
      </p:sp>
      <p:sp>
        <p:nvSpPr>
          <p:cNvPr id="9" name="text-140"/>
          <p:cNvSpPr txBox="1"/>
          <p:nvPr/>
        </p:nvSpPr>
        <p:spPr>
          <a:xfrm>
            <a:off x="8686800" y="4114800"/>
            <a:ext cx="2953512" cy="19659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The two groups do not overlap: the closest members are 0.1350 apart</a:t>
            </a:r>
            <a:endParaRPr lang="en-US" sz="1650" dirty="0"/>
          </a:p>
          <a:p>
            <a:pPr marL="342900" indent="-342900">
              <a:spcAft>
                <a:spcPts val="700"/>
              </a:spcAft>
              <a:buSzPct val="100000"/>
              <a:buChar char="•"/>
            </a:pPr>
            <a:r>
              <a:rPr lang="en-US" sz="1500" dirty="0">
                <a:solidFill>
                  <a:schemeClr val="tx1"/>
                </a:solidFill>
              </a:rPr>
              <a:t>No other component divides the configurations in this way</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The best configuration is not the full pipeline</a:t>
            </a:r>
            <a:endParaRPr lang="en-US" sz="3000" dirty="0"/>
          </a:p>
        </p:txBody>
      </p:sp>
      <p:sp>
        <p:nvSpPr>
          <p:cNvPr id="4" name="card-141"/>
          <p:cNvSpPr/>
          <p:nvPr/>
        </p:nvSpPr>
        <p:spPr>
          <a:xfrm>
            <a:off x="548640" y="1371600"/>
            <a:ext cx="3566160" cy="2788920"/>
          </a:xfrm>
          <a:prstGeom prst="roundRect">
            <a:avLst>
              <a:gd name="adj" fmla="val 3279"/>
            </a:avLst>
          </a:prstGeom>
          <a:solidFill>
            <a:schemeClr val="tx2"/>
          </a:solidFill>
          <a:ln w="6350">
            <a:solidFill>
              <a:schemeClr val="tx2"/>
            </a:solidFill>
            <a:prstDash val="solid"/>
          </a:ln>
        </p:spPr>
      </p:sp>
      <p:sp>
        <p:nvSpPr>
          <p:cNvPr id="5" name="text-142"/>
          <p:cNvSpPr txBox="1"/>
          <p:nvPr/>
        </p:nvSpPr>
        <p:spPr>
          <a:xfrm>
            <a:off x="822960" y="1536192"/>
            <a:ext cx="3017520" cy="365760"/>
          </a:xfrm>
          <a:prstGeom prst="rect">
            <a:avLst/>
          </a:prstGeom>
          <a:noFill/>
          <a:ln/>
        </p:spPr>
        <p:txBody>
          <a:bodyPr wrap="square" lIns="0" tIns="0" rIns="0" bIns="0" rtlCol="0" anchor="t"/>
          <a:lstStyle/>
          <a:p>
            <a:pPr indent="0" marL="0">
              <a:buNone/>
            </a:pPr>
            <a:r>
              <a:rPr lang="en-US" sz="1650" b="1" dirty="0">
                <a:solidFill>
                  <a:schemeClr val="bg1"/>
                </a:solidFill>
              </a:rPr>
              <a:t>C2: transformer only</a:t>
            </a:r>
            <a:endParaRPr lang="en-US" sz="1650" dirty="0"/>
          </a:p>
        </p:txBody>
      </p:sp>
      <p:sp>
        <p:nvSpPr>
          <p:cNvPr id="6" name="text-143"/>
          <p:cNvSpPr txBox="1"/>
          <p:nvPr/>
        </p:nvSpPr>
        <p:spPr>
          <a:xfrm>
            <a:off x="822960" y="1920240"/>
            <a:ext cx="3017520" cy="1051560"/>
          </a:xfrm>
          <a:prstGeom prst="rect">
            <a:avLst/>
          </a:prstGeom>
          <a:noFill/>
          <a:ln/>
        </p:spPr>
        <p:txBody>
          <a:bodyPr wrap="square" lIns="0" tIns="0" rIns="0" bIns="0" rtlCol="0" anchor="ctr"/>
          <a:lstStyle/>
          <a:p>
            <a:pPr indent="0" marL="0">
              <a:buNone/>
            </a:pPr>
            <a:r>
              <a:rPr lang="en-US" sz="6000" b="1" dirty="0">
                <a:solidFill>
                  <a:schemeClr val="accent2"/>
                </a:solidFill>
              </a:rPr>
              <a:t>0.7122</a:t>
            </a:r>
            <a:endParaRPr lang="en-US" sz="6000" dirty="0"/>
          </a:p>
        </p:txBody>
      </p:sp>
      <p:sp>
        <p:nvSpPr>
          <p:cNvPr id="7" name="text-144"/>
          <p:cNvSpPr txBox="1"/>
          <p:nvPr/>
        </p:nvSpPr>
        <p:spPr>
          <a:xfrm>
            <a:off x="822960" y="3017520"/>
            <a:ext cx="3017520" cy="320040"/>
          </a:xfrm>
          <a:prstGeom prst="rect">
            <a:avLst/>
          </a:prstGeom>
          <a:noFill/>
          <a:ln/>
        </p:spPr>
        <p:txBody>
          <a:bodyPr wrap="square" lIns="0" tIns="0" rIns="0" bIns="0" rtlCol="0" anchor="t"/>
          <a:lstStyle/>
          <a:p>
            <a:pPr indent="0" marL="0">
              <a:buNone/>
            </a:pPr>
            <a:r>
              <a:rPr lang="en-US" sz="1450" dirty="0">
                <a:solidFill>
                  <a:schemeClr val="bg1"/>
                </a:solidFill>
              </a:rPr>
              <a:t>pooled macro F1</a:t>
            </a:r>
            <a:endParaRPr lang="en-US" sz="1450" dirty="0"/>
          </a:p>
        </p:txBody>
      </p:sp>
      <p:sp>
        <p:nvSpPr>
          <p:cNvPr id="8" name="text-145"/>
          <p:cNvSpPr txBox="1"/>
          <p:nvPr/>
        </p:nvSpPr>
        <p:spPr>
          <a:xfrm>
            <a:off x="822960" y="3383280"/>
            <a:ext cx="3017520" cy="548640"/>
          </a:xfrm>
          <a:prstGeom prst="rect">
            <a:avLst/>
          </a:prstGeom>
          <a:noFill/>
          <a:ln/>
        </p:spPr>
        <p:txBody>
          <a:bodyPr wrap="square" lIns="0" tIns="0" rIns="0" bIns="0" rtlCol="0" anchor="t"/>
          <a:lstStyle/>
          <a:p>
            <a:pPr indent="0" marL="0">
              <a:buNone/>
            </a:pPr>
            <a:r>
              <a:rPr lang="en-US" sz="1450" dirty="0">
                <a:solidFill>
                  <a:schemeClr val="bg1"/>
                </a:solidFill>
              </a:rPr>
              <a:t>accuracy 0.7436 (116 of 156 clips)</a:t>
            </a:r>
            <a:endParaRPr lang="en-US" sz="1450" dirty="0"/>
          </a:p>
        </p:txBody>
      </p:sp>
      <p:sp>
        <p:nvSpPr>
          <p:cNvPr id="9" name="card-146"/>
          <p:cNvSpPr/>
          <p:nvPr/>
        </p:nvSpPr>
        <p:spPr>
          <a:xfrm>
            <a:off x="4311396" y="1371600"/>
            <a:ext cx="3566160" cy="2788920"/>
          </a:xfrm>
          <a:prstGeom prst="roundRect">
            <a:avLst>
              <a:gd name="adj" fmla="val 3279"/>
            </a:avLst>
          </a:prstGeom>
          <a:solidFill>
            <a:schemeClr val="accent1"/>
          </a:solidFill>
          <a:ln w="6350">
            <a:solidFill>
              <a:schemeClr val="accent1"/>
            </a:solidFill>
            <a:prstDash val="solid"/>
          </a:ln>
        </p:spPr>
      </p:sp>
      <p:sp>
        <p:nvSpPr>
          <p:cNvPr id="10" name="text-147"/>
          <p:cNvSpPr txBox="1"/>
          <p:nvPr/>
        </p:nvSpPr>
        <p:spPr>
          <a:xfrm>
            <a:off x="4585716" y="1536192"/>
            <a:ext cx="3017520" cy="365760"/>
          </a:xfrm>
          <a:prstGeom prst="rect">
            <a:avLst/>
          </a:prstGeom>
          <a:noFill/>
          <a:ln/>
        </p:spPr>
        <p:txBody>
          <a:bodyPr wrap="square" lIns="0" tIns="0" rIns="0" bIns="0" rtlCol="0" anchor="t"/>
          <a:lstStyle/>
          <a:p>
            <a:pPr indent="0" marL="0">
              <a:buNone/>
            </a:pPr>
            <a:r>
              <a:rPr lang="en-US" sz="1650" b="1" dirty="0">
                <a:solidFill>
                  <a:schemeClr val="bg1"/>
                </a:solidFill>
              </a:rPr>
              <a:t>C8: all four components</a:t>
            </a:r>
            <a:endParaRPr lang="en-US" sz="1650" dirty="0"/>
          </a:p>
        </p:txBody>
      </p:sp>
      <p:sp>
        <p:nvSpPr>
          <p:cNvPr id="11" name="text-148"/>
          <p:cNvSpPr txBox="1"/>
          <p:nvPr/>
        </p:nvSpPr>
        <p:spPr>
          <a:xfrm>
            <a:off x="4585716" y="1920240"/>
            <a:ext cx="3017520" cy="1051560"/>
          </a:xfrm>
          <a:prstGeom prst="rect">
            <a:avLst/>
          </a:prstGeom>
          <a:noFill/>
          <a:ln/>
        </p:spPr>
        <p:txBody>
          <a:bodyPr wrap="square" lIns="0" tIns="0" rIns="0" bIns="0" rtlCol="0" anchor="ctr"/>
          <a:lstStyle/>
          <a:p>
            <a:pPr indent="0" marL="0">
              <a:buNone/>
            </a:pPr>
            <a:r>
              <a:rPr lang="en-US" sz="6000" b="1" dirty="0">
                <a:solidFill>
                  <a:schemeClr val="bg1"/>
                </a:solidFill>
              </a:rPr>
              <a:t>0.6659</a:t>
            </a:r>
            <a:endParaRPr lang="en-US" sz="6000" dirty="0"/>
          </a:p>
        </p:txBody>
      </p:sp>
      <p:sp>
        <p:nvSpPr>
          <p:cNvPr id="12" name="text-149"/>
          <p:cNvSpPr txBox="1"/>
          <p:nvPr/>
        </p:nvSpPr>
        <p:spPr>
          <a:xfrm>
            <a:off x="4585716" y="3017520"/>
            <a:ext cx="3017520" cy="320040"/>
          </a:xfrm>
          <a:prstGeom prst="rect">
            <a:avLst/>
          </a:prstGeom>
          <a:noFill/>
          <a:ln/>
        </p:spPr>
        <p:txBody>
          <a:bodyPr wrap="square" lIns="0" tIns="0" rIns="0" bIns="0" rtlCol="0" anchor="t"/>
          <a:lstStyle/>
          <a:p>
            <a:pPr indent="0" marL="0">
              <a:buNone/>
            </a:pPr>
            <a:r>
              <a:rPr lang="en-US" sz="1450" dirty="0">
                <a:solidFill>
                  <a:schemeClr val="bg1"/>
                </a:solidFill>
              </a:rPr>
              <a:t>pooled macro F1</a:t>
            </a:r>
            <a:endParaRPr lang="en-US" sz="1450" dirty="0"/>
          </a:p>
        </p:txBody>
      </p:sp>
      <p:sp>
        <p:nvSpPr>
          <p:cNvPr id="13" name="text-150"/>
          <p:cNvSpPr txBox="1"/>
          <p:nvPr/>
        </p:nvSpPr>
        <p:spPr>
          <a:xfrm>
            <a:off x="4585716" y="3383280"/>
            <a:ext cx="3017520" cy="548640"/>
          </a:xfrm>
          <a:prstGeom prst="rect">
            <a:avLst/>
          </a:prstGeom>
          <a:noFill/>
          <a:ln/>
        </p:spPr>
        <p:txBody>
          <a:bodyPr wrap="square" lIns="0" tIns="0" rIns="0" bIns="0" rtlCol="0" anchor="t"/>
          <a:lstStyle/>
          <a:p>
            <a:pPr indent="0" marL="0">
              <a:buNone/>
            </a:pPr>
            <a:r>
              <a:rPr lang="en-US" sz="1450" dirty="0">
                <a:solidFill>
                  <a:schemeClr val="bg1"/>
                </a:solidFill>
              </a:rPr>
              <a:t>accuracy 0.7500 (117 of 156 clips)</a:t>
            </a:r>
            <a:endParaRPr lang="en-US" sz="1450" dirty="0"/>
          </a:p>
        </p:txBody>
      </p:sp>
      <p:sp>
        <p:nvSpPr>
          <p:cNvPr id="14" name="card-151"/>
          <p:cNvSpPr/>
          <p:nvPr/>
        </p:nvSpPr>
        <p:spPr>
          <a:xfrm>
            <a:off x="8074152" y="1371600"/>
            <a:ext cx="3566160" cy="2788920"/>
          </a:xfrm>
          <a:prstGeom prst="roundRect">
            <a:avLst>
              <a:gd name="adj" fmla="val 3279"/>
            </a:avLst>
          </a:prstGeom>
          <a:solidFill>
            <a:schemeClr val="accent3"/>
          </a:solidFill>
          <a:ln w="6350">
            <a:solidFill>
              <a:schemeClr val="accent3"/>
            </a:solidFill>
            <a:prstDash val="solid"/>
          </a:ln>
        </p:spPr>
      </p:sp>
      <p:sp>
        <p:nvSpPr>
          <p:cNvPr id="15" name="text-152"/>
          <p:cNvSpPr txBox="1"/>
          <p:nvPr/>
        </p:nvSpPr>
        <p:spPr>
          <a:xfrm>
            <a:off x="8348472" y="1536192"/>
            <a:ext cx="3017520" cy="365760"/>
          </a:xfrm>
          <a:prstGeom prst="rect">
            <a:avLst/>
          </a:prstGeom>
          <a:noFill/>
          <a:ln/>
        </p:spPr>
        <p:txBody>
          <a:bodyPr wrap="square" lIns="0" tIns="0" rIns="0" bIns="0" rtlCol="0" anchor="t"/>
          <a:lstStyle/>
          <a:p>
            <a:pPr indent="0" marL="0">
              <a:buNone/>
            </a:pPr>
            <a:r>
              <a:rPr lang="en-US" sz="1650" b="1" dirty="0">
                <a:solidFill>
                  <a:schemeClr val="bg1"/>
                </a:solidFill>
              </a:rPr>
              <a:t>All-Negative reference</a:t>
            </a:r>
            <a:endParaRPr lang="en-US" sz="1650" dirty="0"/>
          </a:p>
        </p:txBody>
      </p:sp>
      <p:sp>
        <p:nvSpPr>
          <p:cNvPr id="16" name="text-153"/>
          <p:cNvSpPr txBox="1"/>
          <p:nvPr/>
        </p:nvSpPr>
        <p:spPr>
          <a:xfrm>
            <a:off x="8348472" y="1920240"/>
            <a:ext cx="3017520" cy="1051560"/>
          </a:xfrm>
          <a:prstGeom prst="rect">
            <a:avLst/>
          </a:prstGeom>
          <a:noFill/>
          <a:ln/>
        </p:spPr>
        <p:txBody>
          <a:bodyPr wrap="square" lIns="0" tIns="0" rIns="0" bIns="0" rtlCol="0" anchor="ctr"/>
          <a:lstStyle/>
          <a:p>
            <a:pPr indent="0" marL="0">
              <a:buNone/>
            </a:pPr>
            <a:r>
              <a:rPr lang="en-US" sz="6000" b="1" dirty="0">
                <a:solidFill>
                  <a:schemeClr val="bg1"/>
                </a:solidFill>
              </a:rPr>
              <a:t>0.2588</a:t>
            </a:r>
            <a:endParaRPr lang="en-US" sz="6000" dirty="0"/>
          </a:p>
        </p:txBody>
      </p:sp>
      <p:sp>
        <p:nvSpPr>
          <p:cNvPr id="17" name="text-154"/>
          <p:cNvSpPr txBox="1"/>
          <p:nvPr/>
        </p:nvSpPr>
        <p:spPr>
          <a:xfrm>
            <a:off x="8348472" y="3017520"/>
            <a:ext cx="3017520" cy="320040"/>
          </a:xfrm>
          <a:prstGeom prst="rect">
            <a:avLst/>
          </a:prstGeom>
          <a:noFill/>
          <a:ln/>
        </p:spPr>
        <p:txBody>
          <a:bodyPr wrap="square" lIns="0" tIns="0" rIns="0" bIns="0" rtlCol="0" anchor="t"/>
          <a:lstStyle/>
          <a:p>
            <a:pPr indent="0" marL="0">
              <a:buNone/>
            </a:pPr>
            <a:r>
              <a:rPr lang="en-US" sz="1450" dirty="0">
                <a:solidFill>
                  <a:schemeClr val="bg1"/>
                </a:solidFill>
              </a:rPr>
              <a:t>pooled macro F1</a:t>
            </a:r>
            <a:endParaRPr lang="en-US" sz="1450" dirty="0"/>
          </a:p>
        </p:txBody>
      </p:sp>
      <p:sp>
        <p:nvSpPr>
          <p:cNvPr id="18" name="text-155"/>
          <p:cNvSpPr txBox="1"/>
          <p:nvPr/>
        </p:nvSpPr>
        <p:spPr>
          <a:xfrm>
            <a:off x="8348472" y="3383280"/>
            <a:ext cx="3017520" cy="548640"/>
          </a:xfrm>
          <a:prstGeom prst="rect">
            <a:avLst/>
          </a:prstGeom>
          <a:noFill/>
          <a:ln/>
        </p:spPr>
        <p:txBody>
          <a:bodyPr wrap="square" lIns="0" tIns="0" rIns="0" bIns="0" rtlCol="0" anchor="t"/>
          <a:lstStyle/>
          <a:p>
            <a:pPr indent="0" marL="0">
              <a:buNone/>
            </a:pPr>
            <a:r>
              <a:rPr lang="en-US" sz="1450" dirty="0">
                <a:solidFill>
                  <a:schemeClr val="bg1"/>
                </a:solidFill>
              </a:rPr>
              <a:t>accuracy 0.6346</a:t>
            </a:r>
            <a:endParaRPr lang="en-US" sz="1450" dirty="0"/>
          </a:p>
        </p:txBody>
      </p:sp>
      <p:sp>
        <p:nvSpPr>
          <p:cNvPr id="19" name="text-156"/>
          <p:cNvSpPr txBox="1"/>
          <p:nvPr/>
        </p:nvSpPr>
        <p:spPr>
          <a:xfrm>
            <a:off x="548640" y="4389120"/>
            <a:ext cx="11094415" cy="173736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chemeClr val="tx1"/>
                </a:solidFill>
              </a:rPr>
              <a:t>A transformer applied directly to the motion representation outperforms the complete pipeline by 0.0463</a:t>
            </a:r>
            <a:endParaRPr lang="en-US" sz="1650" dirty="0"/>
          </a:p>
          <a:p>
            <a:pPr marL="342900" indent="-342900">
              <a:spcAft>
                <a:spcPts val="700"/>
              </a:spcAft>
              <a:buSzPct val="100000"/>
              <a:buChar char="•"/>
            </a:pPr>
            <a:r>
              <a:rPr lang="en-US" sz="1600" dirty="0">
                <a:solidFill>
                  <a:schemeClr val="tx1"/>
                </a:solidFill>
              </a:rPr>
              <a:t>The two metrics select different configurations: C8 classifies one more clip correctly, but C2 is better on the minority classes</a:t>
            </a:r>
            <a:endParaRPr lang="en-US" sz="1650" dirty="0"/>
          </a:p>
          <a:p>
            <a:pPr marL="342900" indent="-342900">
              <a:spcAft>
                <a:spcPts val="700"/>
              </a:spcAft>
              <a:buSzPct val="100000"/>
              <a:buChar char="•"/>
            </a:pPr>
            <a:r>
              <a:rPr lang="en-US" sz="1600" dirty="0">
                <a:solidFill>
                  <a:schemeClr val="tx1"/>
                </a:solidFill>
              </a:rPr>
              <a:t>All twelve configurations exceed the majority-class reference in macro F1</a:t>
            </a:r>
            <a:endParaRPr lang="en-US" sz="1650" dirty="0"/>
          </a:p>
          <a:p>
            <a:pPr marL="342900" indent="-342900">
              <a:spcAft>
                <a:spcPts val="700"/>
              </a:spcAft>
              <a:buSzPct val="100000"/>
              <a:buChar char="•"/>
            </a:pPr>
            <a:r>
              <a:rPr lang="en-US" sz="1600" dirty="0">
                <a:solidFill>
                  <a:schemeClr val="tx1"/>
                </a:solidFill>
              </a:rPr>
              <a:t>The difference is a point estimate from a single seed, not a statistically established advantage</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Temporal modelling carries almost all of the measured effect</a:t>
            </a:r>
            <a:endParaRPr lang="en-US" sz="3000" dirty="0"/>
          </a:p>
        </p:txBody>
      </p:sp>
      <p:graphicFrame>
        <p:nvGraphicFramePr>
          <p:cNvPr id="4" name="Chart 0" descr="Bar chart of the mean effect of each component on pooled macro F1"/>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effects"/>
          <p:cNvGraphicFramePr>
            <a:graphicFrameLocks noGrp="1"/>
          </p:cNvGraphicFramePr>
          <p:nvPr>
            <p:extLst>
              <p:ext uri="{D42A27DB-BD31-4B8C-83A1-F6EECF244321}">
                <p14:modId xmlns:p14="http://schemas.microsoft.com/office/powerpoint/2010/main" val="1579011935"/>
              </p:ext>
            </p:extLst>
          </p:nvPr>
        </p:nvGraphicFramePr>
        <p:xfrm>
          <a:off x="7589520" y="1417320"/>
          <a:ext cx="4050792" cy="914400"/>
        </p:xfrm>
        <a:graphic>
          <a:graphicData uri="http://schemas.openxmlformats.org/drawingml/2006/table">
            <a:tbl>
              <a:tblPr/>
              <a:tblGrid>
                <a:gridCol w="1280160"/>
                <a:gridCol w="1234440"/>
                <a:gridCol w="1536192"/>
              </a:tblGrid>
              <a:tr h="438912">
                <a:tc>
                  <a:txBody>
                    <a:bodyPr/>
                    <a:lstStyle/>
                    <a:p>
                      <a:pPr algn="l" indent="0" marL="0">
                        <a:buNone/>
                      </a:pPr>
                      <a:r>
                        <a:rPr lang="en-US" sz="1250" b="1" dirty="0">
                          <a:solidFill>
                            <a:srgbClr val="FFFFFF"/>
                          </a:solidFill>
                        </a:rPr>
                        <a:t>Component</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Positive pairs</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50" b="1" dirty="0">
                          <a:solidFill>
                            <a:srgbClr val="FFFFFF"/>
                          </a:solidFill>
                        </a:rPr>
                        <a:t>Range</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38912">
                <a:tc>
                  <a:txBody>
                    <a:bodyPr/>
                    <a:lstStyle/>
                    <a:p>
                      <a:pPr algn="l" indent="0" marL="0">
                        <a:buNone/>
                      </a:pPr>
                      <a:r>
                        <a:rPr lang="en-US" sz="1250" b="1" dirty="0">
                          <a:solidFill>
                            <a:srgbClr val="1B2B34"/>
                          </a:solidFill>
                        </a:rPr>
                        <a:t>Transformer</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6 / 6</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+0.1578 to +0.2786</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38912">
                <a:tc>
                  <a:txBody>
                    <a:bodyPr/>
                    <a:lstStyle/>
                    <a:p>
                      <a:pPr algn="l" indent="0" marL="0">
                        <a:buNone/>
                      </a:pPr>
                      <a:r>
                        <a:rPr lang="en-US" sz="1250" b="1" dirty="0">
                          <a:solidFill>
                            <a:srgbClr val="1B2B34"/>
                          </a:solidFill>
                        </a:rPr>
                        <a:t>Magnification</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4 / 6</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−0.0541 to +0.0795</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38912">
                <a:tc>
                  <a:txBody>
                    <a:bodyPr/>
                    <a:lstStyle/>
                    <a:p>
                      <a:pPr algn="l" indent="0" marL="0">
                        <a:buNone/>
                      </a:pPr>
                      <a:r>
                        <a:rPr lang="en-US" sz="1250" b="1" dirty="0">
                          <a:solidFill>
                            <a:srgbClr val="1B2B34"/>
                          </a:solidFill>
                        </a:rPr>
                        <a:t>SimAM</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3 / 4</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−0.0288 to +0.0341</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38912">
                <a:tc>
                  <a:txBody>
                    <a:bodyPr/>
                    <a:lstStyle/>
                    <a:p>
                      <a:pPr algn="l" indent="0" marL="0">
                        <a:buNone/>
                      </a:pPr>
                      <a:r>
                        <a:rPr lang="en-US" sz="1250" b="1" dirty="0">
                          <a:solidFill>
                            <a:srgbClr val="1B2B34"/>
                          </a:solidFill>
                        </a:rPr>
                        <a:t>Conv. stem</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2 / 4</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250" dirty="0">
                          <a:solidFill>
                            <a:srgbClr val="1B2B34"/>
                          </a:solidFill>
                        </a:rPr>
                        <a:t>−0.1292 to +0.0094</a:t>
                      </a:r>
                      <a:endParaRPr lang="en-US" sz="1250" dirty="0"/>
                    </a:p>
                  </a:txBody>
                  <a:tcPr marL="91440" marR="91440" marT="45720" marB="45720">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6" name="text-157"/>
          <p:cNvSpPr txBox="1"/>
          <p:nvPr/>
        </p:nvSpPr>
        <p:spPr>
          <a:xfrm>
            <a:off x="7589520" y="3886200"/>
            <a:ext cx="4050792"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1"/>
                </a:solidFill>
              </a:rPr>
              <a:t>Even the smallest transformer gain exceeds the mean effect of every other component</a:t>
            </a:r>
            <a:endParaRPr lang="en-US" sz="1650" dirty="0"/>
          </a:p>
          <a:p>
            <a:pPr marL="342900" indent="-342900">
              <a:spcAft>
                <a:spcPts val="700"/>
              </a:spcAft>
              <a:buSzPct val="100000"/>
              <a:buChar char="•"/>
            </a:pPr>
            <a:r>
              <a:rPr lang="en-US" sz="1500" dirty="0">
                <a:solidFill>
                  <a:schemeClr val="tx1"/>
                </a:solidFill>
              </a:rPr>
              <a:t>The stem is the only component with a negative mean effect</a:t>
            </a:r>
            <a:endParaRPr lang="en-US" sz="1650" dirty="0"/>
          </a:p>
          <a:p>
            <a:pPr marL="342900" indent="-342900">
              <a:spcAft>
                <a:spcPts val="700"/>
              </a:spcAft>
              <a:buSzPct val="100000"/>
              <a:buChar char="•"/>
            </a:pPr>
            <a:r>
              <a:rPr lang="en-US" sz="1500" dirty="0">
                <a:solidFill>
                  <a:schemeClr val="tx1"/>
                </a:solidFill>
              </a:rPr>
              <a:t>The effects are not additive</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All twenty matched pairs</a:t>
            </a:r>
            <a:endParaRPr lang="en-US" sz="3000" dirty="0"/>
          </a:p>
        </p:txBody>
      </p:sp>
      <p:sp>
        <p:nvSpPr>
          <p:cNvPr id="4" name="text-158"/>
          <p:cNvSpPr txBox="1"/>
          <p:nvPr/>
        </p:nvSpPr>
        <p:spPr>
          <a:xfrm>
            <a:off x="548640" y="1280160"/>
            <a:ext cx="2670048" cy="594360"/>
          </a:xfrm>
          <a:prstGeom prst="rect">
            <a:avLst/>
          </a:prstGeom>
          <a:noFill/>
          <a:ln/>
        </p:spPr>
        <p:txBody>
          <a:bodyPr wrap="square" lIns="0" tIns="0" rIns="0" bIns="0" rtlCol="0" anchor="t"/>
          <a:lstStyle/>
          <a:p>
            <a:pPr algn="ctr" indent="0" marL="0">
              <a:buNone/>
            </a:pPr>
            <a:r>
              <a:rPr lang="en-US" sz="1650" b="1" dirty="0">
                <a:solidFill>
                  <a:schemeClr val="tx2"/>
                </a:solidFill>
              </a:rPr>
              <a:t>Transformer</a:t>
            </a:r>
            <a:endParaRPr lang="en-US" sz="1650" dirty="0"/>
          </a:p>
          <a:p>
            <a:pPr algn="ctr" indent="0" marL="0">
              <a:buNone/>
            </a:pPr>
            <a:r>
              <a:rPr lang="en-US" sz="1400" dirty="0">
                <a:solidFill>
                  <a:schemeClr val="accent3"/>
                </a:solidFill>
              </a:rPr>
              <a:t>mean +0.2173</a:t>
            </a:r>
            <a:endParaRPr lang="en-US" sz="1650" dirty="0"/>
          </a:p>
        </p:txBody>
      </p:sp>
      <p:graphicFrame>
        <p:nvGraphicFramePr>
          <p:cNvPr id="5" name="Chart 0" descr="Bar chart of matched-pair differences for Transformer"/>
          <p:cNvGraphicFramePr/>
          <p:nvPr/>
        </p:nvGraphicFramePr>
        <p:xfrm>
          <a:off x="548640" y="1874520"/>
          <a:ext cx="2670048" cy="3749040"/>
        </p:xfrm>
        <a:graphic xmlns:a="http://schemas.openxmlformats.org/drawingml/2006/main">
          <a:graphicData uri="http://schemas.openxmlformats.org/drawingml/2006/chart">
            <c:chart xmlns:c="http://schemas.openxmlformats.org/drawingml/2006/chart" r:id="rId1"/>
          </a:graphicData>
        </a:graphic>
      </p:graphicFrame>
      <p:sp>
        <p:nvSpPr>
          <p:cNvPr id="6" name="text-159"/>
          <p:cNvSpPr txBox="1"/>
          <p:nvPr/>
        </p:nvSpPr>
        <p:spPr>
          <a:xfrm>
            <a:off x="3355848" y="1280160"/>
            <a:ext cx="2670048" cy="594360"/>
          </a:xfrm>
          <a:prstGeom prst="rect">
            <a:avLst/>
          </a:prstGeom>
          <a:noFill/>
          <a:ln/>
        </p:spPr>
        <p:txBody>
          <a:bodyPr wrap="square" lIns="0" tIns="0" rIns="0" bIns="0" rtlCol="0" anchor="t"/>
          <a:lstStyle/>
          <a:p>
            <a:pPr algn="ctr" indent="0" marL="0">
              <a:buNone/>
            </a:pPr>
            <a:r>
              <a:rPr lang="en-US" sz="1650" b="1" dirty="0">
                <a:solidFill>
                  <a:schemeClr val="tx2"/>
                </a:solidFill>
              </a:rPr>
              <a:t>Magnification</a:t>
            </a:r>
            <a:endParaRPr lang="en-US" sz="1650" dirty="0"/>
          </a:p>
          <a:p>
            <a:pPr algn="ctr" indent="0" marL="0">
              <a:buNone/>
            </a:pPr>
            <a:r>
              <a:rPr lang="en-US" sz="1400" dirty="0">
                <a:solidFill>
                  <a:schemeClr val="accent3"/>
                </a:solidFill>
              </a:rPr>
              <a:t>mean +0.0152</a:t>
            </a:r>
            <a:endParaRPr lang="en-US" sz="1650" dirty="0"/>
          </a:p>
        </p:txBody>
      </p:sp>
      <p:graphicFrame>
        <p:nvGraphicFramePr>
          <p:cNvPr id="7" name="Chart 1" descr="Bar chart of matched-pair differences for Magnification"/>
          <p:cNvGraphicFramePr/>
          <p:nvPr/>
        </p:nvGraphicFramePr>
        <p:xfrm>
          <a:off x="3355848" y="1874520"/>
          <a:ext cx="2670048" cy="3749040"/>
        </p:xfrm>
        <a:graphic xmlns:a="http://schemas.openxmlformats.org/drawingml/2006/main">
          <a:graphicData uri="http://schemas.openxmlformats.org/drawingml/2006/chart">
            <c:chart xmlns:c="http://schemas.openxmlformats.org/drawingml/2006/chart" r:id="rId2"/>
          </a:graphicData>
        </a:graphic>
      </p:graphicFrame>
      <p:sp>
        <p:nvSpPr>
          <p:cNvPr id="8" name="text-160"/>
          <p:cNvSpPr txBox="1"/>
          <p:nvPr/>
        </p:nvSpPr>
        <p:spPr>
          <a:xfrm>
            <a:off x="6163056" y="1280160"/>
            <a:ext cx="2670048" cy="594360"/>
          </a:xfrm>
          <a:prstGeom prst="rect">
            <a:avLst/>
          </a:prstGeom>
          <a:noFill/>
          <a:ln/>
        </p:spPr>
        <p:txBody>
          <a:bodyPr wrap="square" lIns="0" tIns="0" rIns="0" bIns="0" rtlCol="0" anchor="t"/>
          <a:lstStyle/>
          <a:p>
            <a:pPr algn="ctr" indent="0" marL="0">
              <a:buNone/>
            </a:pPr>
            <a:r>
              <a:rPr lang="en-US" sz="1650" b="1" dirty="0">
                <a:solidFill>
                  <a:schemeClr val="tx2"/>
                </a:solidFill>
              </a:rPr>
              <a:t>SimAM</a:t>
            </a:r>
            <a:endParaRPr lang="en-US" sz="1650" dirty="0"/>
          </a:p>
          <a:p>
            <a:pPr algn="ctr" indent="0" marL="0">
              <a:buNone/>
            </a:pPr>
            <a:r>
              <a:rPr lang="en-US" sz="1400" dirty="0">
                <a:solidFill>
                  <a:schemeClr val="accent3"/>
                </a:solidFill>
              </a:rPr>
              <a:t>mean +0.0034</a:t>
            </a:r>
            <a:endParaRPr lang="en-US" sz="1650" dirty="0"/>
          </a:p>
        </p:txBody>
      </p:sp>
      <p:graphicFrame>
        <p:nvGraphicFramePr>
          <p:cNvPr id="9" name="Chart 2" descr="Bar chart of matched-pair differences for SimAM"/>
          <p:cNvGraphicFramePr/>
          <p:nvPr/>
        </p:nvGraphicFramePr>
        <p:xfrm>
          <a:off x="6163056" y="1874520"/>
          <a:ext cx="2670048" cy="3749040"/>
        </p:xfrm>
        <a:graphic xmlns:a="http://schemas.openxmlformats.org/drawingml/2006/main">
          <a:graphicData uri="http://schemas.openxmlformats.org/drawingml/2006/chart">
            <c:chart xmlns:c="http://schemas.openxmlformats.org/drawingml/2006/chart" r:id="rId3"/>
          </a:graphicData>
        </a:graphic>
      </p:graphicFrame>
      <p:sp>
        <p:nvSpPr>
          <p:cNvPr id="10" name="text-161"/>
          <p:cNvSpPr txBox="1"/>
          <p:nvPr/>
        </p:nvSpPr>
        <p:spPr>
          <a:xfrm>
            <a:off x="8970264" y="1280160"/>
            <a:ext cx="2670048" cy="594360"/>
          </a:xfrm>
          <a:prstGeom prst="rect">
            <a:avLst/>
          </a:prstGeom>
          <a:noFill/>
          <a:ln/>
        </p:spPr>
        <p:txBody>
          <a:bodyPr wrap="square" lIns="0" tIns="0" rIns="0" bIns="0" rtlCol="0" anchor="t"/>
          <a:lstStyle/>
          <a:p>
            <a:pPr algn="ctr" indent="0" marL="0">
              <a:buNone/>
            </a:pPr>
            <a:r>
              <a:rPr lang="en-US" sz="1650" b="1" dirty="0">
                <a:solidFill>
                  <a:schemeClr val="tx2"/>
                </a:solidFill>
              </a:rPr>
              <a:t>Convolutional stem</a:t>
            </a:r>
            <a:endParaRPr lang="en-US" sz="1650" dirty="0"/>
          </a:p>
          <a:p>
            <a:pPr algn="ctr" indent="0" marL="0">
              <a:buNone/>
            </a:pPr>
            <a:r>
              <a:rPr lang="en-US" sz="1400" dirty="0">
                <a:solidFill>
                  <a:schemeClr val="accent3"/>
                </a:solidFill>
              </a:rPr>
              <a:t>mean −0.0310</a:t>
            </a:r>
            <a:endParaRPr lang="en-US" sz="1650" dirty="0"/>
          </a:p>
        </p:txBody>
      </p:sp>
      <p:graphicFrame>
        <p:nvGraphicFramePr>
          <p:cNvPr id="11" name="Chart 3" descr="Bar chart of matched-pair differences for Convolutional stem"/>
          <p:cNvGraphicFramePr/>
          <p:nvPr/>
        </p:nvGraphicFramePr>
        <p:xfrm>
          <a:off x="8970264" y="1874520"/>
          <a:ext cx="2670048" cy="3749040"/>
        </p:xfrm>
        <a:graphic xmlns:a="http://schemas.openxmlformats.org/drawingml/2006/main">
          <a:graphicData uri="http://schemas.openxmlformats.org/drawingml/2006/chart">
            <c:chart xmlns:c="http://schemas.openxmlformats.org/drawingml/2006/chart" r:id="rId4"/>
          </a:graphicData>
        </a:graphic>
      </p:graphicFrame>
      <p:sp>
        <p:nvSpPr>
          <p:cNvPr id="12" name="text-162"/>
          <p:cNvSpPr txBox="1"/>
          <p:nvPr/>
        </p:nvSpPr>
        <p:spPr>
          <a:xfrm>
            <a:off x="548640" y="5715000"/>
            <a:ext cx="11094415" cy="502920"/>
          </a:xfrm>
          <a:prstGeom prst="rect">
            <a:avLst/>
          </a:prstGeom>
          <a:noFill/>
          <a:ln/>
        </p:spPr>
        <p:txBody>
          <a:bodyPr wrap="square" lIns="0" tIns="0" rIns="0" bIns="0" rtlCol="0" anchor="t"/>
          <a:lstStyle/>
          <a:p>
            <a:pPr indent="0" marL="0">
              <a:buNone/>
            </a:pPr>
            <a:r>
              <a:rPr lang="en-US" sz="1400" i="1" dirty="0">
                <a:solidFill>
                  <a:schemeClr val="accent3"/>
                </a:solidFill>
              </a:rPr>
              <a:t>Each bar is one pair of configurations (off → on) that differ in exactly one component. All four panels share the same vertical scale: change in pooled macro F1.</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Per-class F1: minority classes decide the ranking</a:t>
            </a:r>
            <a:endParaRPr lang="en-US" sz="3000" dirty="0"/>
          </a:p>
        </p:txBody>
      </p:sp>
      <p:graphicFrame>
        <p:nvGraphicFramePr>
          <p:cNvPr id="4" name="Chart 0" descr="Clustered bar chart of per-class F1 for the twelve configurations"/>
          <p:cNvGraphicFramePr/>
          <p:nvPr/>
        </p:nvGraphicFramePr>
        <p:xfrm>
          <a:off x="548640" y="1280160"/>
          <a:ext cx="7955280" cy="4846320"/>
        </p:xfrm>
        <a:graphic xmlns:a="http://schemas.openxmlformats.org/drawingml/2006/main">
          <a:graphicData uri="http://schemas.openxmlformats.org/drawingml/2006/chart">
            <c:chart xmlns:c="http://schemas.openxmlformats.org/drawingml/2006/chart" r:id="rId1"/>
          </a:graphicData>
        </a:graphic>
      </p:graphicFrame>
      <p:sp>
        <p:nvSpPr>
          <p:cNvPr id="5" name="text-163"/>
          <p:cNvSpPr txBox="1"/>
          <p:nvPr/>
        </p:nvSpPr>
        <p:spPr>
          <a:xfrm>
            <a:off x="8732520" y="1417320"/>
            <a:ext cx="2907792" cy="4663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Every configuration achieves a nonzero F1 on all three classes</a:t>
            </a:r>
            <a:endParaRPr lang="en-US" sz="1650" dirty="0"/>
          </a:p>
          <a:p>
            <a:pPr marL="342900" indent="-342900">
              <a:spcAft>
                <a:spcPts val="800"/>
              </a:spcAft>
              <a:buSzPct val="100000"/>
              <a:buChar char="•"/>
            </a:pPr>
            <a:r>
              <a:rPr lang="en-US" sz="1500" dirty="0">
                <a:solidFill>
                  <a:schemeClr val="tx1"/>
                </a:solidFill>
              </a:rPr>
              <a:t>C2 has the highest Positive and Surprise F1 (0.6506 and 0.6792)</a:t>
            </a:r>
            <a:endParaRPr lang="en-US" sz="1650" dirty="0"/>
          </a:p>
          <a:p>
            <a:pPr marL="342900" indent="-342900">
              <a:spcAft>
                <a:spcPts val="800"/>
              </a:spcAft>
              <a:buSzPct val="100000"/>
              <a:buChar char="•"/>
            </a:pPr>
            <a:r>
              <a:rPr lang="en-US" sz="1500" dirty="0">
                <a:solidFill>
                  <a:schemeClr val="tx1"/>
                </a:solidFill>
              </a:rPr>
              <a:t>C9 has the highest Negative F1 (0.8491) but a Surprise F1 of only 0.3000, with an accuracy of 0.7308</a:t>
            </a:r>
            <a:endParaRPr lang="en-US" sz="1650" dirty="0"/>
          </a:p>
          <a:p>
            <a:pPr marL="342900" indent="-342900">
              <a:spcAft>
                <a:spcPts val="800"/>
              </a:spcAft>
              <a:buSzPct val="100000"/>
              <a:buChar char="•"/>
            </a:pPr>
            <a:r>
              <a:rPr lang="en-US" sz="1500" dirty="0">
                <a:solidFill>
                  <a:schemeClr val="tx1"/>
                </a:solidFill>
              </a:rPr>
              <a:t>Negative F1 separates the groups: 0.75 to 0.85 with the transformer, 0.35 to 0.56 without</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Confusion matrices show how the models fail</a:t>
            </a:r>
            <a:endParaRPr lang="en-US" sz="3000" dirty="0"/>
          </a:p>
        </p:txBody>
      </p:sp>
      <p:sp>
        <p:nvSpPr>
          <p:cNvPr id="4" name="text-164"/>
          <p:cNvSpPr txBox="1"/>
          <p:nvPr/>
        </p:nvSpPr>
        <p:spPr>
          <a:xfrm>
            <a:off x="548640" y="1280160"/>
            <a:ext cx="3566160" cy="365760"/>
          </a:xfrm>
          <a:prstGeom prst="rect">
            <a:avLst/>
          </a:prstGeom>
          <a:noFill/>
          <a:ln/>
        </p:spPr>
        <p:txBody>
          <a:bodyPr wrap="square" lIns="0" tIns="0" rIns="0" bIns="0" rtlCol="0" anchor="t"/>
          <a:lstStyle/>
          <a:p>
            <a:pPr indent="0" marL="0">
              <a:buNone/>
            </a:pPr>
            <a:r>
              <a:rPr lang="en-US" sz="1650" b="1" dirty="0">
                <a:solidFill>
                  <a:schemeClr val="tx2"/>
                </a:solidFill>
              </a:rPr>
              <a:t>C1: no components</a:t>
            </a:r>
            <a:endParaRPr lang="en-US" sz="1650" dirty="0"/>
          </a:p>
        </p:txBody>
      </p:sp>
      <p:graphicFrame>
        <p:nvGraphicFramePr>
          <p:cNvPr id="18" name="table-cm-0"/>
          <p:cNvGraphicFramePr>
            <a:graphicFrameLocks noGrp="1"/>
          </p:cNvGraphicFramePr>
          <p:nvPr>
            <p:extLst>
              <p:ext uri="{D42A27DB-BD31-4B8C-83A1-F6EECF244321}">
                <p14:modId xmlns:p14="http://schemas.microsoft.com/office/powerpoint/2010/main" val="1579011935"/>
              </p:ext>
            </p:extLst>
          </p:nvPr>
        </p:nvGraphicFramePr>
        <p:xfrm>
          <a:off x="548640" y="1691640"/>
          <a:ext cx="3566160" cy="914400"/>
        </p:xfrm>
        <a:graphic>
          <a:graphicData uri="http://schemas.openxmlformats.org/drawingml/2006/table">
            <a:tbl>
              <a:tblPr/>
              <a:tblGrid>
                <a:gridCol w="960120"/>
                <a:gridCol w="868680"/>
                <a:gridCol w="868680"/>
                <a:gridCol w="868680"/>
              </a:tblGrid>
              <a:tr h="365760">
                <a:tc>
                  <a:txBody>
                    <a:bodyPr/>
                    <a:lstStyle/>
                    <a:p>
                      <a:pPr algn="ctr" indent="0" marL="0">
                        <a:buNone/>
                      </a:pPr>
                      <a:r>
                        <a:rPr lang="en-US" sz="1200" b="1" dirty="0">
                          <a:solidFill>
                            <a:srgbClr val="7C8D99"/>
                          </a:solidFill>
                        </a:rPr>
                        <a:t>true \ pred.</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749808">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42</a:t>
                      </a:r>
                      <a:endParaRPr lang="en-US" sz="1200" dirty="0"/>
                    </a:p>
                    <a:p>
                      <a:pPr algn="ctr" indent="0" marL="0">
                        <a:buNone/>
                      </a:pPr>
                      <a:r>
                        <a:rPr lang="en-US" sz="1050" dirty="0">
                          <a:solidFill>
                            <a:srgbClr val="1B2B34"/>
                          </a:solidFill>
                        </a:rPr>
                        <a:t>42 %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9C0C7"/>
                    </a:solidFill>
                  </a:tcPr>
                </a:tc>
                <a:tc>
                  <a:txBody>
                    <a:bodyPr/>
                    <a:lstStyle/>
                    <a:p>
                      <a:pPr algn="ctr" indent="0" marL="0">
                        <a:buNone/>
                      </a:pPr>
                      <a:r>
                        <a:rPr lang="en-US" sz="1700" b="1" dirty="0">
                          <a:solidFill>
                            <a:srgbClr val="1B2B34"/>
                          </a:solidFill>
                        </a:rPr>
                        <a:t>22</a:t>
                      </a:r>
                      <a:endParaRPr lang="en-US" sz="1200" dirty="0"/>
                    </a:p>
                    <a:p>
                      <a:pPr algn="ctr" indent="0" marL="0">
                        <a:buNone/>
                      </a:pPr>
                      <a:r>
                        <a:rPr lang="en-US" sz="1050" dirty="0">
                          <a:solidFill>
                            <a:srgbClr val="1B2B34"/>
                          </a:solidFill>
                        </a:rPr>
                        <a:t>22 %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9DEE1"/>
                    </a:solidFill>
                  </a:tcPr>
                </a:tc>
                <a:tc>
                  <a:txBody>
                    <a:bodyPr/>
                    <a:lstStyle/>
                    <a:p>
                      <a:pPr algn="ctr" indent="0" marL="0">
                        <a:buNone/>
                      </a:pPr>
                      <a:r>
                        <a:rPr lang="en-US" sz="1700" b="1" dirty="0">
                          <a:solidFill>
                            <a:srgbClr val="1B2B34"/>
                          </a:solidFill>
                        </a:rPr>
                        <a:t>35</a:t>
                      </a:r>
                      <a:endParaRPr lang="en-US" sz="1200" dirty="0"/>
                    </a:p>
                    <a:p>
                      <a:pPr algn="ctr" indent="0" marL="0">
                        <a:buNone/>
                      </a:pPr>
                      <a:r>
                        <a:rPr lang="en-US" sz="1050" dirty="0">
                          <a:solidFill>
                            <a:srgbClr val="1B2B34"/>
                          </a:solidFill>
                        </a:rPr>
                        <a:t>35 %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AACBD0"/>
                    </a:solidFill>
                  </a:tcPr>
                </a:tc>
              </a:tr>
              <a:tr h="749808">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4</a:t>
                      </a:r>
                      <a:endParaRPr lang="en-US" sz="1200" dirty="0"/>
                    </a:p>
                    <a:p>
                      <a:pPr algn="ctr" indent="0" marL="0">
                        <a:buNone/>
                      </a:pPr>
                      <a:r>
                        <a:rPr lang="en-US" sz="1050" dirty="0">
                          <a:solidFill>
                            <a:srgbClr val="1B2B34"/>
                          </a:solidFill>
                        </a:rPr>
                        <a:t>13 %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EDEE"/>
                    </a:solidFill>
                  </a:tcPr>
                </a:tc>
                <a:tc>
                  <a:txBody>
                    <a:bodyPr/>
                    <a:lstStyle/>
                    <a:p>
                      <a:pPr algn="ctr" indent="0" marL="0">
                        <a:buNone/>
                      </a:pPr>
                      <a:r>
                        <a:rPr lang="en-US" sz="1700" b="1" dirty="0">
                          <a:solidFill>
                            <a:srgbClr val="1B2B34"/>
                          </a:solidFill>
                        </a:rPr>
                        <a:t>13</a:t>
                      </a:r>
                      <a:endParaRPr lang="en-US" sz="1200" dirty="0"/>
                    </a:p>
                    <a:p>
                      <a:pPr algn="ctr" indent="0" marL="0">
                        <a:buNone/>
                      </a:pPr>
                      <a:r>
                        <a:rPr lang="en-US" sz="1050" dirty="0">
                          <a:solidFill>
                            <a:srgbClr val="1B2B34"/>
                          </a:solidFill>
                        </a:rPr>
                        <a:t>41 %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DC3C9"/>
                    </a:solidFill>
                  </a:tcPr>
                </a:tc>
                <a:tc>
                  <a:txBody>
                    <a:bodyPr/>
                    <a:lstStyle/>
                    <a:p>
                      <a:pPr algn="ctr" indent="0" marL="0">
                        <a:buNone/>
                      </a:pPr>
                      <a:r>
                        <a:rPr lang="en-US" sz="1700" b="1" dirty="0">
                          <a:solidFill>
                            <a:srgbClr val="1B2B34"/>
                          </a:solidFill>
                        </a:rPr>
                        <a:t>15</a:t>
                      </a:r>
                      <a:endParaRPr lang="en-US" sz="1200" dirty="0"/>
                    </a:p>
                    <a:p>
                      <a:pPr algn="ctr" indent="0" marL="0">
                        <a:buNone/>
                      </a:pPr>
                      <a:r>
                        <a:rPr lang="en-US" sz="1050" dirty="0">
                          <a:solidFill>
                            <a:srgbClr val="1B2B34"/>
                          </a:solidFill>
                        </a:rPr>
                        <a:t>47 %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EBAC1"/>
                    </a:solidFill>
                  </a:tcPr>
                </a:tc>
              </a:tr>
              <a:tr h="749808">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5</a:t>
                      </a:r>
                      <a:endParaRPr lang="en-US" sz="1200" dirty="0"/>
                    </a:p>
                    <a:p>
                      <a:pPr algn="ctr" indent="0" marL="0">
                        <a:buNone/>
                      </a:pPr>
                      <a:r>
                        <a:rPr lang="en-US" sz="1050" dirty="0">
                          <a:solidFill>
                            <a:srgbClr val="1B2B34"/>
                          </a:solidFill>
                        </a:rPr>
                        <a:t>20 %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1E4"/>
                    </a:solidFill>
                  </a:tcPr>
                </a:tc>
                <a:tc>
                  <a:txBody>
                    <a:bodyPr/>
                    <a:lstStyle/>
                    <a:p>
                      <a:pPr algn="ctr" indent="0" marL="0">
                        <a:buNone/>
                      </a:pPr>
                      <a:r>
                        <a:rPr lang="en-US" sz="1700" b="1" dirty="0">
                          <a:solidFill>
                            <a:srgbClr val="1B2B34"/>
                          </a:solidFill>
                        </a:rPr>
                        <a:t>3</a:t>
                      </a:r>
                      <a:endParaRPr lang="en-US" sz="1200" dirty="0"/>
                    </a:p>
                    <a:p>
                      <a:pPr algn="ctr" indent="0" marL="0">
                        <a:buNone/>
                      </a:pPr>
                      <a:r>
                        <a:rPr lang="en-US" sz="1050" dirty="0">
                          <a:solidFill>
                            <a:srgbClr val="1B2B34"/>
                          </a:solidFill>
                        </a:rPr>
                        <a:t>12 %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2EDEF"/>
                    </a:solidFill>
                  </a:tcPr>
                </a:tc>
                <a:tc>
                  <a:txBody>
                    <a:bodyPr/>
                    <a:lstStyle/>
                    <a:p>
                      <a:pPr algn="ctr" indent="0" marL="0">
                        <a:buNone/>
                      </a:pPr>
                      <a:r>
                        <a:rPr lang="en-US" sz="1700" b="1" dirty="0">
                          <a:solidFill>
                            <a:srgbClr val="FFFFFF"/>
                          </a:solidFill>
                        </a:rPr>
                        <a:t>17</a:t>
                      </a:r>
                      <a:endParaRPr lang="en-US" sz="1200" dirty="0"/>
                    </a:p>
                    <a:p>
                      <a:pPr algn="ctr" indent="0" marL="0">
                        <a:buNone/>
                      </a:pPr>
                      <a:r>
                        <a:rPr lang="en-US" sz="1050" dirty="0">
                          <a:solidFill>
                            <a:srgbClr val="FFFFFF"/>
                          </a:solidFill>
                        </a:rPr>
                        <a:t>68 %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B9AA5"/>
                    </a:solidFill>
                  </a:tcPr>
                </a:tc>
              </a:tr>
            </a:tbl>
          </a:graphicData>
        </a:graphic>
      </p:graphicFrame>
      <p:sp>
        <p:nvSpPr>
          <p:cNvPr id="6" name="text-165"/>
          <p:cNvSpPr txBox="1"/>
          <p:nvPr/>
        </p:nvSpPr>
        <p:spPr>
          <a:xfrm>
            <a:off x="548640" y="4407408"/>
            <a:ext cx="3566160" cy="320040"/>
          </a:xfrm>
          <a:prstGeom prst="rect">
            <a:avLst/>
          </a:prstGeom>
          <a:noFill/>
          <a:ln/>
        </p:spPr>
        <p:txBody>
          <a:bodyPr wrap="square" lIns="0" tIns="0" rIns="0" bIns="0" rtlCol="0" anchor="t"/>
          <a:lstStyle/>
          <a:p>
            <a:pPr indent="0" marL="0">
              <a:buNone/>
            </a:pPr>
            <a:r>
              <a:rPr lang="en-US" sz="1450" i="1" dirty="0">
                <a:solidFill>
                  <a:schemeClr val="accent1"/>
                </a:solidFill>
              </a:rPr>
              <a:t>Over-predicts the minority classes</a:t>
            </a:r>
            <a:endParaRPr lang="en-US" sz="1450" dirty="0"/>
          </a:p>
        </p:txBody>
      </p:sp>
      <p:sp>
        <p:nvSpPr>
          <p:cNvPr id="7" name="text-166"/>
          <p:cNvSpPr txBox="1"/>
          <p:nvPr/>
        </p:nvSpPr>
        <p:spPr>
          <a:xfrm>
            <a:off x="4311396" y="1280160"/>
            <a:ext cx="3566160" cy="365760"/>
          </a:xfrm>
          <a:prstGeom prst="rect">
            <a:avLst/>
          </a:prstGeom>
          <a:noFill/>
          <a:ln/>
        </p:spPr>
        <p:txBody>
          <a:bodyPr wrap="square" lIns="0" tIns="0" rIns="0" bIns="0" rtlCol="0" anchor="t"/>
          <a:lstStyle/>
          <a:p>
            <a:pPr indent="0" marL="0">
              <a:buNone/>
            </a:pPr>
            <a:r>
              <a:rPr lang="en-US" sz="1650" b="1" dirty="0">
                <a:solidFill>
                  <a:schemeClr val="tx2"/>
                </a:solidFill>
              </a:rPr>
              <a:t>C8: all four components</a:t>
            </a:r>
            <a:endParaRPr lang="en-US" sz="1650" dirty="0"/>
          </a:p>
        </p:txBody>
      </p:sp>
      <p:graphicFrame>
        <p:nvGraphicFramePr>
          <p:cNvPr id="35" name="table-cm-1"/>
          <p:cNvGraphicFramePr>
            <a:graphicFrameLocks noGrp="1"/>
          </p:cNvGraphicFramePr>
          <p:nvPr>
            <p:extLst>
              <p:ext uri="{D42A27DB-BD31-4B8C-83A1-F6EECF244321}">
                <p14:modId xmlns:p14="http://schemas.microsoft.com/office/powerpoint/2010/main" val="1579011935"/>
              </p:ext>
            </p:extLst>
          </p:nvPr>
        </p:nvGraphicFramePr>
        <p:xfrm>
          <a:off x="4311396" y="1691640"/>
          <a:ext cx="3566160" cy="914400"/>
        </p:xfrm>
        <a:graphic>
          <a:graphicData uri="http://schemas.openxmlformats.org/drawingml/2006/table">
            <a:tbl>
              <a:tblPr/>
              <a:tblGrid>
                <a:gridCol w="960120"/>
                <a:gridCol w="868680"/>
                <a:gridCol w="868680"/>
                <a:gridCol w="868680"/>
              </a:tblGrid>
              <a:tr h="365760">
                <a:tc>
                  <a:txBody>
                    <a:bodyPr/>
                    <a:lstStyle/>
                    <a:p>
                      <a:pPr algn="ctr" indent="0" marL="0">
                        <a:buNone/>
                      </a:pPr>
                      <a:r>
                        <a:rPr lang="en-US" sz="1200" b="1" dirty="0">
                          <a:solidFill>
                            <a:srgbClr val="7C8D99"/>
                          </a:solidFill>
                        </a:rPr>
                        <a:t>true \ pred.</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749808">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FFFFFF"/>
                          </a:solidFill>
                        </a:rPr>
                        <a:t>85</a:t>
                      </a:r>
                      <a:endParaRPr lang="en-US" sz="1200" dirty="0"/>
                    </a:p>
                    <a:p>
                      <a:pPr algn="ctr" indent="0" marL="0">
                        <a:buNone/>
                      </a:pPr>
                      <a:r>
                        <a:rPr lang="en-US" sz="1050" dirty="0">
                          <a:solidFill>
                            <a:srgbClr val="FFFFFF"/>
                          </a:solidFill>
                        </a:rPr>
                        <a:t>86 %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30808D"/>
                    </a:solidFill>
                  </a:tcPr>
                </a:tc>
                <a:tc>
                  <a:txBody>
                    <a:bodyPr/>
                    <a:lstStyle/>
                    <a:p>
                      <a:pPr algn="ctr" indent="0" marL="0">
                        <a:buNone/>
                      </a:pPr>
                      <a:r>
                        <a:rPr lang="en-US" sz="1700" b="1" dirty="0">
                          <a:solidFill>
                            <a:srgbClr val="1B2B34"/>
                          </a:solidFill>
                        </a:rPr>
                        <a:t>3</a:t>
                      </a:r>
                      <a:endParaRPr lang="en-US" sz="1200" dirty="0"/>
                    </a:p>
                    <a:p>
                      <a:pPr algn="ctr" indent="0" marL="0">
                        <a:buNone/>
                      </a:pPr>
                      <a:r>
                        <a:rPr lang="en-US" sz="1050" dirty="0">
                          <a:solidFill>
                            <a:srgbClr val="1B2B34"/>
                          </a:solidFill>
                        </a:rPr>
                        <a:t>3 %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8FBFB"/>
                    </a:solidFill>
                  </a:tcPr>
                </a:tc>
                <a:tc>
                  <a:txBody>
                    <a:bodyPr/>
                    <a:lstStyle/>
                    <a:p>
                      <a:pPr algn="ctr" indent="0" marL="0">
                        <a:buNone/>
                      </a:pPr>
                      <a:r>
                        <a:rPr lang="en-US" sz="1700" b="1" dirty="0">
                          <a:solidFill>
                            <a:srgbClr val="1B2B34"/>
                          </a:solidFill>
                        </a:rPr>
                        <a:t>11</a:t>
                      </a:r>
                      <a:endParaRPr lang="en-US" sz="1200" dirty="0"/>
                    </a:p>
                    <a:p>
                      <a:pPr algn="ctr" indent="0" marL="0">
                        <a:buNone/>
                      </a:pPr>
                      <a:r>
                        <a:rPr lang="en-US" sz="1050" dirty="0">
                          <a:solidFill>
                            <a:srgbClr val="1B2B34"/>
                          </a:solidFill>
                        </a:rPr>
                        <a:t>11 %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4EFF0"/>
                    </a:solidFill>
                  </a:tcPr>
                </a:tc>
              </a:tr>
              <a:tr h="749808">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13</a:t>
                      </a:r>
                      <a:endParaRPr lang="en-US" sz="1200" dirty="0"/>
                    </a:p>
                    <a:p>
                      <a:pPr algn="ctr" indent="0" marL="0">
                        <a:buNone/>
                      </a:pPr>
                      <a:r>
                        <a:rPr lang="en-US" sz="1050" dirty="0">
                          <a:solidFill>
                            <a:srgbClr val="1B2B34"/>
                          </a:solidFill>
                        </a:rPr>
                        <a:t>41 %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9DC3C9"/>
                    </a:solidFill>
                  </a:tcPr>
                </a:tc>
                <a:tc>
                  <a:txBody>
                    <a:bodyPr/>
                    <a:lstStyle/>
                    <a:p>
                      <a:pPr algn="ctr" indent="0" marL="0">
                        <a:buNone/>
                      </a:pPr>
                      <a:r>
                        <a:rPr lang="en-US" sz="1700" b="1" dirty="0">
                          <a:solidFill>
                            <a:srgbClr val="1B2B34"/>
                          </a:solidFill>
                        </a:rPr>
                        <a:t>15</a:t>
                      </a:r>
                      <a:endParaRPr lang="en-US" sz="1200" dirty="0"/>
                    </a:p>
                    <a:p>
                      <a:pPr algn="ctr" indent="0" marL="0">
                        <a:buNone/>
                      </a:pPr>
                      <a:r>
                        <a:rPr lang="en-US" sz="1050" dirty="0">
                          <a:solidFill>
                            <a:srgbClr val="1B2B34"/>
                          </a:solidFill>
                        </a:rPr>
                        <a:t>47 %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EBAC1"/>
                    </a:solidFill>
                  </a:tcPr>
                </a:tc>
                <a:tc>
                  <a:txBody>
                    <a:bodyPr/>
                    <a:lstStyle/>
                    <a:p>
                      <a:pPr algn="ctr" indent="0" marL="0">
                        <a:buNone/>
                      </a:pPr>
                      <a:r>
                        <a:rPr lang="en-US" sz="1700" b="1" dirty="0">
                          <a:solidFill>
                            <a:srgbClr val="1B2B34"/>
                          </a:solidFill>
                        </a:rPr>
                        <a:t>4</a:t>
                      </a:r>
                      <a:endParaRPr lang="en-US" sz="1200" dirty="0"/>
                    </a:p>
                    <a:p>
                      <a:pPr algn="ctr" indent="0" marL="0">
                        <a:buNone/>
                      </a:pPr>
                      <a:r>
                        <a:rPr lang="en-US" sz="1050" dirty="0">
                          <a:solidFill>
                            <a:srgbClr val="1B2B34"/>
                          </a:solidFill>
                        </a:rPr>
                        <a:t>13 %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1EDEE"/>
                    </a:solidFill>
                  </a:tcPr>
                </a:tc>
              </a:tr>
              <a:tr h="749808">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4</a:t>
                      </a:r>
                      <a:endParaRPr lang="en-US" sz="1200" dirty="0"/>
                    </a:p>
                    <a:p>
                      <a:pPr algn="ctr" indent="0" marL="0">
                        <a:buNone/>
                      </a:pPr>
                      <a:r>
                        <a:rPr lang="en-US" sz="1050" dirty="0">
                          <a:solidFill>
                            <a:srgbClr val="1B2B34"/>
                          </a:solidFill>
                        </a:rPr>
                        <a:t>16 %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E7EA"/>
                    </a:solidFill>
                  </a:tcPr>
                </a:tc>
                <a:tc>
                  <a:txBody>
                    <a:bodyPr/>
                    <a:lstStyle/>
                    <a:p>
                      <a:pPr algn="ctr" indent="0" marL="0">
                        <a:buNone/>
                      </a:pPr>
                      <a:r>
                        <a:rPr lang="en-US" sz="1700" b="1" dirty="0">
                          <a:solidFill>
                            <a:srgbClr val="1B2B34"/>
                          </a:solidFill>
                        </a:rPr>
                        <a:t>4</a:t>
                      </a:r>
                      <a:endParaRPr lang="en-US" sz="1200" dirty="0"/>
                    </a:p>
                    <a:p>
                      <a:pPr algn="ctr" indent="0" marL="0">
                        <a:buNone/>
                      </a:pPr>
                      <a:r>
                        <a:rPr lang="en-US" sz="1050" dirty="0">
                          <a:solidFill>
                            <a:srgbClr val="1B2B34"/>
                          </a:solidFill>
                        </a:rPr>
                        <a:t>16 %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E7EA"/>
                    </a:solidFill>
                  </a:tcPr>
                </a:tc>
                <a:tc>
                  <a:txBody>
                    <a:bodyPr/>
                    <a:lstStyle/>
                    <a:p>
                      <a:pPr algn="ctr" indent="0" marL="0">
                        <a:buNone/>
                      </a:pPr>
                      <a:r>
                        <a:rPr lang="en-US" sz="1700" b="1" dirty="0">
                          <a:solidFill>
                            <a:srgbClr val="FFFFFF"/>
                          </a:solidFill>
                        </a:rPr>
                        <a:t>17</a:t>
                      </a:r>
                      <a:endParaRPr lang="en-US" sz="1200" dirty="0"/>
                    </a:p>
                    <a:p>
                      <a:pPr algn="ctr" indent="0" marL="0">
                        <a:buNone/>
                      </a:pPr>
                      <a:r>
                        <a:rPr lang="en-US" sz="1050" dirty="0">
                          <a:solidFill>
                            <a:srgbClr val="FFFFFF"/>
                          </a:solidFill>
                        </a:rPr>
                        <a:t>68 %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B9AA5"/>
                    </a:solidFill>
                  </a:tcPr>
                </a:tc>
              </a:tr>
            </a:tbl>
          </a:graphicData>
        </a:graphic>
      </p:graphicFrame>
      <p:sp>
        <p:nvSpPr>
          <p:cNvPr id="9" name="text-167"/>
          <p:cNvSpPr txBox="1"/>
          <p:nvPr/>
        </p:nvSpPr>
        <p:spPr>
          <a:xfrm>
            <a:off x="4311396" y="4407408"/>
            <a:ext cx="3566160" cy="320040"/>
          </a:xfrm>
          <a:prstGeom prst="rect">
            <a:avLst/>
          </a:prstGeom>
          <a:noFill/>
          <a:ln/>
        </p:spPr>
        <p:txBody>
          <a:bodyPr wrap="square" lIns="0" tIns="0" rIns="0" bIns="0" rtlCol="0" anchor="t"/>
          <a:lstStyle/>
          <a:p>
            <a:pPr indent="0" marL="0">
              <a:buNone/>
            </a:pPr>
            <a:r>
              <a:rPr lang="en-US" sz="1450" i="1" dirty="0">
                <a:solidFill>
                  <a:schemeClr val="accent1"/>
                </a:solidFill>
              </a:rPr>
              <a:t>Shifted towards the majority class</a:t>
            </a:r>
            <a:endParaRPr lang="en-US" sz="1450" dirty="0"/>
          </a:p>
        </p:txBody>
      </p:sp>
      <p:sp>
        <p:nvSpPr>
          <p:cNvPr id="10" name="text-168"/>
          <p:cNvSpPr txBox="1"/>
          <p:nvPr/>
        </p:nvSpPr>
        <p:spPr>
          <a:xfrm>
            <a:off x="8074152" y="1280160"/>
            <a:ext cx="3566160" cy="365760"/>
          </a:xfrm>
          <a:prstGeom prst="rect">
            <a:avLst/>
          </a:prstGeom>
          <a:noFill/>
          <a:ln/>
        </p:spPr>
        <p:txBody>
          <a:bodyPr wrap="square" lIns="0" tIns="0" rIns="0" bIns="0" rtlCol="0" anchor="t"/>
          <a:lstStyle/>
          <a:p>
            <a:pPr indent="0" marL="0">
              <a:buNone/>
            </a:pPr>
            <a:r>
              <a:rPr lang="en-US" sz="1650" b="1" dirty="0">
                <a:solidFill>
                  <a:schemeClr val="tx2"/>
                </a:solidFill>
              </a:rPr>
              <a:t>C2: transformer only (best)</a:t>
            </a:r>
            <a:endParaRPr lang="en-US" sz="1650" dirty="0"/>
          </a:p>
        </p:txBody>
      </p:sp>
      <p:graphicFrame>
        <p:nvGraphicFramePr>
          <p:cNvPr id="52" name="table-cm-2"/>
          <p:cNvGraphicFramePr>
            <a:graphicFrameLocks noGrp="1"/>
          </p:cNvGraphicFramePr>
          <p:nvPr>
            <p:extLst>
              <p:ext uri="{D42A27DB-BD31-4B8C-83A1-F6EECF244321}">
                <p14:modId xmlns:p14="http://schemas.microsoft.com/office/powerpoint/2010/main" val="1579011935"/>
              </p:ext>
            </p:extLst>
          </p:nvPr>
        </p:nvGraphicFramePr>
        <p:xfrm>
          <a:off x="8074152" y="1691640"/>
          <a:ext cx="3566160" cy="914400"/>
        </p:xfrm>
        <a:graphic>
          <a:graphicData uri="http://schemas.openxmlformats.org/drawingml/2006/table">
            <a:tbl>
              <a:tblPr/>
              <a:tblGrid>
                <a:gridCol w="960120"/>
                <a:gridCol w="868680"/>
                <a:gridCol w="868680"/>
                <a:gridCol w="868680"/>
              </a:tblGrid>
              <a:tr h="365760">
                <a:tc>
                  <a:txBody>
                    <a:bodyPr/>
                    <a:lstStyle/>
                    <a:p>
                      <a:pPr algn="ctr" indent="0" marL="0">
                        <a:buNone/>
                      </a:pPr>
                      <a:r>
                        <a:rPr lang="en-US" sz="1200" b="1" dirty="0">
                          <a:solidFill>
                            <a:srgbClr val="7C8D99"/>
                          </a:solidFill>
                        </a:rPr>
                        <a:t>true \ pred.</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r>
              <a:tr h="749808">
                <a:tc>
                  <a:txBody>
                    <a:bodyPr/>
                    <a:lstStyle/>
                    <a:p>
                      <a:pPr algn="ctr" indent="0" marL="0">
                        <a:buNone/>
                      </a:pPr>
                      <a:r>
                        <a:rPr lang="en-US" sz="1200" b="1" dirty="0">
                          <a:solidFill>
                            <a:srgbClr val="7C8D99"/>
                          </a:solidFill>
                        </a:rPr>
                        <a:t>Neg.</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FFFFFF"/>
                          </a:solidFill>
                        </a:rPr>
                        <a:t>71</a:t>
                      </a:r>
                      <a:endParaRPr lang="en-US" sz="1200" dirty="0"/>
                    </a:p>
                    <a:p>
                      <a:pPr algn="ctr" indent="0" marL="0">
                        <a:buNone/>
                      </a:pPr>
                      <a:r>
                        <a:rPr lang="en-US" sz="1050" dirty="0">
                          <a:solidFill>
                            <a:srgbClr val="FFFFFF"/>
                          </a:solidFill>
                        </a:rPr>
                        <a:t>72 %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295A0"/>
                    </a:solidFill>
                  </a:tcPr>
                </a:tc>
                <a:tc>
                  <a:txBody>
                    <a:bodyPr/>
                    <a:lstStyle/>
                    <a:p>
                      <a:pPr algn="ctr" indent="0" marL="0">
                        <a:buNone/>
                      </a:pPr>
                      <a:r>
                        <a:rPr lang="en-US" sz="1700" b="1" dirty="0">
                          <a:solidFill>
                            <a:srgbClr val="1B2B34"/>
                          </a:solidFill>
                        </a:rPr>
                        <a:t>20</a:t>
                      </a:r>
                      <a:endParaRPr lang="en-US" sz="1200" dirty="0"/>
                    </a:p>
                    <a:p>
                      <a:pPr algn="ctr" indent="0" marL="0">
                        <a:buNone/>
                      </a:pPr>
                      <a:r>
                        <a:rPr lang="en-US" sz="1050" dirty="0">
                          <a:solidFill>
                            <a:srgbClr val="1B2B34"/>
                          </a:solidFill>
                        </a:rPr>
                        <a:t>20 %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EE1E4"/>
                    </a:solidFill>
                  </a:tcPr>
                </a:tc>
                <a:tc>
                  <a:txBody>
                    <a:bodyPr/>
                    <a:lstStyle/>
                    <a:p>
                      <a:pPr algn="ctr" indent="0" marL="0">
                        <a:buNone/>
                      </a:pPr>
                      <a:r>
                        <a:rPr lang="en-US" sz="1700" b="1" dirty="0">
                          <a:solidFill>
                            <a:srgbClr val="1B2B34"/>
                          </a:solidFill>
                        </a:rPr>
                        <a:t>8</a:t>
                      </a:r>
                      <a:endParaRPr lang="en-US" sz="1200" dirty="0"/>
                    </a:p>
                    <a:p>
                      <a:pPr algn="ctr" indent="0" marL="0">
                        <a:buNone/>
                      </a:pPr>
                      <a:r>
                        <a:rPr lang="en-US" sz="1050" dirty="0">
                          <a:solidFill>
                            <a:srgbClr val="1B2B34"/>
                          </a:solidFill>
                        </a:rPr>
                        <a:t>8 %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CF3F4"/>
                    </a:solidFill>
                  </a:tcPr>
                </a:tc>
              </a:tr>
              <a:tr h="749808">
                <a:tc>
                  <a:txBody>
                    <a:bodyPr/>
                    <a:lstStyle/>
                    <a:p>
                      <a:pPr algn="ctr" indent="0" marL="0">
                        <a:buNone/>
                      </a:pPr>
                      <a:r>
                        <a:rPr lang="en-US" sz="1200" b="1" dirty="0">
                          <a:solidFill>
                            <a:srgbClr val="7C8D99"/>
                          </a:solidFill>
                        </a:rPr>
                        <a:t>Pos.</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3</a:t>
                      </a:r>
                      <a:endParaRPr lang="en-US" sz="1200" dirty="0"/>
                    </a:p>
                    <a:p>
                      <a:pPr algn="ctr" indent="0" marL="0">
                        <a:buNone/>
                      </a:pPr>
                      <a:r>
                        <a:rPr lang="en-US" sz="1050" dirty="0">
                          <a:solidFill>
                            <a:srgbClr val="1B2B34"/>
                          </a:solidFill>
                        </a:rPr>
                        <a:t>9 %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F3"/>
                    </a:solidFill>
                  </a:tcPr>
                </a:tc>
                <a:tc>
                  <a:txBody>
                    <a:bodyPr/>
                    <a:lstStyle/>
                    <a:p>
                      <a:pPr algn="ctr" indent="0" marL="0">
                        <a:buNone/>
                      </a:pPr>
                      <a:r>
                        <a:rPr lang="en-US" sz="1700" b="1" dirty="0">
                          <a:solidFill>
                            <a:srgbClr val="FFFFFF"/>
                          </a:solidFill>
                        </a:rPr>
                        <a:t>27</a:t>
                      </a:r>
                      <a:endParaRPr lang="en-US" sz="1200" dirty="0"/>
                    </a:p>
                    <a:p>
                      <a:pPr algn="ctr" indent="0" marL="0">
                        <a:buNone/>
                      </a:pPr>
                      <a:r>
                        <a:rPr lang="en-US" sz="1050" dirty="0">
                          <a:solidFill>
                            <a:srgbClr val="FFFFFF"/>
                          </a:solidFill>
                        </a:rPr>
                        <a:t>84 %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34828F"/>
                    </a:solidFill>
                  </a:tcPr>
                </a:tc>
                <a:tc>
                  <a:txBody>
                    <a:bodyPr/>
                    <a:lstStyle/>
                    <a:p>
                      <a:pPr algn="ctr" indent="0" marL="0">
                        <a:buNone/>
                      </a:pPr>
                      <a:r>
                        <a:rPr lang="en-US" sz="1700" b="1" dirty="0">
                          <a:solidFill>
                            <a:srgbClr val="1B2B34"/>
                          </a:solidFill>
                        </a:rPr>
                        <a:t>2</a:t>
                      </a:r>
                      <a:endParaRPr lang="en-US" sz="1200" dirty="0"/>
                    </a:p>
                    <a:p>
                      <a:pPr algn="ctr" indent="0" marL="0">
                        <a:buNone/>
                      </a:pPr>
                      <a:r>
                        <a:rPr lang="en-US" sz="1050" dirty="0">
                          <a:solidFill>
                            <a:srgbClr val="1B2B34"/>
                          </a:solidFill>
                        </a:rPr>
                        <a:t>6 %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0F6F7"/>
                    </a:solidFill>
                  </a:tcPr>
                </a:tc>
              </a:tr>
              <a:tr h="749808">
                <a:tc>
                  <a:txBody>
                    <a:bodyPr/>
                    <a:lstStyle/>
                    <a:p>
                      <a:pPr algn="ctr" indent="0" marL="0">
                        <a:buNone/>
                      </a:pPr>
                      <a:r>
                        <a:rPr lang="en-US" sz="1200" b="1" dirty="0">
                          <a:solidFill>
                            <a:srgbClr val="7C8D99"/>
                          </a:solidFill>
                        </a:rPr>
                        <a:t>Sur.</a:t>
                      </a:r>
                      <a:endParaRPr lang="en-US" sz="1200" dirty="0"/>
                    </a:p>
                  </a:txBody>
                  <a:tcPr marL="91440" marR="91440" marT="45720" marB="4572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700" b="1" dirty="0">
                          <a:solidFill>
                            <a:srgbClr val="1B2B34"/>
                          </a:solidFill>
                        </a:rPr>
                        <a:t>3</a:t>
                      </a:r>
                      <a:endParaRPr lang="en-US" sz="1200" dirty="0"/>
                    </a:p>
                    <a:p>
                      <a:pPr algn="ctr" indent="0" marL="0">
                        <a:buNone/>
                      </a:pPr>
                      <a:r>
                        <a:rPr lang="en-US" sz="1050" dirty="0">
                          <a:solidFill>
                            <a:srgbClr val="1B2B34"/>
                          </a:solidFill>
                        </a:rPr>
                        <a:t>12 %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2EDEF"/>
                    </a:solidFill>
                  </a:tcPr>
                </a:tc>
                <a:tc>
                  <a:txBody>
                    <a:bodyPr/>
                    <a:lstStyle/>
                    <a:p>
                      <a:pPr algn="ctr" indent="0" marL="0">
                        <a:buNone/>
                      </a:pPr>
                      <a:r>
                        <a:rPr lang="en-US" sz="1700" b="1" dirty="0">
                          <a:solidFill>
                            <a:srgbClr val="1B2B34"/>
                          </a:solidFill>
                        </a:rPr>
                        <a:t>4</a:t>
                      </a:r>
                      <a:endParaRPr lang="en-US" sz="1200" dirty="0"/>
                    </a:p>
                    <a:p>
                      <a:pPr algn="ctr" indent="0" marL="0">
                        <a:buNone/>
                      </a:pPr>
                      <a:r>
                        <a:rPr lang="en-US" sz="1050" dirty="0">
                          <a:solidFill>
                            <a:srgbClr val="1B2B34"/>
                          </a:solidFill>
                        </a:rPr>
                        <a:t>16 %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8E7EA"/>
                    </a:solidFill>
                  </a:tcPr>
                </a:tc>
                <a:tc>
                  <a:txBody>
                    <a:bodyPr/>
                    <a:lstStyle/>
                    <a:p>
                      <a:pPr algn="ctr" indent="0" marL="0">
                        <a:buNone/>
                      </a:pPr>
                      <a:r>
                        <a:rPr lang="en-US" sz="1700" b="1" dirty="0">
                          <a:solidFill>
                            <a:srgbClr val="FFFFFF"/>
                          </a:solidFill>
                        </a:rPr>
                        <a:t>18</a:t>
                      </a:r>
                      <a:endParaRPr lang="en-US" sz="1200" dirty="0"/>
                    </a:p>
                    <a:p>
                      <a:pPr algn="ctr" indent="0" marL="0">
                        <a:buNone/>
                      </a:pPr>
                      <a:r>
                        <a:rPr lang="en-US" sz="1050" dirty="0">
                          <a:solidFill>
                            <a:srgbClr val="FFFFFF"/>
                          </a:solidFill>
                        </a:rPr>
                        <a:t>72 %</a:t>
                      </a:r>
                      <a:endParaRPr lang="en-US" sz="1200" dirty="0"/>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51949F"/>
                    </a:solidFill>
                  </a:tcPr>
                </a:tc>
              </a:tr>
            </a:tbl>
          </a:graphicData>
        </a:graphic>
      </p:graphicFrame>
      <p:sp>
        <p:nvSpPr>
          <p:cNvPr id="12" name="text-169"/>
          <p:cNvSpPr txBox="1"/>
          <p:nvPr/>
        </p:nvSpPr>
        <p:spPr>
          <a:xfrm>
            <a:off x="8074152" y="4407408"/>
            <a:ext cx="3566160" cy="320040"/>
          </a:xfrm>
          <a:prstGeom prst="rect">
            <a:avLst/>
          </a:prstGeom>
          <a:noFill/>
          <a:ln/>
        </p:spPr>
        <p:txBody>
          <a:bodyPr wrap="square" lIns="0" tIns="0" rIns="0" bIns="0" rtlCol="0" anchor="t"/>
          <a:lstStyle/>
          <a:p>
            <a:pPr indent="0" marL="0">
              <a:buNone/>
            </a:pPr>
            <a:r>
              <a:rPr lang="en-US" sz="1450" i="1" dirty="0">
                <a:solidFill>
                  <a:schemeClr val="accent1"/>
                </a:solidFill>
              </a:rPr>
              <a:t>Similar recall on all three classes</a:t>
            </a:r>
            <a:endParaRPr lang="en-US" sz="1450" dirty="0"/>
          </a:p>
        </p:txBody>
      </p:sp>
      <p:sp>
        <p:nvSpPr>
          <p:cNvPr id="13" name="text-170"/>
          <p:cNvSpPr txBox="1"/>
          <p:nvPr/>
        </p:nvSpPr>
        <p:spPr>
          <a:xfrm>
            <a:off x="548640" y="4754880"/>
            <a:ext cx="11094415" cy="320040"/>
          </a:xfrm>
          <a:prstGeom prst="rect">
            <a:avLst/>
          </a:prstGeom>
          <a:noFill/>
          <a:ln/>
        </p:spPr>
        <p:txBody>
          <a:bodyPr wrap="square" lIns="0" tIns="0" rIns="0" bIns="0" rtlCol="0" anchor="t"/>
          <a:lstStyle/>
          <a:p>
            <a:pPr indent="0" marL="0">
              <a:buNone/>
            </a:pPr>
            <a:r>
              <a:rPr lang="en-US" sz="1250" i="1" dirty="0">
                <a:solidFill>
                  <a:schemeClr val="accent3"/>
                </a:solidFill>
              </a:rPr>
              <a:t>Rows are true classes, columns are predicted classes; each cell gives the clip count and the row-normalised recall. Counts are summed over all 25 folds.</a:t>
            </a:r>
            <a:endParaRPr lang="en-US" sz="1250" dirty="0"/>
          </a:p>
        </p:txBody>
      </p:sp>
      <p:sp>
        <p:nvSpPr>
          <p:cNvPr id="14" name="text-171"/>
          <p:cNvSpPr txBox="1"/>
          <p:nvPr/>
        </p:nvSpPr>
        <p:spPr>
          <a:xfrm>
            <a:off x="548640" y="5138928"/>
            <a:ext cx="11094415" cy="11430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Without the transformer, most Negative clips are misclassified: in C1, 35 of 99 are predicted as Surprise and 22 as Positive</a:t>
            </a:r>
            <a:endParaRPr lang="en-US" sz="1650" dirty="0"/>
          </a:p>
          <a:p>
            <a:pPr marL="342900" indent="-342900">
              <a:spcAft>
                <a:spcPts val="500"/>
              </a:spcAft>
              <a:buSzPct val="100000"/>
              <a:buChar char="•"/>
            </a:pPr>
            <a:r>
              <a:rPr lang="en-US" sz="1500" dirty="0">
                <a:solidFill>
                  <a:schemeClr val="tx1"/>
                </a:solidFill>
              </a:rPr>
              <a:t>With the stem and the transformer, predictions move towards Negative: in C8, 13 of 32 Positive clips are predicted as Negative</a:t>
            </a:r>
            <a:endParaRPr lang="en-US" sz="1650" dirty="0"/>
          </a:p>
          <a:p>
            <a:pPr marL="342900" indent="-342900">
              <a:spcAft>
                <a:spcPts val="500"/>
              </a:spcAft>
              <a:buSzPct val="100000"/>
              <a:buChar char="•"/>
            </a:pPr>
            <a:r>
              <a:rPr lang="en-US" sz="1500" dirty="0">
                <a:solidFill>
                  <a:schemeClr val="tx1"/>
                </a:solidFill>
              </a:rPr>
              <a:t>C2 reaches a recall of 0.72, 0.84 and 0.72; its main error is predicting Positive for 20 Negative clips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Why did the components behave this way?</a:t>
            </a:r>
            <a:endParaRPr lang="en-US" sz="3000" dirty="0"/>
          </a:p>
        </p:txBody>
      </p:sp>
      <p:sp>
        <p:nvSpPr>
          <p:cNvPr id="4" name="card-172"/>
          <p:cNvSpPr/>
          <p:nvPr/>
        </p:nvSpPr>
        <p:spPr>
          <a:xfrm>
            <a:off x="548640" y="1325880"/>
            <a:ext cx="2624328" cy="4069080"/>
          </a:xfrm>
          <a:prstGeom prst="roundRect">
            <a:avLst>
              <a:gd name="adj" fmla="val 3484"/>
            </a:avLst>
          </a:prstGeom>
          <a:solidFill>
            <a:schemeClr val="bg2"/>
          </a:solidFill>
          <a:ln w="6350">
            <a:solidFill>
              <a:schemeClr val="bg2"/>
            </a:solidFill>
            <a:prstDash val="solid"/>
          </a:ln>
        </p:spPr>
      </p:sp>
      <p:sp>
        <p:nvSpPr>
          <p:cNvPr id="5" name="text-173"/>
          <p:cNvSpPr txBox="1"/>
          <p:nvPr/>
        </p:nvSpPr>
        <p:spPr>
          <a:xfrm>
            <a:off x="749808" y="1444752"/>
            <a:ext cx="2221992" cy="365760"/>
          </a:xfrm>
          <a:prstGeom prst="rect">
            <a:avLst/>
          </a:prstGeom>
          <a:noFill/>
          <a:ln/>
        </p:spPr>
        <p:txBody>
          <a:bodyPr wrap="square" lIns="0" tIns="0" rIns="0" bIns="0" rtlCol="0" anchor="t"/>
          <a:lstStyle/>
          <a:p>
            <a:pPr indent="0" marL="0">
              <a:buNone/>
            </a:pPr>
            <a:r>
              <a:rPr lang="en-US" sz="1650" b="1" dirty="0">
                <a:solidFill>
                  <a:schemeClr val="tx2"/>
                </a:solidFill>
              </a:rPr>
              <a:t>Temporal transformer</a:t>
            </a:r>
            <a:endParaRPr lang="en-US" sz="1650" dirty="0"/>
          </a:p>
        </p:txBody>
      </p:sp>
      <p:sp>
        <p:nvSpPr>
          <p:cNvPr id="6" name="text-174"/>
          <p:cNvSpPr txBox="1"/>
          <p:nvPr/>
        </p:nvSpPr>
        <p:spPr>
          <a:xfrm>
            <a:off x="749808" y="1810512"/>
            <a:ext cx="2221992" cy="457200"/>
          </a:xfrm>
          <a:prstGeom prst="rect">
            <a:avLst/>
          </a:prstGeom>
          <a:noFill/>
          <a:ln/>
        </p:spPr>
        <p:txBody>
          <a:bodyPr wrap="square" lIns="0" tIns="0" rIns="0" bIns="0" rtlCol="0" anchor="t"/>
          <a:lstStyle/>
          <a:p>
            <a:pPr indent="0" marL="0">
              <a:buNone/>
            </a:pPr>
            <a:r>
              <a:rPr lang="en-US" sz="2400" b="1" dirty="0">
                <a:solidFill>
                  <a:schemeClr val="accent1"/>
                </a:solidFill>
              </a:rPr>
              <a:t>+0.2173</a:t>
            </a:r>
            <a:endParaRPr lang="en-US" sz="2400" dirty="0"/>
          </a:p>
        </p:txBody>
      </p:sp>
      <p:sp>
        <p:nvSpPr>
          <p:cNvPr id="7" name="text-175"/>
          <p:cNvSpPr txBox="1"/>
          <p:nvPr/>
        </p:nvSpPr>
        <p:spPr>
          <a:xfrm>
            <a:off x="749808" y="2377440"/>
            <a:ext cx="2221992" cy="2926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Its replacement averages over time, so the rising and falling phases partly cancel and their order is lost</a:t>
            </a:r>
            <a:endParaRPr lang="en-US" sz="1650" dirty="0"/>
          </a:p>
          <a:p>
            <a:pPr marL="342900" indent="-342900">
              <a:spcAft>
                <a:spcPts val="600"/>
              </a:spcAft>
              <a:buSzPct val="100000"/>
              <a:buChar char="•"/>
            </a:pPr>
            <a:r>
              <a:rPr lang="en-US" sz="1300" dirty="0">
                <a:solidFill>
                  <a:schemeClr val="tx1"/>
                </a:solidFill>
              </a:rPr>
              <a:t>Positional encoding and self-attention can relate onset, apex and offset</a:t>
            </a:r>
            <a:endParaRPr lang="en-US" sz="1650" dirty="0"/>
          </a:p>
          <a:p>
            <a:pPr marL="342900" indent="-342900">
              <a:spcAft>
                <a:spcPts val="600"/>
              </a:spcAft>
              <a:buSzPct val="100000"/>
              <a:buChar char="•"/>
            </a:pPr>
            <a:r>
              <a:rPr lang="en-US" sz="1300" dirty="0">
                <a:solidFill>
                  <a:schemeClr val="tx1"/>
                </a:solidFill>
              </a:rPr>
              <a:t>It also adds about 349,000 parameters, so order and capacity cannot be separated</a:t>
            </a:r>
            <a:endParaRPr lang="en-US" sz="1650" dirty="0"/>
          </a:p>
        </p:txBody>
      </p:sp>
      <p:sp>
        <p:nvSpPr>
          <p:cNvPr id="8" name="card-176"/>
          <p:cNvSpPr/>
          <p:nvPr/>
        </p:nvSpPr>
        <p:spPr>
          <a:xfrm>
            <a:off x="3371393" y="1325880"/>
            <a:ext cx="2624328" cy="4069080"/>
          </a:xfrm>
          <a:prstGeom prst="roundRect">
            <a:avLst>
              <a:gd name="adj" fmla="val 3484"/>
            </a:avLst>
          </a:prstGeom>
          <a:solidFill>
            <a:schemeClr val="bg2"/>
          </a:solidFill>
          <a:ln w="6350">
            <a:solidFill>
              <a:schemeClr val="bg2"/>
            </a:solidFill>
            <a:prstDash val="solid"/>
          </a:ln>
        </p:spPr>
      </p:sp>
      <p:sp>
        <p:nvSpPr>
          <p:cNvPr id="9" name="text-177"/>
          <p:cNvSpPr txBox="1"/>
          <p:nvPr/>
        </p:nvSpPr>
        <p:spPr>
          <a:xfrm>
            <a:off x="3572561" y="1444752"/>
            <a:ext cx="2221992" cy="365760"/>
          </a:xfrm>
          <a:prstGeom prst="rect">
            <a:avLst/>
          </a:prstGeom>
          <a:noFill/>
          <a:ln/>
        </p:spPr>
        <p:txBody>
          <a:bodyPr wrap="square" lIns="0" tIns="0" rIns="0" bIns="0" rtlCol="0" anchor="t"/>
          <a:lstStyle/>
          <a:p>
            <a:pPr indent="0" marL="0">
              <a:buNone/>
            </a:pPr>
            <a:r>
              <a:rPr lang="en-US" sz="1650" b="1" dirty="0">
                <a:solidFill>
                  <a:schemeClr val="tx2"/>
                </a:solidFill>
              </a:rPr>
              <a:t>Magnification</a:t>
            </a:r>
            <a:endParaRPr lang="en-US" sz="1650" dirty="0"/>
          </a:p>
        </p:txBody>
      </p:sp>
      <p:sp>
        <p:nvSpPr>
          <p:cNvPr id="10" name="text-178"/>
          <p:cNvSpPr txBox="1"/>
          <p:nvPr/>
        </p:nvSpPr>
        <p:spPr>
          <a:xfrm>
            <a:off x="3572561" y="1810512"/>
            <a:ext cx="2221992" cy="457200"/>
          </a:xfrm>
          <a:prstGeom prst="rect">
            <a:avLst/>
          </a:prstGeom>
          <a:noFill/>
          <a:ln/>
        </p:spPr>
        <p:txBody>
          <a:bodyPr wrap="square" lIns="0" tIns="0" rIns="0" bIns="0" rtlCol="0" anchor="t"/>
          <a:lstStyle/>
          <a:p>
            <a:pPr indent="0" marL="0">
              <a:buNone/>
            </a:pPr>
            <a:r>
              <a:rPr lang="en-US" sz="2400" b="1" dirty="0">
                <a:solidFill>
                  <a:schemeClr val="accent3"/>
                </a:solidFill>
              </a:rPr>
              <a:t>+0.0152</a:t>
            </a:r>
            <a:endParaRPr lang="en-US" sz="2400" dirty="0"/>
          </a:p>
        </p:txBody>
      </p:sp>
      <p:sp>
        <p:nvSpPr>
          <p:cNvPr id="11" name="text-179"/>
          <p:cNvSpPr txBox="1"/>
          <p:nvPr/>
        </p:nvSpPr>
        <p:spPr>
          <a:xfrm>
            <a:off x="3572561" y="2377440"/>
            <a:ext cx="2221992" cy="2926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Optical flow already recovers faint motion, and per-channel normalisation removes amplitude differences</a:t>
            </a:r>
            <a:endParaRPr lang="en-US" sz="1650" dirty="0"/>
          </a:p>
          <a:p>
            <a:pPr marL="342900" indent="-342900">
              <a:spcAft>
                <a:spcPts val="600"/>
              </a:spcAft>
              <a:buSzPct val="100000"/>
              <a:buChar char="•"/>
            </a:pPr>
            <a:r>
              <a:rPr lang="en-US" sz="1300" dirty="0">
                <a:solidFill>
                  <a:schemeClr val="tx1"/>
                </a:solidFill>
              </a:rPr>
              <a:t>Without alignment, head movement and noise are amplified too</a:t>
            </a:r>
            <a:endParaRPr lang="en-US" sz="1650" dirty="0"/>
          </a:p>
          <a:p>
            <a:pPr marL="342900" indent="-342900">
              <a:spcAft>
                <a:spcPts val="600"/>
              </a:spcAft>
              <a:buSzPct val="100000"/>
              <a:buChar char="•"/>
            </a:pPr>
            <a:r>
              <a:rPr lang="en-US" sz="1300" dirty="0">
                <a:solidFill>
                  <a:schemeClr val="tx1"/>
                </a:solidFill>
              </a:rPr>
              <a:t>α = 10 was not tuned for a motion representation</a:t>
            </a:r>
            <a:endParaRPr lang="en-US" sz="1650" dirty="0"/>
          </a:p>
        </p:txBody>
      </p:sp>
      <p:sp>
        <p:nvSpPr>
          <p:cNvPr id="12" name="card-180"/>
          <p:cNvSpPr/>
          <p:nvPr/>
        </p:nvSpPr>
        <p:spPr>
          <a:xfrm>
            <a:off x="6194146" y="1325880"/>
            <a:ext cx="2624328" cy="4069080"/>
          </a:xfrm>
          <a:prstGeom prst="roundRect">
            <a:avLst>
              <a:gd name="adj" fmla="val 3484"/>
            </a:avLst>
          </a:prstGeom>
          <a:solidFill>
            <a:schemeClr val="bg2"/>
          </a:solidFill>
          <a:ln w="6350">
            <a:solidFill>
              <a:schemeClr val="bg2"/>
            </a:solidFill>
            <a:prstDash val="solid"/>
          </a:ln>
        </p:spPr>
      </p:sp>
      <p:sp>
        <p:nvSpPr>
          <p:cNvPr id="13" name="text-181"/>
          <p:cNvSpPr txBox="1"/>
          <p:nvPr/>
        </p:nvSpPr>
        <p:spPr>
          <a:xfrm>
            <a:off x="6395314" y="1444752"/>
            <a:ext cx="2221992" cy="365760"/>
          </a:xfrm>
          <a:prstGeom prst="rect">
            <a:avLst/>
          </a:prstGeom>
          <a:noFill/>
          <a:ln/>
        </p:spPr>
        <p:txBody>
          <a:bodyPr wrap="square" lIns="0" tIns="0" rIns="0" bIns="0" rtlCol="0" anchor="t"/>
          <a:lstStyle/>
          <a:p>
            <a:pPr indent="0" marL="0">
              <a:buNone/>
            </a:pPr>
            <a:r>
              <a:rPr lang="en-US" sz="1650" b="1" dirty="0">
                <a:solidFill>
                  <a:schemeClr val="tx2"/>
                </a:solidFill>
              </a:rPr>
              <a:t>SimAM attention</a:t>
            </a:r>
            <a:endParaRPr lang="en-US" sz="1650" dirty="0"/>
          </a:p>
        </p:txBody>
      </p:sp>
      <p:sp>
        <p:nvSpPr>
          <p:cNvPr id="14" name="text-182"/>
          <p:cNvSpPr txBox="1"/>
          <p:nvPr/>
        </p:nvSpPr>
        <p:spPr>
          <a:xfrm>
            <a:off x="6395314" y="1810512"/>
            <a:ext cx="2221992" cy="457200"/>
          </a:xfrm>
          <a:prstGeom prst="rect">
            <a:avLst/>
          </a:prstGeom>
          <a:noFill/>
          <a:ln/>
        </p:spPr>
        <p:txBody>
          <a:bodyPr wrap="square" lIns="0" tIns="0" rIns="0" bIns="0" rtlCol="0" anchor="t"/>
          <a:lstStyle/>
          <a:p>
            <a:pPr indent="0" marL="0">
              <a:buNone/>
            </a:pPr>
            <a:r>
              <a:rPr lang="en-US" sz="2400" b="1" dirty="0">
                <a:solidFill>
                  <a:schemeClr val="accent3"/>
                </a:solidFill>
              </a:rPr>
              <a:t>+0.0034</a:t>
            </a:r>
            <a:endParaRPr lang="en-US" sz="2400" dirty="0"/>
          </a:p>
        </p:txBody>
      </p:sp>
      <p:sp>
        <p:nvSpPr>
          <p:cNvPr id="15" name="text-183"/>
          <p:cNvSpPr txBox="1"/>
          <p:nvPr/>
        </p:nvSpPr>
        <p:spPr>
          <a:xfrm>
            <a:off x="6395314" y="2377440"/>
            <a:ext cx="2221992" cy="2926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Its weight lies only between about 0.62 and 1</a:t>
            </a:r>
            <a:endParaRPr lang="en-US" sz="1650" dirty="0"/>
          </a:p>
          <a:p>
            <a:pPr marL="342900" indent="-342900">
              <a:spcAft>
                <a:spcPts val="600"/>
              </a:spcAft>
              <a:buSzPct val="100000"/>
              <a:buChar char="•"/>
            </a:pPr>
            <a:r>
              <a:rPr lang="en-US" sz="1300" dirty="0">
                <a:solidFill>
                  <a:schemeClr val="tx1"/>
                </a:solidFill>
              </a:rPr>
              <a:t>The output is then averaged over the whole frame</a:t>
            </a:r>
            <a:endParaRPr lang="en-US" sz="1650" dirty="0"/>
          </a:p>
          <a:p>
            <a:pPr marL="342900" indent="-342900">
              <a:spcAft>
                <a:spcPts val="600"/>
              </a:spcAft>
              <a:buSzPct val="100000"/>
              <a:buChar char="•"/>
            </a:pPr>
            <a:r>
              <a:rPr lang="en-US" sz="1300" dirty="0">
                <a:solidFill>
                  <a:schemeClr val="tx1"/>
                </a:solidFill>
              </a:rPr>
              <a:t>Statistics are computed per clip; λ was not tuned</a:t>
            </a:r>
            <a:endParaRPr lang="en-US" sz="1650" dirty="0"/>
          </a:p>
        </p:txBody>
      </p:sp>
      <p:sp>
        <p:nvSpPr>
          <p:cNvPr id="16" name="card-184"/>
          <p:cNvSpPr/>
          <p:nvPr/>
        </p:nvSpPr>
        <p:spPr>
          <a:xfrm>
            <a:off x="9016898" y="1325880"/>
            <a:ext cx="2624328" cy="4069080"/>
          </a:xfrm>
          <a:prstGeom prst="roundRect">
            <a:avLst>
              <a:gd name="adj" fmla="val 3484"/>
            </a:avLst>
          </a:prstGeom>
          <a:solidFill>
            <a:schemeClr val="bg2"/>
          </a:solidFill>
          <a:ln w="6350">
            <a:solidFill>
              <a:schemeClr val="bg2"/>
            </a:solidFill>
            <a:prstDash val="solid"/>
          </a:ln>
        </p:spPr>
      </p:sp>
      <p:sp>
        <p:nvSpPr>
          <p:cNvPr id="17" name="text-185"/>
          <p:cNvSpPr txBox="1"/>
          <p:nvPr/>
        </p:nvSpPr>
        <p:spPr>
          <a:xfrm>
            <a:off x="9218066" y="1444752"/>
            <a:ext cx="2221992" cy="365760"/>
          </a:xfrm>
          <a:prstGeom prst="rect">
            <a:avLst/>
          </a:prstGeom>
          <a:noFill/>
          <a:ln/>
        </p:spPr>
        <p:txBody>
          <a:bodyPr wrap="square" lIns="0" tIns="0" rIns="0" bIns="0" rtlCol="0" anchor="t"/>
          <a:lstStyle/>
          <a:p>
            <a:pPr indent="0" marL="0">
              <a:buNone/>
            </a:pPr>
            <a:r>
              <a:rPr lang="en-US" sz="1650" b="1" dirty="0">
                <a:solidFill>
                  <a:schemeClr val="tx2"/>
                </a:solidFill>
              </a:rPr>
              <a:t>Convolutional stem</a:t>
            </a:r>
            <a:endParaRPr lang="en-US" sz="1650" dirty="0"/>
          </a:p>
        </p:txBody>
      </p:sp>
      <p:sp>
        <p:nvSpPr>
          <p:cNvPr id="18" name="text-186"/>
          <p:cNvSpPr txBox="1"/>
          <p:nvPr/>
        </p:nvSpPr>
        <p:spPr>
          <a:xfrm>
            <a:off x="9218066" y="1810512"/>
            <a:ext cx="2221992" cy="457200"/>
          </a:xfrm>
          <a:prstGeom prst="rect">
            <a:avLst/>
          </a:prstGeom>
          <a:noFill/>
          <a:ln/>
        </p:spPr>
        <p:txBody>
          <a:bodyPr wrap="square" lIns="0" tIns="0" rIns="0" bIns="0" rtlCol="0" anchor="t"/>
          <a:lstStyle/>
          <a:p>
            <a:pPr indent="0" marL="0">
              <a:buNone/>
            </a:pPr>
            <a:r>
              <a:rPr lang="en-US" sz="2400" b="1" dirty="0">
                <a:solidFill>
                  <a:schemeClr val="accent4"/>
                </a:solidFill>
              </a:rPr>
              <a:t>−0.0310</a:t>
            </a:r>
            <a:endParaRPr lang="en-US" sz="2400" dirty="0"/>
          </a:p>
        </p:txBody>
      </p:sp>
      <p:sp>
        <p:nvSpPr>
          <p:cNvPr id="19" name="text-187"/>
          <p:cNvSpPr txBox="1"/>
          <p:nvPr/>
        </p:nvSpPr>
        <p:spPr>
          <a:xfrm>
            <a:off x="9218066" y="2377440"/>
            <a:ext cx="2221992" cy="2926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Its output is averaged over the whole frame, discarding location; the replacement keeps a 4 × 4 grid</a:t>
            </a:r>
            <a:endParaRPr lang="en-US" sz="1650" dirty="0"/>
          </a:p>
          <a:p>
            <a:pPr marL="342900" indent="-342900">
              <a:spcAft>
                <a:spcPts val="600"/>
              </a:spcAft>
              <a:buSzPct val="100000"/>
              <a:buChar char="•"/>
            </a:pPr>
            <a:r>
              <a:rPr lang="en-US" sz="1300" dirty="0">
                <a:solidFill>
                  <a:schemeClr val="tx1"/>
                </a:solidFill>
              </a:rPr>
              <a:t>Flow and strain already make motion explicit</a:t>
            </a:r>
            <a:endParaRPr lang="en-US" sz="1650" dirty="0"/>
          </a:p>
          <a:p>
            <a:pPr marL="342900" indent="-342900">
              <a:spcAft>
                <a:spcPts val="600"/>
              </a:spcAft>
              <a:buSzPct val="100000"/>
              <a:buChar char="•"/>
            </a:pPr>
            <a:r>
              <a:rPr lang="en-US" sz="1300" dirty="0">
                <a:solidFill>
                  <a:schemeClr val="tx1"/>
                </a:solidFill>
              </a:rPr>
              <a:t>224 × 224 input and only 156 clips</a:t>
            </a:r>
            <a:endParaRPr lang="en-US" sz="1650" dirty="0"/>
          </a:p>
        </p:txBody>
      </p:sp>
      <p:sp>
        <p:nvSpPr>
          <p:cNvPr id="20" name="card-188"/>
          <p:cNvSpPr/>
          <p:nvPr/>
        </p:nvSpPr>
        <p:spPr>
          <a:xfrm>
            <a:off x="548640" y="5532120"/>
            <a:ext cx="11094415" cy="640080"/>
          </a:xfrm>
          <a:prstGeom prst="roundRect">
            <a:avLst>
              <a:gd name="adj" fmla="val 14286"/>
            </a:avLst>
          </a:prstGeom>
          <a:solidFill>
            <a:schemeClr val="tx2"/>
          </a:solidFill>
          <a:ln w="6350">
            <a:solidFill>
              <a:schemeClr val="tx2"/>
            </a:solidFill>
            <a:prstDash val="solid"/>
          </a:ln>
        </p:spPr>
      </p:sp>
      <p:sp>
        <p:nvSpPr>
          <p:cNvPr id="21" name="text-189"/>
          <p:cNvSpPr txBox="1"/>
          <p:nvPr/>
        </p:nvSpPr>
        <p:spPr>
          <a:xfrm>
            <a:off x="822960" y="5532120"/>
            <a:ext cx="10545775" cy="640080"/>
          </a:xfrm>
          <a:prstGeom prst="rect">
            <a:avLst/>
          </a:prstGeom>
          <a:noFill/>
          <a:ln/>
        </p:spPr>
        <p:txBody>
          <a:bodyPr wrap="square" lIns="0" tIns="0" rIns="0" bIns="0" rtlCol="0" anchor="ctr"/>
          <a:lstStyle/>
          <a:p>
            <a:pPr indent="0" marL="0">
              <a:buNone/>
            </a:pPr>
            <a:r>
              <a:rPr lang="en-US" sz="1550" b="1" dirty="0">
                <a:solidFill>
                  <a:schemeClr val="bg1"/>
                </a:solidFill>
              </a:rPr>
              <a:t>These are the most plausible accounts of the observed results. None was isolated experimentally.</a:t>
            </a:r>
            <a:endParaRPr lang="en-US" sz="15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Comparison with published results on the CASME II subset</a:t>
            </a:r>
            <a:endParaRPr lang="en-US" sz="3000" dirty="0"/>
          </a:p>
        </p:txBody>
      </p:sp>
      <p:graphicFrame>
        <p:nvGraphicFramePr>
          <p:cNvPr id="4" name="Chart 0" descr="Horizontal bar chart of published UF1 on the CASME II subset of MEGC 2019 and the best result of this study"/>
          <p:cNvGraphicFramePr/>
          <p:nvPr/>
        </p:nvGraphicFramePr>
        <p:xfrm>
          <a:off x="548640" y="128016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190"/>
          <p:cNvSpPr txBox="1"/>
          <p:nvPr/>
        </p:nvSpPr>
        <p:spPr>
          <a:xfrm>
            <a:off x="548640" y="6126480"/>
            <a:ext cx="6309360" cy="274320"/>
          </a:xfrm>
          <a:prstGeom prst="rect">
            <a:avLst/>
          </a:prstGeom>
          <a:noFill/>
          <a:ln/>
        </p:spPr>
        <p:txBody>
          <a:bodyPr wrap="square" lIns="0" tIns="0" rIns="0" bIns="0" rtlCol="0" anchor="t"/>
          <a:lstStyle/>
          <a:p>
            <a:pPr algn="ctr" indent="0" marL="0">
              <a:buNone/>
            </a:pPr>
            <a:r>
              <a:rPr lang="en-US" sz="1200" i="1" dirty="0">
                <a:solidFill>
                  <a:schemeClr val="accent3"/>
                </a:solidFill>
              </a:rPr>
              <a:t>UF1 on the CASME II subset, MEGC 2019 (See et al., 2019)</a:t>
            </a:r>
            <a:endParaRPr lang="en-US" sz="1200" dirty="0"/>
          </a:p>
        </p:txBody>
      </p:sp>
      <p:sp>
        <p:nvSpPr>
          <p:cNvPr id="6" name="text-191"/>
          <p:cNvSpPr txBox="1"/>
          <p:nvPr/>
        </p:nvSpPr>
        <p:spPr>
          <a:xfrm>
            <a:off x="7223760" y="1371600"/>
            <a:ext cx="4416552" cy="365760"/>
          </a:xfrm>
          <a:prstGeom prst="rect">
            <a:avLst/>
          </a:prstGeom>
          <a:noFill/>
          <a:ln/>
        </p:spPr>
        <p:txBody>
          <a:bodyPr wrap="square" lIns="0" tIns="0" rIns="0" bIns="0" rtlCol="0" anchor="t"/>
          <a:lstStyle/>
          <a:p>
            <a:pPr indent="0" marL="0">
              <a:buNone/>
            </a:pPr>
            <a:r>
              <a:rPr lang="en-US" sz="1850" b="1" dirty="0">
                <a:solidFill>
                  <a:schemeClr val="tx2"/>
                </a:solidFill>
              </a:rPr>
              <a:t>Not a like-for-like comparison</a:t>
            </a:r>
            <a:endParaRPr lang="en-US" sz="1850" dirty="0"/>
          </a:p>
        </p:txBody>
      </p:sp>
      <p:sp>
        <p:nvSpPr>
          <p:cNvPr id="7" name="card-192"/>
          <p:cNvSpPr/>
          <p:nvPr/>
        </p:nvSpPr>
        <p:spPr>
          <a:xfrm>
            <a:off x="7223760" y="1874520"/>
            <a:ext cx="4416552" cy="1078992"/>
          </a:xfrm>
          <a:prstGeom prst="roundRect">
            <a:avLst>
              <a:gd name="adj" fmla="val 8475"/>
            </a:avLst>
          </a:prstGeom>
          <a:solidFill>
            <a:schemeClr val="bg2"/>
          </a:solidFill>
          <a:ln w="6350">
            <a:solidFill>
              <a:schemeClr val="bg2"/>
            </a:solidFill>
            <a:prstDash val="solid"/>
          </a:ln>
        </p:spPr>
      </p:sp>
      <p:sp>
        <p:nvSpPr>
          <p:cNvPr id="8" name="text-193"/>
          <p:cNvSpPr txBox="1"/>
          <p:nvPr/>
        </p:nvSpPr>
        <p:spPr>
          <a:xfrm>
            <a:off x="7406640" y="1965960"/>
            <a:ext cx="4069080" cy="914400"/>
          </a:xfrm>
          <a:prstGeom prst="rect">
            <a:avLst/>
          </a:prstGeom>
          <a:noFill/>
          <a:ln/>
        </p:spPr>
        <p:txBody>
          <a:bodyPr wrap="square" lIns="0" tIns="0" rIns="0" bIns="0" rtlCol="0" anchor="t"/>
          <a:lstStyle/>
          <a:p>
            <a:pPr indent="0" marL="0">
              <a:buNone/>
            </a:pPr>
            <a:r>
              <a:rPr lang="en-US" sz="1550" b="1" dirty="0">
                <a:solidFill>
                  <a:schemeClr val="accent1"/>
                </a:solidFill>
              </a:rPr>
              <a:t>Training data</a:t>
            </a:r>
            <a:endParaRPr lang="en-US" sz="1650" dirty="0"/>
          </a:p>
          <a:p>
            <a:pPr indent="0" marL="0">
              <a:buNone/>
            </a:pPr>
            <a:r>
              <a:rPr lang="en-US" sz="1400" dirty="0">
                <a:solidFill>
                  <a:schemeClr val="tx1"/>
                </a:solidFill>
              </a:rPr>
              <a:t>Published entries are trained on the composite dataset of 442 samples from 68 subjects; this study uses 156 clips from 25 subjects.</a:t>
            </a:r>
            <a:endParaRPr lang="en-US" sz="1650" dirty="0"/>
          </a:p>
        </p:txBody>
      </p:sp>
      <p:sp>
        <p:nvSpPr>
          <p:cNvPr id="9" name="card-194"/>
          <p:cNvSpPr/>
          <p:nvPr/>
        </p:nvSpPr>
        <p:spPr>
          <a:xfrm>
            <a:off x="7223760" y="3090672"/>
            <a:ext cx="4416552" cy="1078992"/>
          </a:xfrm>
          <a:prstGeom prst="roundRect">
            <a:avLst>
              <a:gd name="adj" fmla="val 8475"/>
            </a:avLst>
          </a:prstGeom>
          <a:solidFill>
            <a:schemeClr val="bg2"/>
          </a:solidFill>
          <a:ln w="6350">
            <a:solidFill>
              <a:schemeClr val="bg2"/>
            </a:solidFill>
            <a:prstDash val="solid"/>
          </a:ln>
        </p:spPr>
      </p:sp>
      <p:sp>
        <p:nvSpPr>
          <p:cNvPr id="10" name="text-195"/>
          <p:cNvSpPr txBox="1"/>
          <p:nvPr/>
        </p:nvSpPr>
        <p:spPr>
          <a:xfrm>
            <a:off x="7406640" y="3182112"/>
            <a:ext cx="4069080" cy="914400"/>
          </a:xfrm>
          <a:prstGeom prst="rect">
            <a:avLst/>
          </a:prstGeom>
          <a:noFill/>
          <a:ln/>
        </p:spPr>
        <p:txBody>
          <a:bodyPr wrap="square" lIns="0" tIns="0" rIns="0" bIns="0" rtlCol="0" anchor="t"/>
          <a:lstStyle/>
          <a:p>
            <a:pPr indent="0" marL="0">
              <a:buNone/>
            </a:pPr>
            <a:r>
              <a:rPr lang="en-US" sz="1550" b="1" dirty="0">
                <a:solidFill>
                  <a:schemeClr val="accent1"/>
                </a:solidFill>
              </a:rPr>
              <a:t>Evaluation data</a:t>
            </a:r>
            <a:endParaRPr lang="en-US" sz="1650" dirty="0"/>
          </a:p>
          <a:p>
            <a:pPr indent="0" marL="0">
              <a:buNone/>
            </a:pPr>
            <a:r>
              <a:rPr lang="en-US" sz="1400" dirty="0">
                <a:solidFill>
                  <a:schemeClr val="tx1"/>
                </a:solidFill>
              </a:rPr>
              <a:t>The MEGC subset has 145 clips; this study uses 156, because sadness and fear are included in Negative.</a:t>
            </a:r>
            <a:endParaRPr lang="en-US" sz="1650" dirty="0"/>
          </a:p>
        </p:txBody>
      </p:sp>
      <p:sp>
        <p:nvSpPr>
          <p:cNvPr id="11" name="card-196"/>
          <p:cNvSpPr/>
          <p:nvPr/>
        </p:nvSpPr>
        <p:spPr>
          <a:xfrm>
            <a:off x="7223760" y="4306824"/>
            <a:ext cx="4416552" cy="1078992"/>
          </a:xfrm>
          <a:prstGeom prst="roundRect">
            <a:avLst>
              <a:gd name="adj" fmla="val 8475"/>
            </a:avLst>
          </a:prstGeom>
          <a:solidFill>
            <a:schemeClr val="bg2"/>
          </a:solidFill>
          <a:ln w="6350">
            <a:solidFill>
              <a:schemeClr val="bg2"/>
            </a:solidFill>
            <a:prstDash val="solid"/>
          </a:ln>
        </p:spPr>
      </p:sp>
      <p:sp>
        <p:nvSpPr>
          <p:cNvPr id="12" name="text-197"/>
          <p:cNvSpPr txBox="1"/>
          <p:nvPr/>
        </p:nvSpPr>
        <p:spPr>
          <a:xfrm>
            <a:off x="7406640" y="4398264"/>
            <a:ext cx="4069080" cy="914400"/>
          </a:xfrm>
          <a:prstGeom prst="rect">
            <a:avLst/>
          </a:prstGeom>
          <a:noFill/>
          <a:ln/>
        </p:spPr>
        <p:txBody>
          <a:bodyPr wrap="square" lIns="0" tIns="0" rIns="0" bIns="0" rtlCol="0" anchor="t"/>
          <a:lstStyle/>
          <a:p>
            <a:pPr indent="0" marL="0">
              <a:buNone/>
            </a:pPr>
            <a:r>
              <a:rPr lang="en-US" sz="1550" b="1" dirty="0">
                <a:solidFill>
                  <a:schemeClr val="accent1"/>
                </a:solidFill>
              </a:rPr>
              <a:t>Checkpoint selection</a:t>
            </a:r>
            <a:endParaRPr lang="en-US" sz="1650" dirty="0"/>
          </a:p>
          <a:p>
            <a:pPr indent="0" marL="0">
              <a:buNone/>
            </a:pPr>
            <a:r>
              <a:rPr lang="en-US" sz="1400" dirty="0">
                <a:solidFill>
                  <a:schemeClr val="tx1"/>
                </a:solidFill>
              </a:rPr>
              <a:t>This study selects the epoch on the held-out subject, which can only raise its scores.</a:t>
            </a:r>
            <a:endParaRPr lang="en-US" sz="1650" dirty="0"/>
          </a:p>
        </p:txBody>
      </p:sp>
      <p:sp>
        <p:nvSpPr>
          <p:cNvPr id="13" name="text-198"/>
          <p:cNvSpPr txBox="1"/>
          <p:nvPr/>
        </p:nvSpPr>
        <p:spPr>
          <a:xfrm>
            <a:off x="7223760" y="5559552"/>
            <a:ext cx="4416552" cy="548640"/>
          </a:xfrm>
          <a:prstGeom prst="rect">
            <a:avLst/>
          </a:prstGeom>
          <a:noFill/>
          <a:ln/>
        </p:spPr>
        <p:txBody>
          <a:bodyPr wrap="square" lIns="0" tIns="0" rIns="0" bIns="0" rtlCol="0" anchor="t"/>
          <a:lstStyle/>
          <a:p>
            <a:pPr indent="0" marL="0">
              <a:buNone/>
            </a:pPr>
            <a:r>
              <a:rPr lang="en-US" sz="1450" i="1" dirty="0">
                <a:solidFill>
                  <a:schemeClr val="tx2"/>
                </a:solidFill>
              </a:rPr>
              <a:t>The comparison locates the results; it does not establish state-of-the-art performance.</a:t>
            </a:r>
            <a:endParaRPr lang="en-US" sz="14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Answers to the research questions</a:t>
            </a:r>
            <a:endParaRPr lang="en-US" sz="3000" dirty="0"/>
          </a:p>
        </p:txBody>
      </p:sp>
      <p:sp>
        <p:nvSpPr>
          <p:cNvPr id="4" name="card-199"/>
          <p:cNvSpPr/>
          <p:nvPr/>
        </p:nvSpPr>
        <p:spPr>
          <a:xfrm>
            <a:off x="548640" y="1371600"/>
            <a:ext cx="11094415" cy="960120"/>
          </a:xfrm>
          <a:prstGeom prst="roundRect">
            <a:avLst>
              <a:gd name="adj" fmla="val 9524"/>
            </a:avLst>
          </a:prstGeom>
          <a:solidFill>
            <a:schemeClr val="bg2"/>
          </a:solidFill>
          <a:ln w="6350">
            <a:solidFill>
              <a:schemeClr val="bg2"/>
            </a:solidFill>
            <a:prstDash val="solid"/>
          </a:ln>
        </p:spPr>
      </p:sp>
      <p:sp>
        <p:nvSpPr>
          <p:cNvPr id="5" name="badge-200"/>
          <p:cNvSpPr/>
          <p:nvPr/>
        </p:nvSpPr>
        <p:spPr>
          <a:xfrm>
            <a:off x="777240" y="162306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201"/>
          <p:cNvSpPr txBox="1"/>
          <p:nvPr/>
        </p:nvSpPr>
        <p:spPr>
          <a:xfrm>
            <a:off x="1463040" y="1463040"/>
            <a:ext cx="2743200" cy="777240"/>
          </a:xfrm>
          <a:prstGeom prst="rect">
            <a:avLst/>
          </a:prstGeom>
          <a:noFill/>
          <a:ln/>
        </p:spPr>
        <p:txBody>
          <a:bodyPr wrap="square" lIns="0" tIns="0" rIns="0" bIns="0" rtlCol="0" anchor="ctr"/>
          <a:lstStyle/>
          <a:p>
            <a:pPr indent="0" marL="0">
              <a:buNone/>
            </a:pPr>
            <a:r>
              <a:rPr lang="en-US" sz="1750" b="1" dirty="0">
                <a:solidFill>
                  <a:schemeClr val="accent1"/>
                </a:solidFill>
              </a:rPr>
              <a:t>Temporal modelling</a:t>
            </a:r>
            <a:endParaRPr lang="en-US" sz="1750" dirty="0"/>
          </a:p>
        </p:txBody>
      </p:sp>
      <p:sp>
        <p:nvSpPr>
          <p:cNvPr id="7" name="text-202"/>
          <p:cNvSpPr txBox="1"/>
          <p:nvPr/>
        </p:nvSpPr>
        <p:spPr>
          <a:xfrm>
            <a:off x="4206240" y="1463040"/>
            <a:ext cx="7223760" cy="777240"/>
          </a:xfrm>
          <a:prstGeom prst="rect">
            <a:avLst/>
          </a:prstGeom>
          <a:noFill/>
          <a:ln/>
        </p:spPr>
        <p:txBody>
          <a:bodyPr wrap="square" lIns="0" tIns="0" rIns="0" bIns="0" rtlCol="0" anchor="ctr"/>
          <a:lstStyle/>
          <a:p>
            <a:pPr indent="0" marL="0">
              <a:buNone/>
            </a:pPr>
            <a:r>
              <a:rPr lang="en-US" sz="1550" dirty="0">
                <a:solidFill>
                  <a:schemeClr val="tx1"/>
                </a:solidFill>
              </a:rPr>
              <a:t>Largest improvement by far: +0.2173 on average, and all six pairs improve. The best configuration contains the transformer alone (0.7122).</a:t>
            </a:r>
            <a:endParaRPr lang="en-US" sz="1550" dirty="0"/>
          </a:p>
        </p:txBody>
      </p:sp>
      <p:sp>
        <p:nvSpPr>
          <p:cNvPr id="8" name="card-203"/>
          <p:cNvSpPr/>
          <p:nvPr/>
        </p:nvSpPr>
        <p:spPr>
          <a:xfrm>
            <a:off x="548640" y="2468880"/>
            <a:ext cx="11094415" cy="960120"/>
          </a:xfrm>
          <a:prstGeom prst="roundRect">
            <a:avLst>
              <a:gd name="adj" fmla="val 9524"/>
            </a:avLst>
          </a:prstGeom>
          <a:solidFill>
            <a:schemeClr val="bg2"/>
          </a:solidFill>
          <a:ln w="6350">
            <a:solidFill>
              <a:schemeClr val="bg2"/>
            </a:solidFill>
            <a:prstDash val="solid"/>
          </a:ln>
        </p:spPr>
      </p:sp>
      <p:sp>
        <p:nvSpPr>
          <p:cNvPr id="9" name="badge-204"/>
          <p:cNvSpPr/>
          <p:nvPr/>
        </p:nvSpPr>
        <p:spPr>
          <a:xfrm>
            <a:off x="777240" y="272034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205"/>
          <p:cNvSpPr txBox="1"/>
          <p:nvPr/>
        </p:nvSpPr>
        <p:spPr>
          <a:xfrm>
            <a:off x="1463040" y="2560320"/>
            <a:ext cx="2743200" cy="777240"/>
          </a:xfrm>
          <a:prstGeom prst="rect">
            <a:avLst/>
          </a:prstGeom>
          <a:noFill/>
          <a:ln/>
        </p:spPr>
        <p:txBody>
          <a:bodyPr wrap="square" lIns="0" tIns="0" rIns="0" bIns="0" rtlCol="0" anchor="ctr"/>
          <a:lstStyle/>
          <a:p>
            <a:pPr indent="0" marL="0">
              <a:buNone/>
            </a:pPr>
            <a:r>
              <a:rPr lang="en-US" sz="1750" b="1" dirty="0">
                <a:solidFill>
                  <a:schemeClr val="accent1"/>
                </a:solidFill>
              </a:rPr>
              <a:t>Motion magnification</a:t>
            </a:r>
            <a:endParaRPr lang="en-US" sz="1750" dirty="0"/>
          </a:p>
        </p:txBody>
      </p:sp>
      <p:sp>
        <p:nvSpPr>
          <p:cNvPr id="11" name="text-206"/>
          <p:cNvSpPr txBox="1"/>
          <p:nvPr/>
        </p:nvSpPr>
        <p:spPr>
          <a:xfrm>
            <a:off x="4206240" y="2560320"/>
            <a:ext cx="7223760" cy="777240"/>
          </a:xfrm>
          <a:prstGeom prst="rect">
            <a:avLst/>
          </a:prstGeom>
          <a:noFill/>
          <a:ln/>
        </p:spPr>
        <p:txBody>
          <a:bodyPr wrap="square" lIns="0" tIns="0" rIns="0" bIns="0" rtlCol="0" anchor="ctr"/>
          <a:lstStyle/>
          <a:p>
            <a:pPr indent="0" marL="0">
              <a:buNone/>
            </a:pPr>
            <a:r>
              <a:rPr lang="en-US" sz="1550" dirty="0">
                <a:solidFill>
                  <a:schemeClr val="tx1"/>
                </a:solidFill>
              </a:rPr>
              <a:t>No reliable improvement: +0.0152 on average, four of six pairs improve, and adding it to the best configuration loses 0.0541.</a:t>
            </a:r>
            <a:endParaRPr lang="en-US" sz="1550" dirty="0"/>
          </a:p>
        </p:txBody>
      </p:sp>
      <p:sp>
        <p:nvSpPr>
          <p:cNvPr id="12" name="card-207"/>
          <p:cNvSpPr/>
          <p:nvPr/>
        </p:nvSpPr>
        <p:spPr>
          <a:xfrm>
            <a:off x="548640" y="3566160"/>
            <a:ext cx="11094415" cy="960120"/>
          </a:xfrm>
          <a:prstGeom prst="roundRect">
            <a:avLst>
              <a:gd name="adj" fmla="val 9524"/>
            </a:avLst>
          </a:prstGeom>
          <a:solidFill>
            <a:schemeClr val="bg2"/>
          </a:solidFill>
          <a:ln w="6350">
            <a:solidFill>
              <a:schemeClr val="bg2"/>
            </a:solidFill>
            <a:prstDash val="solid"/>
          </a:ln>
        </p:spPr>
      </p:sp>
      <p:sp>
        <p:nvSpPr>
          <p:cNvPr id="13" name="badge-208"/>
          <p:cNvSpPr/>
          <p:nvPr/>
        </p:nvSpPr>
        <p:spPr>
          <a:xfrm>
            <a:off x="777240" y="381762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209"/>
          <p:cNvSpPr txBox="1"/>
          <p:nvPr/>
        </p:nvSpPr>
        <p:spPr>
          <a:xfrm>
            <a:off x="1463040" y="3657600"/>
            <a:ext cx="2743200" cy="777240"/>
          </a:xfrm>
          <a:prstGeom prst="rect">
            <a:avLst/>
          </a:prstGeom>
          <a:noFill/>
          <a:ln/>
        </p:spPr>
        <p:txBody>
          <a:bodyPr wrap="square" lIns="0" tIns="0" rIns="0" bIns="0" rtlCol="0" anchor="ctr"/>
          <a:lstStyle/>
          <a:p>
            <a:pPr indent="0" marL="0">
              <a:buNone/>
            </a:pPr>
            <a:r>
              <a:rPr lang="en-US" sz="1750" b="1" dirty="0">
                <a:solidFill>
                  <a:schemeClr val="accent1"/>
                </a:solidFill>
              </a:rPr>
              <a:t>Learned spatial features</a:t>
            </a:r>
            <a:endParaRPr lang="en-US" sz="1750" dirty="0"/>
          </a:p>
        </p:txBody>
      </p:sp>
      <p:sp>
        <p:nvSpPr>
          <p:cNvPr id="15" name="text-210"/>
          <p:cNvSpPr txBox="1"/>
          <p:nvPr/>
        </p:nvSpPr>
        <p:spPr>
          <a:xfrm>
            <a:off x="4206240" y="3657600"/>
            <a:ext cx="7223760" cy="777240"/>
          </a:xfrm>
          <a:prstGeom prst="rect">
            <a:avLst/>
          </a:prstGeom>
          <a:noFill/>
          <a:ln/>
        </p:spPr>
        <p:txBody>
          <a:bodyPr wrap="square" lIns="0" tIns="0" rIns="0" bIns="0" rtlCol="0" anchor="ctr"/>
          <a:lstStyle/>
          <a:p>
            <a:pPr indent="0" marL="0">
              <a:buNone/>
            </a:pPr>
            <a:r>
              <a:rPr lang="en-US" sz="1550" dirty="0">
                <a:solidFill>
                  <a:schemeClr val="tx1"/>
                </a:solidFill>
              </a:rPr>
              <a:t>Neither adds to the motion representation: the stem has a mean effect of −0.0310, and SimAM (+0.0034) cannot be distinguished from zero.</a:t>
            </a:r>
            <a:endParaRPr lang="en-US" sz="1550" dirty="0"/>
          </a:p>
        </p:txBody>
      </p:sp>
      <p:sp>
        <p:nvSpPr>
          <p:cNvPr id="16" name="card-211"/>
          <p:cNvSpPr/>
          <p:nvPr/>
        </p:nvSpPr>
        <p:spPr>
          <a:xfrm>
            <a:off x="548640" y="4709160"/>
            <a:ext cx="11094415" cy="1371600"/>
          </a:xfrm>
          <a:prstGeom prst="roundRect">
            <a:avLst>
              <a:gd name="adj" fmla="val 6667"/>
            </a:avLst>
          </a:prstGeom>
          <a:solidFill>
            <a:schemeClr val="tx2"/>
          </a:solidFill>
          <a:ln w="6350">
            <a:solidFill>
              <a:schemeClr val="tx2"/>
            </a:solidFill>
            <a:prstDash val="solid"/>
          </a:ln>
        </p:spPr>
      </p:sp>
      <p:sp>
        <p:nvSpPr>
          <p:cNvPr id="17" name="text-212"/>
          <p:cNvSpPr txBox="1"/>
          <p:nvPr/>
        </p:nvSpPr>
        <p:spPr>
          <a:xfrm>
            <a:off x="822960" y="4828032"/>
            <a:ext cx="10545775" cy="1188720"/>
          </a:xfrm>
          <a:prstGeom prst="rect">
            <a:avLst/>
          </a:prstGeom>
          <a:noFill/>
          <a:ln/>
        </p:spPr>
        <p:txBody>
          <a:bodyPr wrap="square" lIns="0" tIns="0" rIns="0" bIns="0" rtlCol="0" anchor="t"/>
          <a:lstStyle/>
          <a:p>
            <a:pPr indent="0" marL="0">
              <a:buNone/>
            </a:pPr>
            <a:r>
              <a:rPr lang="en-US" sz="1550" b="1" dirty="0">
                <a:solidFill>
                  <a:schemeClr val="accent2"/>
                </a:solidFill>
              </a:rPr>
              <a:t>Central research question</a:t>
            </a:r>
            <a:endParaRPr lang="en-US" sz="1650" dirty="0"/>
          </a:p>
          <a:p>
            <a:pPr indent="0" marL="0">
              <a:buNone/>
            </a:pPr>
            <a:r>
              <a:rPr lang="en-US" sz="1600" dirty="0">
                <a:solidFill>
                  <a:schemeClr val="bg1"/>
                </a:solidFill>
              </a:rPr>
              <a:t>For a small dataset, the improvement comes from modelling the temporal evolution of an analytically computed motion representation, not from additional preprocessing or learned spatial processing. Robustness to noise was not measured separately.</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Limitations</a:t>
            </a:r>
            <a:endParaRPr lang="en-US" sz="3000" dirty="0"/>
          </a:p>
        </p:txBody>
      </p:sp>
      <p:sp>
        <p:nvSpPr>
          <p:cNvPr id="4" name="card-213"/>
          <p:cNvSpPr/>
          <p:nvPr/>
        </p:nvSpPr>
        <p:spPr>
          <a:xfrm>
            <a:off x="548640" y="1371600"/>
            <a:ext cx="5449824" cy="2286000"/>
          </a:xfrm>
          <a:prstGeom prst="roundRect">
            <a:avLst>
              <a:gd name="adj" fmla="val 4000"/>
            </a:avLst>
          </a:prstGeom>
          <a:solidFill>
            <a:schemeClr val="bg2"/>
          </a:solidFill>
          <a:ln w="6350">
            <a:solidFill>
              <a:schemeClr val="bg2"/>
            </a:solidFill>
            <a:prstDash val="solid"/>
          </a:ln>
        </p:spPr>
      </p:sp>
      <p:sp>
        <p:nvSpPr>
          <p:cNvPr id="5" name="badge-214"/>
          <p:cNvSpPr/>
          <p:nvPr/>
        </p:nvSpPr>
        <p:spPr>
          <a:xfrm>
            <a:off x="777240" y="157276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215"/>
          <p:cNvSpPr txBox="1"/>
          <p:nvPr/>
        </p:nvSpPr>
        <p:spPr>
          <a:xfrm>
            <a:off x="1417320" y="1572768"/>
            <a:ext cx="4389120" cy="457200"/>
          </a:xfrm>
          <a:prstGeom prst="rect">
            <a:avLst/>
          </a:prstGeom>
          <a:noFill/>
          <a:ln/>
        </p:spPr>
        <p:txBody>
          <a:bodyPr wrap="square" lIns="0" tIns="0" rIns="0" bIns="0" rtlCol="0" anchor="ctr"/>
          <a:lstStyle/>
          <a:p>
            <a:pPr indent="0" marL="0">
              <a:buNone/>
            </a:pPr>
            <a:r>
              <a:rPr lang="en-US" sz="1750" b="1" dirty="0">
                <a:solidFill>
                  <a:schemeClr val="tx2"/>
                </a:solidFill>
              </a:rPr>
              <a:t>Evaluation protocol</a:t>
            </a:r>
            <a:endParaRPr lang="en-US" sz="1750" dirty="0"/>
          </a:p>
        </p:txBody>
      </p:sp>
      <p:sp>
        <p:nvSpPr>
          <p:cNvPr id="7" name="text-216"/>
          <p:cNvSpPr txBox="1"/>
          <p:nvPr/>
        </p:nvSpPr>
        <p:spPr>
          <a:xfrm>
            <a:off x="822960" y="2194560"/>
            <a:ext cx="4937760" cy="13716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One random seed, so no confidence intervals</a:t>
            </a:r>
            <a:endParaRPr lang="en-US" sz="1650" dirty="0"/>
          </a:p>
          <a:p>
            <a:pPr marL="342900" indent="-342900">
              <a:spcAft>
                <a:spcPts val="500"/>
              </a:spcAft>
              <a:buSzPct val="100000"/>
              <a:buChar char="•"/>
            </a:pPr>
            <a:r>
              <a:rPr lang="en-US" sz="1500" dirty="0">
                <a:solidFill>
                  <a:schemeClr val="tx1"/>
                </a:solidFill>
              </a:rPr>
              <a:t>Epoch selected on the held-out subject, which biases scores upwards</a:t>
            </a:r>
            <a:endParaRPr lang="en-US" sz="1650" dirty="0"/>
          </a:p>
          <a:p>
            <a:pPr marL="342900" indent="-342900">
              <a:spcAft>
                <a:spcPts val="500"/>
              </a:spcAft>
              <a:buSzPct val="100000"/>
              <a:buChar char="•"/>
            </a:pPr>
            <a:r>
              <a:rPr lang="en-US" sz="1500" dirty="0">
                <a:solidFill>
                  <a:schemeClr val="tx1"/>
                </a:solidFill>
              </a:rPr>
              <a:t>Per-clip predictions not retained, so no paired significance test</a:t>
            </a:r>
            <a:endParaRPr lang="en-US" sz="1650" dirty="0"/>
          </a:p>
        </p:txBody>
      </p:sp>
      <p:sp>
        <p:nvSpPr>
          <p:cNvPr id="8" name="card-217"/>
          <p:cNvSpPr/>
          <p:nvPr/>
        </p:nvSpPr>
        <p:spPr>
          <a:xfrm>
            <a:off x="6190488" y="1371600"/>
            <a:ext cx="5449824" cy="2286000"/>
          </a:xfrm>
          <a:prstGeom prst="roundRect">
            <a:avLst>
              <a:gd name="adj" fmla="val 4000"/>
            </a:avLst>
          </a:prstGeom>
          <a:solidFill>
            <a:schemeClr val="bg2"/>
          </a:solidFill>
          <a:ln w="6350">
            <a:solidFill>
              <a:schemeClr val="bg2"/>
            </a:solidFill>
            <a:prstDash val="solid"/>
          </a:ln>
        </p:spPr>
      </p:sp>
      <p:sp>
        <p:nvSpPr>
          <p:cNvPr id="9" name="badge-218"/>
          <p:cNvSpPr/>
          <p:nvPr/>
        </p:nvSpPr>
        <p:spPr>
          <a:xfrm>
            <a:off x="6419088" y="157276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219"/>
          <p:cNvSpPr txBox="1"/>
          <p:nvPr/>
        </p:nvSpPr>
        <p:spPr>
          <a:xfrm>
            <a:off x="7059168" y="1572768"/>
            <a:ext cx="4389120" cy="457200"/>
          </a:xfrm>
          <a:prstGeom prst="rect">
            <a:avLst/>
          </a:prstGeom>
          <a:noFill/>
          <a:ln/>
        </p:spPr>
        <p:txBody>
          <a:bodyPr wrap="square" lIns="0" tIns="0" rIns="0" bIns="0" rtlCol="0" anchor="ctr"/>
          <a:lstStyle/>
          <a:p>
            <a:pPr indent="0" marL="0">
              <a:buNone/>
            </a:pPr>
            <a:r>
              <a:rPr lang="en-US" sz="1750" b="1" dirty="0">
                <a:solidFill>
                  <a:schemeClr val="tx2"/>
                </a:solidFill>
              </a:rPr>
              <a:t>Fixed settings</a:t>
            </a:r>
            <a:endParaRPr lang="en-US" sz="1750" dirty="0"/>
          </a:p>
        </p:txBody>
      </p:sp>
      <p:sp>
        <p:nvSpPr>
          <p:cNvPr id="11" name="text-220"/>
          <p:cNvSpPr txBox="1"/>
          <p:nvPr/>
        </p:nvSpPr>
        <p:spPr>
          <a:xfrm>
            <a:off x="6464808" y="2194560"/>
            <a:ext cx="4937760" cy="13716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α = 10, T = 32, λ = 10⁻⁴ and γ = 2 taken from the literature</a:t>
            </a:r>
            <a:endParaRPr lang="en-US" sz="1650" dirty="0"/>
          </a:p>
          <a:p>
            <a:pPr marL="342900" indent="-342900">
              <a:spcAft>
                <a:spcPts val="500"/>
              </a:spcAft>
              <a:buSzPct val="100000"/>
              <a:buChar char="•"/>
            </a:pPr>
            <a:r>
              <a:rPr lang="en-US" sz="1500" dirty="0">
                <a:solidFill>
                  <a:schemeClr val="tx1"/>
                </a:solidFill>
              </a:rPr>
              <a:t>No hyperparameter search</a:t>
            </a:r>
            <a:endParaRPr lang="en-US" sz="1650" dirty="0"/>
          </a:p>
          <a:p>
            <a:pPr marL="342900" indent="-342900">
              <a:spcAft>
                <a:spcPts val="500"/>
              </a:spcAft>
              <a:buSzPct val="100000"/>
              <a:buChar char="•"/>
            </a:pPr>
            <a:r>
              <a:rPr lang="en-US" sz="1500" dirty="0">
                <a:solidFill>
                  <a:schemeClr val="tx1"/>
                </a:solidFill>
              </a:rPr>
              <a:t>Each component varied only as present or absent</a:t>
            </a:r>
            <a:endParaRPr lang="en-US" sz="1650" dirty="0"/>
          </a:p>
        </p:txBody>
      </p:sp>
      <p:sp>
        <p:nvSpPr>
          <p:cNvPr id="12" name="card-221"/>
          <p:cNvSpPr/>
          <p:nvPr/>
        </p:nvSpPr>
        <p:spPr>
          <a:xfrm>
            <a:off x="548640" y="3794760"/>
            <a:ext cx="5449824" cy="2286000"/>
          </a:xfrm>
          <a:prstGeom prst="roundRect">
            <a:avLst>
              <a:gd name="adj" fmla="val 4000"/>
            </a:avLst>
          </a:prstGeom>
          <a:solidFill>
            <a:schemeClr val="bg2"/>
          </a:solidFill>
          <a:ln w="6350">
            <a:solidFill>
              <a:schemeClr val="bg2"/>
            </a:solidFill>
            <a:prstDash val="solid"/>
          </a:ln>
        </p:spPr>
      </p:sp>
      <p:sp>
        <p:nvSpPr>
          <p:cNvPr id="13" name="badge-222"/>
          <p:cNvSpPr/>
          <p:nvPr/>
        </p:nvSpPr>
        <p:spPr>
          <a:xfrm>
            <a:off x="777240" y="399592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223"/>
          <p:cNvSpPr txBox="1"/>
          <p:nvPr/>
        </p:nvSpPr>
        <p:spPr>
          <a:xfrm>
            <a:off x="1417320" y="3995928"/>
            <a:ext cx="4389120" cy="457200"/>
          </a:xfrm>
          <a:prstGeom prst="rect">
            <a:avLst/>
          </a:prstGeom>
          <a:noFill/>
          <a:ln/>
        </p:spPr>
        <p:txBody>
          <a:bodyPr wrap="square" lIns="0" tIns="0" rIns="0" bIns="0" rtlCol="0" anchor="ctr"/>
          <a:lstStyle/>
          <a:p>
            <a:pPr indent="0" marL="0">
              <a:buNone/>
            </a:pPr>
            <a:r>
              <a:rPr lang="en-US" sz="1750" b="1" dirty="0">
                <a:solidFill>
                  <a:schemeClr val="tx2"/>
                </a:solidFill>
              </a:rPr>
              <a:t>Departures from reviewed methods</a:t>
            </a:r>
            <a:endParaRPr lang="en-US" sz="1750" dirty="0"/>
          </a:p>
        </p:txBody>
      </p:sp>
      <p:sp>
        <p:nvSpPr>
          <p:cNvPr id="15" name="text-224"/>
          <p:cNvSpPr txBox="1"/>
          <p:nvPr/>
        </p:nvSpPr>
        <p:spPr>
          <a:xfrm>
            <a:off x="822960" y="4617720"/>
            <a:ext cx="4937760" cy="13716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Twelve declared divergences</a:t>
            </a:r>
            <a:endParaRPr lang="en-US" sz="1650" dirty="0"/>
          </a:p>
          <a:p>
            <a:pPr marL="342900" indent="-342900">
              <a:spcAft>
                <a:spcPts val="500"/>
              </a:spcAft>
              <a:buSzPct val="100000"/>
              <a:buChar char="•"/>
            </a:pPr>
            <a:r>
              <a:rPr lang="en-US" sz="1500" dirty="0">
                <a:solidFill>
                  <a:schemeClr val="tx1"/>
                </a:solidFill>
              </a:rPr>
              <a:t>Stem has no temporal kernels and operates at 224 × 224</a:t>
            </a:r>
            <a:endParaRPr lang="en-US" sz="1650" dirty="0"/>
          </a:p>
          <a:p>
            <a:pPr marL="342900" indent="-342900">
              <a:spcAft>
                <a:spcPts val="500"/>
              </a:spcAft>
              <a:buSzPct val="100000"/>
              <a:buChar char="•"/>
            </a:pPr>
            <a:r>
              <a:rPr lang="en-US" sz="1500" dirty="0">
                <a:solidFill>
                  <a:schemeClr val="tx1"/>
                </a:solidFill>
              </a:rPr>
              <a:t>Magnification is applied after the clips are subsampled</a:t>
            </a:r>
            <a:endParaRPr lang="en-US" sz="1650" dirty="0"/>
          </a:p>
        </p:txBody>
      </p:sp>
      <p:sp>
        <p:nvSpPr>
          <p:cNvPr id="16" name="card-225"/>
          <p:cNvSpPr/>
          <p:nvPr/>
        </p:nvSpPr>
        <p:spPr>
          <a:xfrm>
            <a:off x="6190488" y="3794760"/>
            <a:ext cx="5449824" cy="2286000"/>
          </a:xfrm>
          <a:prstGeom prst="roundRect">
            <a:avLst>
              <a:gd name="adj" fmla="val 4000"/>
            </a:avLst>
          </a:prstGeom>
          <a:solidFill>
            <a:schemeClr val="bg2"/>
          </a:solidFill>
          <a:ln w="6350">
            <a:solidFill>
              <a:schemeClr val="bg2"/>
            </a:solidFill>
            <a:prstDash val="solid"/>
          </a:ln>
        </p:spPr>
      </p:sp>
      <p:sp>
        <p:nvSpPr>
          <p:cNvPr id="17" name="badge-226"/>
          <p:cNvSpPr/>
          <p:nvPr/>
        </p:nvSpPr>
        <p:spPr>
          <a:xfrm>
            <a:off x="6419088" y="399592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8" name="text-227"/>
          <p:cNvSpPr txBox="1"/>
          <p:nvPr/>
        </p:nvSpPr>
        <p:spPr>
          <a:xfrm>
            <a:off x="7059168" y="3995928"/>
            <a:ext cx="4389120" cy="457200"/>
          </a:xfrm>
          <a:prstGeom prst="rect">
            <a:avLst/>
          </a:prstGeom>
          <a:noFill/>
          <a:ln/>
        </p:spPr>
        <p:txBody>
          <a:bodyPr wrap="square" lIns="0" tIns="0" rIns="0" bIns="0" rtlCol="0" anchor="ctr"/>
          <a:lstStyle/>
          <a:p>
            <a:pPr indent="0" marL="0">
              <a:buNone/>
            </a:pPr>
            <a:r>
              <a:rPr lang="en-US" sz="1750" b="1" dirty="0">
                <a:solidFill>
                  <a:schemeClr val="tx2"/>
                </a:solidFill>
              </a:rPr>
              <a:t>Single dataset</a:t>
            </a:r>
            <a:endParaRPr lang="en-US" sz="1750" dirty="0"/>
          </a:p>
        </p:txBody>
      </p:sp>
      <p:sp>
        <p:nvSpPr>
          <p:cNvPr id="19" name="text-228"/>
          <p:cNvSpPr txBox="1"/>
          <p:nvPr/>
        </p:nvSpPr>
        <p:spPr>
          <a:xfrm>
            <a:off x="6464808" y="4617720"/>
            <a:ext cx="4937760" cy="13716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156 clips from 25 subjects of CASME II</a:t>
            </a:r>
            <a:endParaRPr lang="en-US" sz="1650" dirty="0"/>
          </a:p>
          <a:p>
            <a:pPr marL="342900" indent="-342900">
              <a:spcAft>
                <a:spcPts val="500"/>
              </a:spcAft>
              <a:buSzPct val="100000"/>
              <a:buChar char="•"/>
            </a:pPr>
            <a:r>
              <a:rPr lang="en-US" sz="1500" dirty="0">
                <a:solidFill>
                  <a:schemeClr val="tx1"/>
                </a:solidFill>
              </a:rPr>
              <a:t>One ethnicity, narrow age range, laboratory recording</a:t>
            </a:r>
            <a:endParaRPr lang="en-US" sz="1650" dirty="0"/>
          </a:p>
          <a:p>
            <a:pPr marL="342900" indent="-342900">
              <a:spcAft>
                <a:spcPts val="500"/>
              </a:spcAft>
              <a:buSzPct val="100000"/>
              <a:buChar char="•"/>
            </a:pPr>
            <a:r>
              <a:rPr lang="en-US" sz="1500" dirty="0">
                <a:solidFill>
                  <a:schemeClr val="tx1"/>
                </a:solidFill>
              </a:rPr>
              <a:t>No claim extends to other populations or datasets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Future work</a:t>
            </a:r>
            <a:endParaRPr lang="en-US" sz="3000" dirty="0"/>
          </a:p>
        </p:txBody>
      </p:sp>
      <p:sp>
        <p:nvSpPr>
          <p:cNvPr id="4" name="card-229"/>
          <p:cNvSpPr/>
          <p:nvPr/>
        </p:nvSpPr>
        <p:spPr>
          <a:xfrm>
            <a:off x="548640" y="1371600"/>
            <a:ext cx="11094415" cy="822960"/>
          </a:xfrm>
          <a:prstGeom prst="roundRect">
            <a:avLst>
              <a:gd name="adj" fmla="val 11111"/>
            </a:avLst>
          </a:prstGeom>
          <a:solidFill>
            <a:schemeClr val="bg2"/>
          </a:solidFill>
          <a:ln w="6350">
            <a:solidFill>
              <a:schemeClr val="bg2"/>
            </a:solidFill>
            <a:prstDash val="solid"/>
          </a:ln>
        </p:spPr>
      </p:sp>
      <p:sp>
        <p:nvSpPr>
          <p:cNvPr id="5" name="badge-230"/>
          <p:cNvSpPr/>
          <p:nvPr/>
        </p:nvSpPr>
        <p:spPr>
          <a:xfrm>
            <a:off x="749808" y="155448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231"/>
          <p:cNvSpPr txBox="1"/>
          <p:nvPr/>
        </p:nvSpPr>
        <p:spPr>
          <a:xfrm>
            <a:off x="1417320" y="1444752"/>
            <a:ext cx="2651760" cy="676656"/>
          </a:xfrm>
          <a:prstGeom prst="rect">
            <a:avLst/>
          </a:prstGeom>
          <a:noFill/>
          <a:ln/>
        </p:spPr>
        <p:txBody>
          <a:bodyPr wrap="square" lIns="0" tIns="0" rIns="0" bIns="0" rtlCol="0" anchor="ctr"/>
          <a:lstStyle/>
          <a:p>
            <a:pPr indent="0" marL="0">
              <a:buNone/>
            </a:pPr>
            <a:r>
              <a:rPr lang="en-US" sz="1650" b="1" dirty="0">
                <a:solidFill>
                  <a:schemeClr val="accent1"/>
                </a:solidFill>
              </a:rPr>
              <a:t>Evaluation</a:t>
            </a:r>
            <a:endParaRPr lang="en-US" sz="1650" dirty="0"/>
          </a:p>
        </p:txBody>
      </p:sp>
      <p:sp>
        <p:nvSpPr>
          <p:cNvPr id="7" name="text-232"/>
          <p:cNvSpPr txBox="1"/>
          <p:nvPr/>
        </p:nvSpPr>
        <p:spPr>
          <a:xfrm>
            <a:off x="4114800" y="1444752"/>
            <a:ext cx="7315200" cy="676656"/>
          </a:xfrm>
          <a:prstGeom prst="rect">
            <a:avLst/>
          </a:prstGeom>
          <a:noFill/>
          <a:ln/>
        </p:spPr>
        <p:txBody>
          <a:bodyPr wrap="square" lIns="0" tIns="0" rIns="0" bIns="0" rtlCol="0" anchor="ctr"/>
          <a:lstStyle/>
          <a:p>
            <a:pPr indent="0" marL="0">
              <a:buNone/>
            </a:pPr>
            <a:r>
              <a:rPr lang="en-US" sz="1500" dirty="0">
                <a:solidFill>
                  <a:schemeClr val="tx1"/>
                </a:solidFill>
              </a:rPr>
              <a:t>Select the epoch on withheld training subjects, retain per-clip predictions for McNemar's test, and repeat with several seeds.</a:t>
            </a:r>
            <a:endParaRPr lang="en-US" sz="1500" dirty="0"/>
          </a:p>
        </p:txBody>
      </p:sp>
      <p:sp>
        <p:nvSpPr>
          <p:cNvPr id="8" name="card-233"/>
          <p:cNvSpPr/>
          <p:nvPr/>
        </p:nvSpPr>
        <p:spPr>
          <a:xfrm>
            <a:off x="548640" y="2322576"/>
            <a:ext cx="11094415" cy="822960"/>
          </a:xfrm>
          <a:prstGeom prst="roundRect">
            <a:avLst>
              <a:gd name="adj" fmla="val 11111"/>
            </a:avLst>
          </a:prstGeom>
          <a:solidFill>
            <a:schemeClr val="bg2"/>
          </a:solidFill>
          <a:ln w="6350">
            <a:solidFill>
              <a:schemeClr val="bg2"/>
            </a:solidFill>
            <a:prstDash val="solid"/>
          </a:ln>
        </p:spPr>
      </p:sp>
      <p:sp>
        <p:nvSpPr>
          <p:cNvPr id="9" name="badge-234"/>
          <p:cNvSpPr/>
          <p:nvPr/>
        </p:nvSpPr>
        <p:spPr>
          <a:xfrm>
            <a:off x="749808" y="2505456"/>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235"/>
          <p:cNvSpPr txBox="1"/>
          <p:nvPr/>
        </p:nvSpPr>
        <p:spPr>
          <a:xfrm>
            <a:off x="1417320" y="2395728"/>
            <a:ext cx="2651760" cy="676656"/>
          </a:xfrm>
          <a:prstGeom prst="rect">
            <a:avLst/>
          </a:prstGeom>
          <a:noFill/>
          <a:ln/>
        </p:spPr>
        <p:txBody>
          <a:bodyPr wrap="square" lIns="0" tIns="0" rIns="0" bIns="0" rtlCol="0" anchor="ctr"/>
          <a:lstStyle/>
          <a:p>
            <a:pPr indent="0" marL="0">
              <a:buNone/>
            </a:pPr>
            <a:r>
              <a:rPr lang="en-US" sz="1650" b="1" dirty="0">
                <a:solidFill>
                  <a:schemeClr val="accent1"/>
                </a:solidFill>
              </a:rPr>
              <a:t>Convolutional stem</a:t>
            </a:r>
            <a:endParaRPr lang="en-US" sz="1650" dirty="0"/>
          </a:p>
        </p:txBody>
      </p:sp>
      <p:sp>
        <p:nvSpPr>
          <p:cNvPr id="11" name="text-236"/>
          <p:cNvSpPr txBox="1"/>
          <p:nvPr/>
        </p:nvSpPr>
        <p:spPr>
          <a:xfrm>
            <a:off x="4114800" y="2395728"/>
            <a:ext cx="7315200" cy="676656"/>
          </a:xfrm>
          <a:prstGeom prst="rect">
            <a:avLst/>
          </a:prstGeom>
          <a:noFill/>
          <a:ln/>
        </p:spPr>
        <p:txBody>
          <a:bodyPr wrap="square" lIns="0" tIns="0" rIns="0" bIns="0" rtlCol="0" anchor="ctr"/>
          <a:lstStyle/>
          <a:p>
            <a:pPr indent="0" marL="0">
              <a:buNone/>
            </a:pPr>
            <a:r>
              <a:rPr lang="en-US" sz="1500" dirty="0">
                <a:solidFill>
                  <a:schemeClr val="tx1"/>
                </a:solidFill>
              </a:rPr>
              <a:t>Retrain at lower resolutions such as 28 × 28 and 56 × 56, and keep the spatial layout of its features.</a:t>
            </a:r>
            <a:endParaRPr lang="en-US" sz="1500" dirty="0"/>
          </a:p>
        </p:txBody>
      </p:sp>
      <p:sp>
        <p:nvSpPr>
          <p:cNvPr id="12" name="card-237"/>
          <p:cNvSpPr/>
          <p:nvPr/>
        </p:nvSpPr>
        <p:spPr>
          <a:xfrm>
            <a:off x="548640" y="3273552"/>
            <a:ext cx="11094415" cy="822960"/>
          </a:xfrm>
          <a:prstGeom prst="roundRect">
            <a:avLst>
              <a:gd name="adj" fmla="val 11111"/>
            </a:avLst>
          </a:prstGeom>
          <a:solidFill>
            <a:schemeClr val="bg2"/>
          </a:solidFill>
          <a:ln w="6350">
            <a:solidFill>
              <a:schemeClr val="bg2"/>
            </a:solidFill>
            <a:prstDash val="solid"/>
          </a:ln>
        </p:spPr>
      </p:sp>
      <p:sp>
        <p:nvSpPr>
          <p:cNvPr id="13" name="badge-238"/>
          <p:cNvSpPr/>
          <p:nvPr/>
        </p:nvSpPr>
        <p:spPr>
          <a:xfrm>
            <a:off x="749808" y="3456432"/>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239"/>
          <p:cNvSpPr txBox="1"/>
          <p:nvPr/>
        </p:nvSpPr>
        <p:spPr>
          <a:xfrm>
            <a:off x="1417320" y="3346704"/>
            <a:ext cx="2651760" cy="676656"/>
          </a:xfrm>
          <a:prstGeom prst="rect">
            <a:avLst/>
          </a:prstGeom>
          <a:noFill/>
          <a:ln/>
        </p:spPr>
        <p:txBody>
          <a:bodyPr wrap="square" lIns="0" tIns="0" rIns="0" bIns="0" rtlCol="0" anchor="ctr"/>
          <a:lstStyle/>
          <a:p>
            <a:pPr indent="0" marL="0">
              <a:buNone/>
            </a:pPr>
            <a:r>
              <a:rPr lang="en-US" sz="1650" b="1" dirty="0">
                <a:solidFill>
                  <a:schemeClr val="accent1"/>
                </a:solidFill>
              </a:rPr>
              <a:t>Motion representation</a:t>
            </a:r>
            <a:endParaRPr lang="en-US" sz="1650" dirty="0"/>
          </a:p>
        </p:txBody>
      </p:sp>
      <p:sp>
        <p:nvSpPr>
          <p:cNvPr id="15" name="text-240"/>
          <p:cNvSpPr txBox="1"/>
          <p:nvPr/>
        </p:nvSpPr>
        <p:spPr>
          <a:xfrm>
            <a:off x="4114800" y="3346704"/>
            <a:ext cx="7315200" cy="676656"/>
          </a:xfrm>
          <a:prstGeom prst="rect">
            <a:avLst/>
          </a:prstGeom>
          <a:noFill/>
          <a:ln/>
        </p:spPr>
        <p:txBody>
          <a:bodyPr wrap="square" lIns="0" tIns="0" rIns="0" bIns="0" rtlCol="0" anchor="ctr"/>
          <a:lstStyle/>
          <a:p>
            <a:pPr indent="0" marL="0">
              <a:buNone/>
            </a:pPr>
            <a:r>
              <a:rPr lang="en-US" sz="1500" dirty="0">
                <a:solidFill>
                  <a:schemeClr val="tx1"/>
                </a:solidFill>
              </a:rPr>
              <a:t>Magnify before subsampling, vary the amplification factor, compare Farnebäck with TV-L1, and add a configuration without strain.</a:t>
            </a:r>
            <a:endParaRPr lang="en-US" sz="1500" dirty="0"/>
          </a:p>
        </p:txBody>
      </p:sp>
      <p:sp>
        <p:nvSpPr>
          <p:cNvPr id="16" name="card-241"/>
          <p:cNvSpPr/>
          <p:nvPr/>
        </p:nvSpPr>
        <p:spPr>
          <a:xfrm>
            <a:off x="548640" y="4224528"/>
            <a:ext cx="11094415" cy="822960"/>
          </a:xfrm>
          <a:prstGeom prst="roundRect">
            <a:avLst>
              <a:gd name="adj" fmla="val 11111"/>
            </a:avLst>
          </a:prstGeom>
          <a:solidFill>
            <a:schemeClr val="bg2"/>
          </a:solidFill>
          <a:ln w="6350">
            <a:solidFill>
              <a:schemeClr val="bg2"/>
            </a:solidFill>
            <a:prstDash val="solid"/>
          </a:ln>
        </p:spPr>
      </p:sp>
      <p:sp>
        <p:nvSpPr>
          <p:cNvPr id="17" name="badge-242"/>
          <p:cNvSpPr/>
          <p:nvPr/>
        </p:nvSpPr>
        <p:spPr>
          <a:xfrm>
            <a:off x="749808" y="4407408"/>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8" name="text-243"/>
          <p:cNvSpPr txBox="1"/>
          <p:nvPr/>
        </p:nvSpPr>
        <p:spPr>
          <a:xfrm>
            <a:off x="1417320" y="4297680"/>
            <a:ext cx="2651760" cy="676656"/>
          </a:xfrm>
          <a:prstGeom prst="rect">
            <a:avLst/>
          </a:prstGeom>
          <a:noFill/>
          <a:ln/>
        </p:spPr>
        <p:txBody>
          <a:bodyPr wrap="square" lIns="0" tIns="0" rIns="0" bIns="0" rtlCol="0" anchor="ctr"/>
          <a:lstStyle/>
          <a:p>
            <a:pPr indent="0" marL="0">
              <a:buNone/>
            </a:pPr>
            <a:r>
              <a:rPr lang="en-US" sz="1650" b="1" dirty="0">
                <a:solidFill>
                  <a:schemeClr val="accent1"/>
                </a:solidFill>
              </a:rPr>
              <a:t>Temporal modelling</a:t>
            </a:r>
            <a:endParaRPr lang="en-US" sz="1650" dirty="0"/>
          </a:p>
        </p:txBody>
      </p:sp>
      <p:sp>
        <p:nvSpPr>
          <p:cNvPr id="19" name="text-244"/>
          <p:cNvSpPr txBox="1"/>
          <p:nvPr/>
        </p:nvSpPr>
        <p:spPr>
          <a:xfrm>
            <a:off x="4114800" y="4297680"/>
            <a:ext cx="7315200" cy="676656"/>
          </a:xfrm>
          <a:prstGeom prst="rect">
            <a:avLst/>
          </a:prstGeom>
          <a:noFill/>
          <a:ln/>
        </p:spPr>
        <p:txBody>
          <a:bodyPr wrap="square" lIns="0" tIns="0" rIns="0" bIns="0" rtlCol="0" anchor="ctr"/>
          <a:lstStyle/>
          <a:p>
            <a:pPr indent="0" marL="0">
              <a:buNone/>
            </a:pPr>
            <a:r>
              <a:rPr lang="en-US" sz="1500" dirty="0">
                <a:solidFill>
                  <a:schemeClr val="tx1"/>
                </a:solidFill>
              </a:rPr>
              <a:t>LSTM aggregator, onset-referenced flow, learned positions, and a control with comparable parameters but no temporal modelling.</a:t>
            </a:r>
            <a:endParaRPr lang="en-US" sz="1500" dirty="0"/>
          </a:p>
        </p:txBody>
      </p:sp>
      <p:sp>
        <p:nvSpPr>
          <p:cNvPr id="20" name="card-245"/>
          <p:cNvSpPr/>
          <p:nvPr/>
        </p:nvSpPr>
        <p:spPr>
          <a:xfrm>
            <a:off x="548640" y="5175504"/>
            <a:ext cx="11094415" cy="822960"/>
          </a:xfrm>
          <a:prstGeom prst="roundRect">
            <a:avLst>
              <a:gd name="adj" fmla="val 11111"/>
            </a:avLst>
          </a:prstGeom>
          <a:solidFill>
            <a:schemeClr val="bg2"/>
          </a:solidFill>
          <a:ln w="6350">
            <a:solidFill>
              <a:schemeClr val="bg2"/>
            </a:solidFill>
            <a:prstDash val="solid"/>
          </a:ln>
        </p:spPr>
      </p:sp>
      <p:sp>
        <p:nvSpPr>
          <p:cNvPr id="21" name="badge-246"/>
          <p:cNvSpPr/>
          <p:nvPr/>
        </p:nvSpPr>
        <p:spPr>
          <a:xfrm>
            <a:off x="749808" y="5358384"/>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2" name="text-247"/>
          <p:cNvSpPr txBox="1"/>
          <p:nvPr/>
        </p:nvSpPr>
        <p:spPr>
          <a:xfrm>
            <a:off x="1417320" y="5248656"/>
            <a:ext cx="2651760" cy="676656"/>
          </a:xfrm>
          <a:prstGeom prst="rect">
            <a:avLst/>
          </a:prstGeom>
          <a:noFill/>
          <a:ln/>
        </p:spPr>
        <p:txBody>
          <a:bodyPr wrap="square" lIns="0" tIns="0" rIns="0" bIns="0" rtlCol="0" anchor="ctr"/>
          <a:lstStyle/>
          <a:p>
            <a:pPr indent="0" marL="0">
              <a:buNone/>
            </a:pPr>
            <a:r>
              <a:rPr lang="en-US" sz="1650" b="1" dirty="0">
                <a:solidFill>
                  <a:schemeClr val="accent1"/>
                </a:solidFill>
              </a:rPr>
              <a:t>Data</a:t>
            </a:r>
            <a:endParaRPr lang="en-US" sz="1650" dirty="0"/>
          </a:p>
        </p:txBody>
      </p:sp>
      <p:sp>
        <p:nvSpPr>
          <p:cNvPr id="23" name="text-248"/>
          <p:cNvSpPr txBox="1"/>
          <p:nvPr/>
        </p:nvSpPr>
        <p:spPr>
          <a:xfrm>
            <a:off x="4114800" y="5248656"/>
            <a:ext cx="7315200" cy="676656"/>
          </a:xfrm>
          <a:prstGeom prst="rect">
            <a:avLst/>
          </a:prstGeom>
          <a:noFill/>
          <a:ln/>
        </p:spPr>
        <p:txBody>
          <a:bodyPr wrap="square" lIns="0" tIns="0" rIns="0" bIns="0" rtlCol="0" anchor="ctr"/>
          <a:lstStyle/>
          <a:p>
            <a:pPr indent="0" marL="0">
              <a:buNone/>
            </a:pPr>
            <a:r>
              <a:rPr lang="en-US" sz="1500" dirty="0">
                <a:solidFill>
                  <a:schemeClr val="tx1"/>
                </a:solidFill>
              </a:rPr>
              <a:t>Evaluate on a composite dataset and on SAMM, CAS(ME)³ and DFME to test whether the effects hold beyond CASME II.</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Contributions and conclusion</a:t>
            </a:r>
            <a:endParaRPr lang="en-US" sz="3000" dirty="0"/>
          </a:p>
        </p:txBody>
      </p:sp>
      <p:sp>
        <p:nvSpPr>
          <p:cNvPr id="4" name="card-249"/>
          <p:cNvSpPr/>
          <p:nvPr/>
        </p:nvSpPr>
        <p:spPr>
          <a:xfrm>
            <a:off x="548640" y="1371600"/>
            <a:ext cx="3566160" cy="3017520"/>
          </a:xfrm>
          <a:prstGeom prst="roundRect">
            <a:avLst>
              <a:gd name="adj" fmla="val 3030"/>
            </a:avLst>
          </a:prstGeom>
          <a:solidFill>
            <a:schemeClr val="bg2"/>
          </a:solidFill>
          <a:ln w="6350">
            <a:solidFill>
              <a:schemeClr val="bg2"/>
            </a:solidFill>
            <a:prstDash val="solid"/>
          </a:ln>
        </p:spPr>
      </p:sp>
      <p:sp>
        <p:nvSpPr>
          <p:cNvPr id="5" name="badge-250"/>
          <p:cNvSpPr/>
          <p:nvPr/>
        </p:nvSpPr>
        <p:spPr>
          <a:xfrm>
            <a:off x="777240" y="155448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251"/>
          <p:cNvSpPr txBox="1"/>
          <p:nvPr/>
        </p:nvSpPr>
        <p:spPr>
          <a:xfrm>
            <a:off x="777240" y="2148840"/>
            <a:ext cx="3108960" cy="777240"/>
          </a:xfrm>
          <a:prstGeom prst="rect">
            <a:avLst/>
          </a:prstGeom>
          <a:noFill/>
          <a:ln/>
        </p:spPr>
        <p:txBody>
          <a:bodyPr wrap="square" lIns="0" tIns="0" rIns="0" bIns="0" rtlCol="0" anchor="t"/>
          <a:lstStyle/>
          <a:p>
            <a:pPr indent="0" marL="0">
              <a:buNone/>
            </a:pPr>
            <a:r>
              <a:rPr lang="en-US" sz="1750" b="1" dirty="0">
                <a:solidFill>
                  <a:schemeClr val="tx2"/>
                </a:solidFill>
              </a:rPr>
              <a:t>A factorial evaluation of a standard pipeline</a:t>
            </a:r>
            <a:endParaRPr lang="en-US" sz="1750" dirty="0"/>
          </a:p>
        </p:txBody>
      </p:sp>
      <p:sp>
        <p:nvSpPr>
          <p:cNvPr id="7" name="text-252"/>
          <p:cNvSpPr txBox="1"/>
          <p:nvPr/>
        </p:nvSpPr>
        <p:spPr>
          <a:xfrm>
            <a:off x="777240" y="2971800"/>
            <a:ext cx="3108960" cy="1325880"/>
          </a:xfrm>
          <a:prstGeom prst="rect">
            <a:avLst/>
          </a:prstGeom>
          <a:noFill/>
          <a:ln/>
        </p:spPr>
        <p:txBody>
          <a:bodyPr wrap="square" lIns="0" tIns="0" rIns="0" bIns="0" rtlCol="0" anchor="t"/>
          <a:lstStyle/>
          <a:p>
            <a:pPr indent="0" marL="0">
              <a:buNone/>
            </a:pPr>
            <a:r>
              <a:rPr lang="en-US" sz="1450" dirty="0">
                <a:solidFill>
                  <a:schemeClr val="tx1"/>
                </a:solidFill>
              </a:rPr>
              <a:t>All twelve valid combinations of four components under one leave-one-subject-out protocol, so each contribution is measured against an otherwise identical pipeline.</a:t>
            </a:r>
            <a:endParaRPr lang="en-US" sz="1450" dirty="0"/>
          </a:p>
        </p:txBody>
      </p:sp>
      <p:sp>
        <p:nvSpPr>
          <p:cNvPr id="8" name="card-253"/>
          <p:cNvSpPr/>
          <p:nvPr/>
        </p:nvSpPr>
        <p:spPr>
          <a:xfrm>
            <a:off x="4311396" y="1371600"/>
            <a:ext cx="3566160" cy="3017520"/>
          </a:xfrm>
          <a:prstGeom prst="roundRect">
            <a:avLst>
              <a:gd name="adj" fmla="val 3030"/>
            </a:avLst>
          </a:prstGeom>
          <a:solidFill>
            <a:schemeClr val="bg2"/>
          </a:solidFill>
          <a:ln w="6350">
            <a:solidFill>
              <a:schemeClr val="bg2"/>
            </a:solidFill>
            <a:prstDash val="solid"/>
          </a:ln>
        </p:spPr>
      </p:sp>
      <p:sp>
        <p:nvSpPr>
          <p:cNvPr id="9" name="badge-254"/>
          <p:cNvSpPr/>
          <p:nvPr/>
        </p:nvSpPr>
        <p:spPr>
          <a:xfrm>
            <a:off x="4539996" y="155448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255"/>
          <p:cNvSpPr txBox="1"/>
          <p:nvPr/>
        </p:nvSpPr>
        <p:spPr>
          <a:xfrm>
            <a:off x="4539996" y="2148840"/>
            <a:ext cx="3108960" cy="777240"/>
          </a:xfrm>
          <a:prstGeom prst="rect">
            <a:avLst/>
          </a:prstGeom>
          <a:noFill/>
          <a:ln/>
        </p:spPr>
        <p:txBody>
          <a:bodyPr wrap="square" lIns="0" tIns="0" rIns="0" bIns="0" rtlCol="0" anchor="t"/>
          <a:lstStyle/>
          <a:p>
            <a:pPr indent="0" marL="0">
              <a:buNone/>
            </a:pPr>
            <a:r>
              <a:rPr lang="en-US" sz="1750" b="1" dirty="0">
                <a:solidFill>
                  <a:schemeClr val="tx2"/>
                </a:solidFill>
              </a:rPr>
              <a:t>A measured account of temporal and motion modelling</a:t>
            </a:r>
            <a:endParaRPr lang="en-US" sz="1750" dirty="0"/>
          </a:p>
        </p:txBody>
      </p:sp>
      <p:sp>
        <p:nvSpPr>
          <p:cNvPr id="11" name="text-256"/>
          <p:cNvSpPr txBox="1"/>
          <p:nvPr/>
        </p:nvSpPr>
        <p:spPr>
          <a:xfrm>
            <a:off x="4539996" y="2971800"/>
            <a:ext cx="3108960" cy="1325880"/>
          </a:xfrm>
          <a:prstGeom prst="rect">
            <a:avLst/>
          </a:prstGeom>
          <a:noFill/>
          <a:ln/>
        </p:spPr>
        <p:txBody>
          <a:bodyPr wrap="square" lIns="0" tIns="0" rIns="0" bIns="0" rtlCol="0" anchor="t"/>
          <a:lstStyle/>
          <a:p>
            <a:pPr indent="0" marL="0">
              <a:buNone/>
            </a:pPr>
            <a:r>
              <a:rPr lang="en-US" sz="1450" dirty="0">
                <a:solidFill>
                  <a:schemeClr val="tx1"/>
                </a:solidFill>
              </a:rPr>
              <a:t>The transformer carries almost all of the effect (+0.2173); magnification and SimAM are small or indistinguishable from noise; the stem is negative on average.</a:t>
            </a:r>
            <a:endParaRPr lang="en-US" sz="1450" dirty="0"/>
          </a:p>
        </p:txBody>
      </p:sp>
      <p:sp>
        <p:nvSpPr>
          <p:cNvPr id="12" name="card-257"/>
          <p:cNvSpPr/>
          <p:nvPr/>
        </p:nvSpPr>
        <p:spPr>
          <a:xfrm>
            <a:off x="8074152" y="1371600"/>
            <a:ext cx="3566160" cy="3017520"/>
          </a:xfrm>
          <a:prstGeom prst="roundRect">
            <a:avLst>
              <a:gd name="adj" fmla="val 3030"/>
            </a:avLst>
          </a:prstGeom>
          <a:solidFill>
            <a:schemeClr val="bg2"/>
          </a:solidFill>
          <a:ln w="6350">
            <a:solidFill>
              <a:schemeClr val="bg2"/>
            </a:solidFill>
            <a:prstDash val="solid"/>
          </a:ln>
        </p:spPr>
      </p:sp>
      <p:sp>
        <p:nvSpPr>
          <p:cNvPr id="13" name="badge-258"/>
          <p:cNvSpPr/>
          <p:nvPr/>
        </p:nvSpPr>
        <p:spPr>
          <a:xfrm>
            <a:off x="8302752" y="1554480"/>
            <a:ext cx="457200" cy="4572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259"/>
          <p:cNvSpPr txBox="1"/>
          <p:nvPr/>
        </p:nvSpPr>
        <p:spPr>
          <a:xfrm>
            <a:off x="8302752" y="2148840"/>
            <a:ext cx="3108960" cy="777240"/>
          </a:xfrm>
          <a:prstGeom prst="rect">
            <a:avLst/>
          </a:prstGeom>
          <a:noFill/>
          <a:ln/>
        </p:spPr>
        <p:txBody>
          <a:bodyPr wrap="square" lIns="0" tIns="0" rIns="0" bIns="0" rtlCol="0" anchor="t"/>
          <a:lstStyle/>
          <a:p>
            <a:pPr indent="0" marL="0">
              <a:buNone/>
            </a:pPr>
            <a:r>
              <a:rPr lang="en-US" sz="1750" b="1" dirty="0">
                <a:solidFill>
                  <a:schemeClr val="tx2"/>
                </a:solidFill>
              </a:rPr>
              <a:t>The full pipeline is not the best configuration</a:t>
            </a:r>
            <a:endParaRPr lang="en-US" sz="1750" dirty="0"/>
          </a:p>
        </p:txBody>
      </p:sp>
      <p:sp>
        <p:nvSpPr>
          <p:cNvPr id="15" name="text-260"/>
          <p:cNvSpPr txBox="1"/>
          <p:nvPr/>
        </p:nvSpPr>
        <p:spPr>
          <a:xfrm>
            <a:off x="8302752" y="2971800"/>
            <a:ext cx="3108960" cy="1325880"/>
          </a:xfrm>
          <a:prstGeom prst="rect">
            <a:avLst/>
          </a:prstGeom>
          <a:noFill/>
          <a:ln/>
        </p:spPr>
        <p:txBody>
          <a:bodyPr wrap="square" lIns="0" tIns="0" rIns="0" bIns="0" rtlCol="0" anchor="t"/>
          <a:lstStyle/>
          <a:p>
            <a:pPr indent="0" marL="0">
              <a:buNone/>
            </a:pPr>
            <a:r>
              <a:rPr lang="en-US" sz="1450" dirty="0">
                <a:solidFill>
                  <a:schemeClr val="tx1"/>
                </a:solidFill>
              </a:rPr>
              <a:t>The transformer alone reaches 0.7122 against 0.6659 for all four components. An evaluation of the complete system alone could not have revealed this.</a:t>
            </a:r>
            <a:endParaRPr lang="en-US" sz="1450" dirty="0"/>
          </a:p>
        </p:txBody>
      </p:sp>
      <p:sp>
        <p:nvSpPr>
          <p:cNvPr id="16" name="card-261"/>
          <p:cNvSpPr/>
          <p:nvPr/>
        </p:nvSpPr>
        <p:spPr>
          <a:xfrm>
            <a:off x="548640" y="4572000"/>
            <a:ext cx="11094415" cy="1508760"/>
          </a:xfrm>
          <a:prstGeom prst="roundRect">
            <a:avLst>
              <a:gd name="adj" fmla="val 6061"/>
            </a:avLst>
          </a:prstGeom>
          <a:solidFill>
            <a:schemeClr val="tx2"/>
          </a:solidFill>
          <a:ln w="6350">
            <a:solidFill>
              <a:schemeClr val="tx2"/>
            </a:solidFill>
            <a:prstDash val="solid"/>
          </a:ln>
        </p:spPr>
      </p:sp>
      <p:sp>
        <p:nvSpPr>
          <p:cNvPr id="17" name="text-262"/>
          <p:cNvSpPr txBox="1"/>
          <p:nvPr/>
        </p:nvSpPr>
        <p:spPr>
          <a:xfrm>
            <a:off x="822960" y="4690872"/>
            <a:ext cx="10545775" cy="1280160"/>
          </a:xfrm>
          <a:prstGeom prst="rect">
            <a:avLst/>
          </a:prstGeom>
          <a:noFill/>
          <a:ln/>
        </p:spPr>
        <p:txBody>
          <a:bodyPr wrap="square" lIns="0" tIns="0" rIns="0" bIns="0" rtlCol="0" anchor="t"/>
          <a:lstStyle/>
          <a:p>
            <a:pPr indent="0" marL="0">
              <a:buNone/>
            </a:pPr>
            <a:r>
              <a:rPr lang="en-US" sz="1550" b="1" dirty="0">
                <a:solidFill>
                  <a:schemeClr val="accent2"/>
                </a:solidFill>
              </a:rPr>
              <a:t>Conclusion</a:t>
            </a:r>
            <a:endParaRPr lang="en-US" sz="1650" dirty="0"/>
          </a:p>
          <a:p>
            <a:pPr indent="0" marL="0">
              <a:buNone/>
            </a:pPr>
            <a:r>
              <a:rPr lang="en-US" sz="1650" dirty="0">
                <a:solidFill>
                  <a:schemeClr val="bg1"/>
                </a:solidFill>
              </a:rPr>
              <a:t>Within one dataset, one training protocol and one setting of the preprocessing parameters, modelling the temporal evolution of facial motion matters more for micro-expression recognition than adding further preprocessing or spatial processing.</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2011680"/>
          </a:xfrm>
          <a:prstGeom prst="rect">
            <a:avLst/>
          </a:prstGeom>
          <a:noFill/>
          <a:ln/>
        </p:spPr>
        <p:txBody>
          <a:bodyPr wrap="square" lIns="0" tIns="0" rIns="0" bIns="0" rtlCol="0" anchor="ctr"/>
          <a:lstStyle/>
          <a:p>
            <a:pPr algn="l" indent="0" marL="0">
              <a:buNone/>
            </a:pPr>
            <a:r>
              <a:rPr lang="en-US" sz="4000" b="1" dirty="0">
                <a:solidFill>
                  <a:schemeClr val="bg1"/>
                </a:solidFill>
              </a:rPr>
              <a:t>Thank you</a:t>
            </a:r>
            <a:endParaRPr lang="en-US" sz="4000" dirty="0"/>
          </a:p>
        </p:txBody>
      </p:sp>
      <p:sp>
        <p:nvSpPr>
          <p:cNvPr id="4" name="Text 0"/>
          <p:cNvSpPr/>
          <p:nvPr>
            <p:ph idx="101" type="body" hasCustomPrompt="1"/>
          </p:nvPr>
        </p:nvSpPr>
        <p:spPr>
          <a:xfrm>
            <a:off x="822960" y="3703320"/>
            <a:ext cx="10515600" cy="822960"/>
          </a:xfrm>
          <a:prstGeom prst="rect">
            <a:avLst/>
          </a:prstGeom>
          <a:noFill/>
          <a:ln/>
        </p:spPr>
        <p:txBody>
          <a:bodyPr wrap="square" lIns="0" tIns="0" rIns="0" bIns="0" rtlCol="0" anchor="t"/>
          <a:lstStyle/>
          <a:p>
            <a:pPr algn="l" indent="0" marL="0">
              <a:buNone/>
            </a:pPr>
            <a:r>
              <a:rPr lang="en-US" sz="2000" dirty="0">
                <a:solidFill>
                  <a:schemeClr val="bg2"/>
                </a:solidFill>
              </a:rPr>
              <a:t>Questions and discussion</a:t>
            </a:r>
            <a:endParaRPr lang="en-US" sz="2000" dirty="0"/>
          </a:p>
        </p:txBody>
      </p:sp>
      <p:sp>
        <p:nvSpPr>
          <p:cNvPr id="5" name="text-263"/>
          <p:cNvSpPr txBox="1"/>
          <p:nvPr/>
        </p:nvSpPr>
        <p:spPr>
          <a:xfrm>
            <a:off x="822960" y="4937760"/>
            <a:ext cx="10515600" cy="640080"/>
          </a:xfrm>
          <a:prstGeom prst="rect">
            <a:avLst/>
          </a:prstGeom>
          <a:noFill/>
          <a:ln/>
        </p:spPr>
        <p:txBody>
          <a:bodyPr wrap="square" lIns="0" tIns="0" rIns="0" bIns="0" rtlCol="0" anchor="t"/>
          <a:lstStyle/>
          <a:p>
            <a:pPr indent="0" marL="0">
              <a:buNone/>
            </a:pPr>
            <a:r>
              <a:rPr lang="en-US" sz="1550" dirty="0">
                <a:solidFill>
                  <a:schemeClr val="bg2"/>
                </a:solidFill>
              </a:rPr>
              <a:t>Best configuration: transformer only, pooled macro F1 0.7122   |   Transformer mean effect: +0.2173 over six matched pairs</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10515600" cy="2011680"/>
          </a:xfrm>
          <a:prstGeom prst="rect">
            <a:avLst/>
          </a:prstGeom>
          <a:noFill/>
          <a:ln/>
        </p:spPr>
        <p:txBody>
          <a:bodyPr wrap="square" lIns="0" tIns="0" rIns="0" bIns="0" rtlCol="0" anchor="ctr"/>
          <a:lstStyle/>
          <a:p>
            <a:pPr algn="l" indent="0" marL="0">
              <a:buNone/>
            </a:pPr>
            <a:r>
              <a:rPr lang="en-US" sz="4000" b="1" dirty="0">
                <a:solidFill>
                  <a:schemeClr val="bg1"/>
                </a:solidFill>
              </a:rPr>
              <a:t>Backup slides</a:t>
            </a:r>
            <a:endParaRPr lang="en-US" sz="4000" dirty="0"/>
          </a:p>
        </p:txBody>
      </p:sp>
      <p:sp>
        <p:nvSpPr>
          <p:cNvPr id="4" name="Text 0"/>
          <p:cNvSpPr/>
          <p:nvPr>
            <p:ph idx="101" type="body" hasCustomPrompt="1"/>
          </p:nvPr>
        </p:nvSpPr>
        <p:spPr>
          <a:xfrm>
            <a:off x="822960" y="3703320"/>
            <a:ext cx="10515600" cy="822960"/>
          </a:xfrm>
          <a:prstGeom prst="rect">
            <a:avLst/>
          </a:prstGeom>
          <a:noFill/>
          <a:ln/>
        </p:spPr>
        <p:txBody>
          <a:bodyPr wrap="square" lIns="0" tIns="0" rIns="0" bIns="0" rtlCol="0" anchor="t"/>
          <a:lstStyle/>
          <a:p>
            <a:pPr algn="l" indent="0" marL="0">
              <a:buNone/>
            </a:pPr>
            <a:r>
              <a:rPr lang="en-US" sz="2000" dirty="0">
                <a:solidFill>
                  <a:schemeClr val="bg2"/>
                </a:solidFill>
              </a:rPr>
              <a:t>Additional detail from the thesis, for the discussion</a:t>
            </a:r>
            <a:endParaRPr lang="en-US" sz="2000" dirty="0"/>
          </a:p>
        </p:txBody>
      </p:sp>
      <p:sp>
        <p:nvSpPr>
          <p:cNvPr id="5" name="text-264"/>
          <p:cNvSpPr txBox="1"/>
          <p:nvPr/>
        </p:nvSpPr>
        <p:spPr>
          <a:xfrm>
            <a:off x="822960" y="4937760"/>
            <a:ext cx="10515600" cy="640080"/>
          </a:xfrm>
          <a:prstGeom prst="rect">
            <a:avLst/>
          </a:prstGeom>
          <a:noFill/>
          <a:ln/>
        </p:spPr>
        <p:txBody>
          <a:bodyPr wrap="square" lIns="0" tIns="0" rIns="0" bIns="0" rtlCol="0" anchor="t"/>
          <a:lstStyle/>
          <a:p>
            <a:pPr indent="0" marL="0">
              <a:buNone/>
            </a:pPr>
            <a:r>
              <a:rPr lang="en-US" sz="1450" dirty="0">
                <a:solidFill>
                  <a:schemeClr val="bg2"/>
                </a:solidFill>
              </a:rPr>
              <a:t>Datasets  |  Preprocessing  |  Model  |  Training and metrics  |  Literature evidence  |  Full results  |  Divergences and research gaps</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Spontaneous micro-expression datasets</a:t>
            </a:r>
            <a:endParaRPr lang="en-US" sz="3000" dirty="0"/>
          </a:p>
        </p:txBody>
      </p:sp>
      <p:graphicFrame>
        <p:nvGraphicFramePr>
          <p:cNvPr id="27" name="table-datasets"/>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1371600"/>
                <a:gridCol w="2377440"/>
                <a:gridCol w="2011680"/>
                <a:gridCol w="1097280"/>
                <a:gridCol w="2221992"/>
              </a:tblGrid>
              <a:tr h="420624">
                <a:tc>
                  <a:txBody>
                    <a:bodyPr/>
                    <a:lstStyle/>
                    <a:p>
                      <a:pPr algn="l" indent="0" marL="0">
                        <a:buNone/>
                      </a:pPr>
                      <a:r>
                        <a:rPr lang="en-US" sz="1200" b="1" dirty="0">
                          <a:solidFill>
                            <a:srgbClr val="FFFFFF"/>
                          </a:solidFill>
                        </a:rPr>
                        <a:t>Dataset</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Subjects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Micro samples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Frame rate (fps)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FACS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Ethnicities / mean age</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300" dirty="0">
                          <a:solidFill>
                            <a:srgbClr val="1B2B34"/>
                          </a:solidFill>
                        </a:rPr>
                        <a:t>CASME</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19</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195</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 / 22.03</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SMIC (HS)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164</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100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No</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3 / 26.7</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b="1" dirty="0">
                          <a:solidFill>
                            <a:srgbClr val="1B2B34"/>
                          </a:solidFill>
                        </a:rPr>
                        <a:t>CASME II</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300" b="1" dirty="0">
                          <a:solidFill>
                            <a:srgbClr val="1B2B34"/>
                          </a:solidFill>
                        </a:rPr>
                        <a:t>26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300" b="1" dirty="0">
                          <a:solidFill>
                            <a:srgbClr val="1B2B34"/>
                          </a:solidFill>
                        </a:rPr>
                        <a:t>247 / 255</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300" b="1" dirty="0">
                          <a:solidFill>
                            <a:srgbClr val="1B2B34"/>
                          </a:solidFill>
                        </a:rPr>
                        <a:t>200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300" b="1"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300" b="1" dirty="0">
                          <a:solidFill>
                            <a:srgbClr val="1B2B34"/>
                          </a:solidFill>
                        </a:rPr>
                        <a:t>1 / 22.03</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r>
              <a:tr h="420624">
                <a:tc>
                  <a:txBody>
                    <a:bodyPr/>
                    <a:lstStyle/>
                    <a:p>
                      <a:pPr algn="l" indent="0" marL="0">
                        <a:buNone/>
                      </a:pPr>
                      <a:r>
                        <a:rPr lang="en-US" sz="1300" dirty="0">
                          <a:solidFill>
                            <a:srgbClr val="1B2B34"/>
                          </a:solidFill>
                        </a:rPr>
                        <a:t>SAMM</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32</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159</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200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13 / 33.24</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CAS(ME)²</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22</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53 (+250 macro)</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30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 / 22.59</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MMEW</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36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300 (+900 macro)</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90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1 / 22.35</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DFME</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671</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7,526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200, 300, 500</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Yes</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not reported</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text-265"/>
          <p:cNvSpPr txBox="1"/>
          <p:nvPr/>
        </p:nvSpPr>
        <p:spPr>
          <a:xfrm>
            <a:off x="548640" y="4892040"/>
            <a:ext cx="11094415"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CASME II has the highest temporal resolution among the spontaneous datasets of comparable size</a:t>
            </a:r>
            <a:endParaRPr lang="en-US" sz="1650" dirty="0"/>
          </a:p>
          <a:p>
            <a:pPr marL="342900" indent="-342900">
              <a:spcAft>
                <a:spcPts val="600"/>
              </a:spcAft>
              <a:buSzPct val="100000"/>
              <a:buChar char="•"/>
            </a:pPr>
            <a:r>
              <a:rPr lang="en-US" sz="1500" dirty="0">
                <a:solidFill>
                  <a:schemeClr val="tx1"/>
                </a:solidFill>
              </a:rPr>
              <a:t>Its onset, apex and offset annotation makes temporal normalisation well defined</a:t>
            </a:r>
            <a:endParaRPr lang="en-US" sz="1650" dirty="0"/>
          </a:p>
          <a:p>
            <a:pPr marL="342900" indent="-342900">
              <a:spcAft>
                <a:spcPts val="600"/>
              </a:spcAft>
              <a:buSzPct val="100000"/>
              <a:buChar char="•"/>
            </a:pPr>
            <a:r>
              <a:rPr lang="en-US" sz="1500" dirty="0">
                <a:solidFill>
                  <a:schemeClr val="tx1"/>
                </a:solidFill>
              </a:rPr>
              <a:t>It remains the most widely reported single-dataset benchmark</a:t>
            </a:r>
            <a:endParaRPr lang="en-US" sz="1650" dirty="0"/>
          </a:p>
          <a:p>
            <a:pPr marL="342900" indent="-342900">
              <a:spcAft>
                <a:spcPts val="600"/>
              </a:spcAft>
              <a:buSzPct val="100000"/>
              <a:buChar char="•"/>
            </a:pPr>
            <a:r>
              <a:rPr lang="en-US" sz="1500" dirty="0">
                <a:solidFill>
                  <a:schemeClr val="tx1"/>
                </a:solidFill>
              </a:rPr>
              <a:t>CAS(ME)³ adds depth information; DFME is reported by its authors as the largest dataset at the time of publication</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CASME II labels and the three sample counts</a:t>
            </a:r>
            <a:endParaRPr lang="en-US" sz="3000" dirty="0"/>
          </a:p>
        </p:txBody>
      </p:sp>
      <p:graphicFrame>
        <p:nvGraphicFramePr>
          <p:cNvPr id="4" name="Chart 0" descr="Bar chart of the seven emotion labels in the released CASME II coding"/>
          <p:cNvGraphicFramePr/>
          <p:nvPr/>
        </p:nvGraphicFramePr>
        <p:xfrm>
          <a:off x="548640" y="1280160"/>
          <a:ext cx="6035040" cy="4297680"/>
        </p:xfrm>
        <a:graphic xmlns:a="http://schemas.openxmlformats.org/drawingml/2006/main">
          <a:graphicData uri="http://schemas.openxmlformats.org/drawingml/2006/chart">
            <c:chart xmlns:c="http://schemas.openxmlformats.org/drawingml/2006/chart" r:id="rId1"/>
          </a:graphicData>
        </a:graphic>
      </p:graphicFrame>
      <p:sp>
        <p:nvSpPr>
          <p:cNvPr id="5" name="text-266"/>
          <p:cNvSpPr txBox="1"/>
          <p:nvPr/>
        </p:nvSpPr>
        <p:spPr>
          <a:xfrm>
            <a:off x="548640" y="5623560"/>
            <a:ext cx="6035040" cy="502920"/>
          </a:xfrm>
          <a:prstGeom prst="rect">
            <a:avLst/>
          </a:prstGeom>
          <a:noFill/>
          <a:ln/>
        </p:spPr>
        <p:txBody>
          <a:bodyPr wrap="square" lIns="0" tIns="0" rIns="0" bIns="0" rtlCol="0" anchor="t"/>
          <a:lstStyle/>
          <a:p>
            <a:pPr algn="ctr" indent="0" marL="0">
              <a:buNone/>
            </a:pPr>
            <a:r>
              <a:rPr lang="en-US" sz="1200" i="1" dirty="0">
                <a:solidFill>
                  <a:schemeClr val="accent3"/>
                </a:solidFill>
              </a:rPr>
              <a:t>Released coding (255 clips). Teal: Negative (99); amber: Positive (32); green: Surprise (25); grey: excluded.</a:t>
            </a:r>
            <a:endParaRPr lang="en-US" sz="1200" dirty="0"/>
          </a:p>
        </p:txBody>
      </p:sp>
      <p:sp>
        <p:nvSpPr>
          <p:cNvPr id="6" name="card-267"/>
          <p:cNvSpPr/>
          <p:nvPr/>
        </p:nvSpPr>
        <p:spPr>
          <a:xfrm>
            <a:off x="6858000" y="1371600"/>
            <a:ext cx="4782312" cy="1051560"/>
          </a:xfrm>
          <a:prstGeom prst="roundRect">
            <a:avLst>
              <a:gd name="adj" fmla="val 8696"/>
            </a:avLst>
          </a:prstGeom>
          <a:solidFill>
            <a:schemeClr val="bg2"/>
          </a:solidFill>
          <a:ln w="6350">
            <a:solidFill>
              <a:schemeClr val="bg2"/>
            </a:solidFill>
            <a:prstDash val="solid"/>
          </a:ln>
        </p:spPr>
      </p:sp>
      <p:sp>
        <p:nvSpPr>
          <p:cNvPr id="7" name="text-268"/>
          <p:cNvSpPr txBox="1"/>
          <p:nvPr/>
        </p:nvSpPr>
        <p:spPr>
          <a:xfrm>
            <a:off x="6995160" y="1371600"/>
            <a:ext cx="1234440" cy="1051560"/>
          </a:xfrm>
          <a:prstGeom prst="rect">
            <a:avLst/>
          </a:prstGeom>
          <a:noFill/>
          <a:ln/>
        </p:spPr>
        <p:txBody>
          <a:bodyPr wrap="square" lIns="0" tIns="0" rIns="0" bIns="0" rtlCol="0" anchor="ctr"/>
          <a:lstStyle/>
          <a:p>
            <a:pPr algn="ctr" indent="0" marL="0">
              <a:buNone/>
            </a:pPr>
            <a:r>
              <a:rPr lang="en-US" sz="3000" b="1" dirty="0">
                <a:solidFill>
                  <a:schemeClr val="accent1"/>
                </a:solidFill>
              </a:rPr>
              <a:t>247</a:t>
            </a:r>
            <a:endParaRPr lang="en-US" sz="3000" dirty="0"/>
          </a:p>
        </p:txBody>
      </p:sp>
      <p:sp>
        <p:nvSpPr>
          <p:cNvPr id="8" name="text-269"/>
          <p:cNvSpPr txBox="1"/>
          <p:nvPr/>
        </p:nvSpPr>
        <p:spPr>
          <a:xfrm>
            <a:off x="8321040" y="1481328"/>
            <a:ext cx="3200400" cy="868680"/>
          </a:xfrm>
          <a:prstGeom prst="rect">
            <a:avLst/>
          </a:prstGeom>
          <a:noFill/>
          <a:ln/>
        </p:spPr>
        <p:txBody>
          <a:bodyPr wrap="square" lIns="0" tIns="0" rIns="0" bIns="0" rtlCol="0" anchor="ctr"/>
          <a:lstStyle/>
          <a:p>
            <a:pPr indent="0" marL="0">
              <a:buNone/>
            </a:pPr>
            <a:r>
              <a:rPr lang="en-US" sz="1450" b="1" dirty="0">
                <a:solidFill>
                  <a:schemeClr val="tx2"/>
                </a:solidFill>
              </a:rPr>
              <a:t>Published paper</a:t>
            </a:r>
            <a:endParaRPr lang="en-US" sz="1650" dirty="0"/>
          </a:p>
          <a:p>
            <a:pPr indent="0" marL="0">
              <a:buNone/>
            </a:pPr>
            <a:r>
              <a:rPr lang="en-US" sz="1250" dirty="0">
                <a:solidFill>
                  <a:schemeClr val="tx1"/>
                </a:solidFill>
              </a:rPr>
              <a:t>Micro-expressions reported by Yan et al. (2014)</a:t>
            </a:r>
            <a:endParaRPr lang="en-US" sz="1650" dirty="0"/>
          </a:p>
        </p:txBody>
      </p:sp>
      <p:sp>
        <p:nvSpPr>
          <p:cNvPr id="9" name="card-270"/>
          <p:cNvSpPr/>
          <p:nvPr/>
        </p:nvSpPr>
        <p:spPr>
          <a:xfrm>
            <a:off x="6858000" y="2560320"/>
            <a:ext cx="4782312" cy="1051560"/>
          </a:xfrm>
          <a:prstGeom prst="roundRect">
            <a:avLst>
              <a:gd name="adj" fmla="val 8696"/>
            </a:avLst>
          </a:prstGeom>
          <a:solidFill>
            <a:schemeClr val="bg2"/>
          </a:solidFill>
          <a:ln w="6350">
            <a:solidFill>
              <a:schemeClr val="bg2"/>
            </a:solidFill>
            <a:prstDash val="solid"/>
          </a:ln>
        </p:spPr>
      </p:sp>
      <p:sp>
        <p:nvSpPr>
          <p:cNvPr id="10" name="text-271"/>
          <p:cNvSpPr txBox="1"/>
          <p:nvPr/>
        </p:nvSpPr>
        <p:spPr>
          <a:xfrm>
            <a:off x="6995160" y="2560320"/>
            <a:ext cx="1234440" cy="1051560"/>
          </a:xfrm>
          <a:prstGeom prst="rect">
            <a:avLst/>
          </a:prstGeom>
          <a:noFill/>
          <a:ln/>
        </p:spPr>
        <p:txBody>
          <a:bodyPr wrap="square" lIns="0" tIns="0" rIns="0" bIns="0" rtlCol="0" anchor="ctr"/>
          <a:lstStyle/>
          <a:p>
            <a:pPr algn="ctr" indent="0" marL="0">
              <a:buNone/>
            </a:pPr>
            <a:r>
              <a:rPr lang="en-US" sz="3000" b="1" dirty="0">
                <a:solidFill>
                  <a:schemeClr val="accent1"/>
                </a:solidFill>
              </a:rPr>
              <a:t>255</a:t>
            </a:r>
            <a:endParaRPr lang="en-US" sz="3000" dirty="0"/>
          </a:p>
        </p:txBody>
      </p:sp>
      <p:sp>
        <p:nvSpPr>
          <p:cNvPr id="11" name="text-272"/>
          <p:cNvSpPr txBox="1"/>
          <p:nvPr/>
        </p:nvSpPr>
        <p:spPr>
          <a:xfrm>
            <a:off x="8321040" y="2670048"/>
            <a:ext cx="3200400" cy="868680"/>
          </a:xfrm>
          <a:prstGeom prst="rect">
            <a:avLst/>
          </a:prstGeom>
          <a:noFill/>
          <a:ln/>
        </p:spPr>
        <p:txBody>
          <a:bodyPr wrap="square" lIns="0" tIns="0" rIns="0" bIns="0" rtlCol="0" anchor="ctr"/>
          <a:lstStyle/>
          <a:p>
            <a:pPr indent="0" marL="0">
              <a:buNone/>
            </a:pPr>
            <a:r>
              <a:rPr lang="en-US" sz="1450" b="1" dirty="0">
                <a:solidFill>
                  <a:schemeClr val="tx2"/>
                </a:solidFill>
              </a:rPr>
              <a:t>Released coding</a:t>
            </a:r>
            <a:endParaRPr lang="en-US" sz="1650" dirty="0"/>
          </a:p>
          <a:p>
            <a:pPr indent="0" marL="0">
              <a:buNone/>
            </a:pPr>
            <a:r>
              <a:rPr lang="en-US" sz="1250" dirty="0">
                <a:solidFill>
                  <a:schemeClr val="tx1"/>
                </a:solidFill>
              </a:rPr>
              <a:t>Clips in the distributed coding file; used in this thesis</a:t>
            </a:r>
            <a:endParaRPr lang="en-US" sz="1650" dirty="0"/>
          </a:p>
        </p:txBody>
      </p:sp>
      <p:sp>
        <p:nvSpPr>
          <p:cNvPr id="12" name="card-273"/>
          <p:cNvSpPr/>
          <p:nvPr/>
        </p:nvSpPr>
        <p:spPr>
          <a:xfrm>
            <a:off x="6858000" y="3749040"/>
            <a:ext cx="4782312" cy="1051560"/>
          </a:xfrm>
          <a:prstGeom prst="roundRect">
            <a:avLst>
              <a:gd name="adj" fmla="val 8696"/>
            </a:avLst>
          </a:prstGeom>
          <a:solidFill>
            <a:schemeClr val="bg2"/>
          </a:solidFill>
          <a:ln w="6350">
            <a:solidFill>
              <a:schemeClr val="bg2"/>
            </a:solidFill>
            <a:prstDash val="solid"/>
          </a:ln>
        </p:spPr>
      </p:sp>
      <p:sp>
        <p:nvSpPr>
          <p:cNvPr id="13" name="text-274"/>
          <p:cNvSpPr txBox="1"/>
          <p:nvPr/>
        </p:nvSpPr>
        <p:spPr>
          <a:xfrm>
            <a:off x="6995160" y="3749040"/>
            <a:ext cx="1234440" cy="1051560"/>
          </a:xfrm>
          <a:prstGeom prst="rect">
            <a:avLst/>
          </a:prstGeom>
          <a:noFill/>
          <a:ln/>
        </p:spPr>
        <p:txBody>
          <a:bodyPr wrap="square" lIns="0" tIns="0" rIns="0" bIns="0" rtlCol="0" anchor="ctr"/>
          <a:lstStyle/>
          <a:p>
            <a:pPr algn="ctr" indent="0" marL="0">
              <a:buNone/>
            </a:pPr>
            <a:r>
              <a:rPr lang="en-US" sz="3000" b="1" dirty="0">
                <a:solidFill>
                  <a:schemeClr val="accent1"/>
                </a:solidFill>
              </a:rPr>
              <a:t>145</a:t>
            </a:r>
            <a:endParaRPr lang="en-US" sz="3000" dirty="0"/>
          </a:p>
        </p:txBody>
      </p:sp>
      <p:sp>
        <p:nvSpPr>
          <p:cNvPr id="14" name="text-275"/>
          <p:cNvSpPr txBox="1"/>
          <p:nvPr/>
        </p:nvSpPr>
        <p:spPr>
          <a:xfrm>
            <a:off x="8321040" y="3858768"/>
            <a:ext cx="3200400" cy="868680"/>
          </a:xfrm>
          <a:prstGeom prst="rect">
            <a:avLst/>
          </a:prstGeom>
          <a:noFill/>
          <a:ln/>
        </p:spPr>
        <p:txBody>
          <a:bodyPr wrap="square" lIns="0" tIns="0" rIns="0" bIns="0" rtlCol="0" anchor="ctr"/>
          <a:lstStyle/>
          <a:p>
            <a:pPr indent="0" marL="0">
              <a:buNone/>
            </a:pPr>
            <a:r>
              <a:rPr lang="en-US" sz="1450" b="1" dirty="0">
                <a:solidFill>
                  <a:schemeClr val="tx2"/>
                </a:solidFill>
              </a:rPr>
              <a:t>MEGC 2019 subset</a:t>
            </a:r>
            <a:endParaRPr lang="en-US" sz="1650" dirty="0"/>
          </a:p>
          <a:p>
            <a:pPr indent="0" marL="0">
              <a:buNone/>
            </a:pPr>
            <a:r>
              <a:rPr lang="en-US" sz="1250" dirty="0">
                <a:solidFill>
                  <a:schemeClr val="tx1"/>
                </a:solidFill>
              </a:rPr>
              <a:t>Five-category release: Negative = disgust and repression (88)</a:t>
            </a:r>
            <a:endParaRPr lang="en-US" sz="1650" dirty="0"/>
          </a:p>
        </p:txBody>
      </p:sp>
      <p:sp>
        <p:nvSpPr>
          <p:cNvPr id="15" name="card-276"/>
          <p:cNvSpPr/>
          <p:nvPr/>
        </p:nvSpPr>
        <p:spPr>
          <a:xfrm>
            <a:off x="6858000" y="4937760"/>
            <a:ext cx="4782312" cy="1051560"/>
          </a:xfrm>
          <a:prstGeom prst="roundRect">
            <a:avLst>
              <a:gd name="adj" fmla="val 8696"/>
            </a:avLst>
          </a:prstGeom>
          <a:solidFill>
            <a:schemeClr val="tx2"/>
          </a:solidFill>
          <a:ln w="6350">
            <a:solidFill>
              <a:schemeClr val="tx2"/>
            </a:solidFill>
            <a:prstDash val="solid"/>
          </a:ln>
        </p:spPr>
      </p:sp>
      <p:sp>
        <p:nvSpPr>
          <p:cNvPr id="16" name="text-277"/>
          <p:cNvSpPr txBox="1"/>
          <p:nvPr/>
        </p:nvSpPr>
        <p:spPr>
          <a:xfrm>
            <a:off x="6995160" y="4937760"/>
            <a:ext cx="1234440" cy="1051560"/>
          </a:xfrm>
          <a:prstGeom prst="rect">
            <a:avLst/>
          </a:prstGeom>
          <a:noFill/>
          <a:ln/>
        </p:spPr>
        <p:txBody>
          <a:bodyPr wrap="square" lIns="0" tIns="0" rIns="0" bIns="0" rtlCol="0" anchor="ctr"/>
          <a:lstStyle/>
          <a:p>
            <a:pPr algn="ctr" indent="0" marL="0">
              <a:buNone/>
            </a:pPr>
            <a:r>
              <a:rPr lang="en-US" sz="3000" b="1" dirty="0">
                <a:solidFill>
                  <a:schemeClr val="accent2"/>
                </a:solidFill>
              </a:rPr>
              <a:t>156</a:t>
            </a:r>
            <a:endParaRPr lang="en-US" sz="3000" dirty="0"/>
          </a:p>
        </p:txBody>
      </p:sp>
      <p:sp>
        <p:nvSpPr>
          <p:cNvPr id="17" name="text-278"/>
          <p:cNvSpPr txBox="1"/>
          <p:nvPr/>
        </p:nvSpPr>
        <p:spPr>
          <a:xfrm>
            <a:off x="8321040" y="5047488"/>
            <a:ext cx="3200400" cy="868680"/>
          </a:xfrm>
          <a:prstGeom prst="rect">
            <a:avLst/>
          </a:prstGeom>
          <a:noFill/>
          <a:ln/>
        </p:spPr>
        <p:txBody>
          <a:bodyPr wrap="square" lIns="0" tIns="0" rIns="0" bIns="0" rtlCol="0" anchor="ctr"/>
          <a:lstStyle/>
          <a:p>
            <a:pPr indent="0" marL="0">
              <a:buNone/>
            </a:pPr>
            <a:r>
              <a:rPr lang="en-US" sz="1450" b="1" dirty="0">
                <a:solidFill>
                  <a:schemeClr val="bg1"/>
                </a:solidFill>
              </a:rPr>
              <a:t>This thesis</a:t>
            </a:r>
            <a:endParaRPr lang="en-US" sz="1650" dirty="0"/>
          </a:p>
          <a:p>
            <a:pPr indent="0" marL="0">
              <a:buNone/>
            </a:pPr>
            <a:r>
              <a:rPr lang="en-US" sz="1250" dirty="0">
                <a:solidFill>
                  <a:schemeClr val="bg1"/>
                </a:solidFill>
              </a:rPr>
              <a:t>Seven-label coding: sadness and fear added to Negative (99)</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Fold composition and the mean-of-folds ceiling</a:t>
            </a:r>
            <a:endParaRPr lang="en-US" sz="3000" dirty="0"/>
          </a:p>
        </p:txBody>
      </p:sp>
      <p:pic>
        <p:nvPicPr>
          <p:cNvPr id="4" name="Image 0" descr="Class composition of the 25 leave-one-subject-out folds">    </p:cNvPr>
          <p:cNvPicPr>
            <a:picLocks noChangeAspect="1"/>
          </p:cNvPicPr>
          <p:nvPr/>
        </p:nvPicPr>
        <p:blipFill>
          <a:blip r:embed="rId1"/>
          <a:stretch>
            <a:fillRect/>
          </a:stretch>
        </p:blipFill>
        <p:spPr>
          <a:xfrm>
            <a:off x="548640" y="1280160"/>
            <a:ext cx="6766560" cy="4270548"/>
          </a:xfrm>
          <a:prstGeom prst="rect">
            <a:avLst/>
          </a:prstGeom>
        </p:spPr>
      </p:pic>
      <p:sp>
        <p:nvSpPr>
          <p:cNvPr id="5" name="text-279"/>
          <p:cNvSpPr txBox="1"/>
          <p:nvPr/>
        </p:nvSpPr>
        <p:spPr>
          <a:xfrm>
            <a:off x="548640" y="5623560"/>
            <a:ext cx="6766560" cy="274320"/>
          </a:xfrm>
          <a:prstGeom prst="rect">
            <a:avLst/>
          </a:prstGeom>
          <a:noFill/>
          <a:ln/>
        </p:spPr>
        <p:txBody>
          <a:bodyPr wrap="square" lIns="0" tIns="0" rIns="0" bIns="0" rtlCol="0" anchor="t"/>
          <a:lstStyle/>
          <a:p>
            <a:pPr indent="0" marL="0">
              <a:buNone/>
            </a:pPr>
            <a:r>
              <a:rPr lang="en-US" sz="1200" i="1" dirty="0">
                <a:solidFill>
                  <a:schemeClr val="accent3"/>
                </a:solidFill>
              </a:rPr>
              <a:t>Class composition of the 25 leave-one-subject-out folds (thesis figure).</a:t>
            </a:r>
            <a:endParaRPr lang="en-US" sz="1200" dirty="0"/>
          </a:p>
        </p:txBody>
      </p:sp>
      <p:sp>
        <p:nvSpPr>
          <p:cNvPr id="6" name="text-280"/>
          <p:cNvSpPr txBox="1"/>
          <p:nvPr/>
        </p:nvSpPr>
        <p:spPr>
          <a:xfrm>
            <a:off x="7589520" y="1371600"/>
            <a:ext cx="4050792" cy="27432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1"/>
                </a:solidFill>
              </a:rPr>
              <a:t>Subject 17 alone contributes 33 clips, 21 % of the working set</a:t>
            </a:r>
            <a:endParaRPr lang="en-US" sz="1650" dirty="0"/>
          </a:p>
          <a:p>
            <a:pPr marL="342900" indent="-342900">
              <a:spcAft>
                <a:spcPts val="700"/>
              </a:spcAft>
              <a:buSzPct val="100000"/>
              <a:buChar char="•"/>
            </a:pPr>
            <a:r>
              <a:rPr lang="en-US" sz="1450" dirty="0">
                <a:solidFill>
                  <a:schemeClr val="tx1"/>
                </a:solidFill>
              </a:rPr>
              <a:t>Three subjects contribute one clip each, so fold sizes vary by a factor of 33</a:t>
            </a:r>
            <a:endParaRPr lang="en-US" sz="1650" dirty="0"/>
          </a:p>
          <a:p>
            <a:pPr marL="342900" indent="-342900">
              <a:spcAft>
                <a:spcPts val="700"/>
              </a:spcAft>
              <a:buSzPct val="100000"/>
              <a:buChar char="•"/>
            </a:pPr>
            <a:r>
              <a:rPr lang="en-US" sz="1450" dirty="0">
                <a:solidFill>
                  <a:schemeClr val="tx1"/>
                </a:solidFill>
              </a:rPr>
              <a:t>10 folds contain one class, 8 contain two, 7 contain all three</a:t>
            </a:r>
            <a:endParaRPr lang="en-US" sz="1650" dirty="0"/>
          </a:p>
          <a:p>
            <a:pPr marL="342900" indent="-342900">
              <a:spcAft>
                <a:spcPts val="700"/>
              </a:spcAft>
              <a:buSzPct val="100000"/>
              <a:buChar char="•"/>
            </a:pPr>
            <a:r>
              <a:rPr lang="en-US" sz="1450" dirty="0">
                <a:solidFill>
                  <a:schemeClr val="tx1"/>
                </a:solidFill>
              </a:rPr>
              <a:t>A class absent from a fold contributes an F1 of zero to that fold</a:t>
            </a:r>
            <a:endParaRPr lang="en-US" sz="1650" dirty="0"/>
          </a:p>
        </p:txBody>
      </p:sp>
      <p:sp>
        <p:nvSpPr>
          <p:cNvPr id="7" name="card-281"/>
          <p:cNvSpPr/>
          <p:nvPr/>
        </p:nvSpPr>
        <p:spPr>
          <a:xfrm>
            <a:off x="7589520" y="4160520"/>
            <a:ext cx="4050792" cy="1920240"/>
          </a:xfrm>
          <a:prstGeom prst="roundRect">
            <a:avLst>
              <a:gd name="adj" fmla="val 4762"/>
            </a:avLst>
          </a:prstGeom>
          <a:solidFill>
            <a:schemeClr val="tx2"/>
          </a:solidFill>
          <a:ln w="6350">
            <a:solidFill>
              <a:schemeClr val="tx2"/>
            </a:solidFill>
            <a:prstDash val="solid"/>
          </a:ln>
        </p:spPr>
      </p:sp>
      <p:sp>
        <p:nvSpPr>
          <p:cNvPr id="8" name="text-282"/>
          <p:cNvSpPr txBox="1"/>
          <p:nvPr/>
        </p:nvSpPr>
        <p:spPr>
          <a:xfrm>
            <a:off x="7772400" y="4279392"/>
            <a:ext cx="3703320" cy="1691640"/>
          </a:xfrm>
          <a:prstGeom prst="rect">
            <a:avLst/>
          </a:prstGeom>
          <a:noFill/>
          <a:ln/>
        </p:spPr>
        <p:txBody>
          <a:bodyPr wrap="square" lIns="0" tIns="0" rIns="0" bIns="0" rtlCol="0" anchor="t"/>
          <a:lstStyle/>
          <a:p>
            <a:pPr indent="0" marL="0">
              <a:spcAft>
                <a:spcPts val="500"/>
              </a:spcAft>
              <a:buNone/>
            </a:pPr>
            <a:r>
              <a:rPr lang="en-US" sz="1400" b="1" dirty="0">
                <a:solidFill>
                  <a:schemeClr val="accent2"/>
                </a:solidFill>
              </a:rPr>
              <a:t>Ceiling of the mean-of-folds macro F1</a:t>
            </a:r>
            <a:endParaRPr lang="en-US" sz="1650" dirty="0"/>
          </a:p>
          <a:p>
            <a:pPr indent="0" marL="0">
              <a:spcAft>
                <a:spcPts val="500"/>
              </a:spcAft>
              <a:buNone/>
            </a:pPr>
            <a:r>
              <a:rPr lang="en-US" sz="1850" b="1" dirty="0">
                <a:solidFill>
                  <a:schemeClr val="bg1"/>
                </a:solidFill>
              </a:rPr>
              <a:t>(10 · ⅓ + 8 · ⅔ + 7 · 1) / 25 ≈ 0.627</a:t>
            </a:r>
            <a:endParaRPr lang="en-US" sz="1650" dirty="0"/>
          </a:p>
          <a:p>
            <a:pPr indent="0" marL="0">
              <a:spcAft>
                <a:spcPts val="500"/>
              </a:spcAft>
              <a:buNone/>
            </a:pPr>
            <a:r>
              <a:rPr lang="en-US" sz="1250" dirty="0">
                <a:solidFill>
                  <a:schemeClr val="bg1"/>
                </a:solidFill>
              </a:rPr>
              <a:t>Pooling the confusion matrices avoids this ceiling. For C8, mean-of-folds accuracy exceeds pooled accuracy by 6.3 points.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Eulerian video magnification in detail</a:t>
            </a:r>
            <a:endParaRPr lang="en-US" sz="3000" dirty="0"/>
          </a:p>
        </p:txBody>
      </p:sp>
      <p:sp>
        <p:nvSpPr>
          <p:cNvPr id="4" name="card-283"/>
          <p:cNvSpPr/>
          <p:nvPr/>
        </p:nvSpPr>
        <p:spPr>
          <a:xfrm>
            <a:off x="548640" y="1325880"/>
            <a:ext cx="11094415" cy="566928"/>
          </a:xfrm>
          <a:prstGeom prst="roundRect">
            <a:avLst>
              <a:gd name="adj" fmla="val 16129"/>
            </a:avLst>
          </a:prstGeom>
          <a:solidFill>
            <a:schemeClr val="bg2"/>
          </a:solidFill>
          <a:ln w="6350">
            <a:solidFill>
              <a:schemeClr val="bg2"/>
            </a:solidFill>
            <a:prstDash val="solid"/>
          </a:ln>
        </p:spPr>
      </p:sp>
      <p:sp>
        <p:nvSpPr>
          <p:cNvPr id="5" name="eq-label-1"/>
          <p:cNvSpPr txBox="1"/>
          <p:nvPr/>
        </p:nvSpPr>
        <p:spPr>
          <a:xfrm>
            <a:off x="731520" y="132588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Small-motion model</a:t>
            </a:r>
            <a:endParaRPr lang="en-US" sz="1200" dirty="0"/>
          </a:p>
        </p:txBody>
      </p:sp>
      <p:sp>
        <p:nvSpPr>
          <p:cNvPr id="6" name="eq-1"/>
          <p:cNvSpPr txBox="1"/>
          <p:nvPr/>
        </p:nvSpPr>
        <p:spPr>
          <a:xfrm>
            <a:off x="2514600" y="1325880"/>
            <a:ext cx="8991295" cy="566928"/>
          </a:xfrm>
          <a:prstGeom prst="rect">
            <a:avLst/>
          </a:prstGeom>
          <a:noFill/>
          <a:ln/>
        </p:spPr>
        <p:txBody>
          <a:bodyPr wrap="square" lIns="0" tIns="0" rIns="0" bIns="0" rtlCol="0" anchor="ctr"/>
          <a:lstStyle/>
          <a:p>
            <a:pPr indent="0" marL="0">
              <a:buNone/>
            </a:pPr>
            <a:r>
              <a:rPr lang="en-US" sz="1700" i="1" dirty="0">
                <a:solidFill>
                  <a:schemeClr val="tx1"/>
                </a:solidFill>
              </a:rPr>
              <a:t>I(x, t) = f(x + δ(t)) ≈ f(x) + δ(t) · ∂f/∂x</a:t>
            </a:r>
            <a:endParaRPr lang="en-US" sz="1700" dirty="0"/>
          </a:p>
        </p:txBody>
      </p:sp>
      <p:sp>
        <p:nvSpPr>
          <p:cNvPr id="7" name="card-284"/>
          <p:cNvSpPr/>
          <p:nvPr/>
        </p:nvSpPr>
        <p:spPr>
          <a:xfrm>
            <a:off x="548640" y="1965960"/>
            <a:ext cx="11094415" cy="566928"/>
          </a:xfrm>
          <a:prstGeom prst="roundRect">
            <a:avLst>
              <a:gd name="adj" fmla="val 16129"/>
            </a:avLst>
          </a:prstGeom>
          <a:solidFill>
            <a:schemeClr val="bg2"/>
          </a:solidFill>
          <a:ln w="6350">
            <a:solidFill>
              <a:schemeClr val="bg2"/>
            </a:solidFill>
            <a:prstDash val="solid"/>
          </a:ln>
        </p:spPr>
      </p:sp>
      <p:sp>
        <p:nvSpPr>
          <p:cNvPr id="8" name="eq-label-2"/>
          <p:cNvSpPr txBox="1"/>
          <p:nvPr/>
        </p:nvSpPr>
        <p:spPr>
          <a:xfrm>
            <a:off x="731520" y="196596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After magnification</a:t>
            </a:r>
            <a:endParaRPr lang="en-US" sz="1200" dirty="0"/>
          </a:p>
        </p:txBody>
      </p:sp>
      <p:sp>
        <p:nvSpPr>
          <p:cNvPr id="9" name="eq-2"/>
          <p:cNvSpPr txBox="1"/>
          <p:nvPr/>
        </p:nvSpPr>
        <p:spPr>
          <a:xfrm>
            <a:off x="2514600" y="1965960"/>
            <a:ext cx="8991295" cy="566928"/>
          </a:xfrm>
          <a:prstGeom prst="rect">
            <a:avLst/>
          </a:prstGeom>
          <a:noFill/>
          <a:ln/>
        </p:spPr>
        <p:txBody>
          <a:bodyPr wrap="square" lIns="0" tIns="0" rIns="0" bIns="0" rtlCol="0" anchor="ctr"/>
          <a:lstStyle/>
          <a:p>
            <a:pPr indent="0" marL="0">
              <a:buNone/>
            </a:pPr>
            <a:r>
              <a:rPr lang="en-US" sz="1700" i="1" dirty="0">
                <a:solidFill>
                  <a:schemeClr val="tx1"/>
                </a:solidFill>
              </a:rPr>
              <a:t>Ĩ(x, t) ≈ f(x) + (1 + α) · δ(t) · ∂f/∂x</a:t>
            </a:r>
            <a:endParaRPr lang="en-US" sz="1700" dirty="0"/>
          </a:p>
        </p:txBody>
      </p:sp>
      <p:graphicFrame>
        <p:nvGraphicFramePr>
          <p:cNvPr id="30" name="table-evm"/>
          <p:cNvGraphicFramePr>
            <a:graphicFrameLocks noGrp="1"/>
          </p:cNvGraphicFramePr>
          <p:nvPr>
            <p:extLst>
              <p:ext uri="{D42A27DB-BD31-4B8C-83A1-F6EECF244321}">
                <p14:modId xmlns:p14="http://schemas.microsoft.com/office/powerpoint/2010/main" val="1579011935"/>
              </p:ext>
            </p:extLst>
          </p:nvPr>
        </p:nvGraphicFramePr>
        <p:xfrm>
          <a:off x="548640" y="2697480"/>
          <a:ext cx="11094415" cy="914400"/>
        </p:xfrm>
        <a:graphic>
          <a:graphicData uri="http://schemas.openxmlformats.org/drawingml/2006/table">
            <a:tbl>
              <a:tblPr/>
              <a:tblGrid>
                <a:gridCol w="2377440"/>
                <a:gridCol w="8714232"/>
              </a:tblGrid>
              <a:tr h="475488">
                <a:tc>
                  <a:txBody>
                    <a:bodyPr/>
                    <a:lstStyle/>
                    <a:p>
                      <a:pPr algn="l" indent="0" marL="0">
                        <a:buNone/>
                      </a:pPr>
                      <a:r>
                        <a:rPr lang="en-US" sz="1200" b="1" dirty="0">
                          <a:solidFill>
                            <a:srgbClr val="FFFFFF"/>
                          </a:solidFill>
                        </a:rPr>
                        <a:t>Property</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Implemented behaviour and consequence</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75488">
                <a:tc>
                  <a:txBody>
                    <a:bodyPr/>
                    <a:lstStyle/>
                    <a:p>
                      <a:pPr algn="l" indent="0" marL="0">
                        <a:buNone/>
                      </a:pPr>
                      <a:r>
                        <a:rPr lang="en-US" sz="1250" b="1" dirty="0">
                          <a:solidFill>
                            <a:srgbClr val="1B2B34"/>
                          </a:solidFill>
                        </a:rPr>
                        <a:t>Temporal band</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5–25 Hz, matching the duration of micro-expressions; Bai et al. narrowed it to 15–25 Hz to reduce noise</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75488">
                <a:tc>
                  <a:txBody>
                    <a:bodyPr/>
                    <a:lstStyle/>
                    <a:p>
                      <a:pPr algn="l" indent="0" marL="0">
                        <a:buNone/>
                      </a:pPr>
                      <a:r>
                        <a:rPr lang="en-US" sz="1250" b="1" dirty="0">
                          <a:solidFill>
                            <a:srgbClr val="1B2B34"/>
                          </a:solidFill>
                        </a:rPr>
                        <a:t>Temporal filter</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Hard Fourier mask instead of a Butterworth filter; the pass-band has no smooth roll-off</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75488">
                <a:tc>
                  <a:txBody>
                    <a:bodyPr/>
                    <a:lstStyle/>
                    <a:p>
                      <a:pPr algn="l" indent="0" marL="0">
                        <a:buNone/>
                      </a:pPr>
                      <a:r>
                        <a:rPr lang="en-US" sz="1250" b="1" dirty="0">
                          <a:solidFill>
                            <a:srgbClr val="1B2B34"/>
                          </a:solidFill>
                        </a:rPr>
                        <a:t>Spatial amplification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The same α = 10 for every level of the four-level Laplacian pyramid; the Gaussian residual is not amplified</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75488">
                <a:tc>
                  <a:txBody>
                    <a:bodyPr/>
                    <a:lstStyle/>
                    <a:p>
                      <a:pPr algn="l" indent="0" marL="0">
                        <a:buNone/>
                      </a:pPr>
                      <a:r>
                        <a:rPr lang="en-US" sz="1250" b="1" dirty="0">
                          <a:solidFill>
                            <a:srgbClr val="1B2B34"/>
                          </a:solidFill>
                        </a:rPr>
                        <a:t>Colour</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Greyscale intensity only, with no separate chromatic attenuation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75488">
                <a:tc>
                  <a:txBody>
                    <a:bodyPr/>
                    <a:lstStyle/>
                    <a:p>
                      <a:pPr algn="l" indent="0" marL="0">
                        <a:buNone/>
                      </a:pPr>
                      <a:r>
                        <a:rPr lang="en-US" sz="1250" b="1" dirty="0">
                          <a:solidFill>
                            <a:srgbClr val="1B2B34"/>
                          </a:solidFill>
                        </a:rPr>
                        <a:t>Ordering</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Applied after sampling to 33 frames at a nominal 200 fps, so the physical pass-band is clip-dependent (about 2.5–12.5 Hz at the median length)</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11" name="text-285"/>
          <p:cNvSpPr txBox="1"/>
          <p:nvPr/>
        </p:nvSpPr>
        <p:spPr>
          <a:xfrm>
            <a:off x="548640" y="5623560"/>
            <a:ext cx="11094415" cy="548640"/>
          </a:xfrm>
          <a:prstGeom prst="rect">
            <a:avLst/>
          </a:prstGeom>
          <a:noFill/>
          <a:ln/>
        </p:spPr>
        <p:txBody>
          <a:bodyPr wrap="square" lIns="0" tIns="0" rIns="0" bIns="0" rtlCol="0" anchor="t"/>
          <a:lstStyle/>
          <a:p>
            <a:pPr indent="0" marL="0">
              <a:buNone/>
            </a:pPr>
            <a:r>
              <a:rPr lang="en-US" sz="1400" i="1" dirty="0">
                <a:solidFill>
                  <a:schemeClr val="tx2"/>
                </a:solidFill>
              </a:rPr>
              <a:t>The filter distinguishes frequencies, not causes: head movement, illumination variation and noise within the pass-band are amplified together with the facial movement.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Optical flow and optical strain</a:t>
            </a:r>
            <a:endParaRPr lang="en-US" sz="3000" dirty="0"/>
          </a:p>
        </p:txBody>
      </p:sp>
      <p:sp>
        <p:nvSpPr>
          <p:cNvPr id="4" name="text-286"/>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650" b="1" dirty="0">
                <a:solidFill>
                  <a:schemeClr val="accent1"/>
                </a:solidFill>
              </a:rPr>
              <a:t>Optical flow</a:t>
            </a:r>
            <a:endParaRPr lang="en-US" sz="1650" dirty="0"/>
          </a:p>
        </p:txBody>
      </p:sp>
      <p:sp>
        <p:nvSpPr>
          <p:cNvPr id="5" name="card-287"/>
          <p:cNvSpPr/>
          <p:nvPr/>
        </p:nvSpPr>
        <p:spPr>
          <a:xfrm>
            <a:off x="548640" y="1645920"/>
            <a:ext cx="5449824" cy="566928"/>
          </a:xfrm>
          <a:prstGeom prst="roundRect">
            <a:avLst>
              <a:gd name="adj" fmla="val 16129"/>
            </a:avLst>
          </a:prstGeom>
          <a:solidFill>
            <a:schemeClr val="bg2"/>
          </a:solidFill>
          <a:ln w="6350">
            <a:solidFill>
              <a:schemeClr val="bg2"/>
            </a:solidFill>
            <a:prstDash val="solid"/>
          </a:ln>
        </p:spPr>
      </p:sp>
      <p:sp>
        <p:nvSpPr>
          <p:cNvPr id="6" name="eq-label-3"/>
          <p:cNvSpPr txBox="1"/>
          <p:nvPr/>
        </p:nvSpPr>
        <p:spPr>
          <a:xfrm>
            <a:off x="731520" y="164592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Brightness constancy</a:t>
            </a:r>
            <a:endParaRPr lang="en-US" sz="1200" dirty="0"/>
          </a:p>
        </p:txBody>
      </p:sp>
      <p:sp>
        <p:nvSpPr>
          <p:cNvPr id="7" name="eq-3"/>
          <p:cNvSpPr txBox="1"/>
          <p:nvPr/>
        </p:nvSpPr>
        <p:spPr>
          <a:xfrm>
            <a:off x="2514600" y="1645920"/>
            <a:ext cx="3346704" cy="566928"/>
          </a:xfrm>
          <a:prstGeom prst="rect">
            <a:avLst/>
          </a:prstGeom>
          <a:noFill/>
          <a:ln/>
        </p:spPr>
        <p:txBody>
          <a:bodyPr wrap="square" lIns="0" tIns="0" rIns="0" bIns="0" rtlCol="0" anchor="ctr"/>
          <a:lstStyle/>
          <a:p>
            <a:pPr indent="0" marL="0">
              <a:buNone/>
            </a:pPr>
            <a:r>
              <a:rPr lang="en-US" sz="1450" i="1" dirty="0">
                <a:solidFill>
                  <a:schemeClr val="tx1"/>
                </a:solidFill>
              </a:rPr>
              <a:t>I(x, y, t) = I(x + uΔt, y + vΔt, t + Δt)</a:t>
            </a:r>
            <a:endParaRPr lang="en-US" sz="1450" dirty="0"/>
          </a:p>
        </p:txBody>
      </p:sp>
      <p:sp>
        <p:nvSpPr>
          <p:cNvPr id="8" name="card-288"/>
          <p:cNvSpPr/>
          <p:nvPr/>
        </p:nvSpPr>
        <p:spPr>
          <a:xfrm>
            <a:off x="548640" y="2286000"/>
            <a:ext cx="5449824" cy="566928"/>
          </a:xfrm>
          <a:prstGeom prst="roundRect">
            <a:avLst>
              <a:gd name="adj" fmla="val 16129"/>
            </a:avLst>
          </a:prstGeom>
          <a:solidFill>
            <a:schemeClr val="bg2"/>
          </a:solidFill>
          <a:ln w="6350">
            <a:solidFill>
              <a:schemeClr val="bg2"/>
            </a:solidFill>
            <a:prstDash val="solid"/>
          </a:ln>
        </p:spPr>
      </p:sp>
      <p:sp>
        <p:nvSpPr>
          <p:cNvPr id="9" name="eq-label-4"/>
          <p:cNvSpPr txBox="1"/>
          <p:nvPr/>
        </p:nvSpPr>
        <p:spPr>
          <a:xfrm>
            <a:off x="731520" y="228600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Flow constraint</a:t>
            </a:r>
            <a:endParaRPr lang="en-US" sz="1200" dirty="0"/>
          </a:p>
        </p:txBody>
      </p:sp>
      <p:sp>
        <p:nvSpPr>
          <p:cNvPr id="10" name="eq-4"/>
          <p:cNvSpPr txBox="1"/>
          <p:nvPr/>
        </p:nvSpPr>
        <p:spPr>
          <a:xfrm>
            <a:off x="2514600" y="2286000"/>
            <a:ext cx="3346704" cy="566928"/>
          </a:xfrm>
          <a:prstGeom prst="rect">
            <a:avLst/>
          </a:prstGeom>
          <a:noFill/>
          <a:ln/>
        </p:spPr>
        <p:txBody>
          <a:bodyPr wrap="square" lIns="0" tIns="0" rIns="0" bIns="0" rtlCol="0" anchor="ctr"/>
          <a:lstStyle/>
          <a:p>
            <a:pPr indent="0" marL="0">
              <a:buNone/>
            </a:pPr>
            <a:r>
              <a:rPr lang="en-US" sz="1600" i="1" dirty="0">
                <a:solidFill>
                  <a:schemeClr val="tx1"/>
                </a:solidFill>
              </a:rPr>
              <a:t>I</a:t>
            </a:r>
            <a:pPr indent="0" marL="0">
              <a:buNone/>
            </a:pPr>
            <a:r>
              <a:rPr lang="en-US" sz="1600" i="1" baseline="-40000" dirty="0">
                <a:solidFill>
                  <a:schemeClr val="tx1"/>
                </a:solidFill>
              </a:rPr>
              <a:t>x</a:t>
            </a:r>
            <a:pPr indent="0" marL="0">
              <a:buNone/>
            </a:pPr>
            <a:r>
              <a:rPr lang="en-US" sz="1600" i="1" dirty="0">
                <a:solidFill>
                  <a:schemeClr val="tx1"/>
                </a:solidFill>
              </a:rPr>
              <a:t> u + I</a:t>
            </a:r>
            <a:pPr indent="0" marL="0">
              <a:buNone/>
            </a:pPr>
            <a:r>
              <a:rPr lang="en-US" sz="1600" i="1" baseline="-40000" dirty="0">
                <a:solidFill>
                  <a:schemeClr val="tx1"/>
                </a:solidFill>
              </a:rPr>
              <a:t>y</a:t>
            </a:r>
            <a:pPr indent="0" marL="0">
              <a:buNone/>
            </a:pPr>
            <a:r>
              <a:rPr lang="en-US" sz="1600" i="1" dirty="0">
                <a:solidFill>
                  <a:schemeClr val="tx1"/>
                </a:solidFill>
              </a:rPr>
              <a:t> v + I</a:t>
            </a:r>
            <a:pPr indent="0" marL="0">
              <a:buNone/>
            </a:pPr>
            <a:r>
              <a:rPr lang="en-US" sz="1600" i="1" baseline="-40000" dirty="0">
                <a:solidFill>
                  <a:schemeClr val="tx1"/>
                </a:solidFill>
              </a:rPr>
              <a:t>t</a:t>
            </a:r>
            <a:pPr indent="0" marL="0">
              <a:buNone/>
            </a:pPr>
            <a:r>
              <a:rPr lang="en-US" sz="1600" i="1" dirty="0">
                <a:solidFill>
                  <a:schemeClr val="tx1"/>
                </a:solidFill>
              </a:rPr>
              <a:t> = 0</a:t>
            </a:r>
            <a:endParaRPr lang="en-US" sz="1600" dirty="0"/>
          </a:p>
        </p:txBody>
      </p:sp>
      <p:sp>
        <p:nvSpPr>
          <p:cNvPr id="11" name="text-289"/>
          <p:cNvSpPr txBox="1"/>
          <p:nvPr/>
        </p:nvSpPr>
        <p:spPr>
          <a:xfrm>
            <a:off x="548640" y="3017520"/>
            <a:ext cx="5449824" cy="20116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One equation in two unknowns: the aperture problem</a:t>
            </a:r>
            <a:endParaRPr lang="en-US" sz="1650" dirty="0"/>
          </a:p>
          <a:p>
            <a:pPr marL="342900" indent="-342900">
              <a:spcAft>
                <a:spcPts val="500"/>
              </a:spcAft>
              <a:buSzPct val="100000"/>
              <a:buChar char="•"/>
            </a:pPr>
            <a:r>
              <a:rPr lang="en-US" sz="1400" dirty="0">
                <a:solidFill>
                  <a:schemeClr val="tx1"/>
                </a:solidFill>
              </a:rPr>
              <a:t>Farnebäck estimator on the 32 adjacent frame pairs</a:t>
            </a:r>
            <a:endParaRPr lang="en-US" sz="1650" dirty="0"/>
          </a:p>
          <a:p>
            <a:pPr marL="342900" indent="-342900">
              <a:spcAft>
                <a:spcPts val="500"/>
              </a:spcAft>
              <a:buSzPct val="100000"/>
              <a:buChar char="•"/>
            </a:pPr>
            <a:r>
              <a:rPr lang="en-US" sz="1400" dirty="0">
                <a:solidFill>
                  <a:schemeClr val="tx1"/>
                </a:solidFill>
              </a:rPr>
              <a:t>u and v are displacements in pixels between sampled frames</a:t>
            </a:r>
            <a:endParaRPr lang="en-US" sz="1650" dirty="0"/>
          </a:p>
          <a:p>
            <a:pPr marL="342900" indent="-342900">
              <a:spcAft>
                <a:spcPts val="500"/>
              </a:spcAft>
              <a:buSzPct val="100000"/>
              <a:buChar char="•"/>
            </a:pPr>
            <a:r>
              <a:rPr lang="en-US" sz="1400" dirty="0">
                <a:solidFill>
                  <a:schemeClr val="tx1"/>
                </a:solidFill>
              </a:rPr>
              <a:t>No flow-based fine alignment is performed</a:t>
            </a:r>
            <a:endParaRPr lang="en-US" sz="1650" dirty="0"/>
          </a:p>
        </p:txBody>
      </p:sp>
      <p:sp>
        <p:nvSpPr>
          <p:cNvPr id="12" name="text-290"/>
          <p:cNvSpPr txBox="1"/>
          <p:nvPr/>
        </p:nvSpPr>
        <p:spPr>
          <a:xfrm>
            <a:off x="6190488" y="1280160"/>
            <a:ext cx="5394960" cy="320040"/>
          </a:xfrm>
          <a:prstGeom prst="rect">
            <a:avLst/>
          </a:prstGeom>
          <a:noFill/>
          <a:ln/>
        </p:spPr>
        <p:txBody>
          <a:bodyPr wrap="square" lIns="0" tIns="0" rIns="0" bIns="0" rtlCol="0" anchor="t"/>
          <a:lstStyle/>
          <a:p>
            <a:pPr indent="0" marL="0">
              <a:buNone/>
            </a:pPr>
            <a:r>
              <a:rPr lang="en-US" sz="1650" b="1" dirty="0">
                <a:solidFill>
                  <a:schemeClr val="accent1"/>
                </a:solidFill>
              </a:rPr>
              <a:t>Optical strain</a:t>
            </a:r>
            <a:endParaRPr lang="en-US" sz="1650" dirty="0"/>
          </a:p>
        </p:txBody>
      </p:sp>
      <p:sp>
        <p:nvSpPr>
          <p:cNvPr id="13" name="card-291"/>
          <p:cNvSpPr/>
          <p:nvPr/>
        </p:nvSpPr>
        <p:spPr>
          <a:xfrm>
            <a:off x="6190488" y="1645920"/>
            <a:ext cx="5449824" cy="566928"/>
          </a:xfrm>
          <a:prstGeom prst="roundRect">
            <a:avLst>
              <a:gd name="adj" fmla="val 16129"/>
            </a:avLst>
          </a:prstGeom>
          <a:solidFill>
            <a:schemeClr val="bg2"/>
          </a:solidFill>
          <a:ln w="6350">
            <a:solidFill>
              <a:schemeClr val="bg2"/>
            </a:solidFill>
            <a:prstDash val="solid"/>
          </a:ln>
        </p:spPr>
      </p:sp>
      <p:sp>
        <p:nvSpPr>
          <p:cNvPr id="14" name="eq-label-5"/>
          <p:cNvSpPr txBox="1"/>
          <p:nvPr/>
        </p:nvSpPr>
        <p:spPr>
          <a:xfrm>
            <a:off x="6373368" y="164592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Strain tensor</a:t>
            </a:r>
            <a:endParaRPr lang="en-US" sz="1200" dirty="0"/>
          </a:p>
        </p:txBody>
      </p:sp>
      <p:sp>
        <p:nvSpPr>
          <p:cNvPr id="15" name="eq-5"/>
          <p:cNvSpPr txBox="1"/>
          <p:nvPr/>
        </p:nvSpPr>
        <p:spPr>
          <a:xfrm>
            <a:off x="8156448" y="1645920"/>
            <a:ext cx="3346704" cy="566928"/>
          </a:xfrm>
          <a:prstGeom prst="rect">
            <a:avLst/>
          </a:prstGeom>
          <a:noFill/>
          <a:ln/>
        </p:spPr>
        <p:txBody>
          <a:bodyPr wrap="square" lIns="0" tIns="0" rIns="0" bIns="0" rtlCol="0" anchor="ctr"/>
          <a:lstStyle/>
          <a:p>
            <a:pPr indent="0" marL="0">
              <a:buNone/>
            </a:pPr>
            <a:r>
              <a:rPr lang="en-US" sz="1600" i="1" dirty="0">
                <a:solidFill>
                  <a:schemeClr val="tx1"/>
                </a:solidFill>
              </a:rPr>
              <a:t>ε = ½ (∇u + (∇u)</a:t>
            </a:r>
            <a:pPr indent="0" marL="0">
              <a:buNone/>
            </a:pPr>
            <a:r>
              <a:rPr lang="en-US" sz="1600" i="1" baseline="30000" dirty="0">
                <a:solidFill>
                  <a:schemeClr val="tx1"/>
                </a:solidFill>
              </a:rPr>
              <a:t>T</a:t>
            </a:r>
            <a:pPr indent="0" marL="0">
              <a:buNone/>
            </a:pPr>
            <a:r>
              <a:rPr lang="en-US" sz="1600" i="1" dirty="0">
                <a:solidFill>
                  <a:schemeClr val="tx1"/>
                </a:solidFill>
              </a:rPr>
              <a:t>)</a:t>
            </a:r>
            <a:endParaRPr lang="en-US" sz="1600" dirty="0"/>
          </a:p>
        </p:txBody>
      </p:sp>
      <p:sp>
        <p:nvSpPr>
          <p:cNvPr id="16" name="card-292"/>
          <p:cNvSpPr/>
          <p:nvPr/>
        </p:nvSpPr>
        <p:spPr>
          <a:xfrm>
            <a:off x="6190488" y="2286000"/>
            <a:ext cx="5449824" cy="566928"/>
          </a:xfrm>
          <a:prstGeom prst="roundRect">
            <a:avLst>
              <a:gd name="adj" fmla="val 16129"/>
            </a:avLst>
          </a:prstGeom>
          <a:solidFill>
            <a:schemeClr val="bg2"/>
          </a:solidFill>
          <a:ln w="6350">
            <a:solidFill>
              <a:schemeClr val="bg2"/>
            </a:solidFill>
            <a:prstDash val="solid"/>
          </a:ln>
        </p:spPr>
      </p:sp>
      <p:sp>
        <p:nvSpPr>
          <p:cNvPr id="17" name="eq-label-6"/>
          <p:cNvSpPr txBox="1"/>
          <p:nvPr/>
        </p:nvSpPr>
        <p:spPr>
          <a:xfrm>
            <a:off x="6373368" y="228600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Shear component</a:t>
            </a:r>
            <a:endParaRPr lang="en-US" sz="1200" dirty="0"/>
          </a:p>
        </p:txBody>
      </p:sp>
      <p:sp>
        <p:nvSpPr>
          <p:cNvPr id="18" name="eq-6"/>
          <p:cNvSpPr txBox="1"/>
          <p:nvPr/>
        </p:nvSpPr>
        <p:spPr>
          <a:xfrm>
            <a:off x="8156448" y="2286000"/>
            <a:ext cx="3346704" cy="566928"/>
          </a:xfrm>
          <a:prstGeom prst="rect">
            <a:avLst/>
          </a:prstGeom>
          <a:noFill/>
          <a:ln/>
        </p:spPr>
        <p:txBody>
          <a:bodyPr wrap="square" lIns="0" tIns="0" rIns="0" bIns="0" rtlCol="0" anchor="ctr"/>
          <a:lstStyle/>
          <a:p>
            <a:pPr indent="0" marL="0">
              <a:buNone/>
            </a:pPr>
            <a:r>
              <a:rPr lang="en-US" sz="1600" i="1" dirty="0">
                <a:solidFill>
                  <a:schemeClr val="tx1"/>
                </a:solidFill>
              </a:rPr>
              <a:t>ε</a:t>
            </a:r>
            <a:pPr indent="0" marL="0">
              <a:buNone/>
            </a:pPr>
            <a:r>
              <a:rPr lang="en-US" sz="1600" i="1" baseline="-40000" dirty="0">
                <a:solidFill>
                  <a:schemeClr val="tx1"/>
                </a:solidFill>
              </a:rPr>
              <a:t>xy</a:t>
            </a:r>
            <a:pPr indent="0" marL="0">
              <a:buNone/>
            </a:pPr>
            <a:r>
              <a:rPr lang="en-US" sz="1600" i="1" dirty="0">
                <a:solidFill>
                  <a:schemeClr val="tx1"/>
                </a:solidFill>
              </a:rPr>
              <a:t> = ½ (∂u/∂y + ∂v/∂x)</a:t>
            </a:r>
            <a:endParaRPr lang="en-US" sz="1600" dirty="0"/>
          </a:p>
        </p:txBody>
      </p:sp>
      <p:sp>
        <p:nvSpPr>
          <p:cNvPr id="19" name="card-293"/>
          <p:cNvSpPr/>
          <p:nvPr/>
        </p:nvSpPr>
        <p:spPr>
          <a:xfrm>
            <a:off x="6190488" y="2926080"/>
            <a:ext cx="5449824" cy="566928"/>
          </a:xfrm>
          <a:prstGeom prst="roundRect">
            <a:avLst>
              <a:gd name="adj" fmla="val 16129"/>
            </a:avLst>
          </a:prstGeom>
          <a:solidFill>
            <a:schemeClr val="bg2"/>
          </a:solidFill>
          <a:ln w="6350">
            <a:solidFill>
              <a:schemeClr val="bg2"/>
            </a:solidFill>
            <a:prstDash val="solid"/>
          </a:ln>
        </p:spPr>
      </p:sp>
      <p:sp>
        <p:nvSpPr>
          <p:cNvPr id="20" name="eq-label-7"/>
          <p:cNvSpPr txBox="1"/>
          <p:nvPr/>
        </p:nvSpPr>
        <p:spPr>
          <a:xfrm>
            <a:off x="6373368" y="292608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Magnitude used</a:t>
            </a:r>
            <a:endParaRPr lang="en-US" sz="1200" dirty="0"/>
          </a:p>
        </p:txBody>
      </p:sp>
      <p:sp>
        <p:nvSpPr>
          <p:cNvPr id="21" name="eq-7"/>
          <p:cNvSpPr txBox="1"/>
          <p:nvPr/>
        </p:nvSpPr>
        <p:spPr>
          <a:xfrm>
            <a:off x="8156448" y="2926080"/>
            <a:ext cx="3346704" cy="566928"/>
          </a:xfrm>
          <a:prstGeom prst="rect">
            <a:avLst/>
          </a:prstGeom>
          <a:noFill/>
          <a:ln/>
        </p:spPr>
        <p:txBody>
          <a:bodyPr wrap="square" lIns="0" tIns="0" rIns="0" bIns="0" rtlCol="0" anchor="ctr"/>
          <a:lstStyle/>
          <a:p>
            <a:pPr indent="0" marL="0">
              <a:buNone/>
            </a:pPr>
            <a:r>
              <a:rPr lang="en-US" sz="1600" i="1" dirty="0">
                <a:solidFill>
                  <a:schemeClr val="tx1"/>
                </a:solidFill>
              </a:rPr>
              <a:t>ε</a:t>
            </a:r>
            <a:pPr indent="0" marL="0">
              <a:buNone/>
            </a:pPr>
            <a:r>
              <a:rPr lang="en-US" sz="1600" i="1" baseline="-40000" dirty="0">
                <a:solidFill>
                  <a:schemeClr val="tx1"/>
                </a:solidFill>
              </a:rPr>
              <a:t>mag</a:t>
            </a:r>
            <a:pPr indent="0" marL="0">
              <a:buNone/>
            </a:pPr>
            <a:r>
              <a:rPr lang="en-US" sz="1600" i="1" dirty="0">
                <a:solidFill>
                  <a:schemeClr val="tx1"/>
                </a:solidFill>
              </a:rPr>
              <a:t> = √(ε</a:t>
            </a:r>
            <a:pPr indent="0" marL="0">
              <a:buNone/>
            </a:pPr>
            <a:r>
              <a:rPr lang="en-US" sz="1600" i="1" baseline="-40000" dirty="0">
                <a:solidFill>
                  <a:schemeClr val="tx1"/>
                </a:solidFill>
              </a:rPr>
              <a:t>xx</a:t>
            </a:r>
            <a:pPr indent="0" marL="0">
              <a:buNone/>
            </a:pPr>
            <a:r>
              <a:rPr lang="en-US" sz="1600" i="1" baseline="30000" dirty="0">
                <a:solidFill>
                  <a:schemeClr val="tx1"/>
                </a:solidFill>
              </a:rPr>
              <a:t>2</a:t>
            </a:r>
            <a:pPr indent="0" marL="0">
              <a:buNone/>
            </a:pPr>
            <a:r>
              <a:rPr lang="en-US" sz="1600" i="1" dirty="0">
                <a:solidFill>
                  <a:schemeClr val="tx1"/>
                </a:solidFill>
              </a:rPr>
              <a:t> + ε</a:t>
            </a:r>
            <a:pPr indent="0" marL="0">
              <a:buNone/>
            </a:pPr>
            <a:r>
              <a:rPr lang="en-US" sz="1600" i="1" baseline="-40000" dirty="0">
                <a:solidFill>
                  <a:schemeClr val="tx1"/>
                </a:solidFill>
              </a:rPr>
              <a:t>yy</a:t>
            </a:r>
            <a:pPr indent="0" marL="0">
              <a:buNone/>
            </a:pPr>
            <a:r>
              <a:rPr lang="en-US" sz="1600" i="1" baseline="30000" dirty="0">
                <a:solidFill>
                  <a:schemeClr val="tx1"/>
                </a:solidFill>
              </a:rPr>
              <a:t>2</a:t>
            </a:r>
            <a:pPr indent="0" marL="0">
              <a:buNone/>
            </a:pPr>
            <a:r>
              <a:rPr lang="en-US" sz="1600" i="1" dirty="0">
                <a:solidFill>
                  <a:schemeClr val="tx1"/>
                </a:solidFill>
              </a:rPr>
              <a:t> + ε</a:t>
            </a:r>
            <a:pPr indent="0" marL="0">
              <a:buNone/>
            </a:pPr>
            <a:r>
              <a:rPr lang="en-US" sz="1600" i="1" baseline="-40000" dirty="0">
                <a:solidFill>
                  <a:schemeClr val="tx1"/>
                </a:solidFill>
              </a:rPr>
              <a:t>xy</a:t>
            </a:r>
            <a:pPr indent="0" marL="0">
              <a:buNone/>
            </a:pPr>
            <a:r>
              <a:rPr lang="en-US" sz="1600" i="1" baseline="30000" dirty="0">
                <a:solidFill>
                  <a:schemeClr val="tx1"/>
                </a:solidFill>
              </a:rPr>
              <a:t>2</a:t>
            </a:r>
            <a:pPr indent="0" marL="0">
              <a:buNone/>
            </a:pPr>
            <a:r>
              <a:rPr lang="en-US" sz="1600" i="1" dirty="0">
                <a:solidFill>
                  <a:schemeClr val="tx1"/>
                </a:solidFill>
              </a:rPr>
              <a:t>)</a:t>
            </a:r>
            <a:endParaRPr lang="en-US" sz="1600" dirty="0"/>
          </a:p>
        </p:txBody>
      </p:sp>
      <p:sp>
        <p:nvSpPr>
          <p:cNvPr id="22" name="text-294"/>
          <p:cNvSpPr txBox="1"/>
          <p:nvPr/>
        </p:nvSpPr>
        <p:spPr>
          <a:xfrm>
            <a:off x="6190488" y="3657600"/>
            <a:ext cx="5449824" cy="201168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Normal components: ∂u/∂x (horizontal) and ∂v/∂y (vertical)</a:t>
            </a:r>
            <a:endParaRPr lang="en-US" sz="1650" dirty="0"/>
          </a:p>
          <a:p>
            <a:pPr marL="342900" indent="-342900">
              <a:spcAft>
                <a:spcPts val="500"/>
              </a:spcAft>
              <a:buSzPct val="100000"/>
              <a:buChar char="•"/>
            </a:pPr>
            <a:r>
              <a:rPr lang="en-US" sz="1400" dirty="0">
                <a:solidFill>
                  <a:schemeClr val="tx1"/>
                </a:solidFill>
              </a:rPr>
              <a:t>A spatially uniform translation has zero strain</a:t>
            </a:r>
            <a:endParaRPr lang="en-US" sz="1650" dirty="0"/>
          </a:p>
          <a:p>
            <a:pPr marL="342900" indent="-342900">
              <a:spcAft>
                <a:spcPts val="500"/>
              </a:spcAft>
              <a:buSzPct val="100000"/>
              <a:buChar char="•"/>
            </a:pPr>
            <a:r>
              <a:rPr lang="en-US" sz="1400" dirty="0">
                <a:solidFill>
                  <a:schemeClr val="tx1"/>
                </a:solidFill>
              </a:rPr>
              <a:t>Shear is counted once; the Frobenius norm of Liong et al. counts it twice</a:t>
            </a:r>
            <a:endParaRPr lang="en-US" sz="1650" dirty="0"/>
          </a:p>
          <a:p>
            <a:pPr marL="342900" indent="-342900">
              <a:spcAft>
                <a:spcPts val="500"/>
              </a:spcAft>
              <a:buSzPct val="100000"/>
              <a:buChar char="•"/>
            </a:pPr>
            <a:r>
              <a:rPr lang="en-US" sz="1400" dirty="0">
                <a:solidFill>
                  <a:schemeClr val="tx1"/>
                </a:solidFill>
              </a:rPr>
              <a:t>No dedicated strain filter is applied</a:t>
            </a:r>
            <a:endParaRPr lang="en-US" sz="1650" dirty="0"/>
          </a:p>
        </p:txBody>
      </p:sp>
      <p:sp>
        <p:nvSpPr>
          <p:cNvPr id="23" name="card-295"/>
          <p:cNvSpPr/>
          <p:nvPr/>
        </p:nvSpPr>
        <p:spPr>
          <a:xfrm>
            <a:off x="548640" y="5532120"/>
            <a:ext cx="11094415" cy="640080"/>
          </a:xfrm>
          <a:prstGeom prst="roundRect">
            <a:avLst>
              <a:gd name="adj" fmla="val 14286"/>
            </a:avLst>
          </a:prstGeom>
          <a:solidFill>
            <a:schemeClr val="tx2"/>
          </a:solidFill>
          <a:ln w="6350">
            <a:solidFill>
              <a:schemeClr val="tx2"/>
            </a:solidFill>
            <a:prstDash val="solid"/>
          </a:ln>
        </p:spPr>
      </p:sp>
      <p:sp>
        <p:nvSpPr>
          <p:cNvPr id="24" name="text-296"/>
          <p:cNvSpPr txBox="1"/>
          <p:nvPr/>
        </p:nvSpPr>
        <p:spPr>
          <a:xfrm>
            <a:off x="822960" y="5532120"/>
            <a:ext cx="10545775" cy="640080"/>
          </a:xfrm>
          <a:prstGeom prst="rect">
            <a:avLst/>
          </a:prstGeom>
          <a:noFill/>
          <a:ln/>
        </p:spPr>
        <p:txBody>
          <a:bodyPr wrap="square" lIns="0" tIns="0" rIns="0" bIns="0" rtlCol="0" anchor="ctr"/>
          <a:lstStyle/>
          <a:p>
            <a:pPr indent="0" marL="0">
              <a:buNone/>
            </a:pPr>
            <a:r>
              <a:rPr lang="en-US" sz="1400" b="1" dirty="0">
                <a:solidFill>
                  <a:schemeClr val="bg1"/>
                </a:solidFill>
              </a:rPr>
              <a:t>The two fields are stacked as [u, v, ε] and normalised per channel: min–max to [0, 1] per clip, then standardised when loaded.</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Temporal sampling and effective frame rate</a:t>
            </a:r>
            <a:endParaRPr lang="en-US" sz="3000" dirty="0"/>
          </a:p>
        </p:txBody>
      </p:sp>
      <p:sp>
        <p:nvSpPr>
          <p:cNvPr id="4" name="card-297"/>
          <p:cNvSpPr/>
          <p:nvPr/>
        </p:nvSpPr>
        <p:spPr>
          <a:xfrm>
            <a:off x="548640" y="1371600"/>
            <a:ext cx="2624328" cy="1828800"/>
          </a:xfrm>
          <a:prstGeom prst="roundRect">
            <a:avLst>
              <a:gd name="adj" fmla="val 5000"/>
            </a:avLst>
          </a:prstGeom>
          <a:solidFill>
            <a:schemeClr val="bg2"/>
          </a:solidFill>
          <a:ln w="6350">
            <a:solidFill>
              <a:schemeClr val="bg2"/>
            </a:solidFill>
            <a:prstDash val="solid"/>
          </a:ln>
        </p:spPr>
      </p:sp>
      <p:sp>
        <p:nvSpPr>
          <p:cNvPr id="5" name="text-298"/>
          <p:cNvSpPr txBox="1"/>
          <p:nvPr/>
        </p:nvSpPr>
        <p:spPr>
          <a:xfrm>
            <a:off x="731520" y="1463040"/>
            <a:ext cx="2258568" cy="685800"/>
          </a:xfrm>
          <a:prstGeom prst="rect">
            <a:avLst/>
          </a:prstGeom>
          <a:noFill/>
          <a:ln/>
        </p:spPr>
        <p:txBody>
          <a:bodyPr wrap="square" lIns="0" tIns="0" rIns="0" bIns="0" rtlCol="0" anchor="ctr"/>
          <a:lstStyle/>
          <a:p>
            <a:pPr indent="0" marL="0">
              <a:buNone/>
            </a:pPr>
            <a:r>
              <a:rPr lang="en-US" sz="3000" b="1" dirty="0">
                <a:solidFill>
                  <a:schemeClr val="accent1"/>
                </a:solidFill>
              </a:rPr>
              <a:t>31–126</a:t>
            </a:r>
            <a:endParaRPr lang="en-US" sz="3000" dirty="0"/>
          </a:p>
        </p:txBody>
      </p:sp>
      <p:sp>
        <p:nvSpPr>
          <p:cNvPr id="6" name="text-299"/>
          <p:cNvSpPr txBox="1"/>
          <p:nvPr/>
        </p:nvSpPr>
        <p:spPr>
          <a:xfrm>
            <a:off x="731520" y="2148840"/>
            <a:ext cx="2258568" cy="320040"/>
          </a:xfrm>
          <a:prstGeom prst="rect">
            <a:avLst/>
          </a:prstGeom>
          <a:noFill/>
          <a:ln/>
        </p:spPr>
        <p:txBody>
          <a:bodyPr wrap="square" lIns="0" tIns="0" rIns="0" bIns="0" rtlCol="0" anchor="t"/>
          <a:lstStyle/>
          <a:p>
            <a:pPr indent="0" marL="0">
              <a:buNone/>
            </a:pPr>
            <a:r>
              <a:rPr lang="en-US" sz="1450" b="1" dirty="0">
                <a:solidFill>
                  <a:schemeClr val="tx2"/>
                </a:solidFill>
              </a:rPr>
              <a:t>frames per clip</a:t>
            </a:r>
            <a:endParaRPr lang="en-US" sz="1450" dirty="0"/>
          </a:p>
        </p:txBody>
      </p:sp>
      <p:sp>
        <p:nvSpPr>
          <p:cNvPr id="7" name="text-300"/>
          <p:cNvSpPr txBox="1"/>
          <p:nvPr/>
        </p:nvSpPr>
        <p:spPr>
          <a:xfrm>
            <a:off x="731520" y="2487168"/>
            <a:ext cx="2258568" cy="640080"/>
          </a:xfrm>
          <a:prstGeom prst="rect">
            <a:avLst/>
          </a:prstGeom>
          <a:noFill/>
          <a:ln/>
        </p:spPr>
        <p:txBody>
          <a:bodyPr wrap="square" lIns="0" tIns="0" rIns="0" bIns="0" rtlCol="0" anchor="t"/>
          <a:lstStyle/>
          <a:p>
            <a:pPr indent="0" marL="0">
              <a:buNone/>
            </a:pPr>
            <a:r>
              <a:rPr lang="en-US" sz="1250" dirty="0">
                <a:solidFill>
                  <a:schemeClr val="tx1"/>
                </a:solidFill>
              </a:rPr>
              <a:t>median 66; 0.155 to 0.63 s at 200 fps</a:t>
            </a:r>
            <a:endParaRPr lang="en-US" sz="1250" dirty="0"/>
          </a:p>
        </p:txBody>
      </p:sp>
      <p:sp>
        <p:nvSpPr>
          <p:cNvPr id="8" name="card-301"/>
          <p:cNvSpPr/>
          <p:nvPr/>
        </p:nvSpPr>
        <p:spPr>
          <a:xfrm>
            <a:off x="3371393" y="1371600"/>
            <a:ext cx="2624328" cy="1828800"/>
          </a:xfrm>
          <a:prstGeom prst="roundRect">
            <a:avLst>
              <a:gd name="adj" fmla="val 5000"/>
            </a:avLst>
          </a:prstGeom>
          <a:solidFill>
            <a:schemeClr val="bg2"/>
          </a:solidFill>
          <a:ln w="6350">
            <a:solidFill>
              <a:schemeClr val="bg2"/>
            </a:solidFill>
            <a:prstDash val="solid"/>
          </a:ln>
        </p:spPr>
      </p:sp>
      <p:sp>
        <p:nvSpPr>
          <p:cNvPr id="9" name="text-302"/>
          <p:cNvSpPr txBox="1"/>
          <p:nvPr/>
        </p:nvSpPr>
        <p:spPr>
          <a:xfrm>
            <a:off x="3554273" y="1463040"/>
            <a:ext cx="2258568" cy="685800"/>
          </a:xfrm>
          <a:prstGeom prst="rect">
            <a:avLst/>
          </a:prstGeom>
          <a:noFill/>
          <a:ln/>
        </p:spPr>
        <p:txBody>
          <a:bodyPr wrap="square" lIns="0" tIns="0" rIns="0" bIns="0" rtlCol="0" anchor="ctr"/>
          <a:lstStyle/>
          <a:p>
            <a:pPr indent="0" marL="0">
              <a:buNone/>
            </a:pPr>
            <a:r>
              <a:rPr lang="en-US" sz="3000" b="1" dirty="0">
                <a:solidFill>
                  <a:schemeClr val="accent1"/>
                </a:solidFill>
              </a:rPr>
              <a:t>33</a:t>
            </a:r>
            <a:endParaRPr lang="en-US" sz="3000" dirty="0"/>
          </a:p>
        </p:txBody>
      </p:sp>
      <p:sp>
        <p:nvSpPr>
          <p:cNvPr id="10" name="text-303"/>
          <p:cNvSpPr txBox="1"/>
          <p:nvPr/>
        </p:nvSpPr>
        <p:spPr>
          <a:xfrm>
            <a:off x="3554273" y="2148840"/>
            <a:ext cx="2258568" cy="320040"/>
          </a:xfrm>
          <a:prstGeom prst="rect">
            <a:avLst/>
          </a:prstGeom>
          <a:noFill/>
          <a:ln/>
        </p:spPr>
        <p:txBody>
          <a:bodyPr wrap="square" lIns="0" tIns="0" rIns="0" bIns="0" rtlCol="0" anchor="t"/>
          <a:lstStyle/>
          <a:p>
            <a:pPr indent="0" marL="0">
              <a:buNone/>
            </a:pPr>
            <a:r>
              <a:rPr lang="en-US" sz="1450" b="1" dirty="0">
                <a:solidFill>
                  <a:schemeClr val="tx2"/>
                </a:solidFill>
              </a:rPr>
              <a:t>frames sampled</a:t>
            </a:r>
            <a:endParaRPr lang="en-US" sz="1450" dirty="0"/>
          </a:p>
        </p:txBody>
      </p:sp>
      <p:sp>
        <p:nvSpPr>
          <p:cNvPr id="11" name="text-304"/>
          <p:cNvSpPr txBox="1"/>
          <p:nvPr/>
        </p:nvSpPr>
        <p:spPr>
          <a:xfrm>
            <a:off x="3554273" y="2487168"/>
            <a:ext cx="2258568" cy="640080"/>
          </a:xfrm>
          <a:prstGeom prst="rect">
            <a:avLst/>
          </a:prstGeom>
          <a:noFill/>
          <a:ln/>
        </p:spPr>
        <p:txBody>
          <a:bodyPr wrap="square" lIns="0" tIns="0" rIns="0" bIns="0" rtlCol="0" anchor="t"/>
          <a:lstStyle/>
          <a:p>
            <a:pPr indent="0" marL="0">
              <a:buNone/>
            </a:pPr>
            <a:r>
              <a:rPr lang="en-US" sz="1250" dirty="0">
                <a:solidFill>
                  <a:schemeClr val="tx1"/>
                </a:solidFill>
              </a:rPr>
              <a:t>uniformly from onset to offset</a:t>
            </a:r>
            <a:endParaRPr lang="en-US" sz="1250" dirty="0"/>
          </a:p>
        </p:txBody>
      </p:sp>
      <p:sp>
        <p:nvSpPr>
          <p:cNvPr id="12" name="card-305"/>
          <p:cNvSpPr/>
          <p:nvPr/>
        </p:nvSpPr>
        <p:spPr>
          <a:xfrm>
            <a:off x="6194146" y="1371600"/>
            <a:ext cx="2624328" cy="1828800"/>
          </a:xfrm>
          <a:prstGeom prst="roundRect">
            <a:avLst>
              <a:gd name="adj" fmla="val 5000"/>
            </a:avLst>
          </a:prstGeom>
          <a:solidFill>
            <a:schemeClr val="tx2"/>
          </a:solidFill>
          <a:ln w="6350">
            <a:solidFill>
              <a:schemeClr val="tx2"/>
            </a:solidFill>
            <a:prstDash val="solid"/>
          </a:ln>
        </p:spPr>
      </p:sp>
      <p:sp>
        <p:nvSpPr>
          <p:cNvPr id="13" name="text-306"/>
          <p:cNvSpPr txBox="1"/>
          <p:nvPr/>
        </p:nvSpPr>
        <p:spPr>
          <a:xfrm>
            <a:off x="6377026" y="1463040"/>
            <a:ext cx="2258568" cy="685800"/>
          </a:xfrm>
          <a:prstGeom prst="rect">
            <a:avLst/>
          </a:prstGeom>
          <a:noFill/>
          <a:ln/>
        </p:spPr>
        <p:txBody>
          <a:bodyPr wrap="square" lIns="0" tIns="0" rIns="0" bIns="0" rtlCol="0" anchor="ctr"/>
          <a:lstStyle/>
          <a:p>
            <a:pPr indent="0" marL="0">
              <a:buNone/>
            </a:pPr>
            <a:r>
              <a:rPr lang="en-US" sz="3000" b="1" dirty="0">
                <a:solidFill>
                  <a:schemeClr val="accent2"/>
                </a:solidFill>
              </a:rPr>
              <a:t>100 fps</a:t>
            </a:r>
            <a:endParaRPr lang="en-US" sz="3000" dirty="0"/>
          </a:p>
        </p:txBody>
      </p:sp>
      <p:sp>
        <p:nvSpPr>
          <p:cNvPr id="14" name="text-307"/>
          <p:cNvSpPr txBox="1"/>
          <p:nvPr/>
        </p:nvSpPr>
        <p:spPr>
          <a:xfrm>
            <a:off x="6377026" y="2148840"/>
            <a:ext cx="2258568" cy="320040"/>
          </a:xfrm>
          <a:prstGeom prst="rect">
            <a:avLst/>
          </a:prstGeom>
          <a:noFill/>
          <a:ln/>
        </p:spPr>
        <p:txBody>
          <a:bodyPr wrap="square" lIns="0" tIns="0" rIns="0" bIns="0" rtlCol="0" anchor="t"/>
          <a:lstStyle/>
          <a:p>
            <a:pPr indent="0" marL="0">
              <a:buNone/>
            </a:pPr>
            <a:r>
              <a:rPr lang="en-US" sz="1450" b="1" dirty="0">
                <a:solidFill>
                  <a:schemeClr val="bg1"/>
                </a:solidFill>
              </a:rPr>
              <a:t>effective rate</a:t>
            </a:r>
            <a:endParaRPr lang="en-US" sz="1450" dirty="0"/>
          </a:p>
        </p:txBody>
      </p:sp>
      <p:sp>
        <p:nvSpPr>
          <p:cNvPr id="15" name="text-308"/>
          <p:cNvSpPr txBox="1"/>
          <p:nvPr/>
        </p:nvSpPr>
        <p:spPr>
          <a:xfrm>
            <a:off x="6377026" y="2487168"/>
            <a:ext cx="2258568" cy="640080"/>
          </a:xfrm>
          <a:prstGeom prst="rect">
            <a:avLst/>
          </a:prstGeom>
          <a:noFill/>
          <a:ln/>
        </p:spPr>
        <p:txBody>
          <a:bodyPr wrap="square" lIns="0" tIns="0" rIns="0" bIns="0" rtlCol="0" anchor="t"/>
          <a:lstStyle/>
          <a:p>
            <a:pPr indent="0" marL="0">
              <a:buNone/>
            </a:pPr>
            <a:r>
              <a:rPr lang="en-US" sz="1250" dirty="0">
                <a:solidFill>
                  <a:schemeClr val="bg1"/>
                </a:solidFill>
              </a:rPr>
              <a:t>at the median length; about 52 fps for the longest clip</a:t>
            </a:r>
            <a:endParaRPr lang="en-US" sz="1250" dirty="0"/>
          </a:p>
        </p:txBody>
      </p:sp>
      <p:sp>
        <p:nvSpPr>
          <p:cNvPr id="16" name="card-309"/>
          <p:cNvSpPr/>
          <p:nvPr/>
        </p:nvSpPr>
        <p:spPr>
          <a:xfrm>
            <a:off x="9016898" y="1371600"/>
            <a:ext cx="2624328" cy="1828800"/>
          </a:xfrm>
          <a:prstGeom prst="roundRect">
            <a:avLst>
              <a:gd name="adj" fmla="val 5000"/>
            </a:avLst>
          </a:prstGeom>
          <a:solidFill>
            <a:schemeClr val="bg2"/>
          </a:solidFill>
          <a:ln w="6350">
            <a:solidFill>
              <a:schemeClr val="bg2"/>
            </a:solidFill>
            <a:prstDash val="solid"/>
          </a:ln>
        </p:spPr>
      </p:sp>
      <p:sp>
        <p:nvSpPr>
          <p:cNvPr id="17" name="text-310"/>
          <p:cNvSpPr txBox="1"/>
          <p:nvPr/>
        </p:nvSpPr>
        <p:spPr>
          <a:xfrm>
            <a:off x="9199778" y="1463040"/>
            <a:ext cx="2258568" cy="685800"/>
          </a:xfrm>
          <a:prstGeom prst="rect">
            <a:avLst/>
          </a:prstGeom>
          <a:noFill/>
          <a:ln/>
        </p:spPr>
        <p:txBody>
          <a:bodyPr wrap="square" lIns="0" tIns="0" rIns="0" bIns="0" rtlCol="0" anchor="ctr"/>
          <a:lstStyle/>
          <a:p>
            <a:pPr indent="0" marL="0">
              <a:buNone/>
            </a:pPr>
            <a:r>
              <a:rPr lang="en-US" sz="3000" b="1" dirty="0">
                <a:solidFill>
                  <a:schemeClr val="accent1"/>
                </a:solidFill>
              </a:rPr>
              <a:t>81 / 156</a:t>
            </a:r>
            <a:endParaRPr lang="en-US" sz="3000" dirty="0"/>
          </a:p>
        </p:txBody>
      </p:sp>
      <p:sp>
        <p:nvSpPr>
          <p:cNvPr id="18" name="text-311"/>
          <p:cNvSpPr txBox="1"/>
          <p:nvPr/>
        </p:nvSpPr>
        <p:spPr>
          <a:xfrm>
            <a:off x="9199778" y="2148840"/>
            <a:ext cx="2258568" cy="320040"/>
          </a:xfrm>
          <a:prstGeom prst="rect">
            <a:avLst/>
          </a:prstGeom>
          <a:noFill/>
          <a:ln/>
        </p:spPr>
        <p:txBody>
          <a:bodyPr wrap="square" lIns="0" tIns="0" rIns="0" bIns="0" rtlCol="0" anchor="t"/>
          <a:lstStyle/>
          <a:p>
            <a:pPr indent="0" marL="0">
              <a:buNone/>
            </a:pPr>
            <a:r>
              <a:rPr lang="en-US" sz="1450" b="1" dirty="0">
                <a:solidFill>
                  <a:schemeClr val="tx2"/>
                </a:solidFill>
              </a:rPr>
              <a:t>clips</a:t>
            </a:r>
            <a:endParaRPr lang="en-US" sz="1450" dirty="0"/>
          </a:p>
        </p:txBody>
      </p:sp>
      <p:sp>
        <p:nvSpPr>
          <p:cNvPr id="19" name="text-312"/>
          <p:cNvSpPr txBox="1"/>
          <p:nvPr/>
        </p:nvSpPr>
        <p:spPr>
          <a:xfrm>
            <a:off x="9199778" y="2487168"/>
            <a:ext cx="2258568" cy="640080"/>
          </a:xfrm>
          <a:prstGeom prst="rect">
            <a:avLst/>
          </a:prstGeom>
          <a:noFill/>
          <a:ln/>
        </p:spPr>
        <p:txBody>
          <a:bodyPr wrap="square" lIns="0" tIns="0" rIns="0" bIns="0" rtlCol="0" anchor="t"/>
          <a:lstStyle/>
          <a:p>
            <a:pPr indent="0" marL="0">
              <a:buNone/>
            </a:pPr>
            <a:r>
              <a:rPr lang="en-US" sz="1250" dirty="0">
                <a:solidFill>
                  <a:schemeClr val="tx1"/>
                </a:solidFill>
              </a:rPr>
              <a:t>downsampled by a factor of two or more</a:t>
            </a:r>
            <a:endParaRPr lang="en-US" sz="1250" dirty="0"/>
          </a:p>
        </p:txBody>
      </p:sp>
      <p:sp>
        <p:nvSpPr>
          <p:cNvPr id="20" name="text-313"/>
          <p:cNvSpPr txBox="1"/>
          <p:nvPr/>
        </p:nvSpPr>
        <p:spPr>
          <a:xfrm>
            <a:off x="548640" y="3429000"/>
            <a:ext cx="5394960" cy="320040"/>
          </a:xfrm>
          <a:prstGeom prst="rect">
            <a:avLst/>
          </a:prstGeom>
          <a:noFill/>
          <a:ln/>
        </p:spPr>
        <p:txBody>
          <a:bodyPr wrap="square" lIns="0" tIns="0" rIns="0" bIns="0" rtlCol="0" anchor="t"/>
          <a:lstStyle/>
          <a:p>
            <a:pPr indent="0" marL="0">
              <a:buNone/>
            </a:pPr>
            <a:r>
              <a:rPr lang="en-US" sz="1650" b="1" dirty="0">
                <a:solidFill>
                  <a:schemeClr val="accent1"/>
                </a:solidFill>
              </a:rPr>
              <a:t>In this thesis</a:t>
            </a:r>
            <a:endParaRPr lang="en-US" sz="1650" dirty="0"/>
          </a:p>
        </p:txBody>
      </p:sp>
      <p:sp>
        <p:nvSpPr>
          <p:cNvPr id="21" name="text-314"/>
          <p:cNvSpPr txBox="1"/>
          <p:nvPr/>
        </p:nvSpPr>
        <p:spPr>
          <a:xfrm>
            <a:off x="548640" y="3794760"/>
            <a:ext cx="5449824" cy="2286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Effective frame rate after sampling: 6600 / N for a clip of N frames</a:t>
            </a:r>
            <a:endParaRPr lang="en-US" sz="1650" dirty="0"/>
          </a:p>
          <a:p>
            <a:pPr marL="342900" indent="-342900">
              <a:spcAft>
                <a:spcPts val="500"/>
              </a:spcAft>
              <a:buSzPct val="100000"/>
              <a:buChar char="•"/>
            </a:pPr>
            <a:r>
              <a:rPr lang="en-US" sz="1400" dirty="0">
                <a:solidFill>
                  <a:schemeClr val="tx1"/>
                </a:solidFill>
              </a:rPr>
              <a:t>Uniform index sampling of existing frames; no Temporal Interpolation Model</a:t>
            </a:r>
            <a:endParaRPr lang="en-US" sz="1650" dirty="0"/>
          </a:p>
          <a:p>
            <a:pPr marL="342900" indent="-342900">
              <a:spcAft>
                <a:spcPts val="500"/>
              </a:spcAft>
              <a:buSzPct val="100000"/>
              <a:buChar char="•"/>
            </a:pPr>
            <a:r>
              <a:rPr lang="en-US" sz="1400" dirty="0">
                <a:solidFill>
                  <a:schemeClr val="tx1"/>
                </a:solidFill>
              </a:rPr>
              <a:t>Three clips have only 31 frames, so indices repeat and give near-zero flow</a:t>
            </a:r>
            <a:endParaRPr lang="en-US" sz="1650" dirty="0"/>
          </a:p>
          <a:p>
            <a:pPr marL="342900" indent="-342900">
              <a:spcAft>
                <a:spcPts val="500"/>
              </a:spcAft>
              <a:buSzPct val="100000"/>
              <a:buChar char="•"/>
            </a:pPr>
            <a:r>
              <a:rPr lang="en-US" sz="1400" dirty="0">
                <a:solidFill>
                  <a:schemeClr val="tx1"/>
                </a:solidFill>
              </a:rPr>
              <a:t>The length of 33 frames is not varied</a:t>
            </a:r>
            <a:endParaRPr lang="en-US" sz="1650" dirty="0"/>
          </a:p>
        </p:txBody>
      </p:sp>
      <p:sp>
        <p:nvSpPr>
          <p:cNvPr id="22" name="text-315"/>
          <p:cNvSpPr txBox="1"/>
          <p:nvPr/>
        </p:nvSpPr>
        <p:spPr>
          <a:xfrm>
            <a:off x="6190488" y="3429000"/>
            <a:ext cx="5394960" cy="320040"/>
          </a:xfrm>
          <a:prstGeom prst="rect">
            <a:avLst/>
          </a:prstGeom>
          <a:noFill/>
          <a:ln/>
        </p:spPr>
        <p:txBody>
          <a:bodyPr wrap="square" lIns="0" tIns="0" rIns="0" bIns="0" rtlCol="0" anchor="t"/>
          <a:lstStyle/>
          <a:p>
            <a:pPr indent="0" marL="0">
              <a:buNone/>
            </a:pPr>
            <a:r>
              <a:rPr lang="en-US" sz="1650" b="1" dirty="0">
                <a:solidFill>
                  <a:schemeClr val="accent1"/>
                </a:solidFill>
              </a:rPr>
              <a:t>In the reviewed literature</a:t>
            </a:r>
            <a:endParaRPr lang="en-US" sz="1650" dirty="0"/>
          </a:p>
        </p:txBody>
      </p:sp>
      <p:sp>
        <p:nvSpPr>
          <p:cNvPr id="23" name="text-316"/>
          <p:cNvSpPr txBox="1"/>
          <p:nvPr/>
        </p:nvSpPr>
        <p:spPr>
          <a:xfrm>
            <a:off x="6190488" y="3794760"/>
            <a:ext cx="5449824" cy="2286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Ten frames is a convention, not a finding</a:t>
            </a:r>
            <a:endParaRPr lang="en-US" sz="1650" dirty="0"/>
          </a:p>
          <a:p>
            <a:pPr marL="342900" indent="-342900">
              <a:spcAft>
                <a:spcPts val="500"/>
              </a:spcAft>
              <a:buSzPct val="100000"/>
              <a:buChar char="•"/>
            </a:pPr>
            <a:r>
              <a:rPr lang="en-US" sz="1400" dirty="0">
                <a:solidFill>
                  <a:schemeClr val="tx1"/>
                </a:solidFill>
              </a:rPr>
              <a:t>Li et al. report the best performance at 10 frames; Ben et al. at 60 frames</a:t>
            </a:r>
            <a:endParaRPr lang="en-US" sz="1650" dirty="0"/>
          </a:p>
          <a:p>
            <a:pPr marL="342900" indent="-342900">
              <a:spcAft>
                <a:spcPts val="500"/>
              </a:spcAft>
              <a:buSzPct val="100000"/>
              <a:buChar char="•"/>
            </a:pPr>
            <a:r>
              <a:rPr lang="en-US" sz="1400" dirty="0">
                <a:solidFill>
                  <a:schemeClr val="tx1"/>
                </a:solidFill>
              </a:rPr>
              <a:t>Xu et al. prefer linear interpolation to TIM for motion features, without comparing them</a:t>
            </a:r>
            <a:endParaRPr lang="en-US" sz="1650" dirty="0"/>
          </a:p>
          <a:p>
            <a:pPr marL="342900" indent="-342900">
              <a:spcAft>
                <a:spcPts val="500"/>
              </a:spcAft>
              <a:buSzPct val="100000"/>
              <a:buChar char="•"/>
            </a:pPr>
            <a:r>
              <a:rPr lang="en-US" sz="1400" dirty="0">
                <a:solidFill>
                  <a:schemeClr val="tx1"/>
                </a:solidFill>
              </a:rPr>
              <a:t>Frame synthesis conflicts with motion analysis: synthesised frames give synthesised displacements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Convolutional stream and SimAM in detail</a:t>
            </a:r>
            <a:endParaRPr lang="en-US" sz="3000" dirty="0"/>
          </a:p>
        </p:txBody>
      </p:sp>
      <p:graphicFrame>
        <p:nvGraphicFramePr>
          <p:cNvPr id="33" name="table-stem"/>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926080"/>
                <a:gridCol w="4206240"/>
                <a:gridCol w="3959352"/>
              </a:tblGrid>
              <a:tr h="384048">
                <a:tc>
                  <a:txBody>
                    <a:bodyPr/>
                    <a:lstStyle/>
                    <a:p>
                      <a:pPr algn="l" indent="0" marL="0">
                        <a:buNone/>
                      </a:pPr>
                      <a:r>
                        <a:rPr lang="en-US" sz="1200" b="1" dirty="0">
                          <a:solidFill>
                            <a:srgbClr val="FFFFFF"/>
                          </a:solidFill>
                        </a:rPr>
                        <a:t>Layer of one stream</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Configuration</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Output (channels × time × height × width)</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250" dirty="0">
                          <a:solidFill>
                            <a:srgbClr val="1B2B34"/>
                          </a:solidFill>
                        </a:rPr>
                        <a:t>3D convolution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16 filters, kernel (1, 3, 3), no bias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16 × 32 × 224 × 224</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dirty="0">
                          <a:solidFill>
                            <a:srgbClr val="1B2B34"/>
                          </a:solidFill>
                        </a:rPr>
                        <a:t>Normalisation, activation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batch norm, ReLU, 3D dropout (p = 0.3)</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16 × 32 × 224 × 224</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dirty="0">
                          <a:solidFill>
                            <a:srgbClr val="1B2B34"/>
                          </a:solidFill>
                        </a:rPr>
                        <a:t>3D convolution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32 filters, kernel (1, 3, 3), no bias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32 × 32 × 224 × 224</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dirty="0">
                          <a:solidFill>
                            <a:srgbClr val="1B2B34"/>
                          </a:solidFill>
                        </a:rPr>
                        <a:t>Normalisation, activation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batch norm, ReLU, 3D dropout (p = 0.3)</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32 × 32 × 224 × 224</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dirty="0">
                          <a:solidFill>
                            <a:srgbClr val="1B2B34"/>
                          </a:solidFill>
                        </a:rPr>
                        <a:t>3D max pooling</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kernel and stride (1, 2, 2)</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32 × 32 × 112 × 112</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text-317"/>
          <p:cNvSpPr txBox="1"/>
          <p:nvPr/>
        </p:nvSpPr>
        <p:spPr>
          <a:xfrm>
            <a:off x="548640" y="3703320"/>
            <a:ext cx="11094415" cy="320040"/>
          </a:xfrm>
          <a:prstGeom prst="rect">
            <a:avLst/>
          </a:prstGeom>
          <a:noFill/>
          <a:ln/>
        </p:spPr>
        <p:txBody>
          <a:bodyPr wrap="square" lIns="0" tIns="0" rIns="0" bIns="0" rtlCol="0" anchor="t"/>
          <a:lstStyle/>
          <a:p>
            <a:pPr indent="0" marL="0">
              <a:buNone/>
            </a:pPr>
            <a:r>
              <a:rPr lang="en-US" sz="1400" i="1" dirty="0">
                <a:solidFill>
                  <a:schemeClr val="tx2"/>
                </a:solidFill>
              </a:rPr>
              <a:t>Three streams, one per channel, are concatenated to 96 × 32 × 112 × 112. No kernel spans the temporal axis.</a:t>
            </a:r>
            <a:endParaRPr lang="en-US" sz="1400" dirty="0"/>
          </a:p>
        </p:txBody>
      </p:sp>
      <p:sp>
        <p:nvSpPr>
          <p:cNvPr id="6" name="card-318"/>
          <p:cNvSpPr/>
          <p:nvPr/>
        </p:nvSpPr>
        <p:spPr>
          <a:xfrm>
            <a:off x="548640" y="4160520"/>
            <a:ext cx="11094415" cy="566928"/>
          </a:xfrm>
          <a:prstGeom prst="roundRect">
            <a:avLst>
              <a:gd name="adj" fmla="val 16129"/>
            </a:avLst>
          </a:prstGeom>
          <a:solidFill>
            <a:schemeClr val="bg2"/>
          </a:solidFill>
          <a:ln w="6350">
            <a:solidFill>
              <a:schemeClr val="bg2"/>
            </a:solidFill>
            <a:prstDash val="solid"/>
          </a:ln>
        </p:spPr>
      </p:sp>
      <p:sp>
        <p:nvSpPr>
          <p:cNvPr id="7" name="eq-label-8"/>
          <p:cNvSpPr txBox="1"/>
          <p:nvPr/>
        </p:nvSpPr>
        <p:spPr>
          <a:xfrm>
            <a:off x="731520" y="416052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SimAM statistics</a:t>
            </a:r>
            <a:endParaRPr lang="en-US" sz="1200" dirty="0"/>
          </a:p>
        </p:txBody>
      </p:sp>
      <p:sp>
        <p:nvSpPr>
          <p:cNvPr id="8" name="eq-8"/>
          <p:cNvSpPr txBox="1"/>
          <p:nvPr/>
        </p:nvSpPr>
        <p:spPr>
          <a:xfrm>
            <a:off x="2514600" y="4160520"/>
            <a:ext cx="8991295" cy="566928"/>
          </a:xfrm>
          <a:prstGeom prst="rect">
            <a:avLst/>
          </a:prstGeom>
          <a:noFill/>
          <a:ln/>
        </p:spPr>
        <p:txBody>
          <a:bodyPr wrap="square" lIns="0" tIns="0" rIns="0" bIns="0" rtlCol="0" anchor="ctr"/>
          <a:lstStyle/>
          <a:p>
            <a:pPr indent="0" marL="0">
              <a:buNone/>
            </a:pPr>
            <a:r>
              <a:rPr lang="en-US" sz="1550" i="1" dirty="0">
                <a:solidFill>
                  <a:schemeClr val="tx1"/>
                </a:solidFill>
              </a:rPr>
              <a:t>μ = (1/M) Σ x</a:t>
            </a:r>
            <a:pPr indent="0" marL="0">
              <a:buNone/>
            </a:pPr>
            <a:r>
              <a:rPr lang="en-US" sz="1550" i="1" baseline="-40000" dirty="0">
                <a:solidFill>
                  <a:schemeClr val="tx1"/>
                </a:solidFill>
              </a:rPr>
              <a:t>i</a:t>
            </a:r>
            <a:pPr indent="0" marL="0">
              <a:buNone/>
            </a:pPr>
            <a:r>
              <a:rPr lang="en-US" sz="1550" i="1" dirty="0">
                <a:solidFill>
                  <a:schemeClr val="tx1"/>
                </a:solidFill>
              </a:rPr>
              <a:t> ,     v = (1/(M − 1)) Σ (x</a:t>
            </a:r>
            <a:pPr indent="0" marL="0">
              <a:buNone/>
            </a:pPr>
            <a:r>
              <a:rPr lang="en-US" sz="1550" i="1" baseline="-40000" dirty="0">
                <a:solidFill>
                  <a:schemeClr val="tx1"/>
                </a:solidFill>
              </a:rPr>
              <a:t>i</a:t>
            </a:r>
            <a:pPr indent="0" marL="0">
              <a:buNone/>
            </a:pPr>
            <a:r>
              <a:rPr lang="en-US" sz="1550" i="1" dirty="0">
                <a:solidFill>
                  <a:schemeClr val="tx1"/>
                </a:solidFill>
              </a:rPr>
              <a:t> − μ)</a:t>
            </a:r>
            <a:pPr indent="0" marL="0">
              <a:buNone/>
            </a:pPr>
            <a:r>
              <a:rPr lang="en-US" sz="1550" i="1" baseline="30000" dirty="0">
                <a:solidFill>
                  <a:schemeClr val="tx1"/>
                </a:solidFill>
              </a:rPr>
              <a:t>2</a:t>
            </a:r>
            <a:endParaRPr lang="en-US" sz="1550" dirty="0"/>
          </a:p>
        </p:txBody>
      </p:sp>
      <p:sp>
        <p:nvSpPr>
          <p:cNvPr id="9" name="card-319"/>
          <p:cNvSpPr/>
          <p:nvPr/>
        </p:nvSpPr>
        <p:spPr>
          <a:xfrm>
            <a:off x="548640" y="4800600"/>
            <a:ext cx="11094415" cy="566928"/>
          </a:xfrm>
          <a:prstGeom prst="roundRect">
            <a:avLst>
              <a:gd name="adj" fmla="val 16129"/>
            </a:avLst>
          </a:prstGeom>
          <a:solidFill>
            <a:schemeClr val="bg2"/>
          </a:solidFill>
          <a:ln w="6350">
            <a:solidFill>
              <a:schemeClr val="bg2"/>
            </a:solidFill>
            <a:prstDash val="solid"/>
          </a:ln>
        </p:spPr>
      </p:sp>
      <p:sp>
        <p:nvSpPr>
          <p:cNvPr id="10" name="eq-label-9"/>
          <p:cNvSpPr txBox="1"/>
          <p:nvPr/>
        </p:nvSpPr>
        <p:spPr>
          <a:xfrm>
            <a:off x="731520" y="480060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SimAM weight</a:t>
            </a:r>
            <a:endParaRPr lang="en-US" sz="1200" dirty="0"/>
          </a:p>
        </p:txBody>
      </p:sp>
      <p:sp>
        <p:nvSpPr>
          <p:cNvPr id="11" name="eq-9"/>
          <p:cNvSpPr txBox="1"/>
          <p:nvPr/>
        </p:nvSpPr>
        <p:spPr>
          <a:xfrm>
            <a:off x="2514600" y="4800600"/>
            <a:ext cx="8991295" cy="566928"/>
          </a:xfrm>
          <a:prstGeom prst="rect">
            <a:avLst/>
          </a:prstGeom>
          <a:noFill/>
          <a:ln/>
        </p:spPr>
        <p:txBody>
          <a:bodyPr wrap="square" lIns="0" tIns="0" rIns="0" bIns="0" rtlCol="0" anchor="ctr"/>
          <a:lstStyle/>
          <a:p>
            <a:pPr indent="0" marL="0">
              <a:buNone/>
            </a:pPr>
            <a:r>
              <a:rPr lang="en-US" sz="1550" i="1" dirty="0">
                <a:solidFill>
                  <a:schemeClr val="tx1"/>
                </a:solidFill>
              </a:rPr>
              <a:t>E</a:t>
            </a:r>
            <a:pPr indent="0" marL="0">
              <a:buNone/>
            </a:pPr>
            <a:r>
              <a:rPr lang="en-US" sz="1550" i="1" baseline="-40000" dirty="0">
                <a:solidFill>
                  <a:schemeClr val="tx1"/>
                </a:solidFill>
              </a:rPr>
              <a:t>i</a:t>
            </a:r>
            <a:pPr indent="0" marL="0">
              <a:buNone/>
            </a:pPr>
            <a:r>
              <a:rPr lang="en-US" sz="1550" i="1" baseline="30000" dirty="0">
                <a:solidFill>
                  <a:schemeClr val="tx1"/>
                </a:solidFill>
              </a:rPr>
              <a:t>−1</a:t>
            </a:r>
            <a:pPr indent="0" marL="0">
              <a:buNone/>
            </a:pPr>
            <a:r>
              <a:rPr lang="en-US" sz="1550" i="1" dirty="0">
                <a:solidFill>
                  <a:schemeClr val="tx1"/>
                </a:solidFill>
              </a:rPr>
              <a:t> = (x</a:t>
            </a:r>
            <a:pPr indent="0" marL="0">
              <a:buNone/>
            </a:pPr>
            <a:r>
              <a:rPr lang="en-US" sz="1550" i="1" baseline="-40000" dirty="0">
                <a:solidFill>
                  <a:schemeClr val="tx1"/>
                </a:solidFill>
              </a:rPr>
              <a:t>i</a:t>
            </a:r>
            <a:pPr indent="0" marL="0">
              <a:buNone/>
            </a:pPr>
            <a:r>
              <a:rPr lang="en-US" sz="1550" i="1" dirty="0">
                <a:solidFill>
                  <a:schemeClr val="tx1"/>
                </a:solidFill>
              </a:rPr>
              <a:t> − μ)</a:t>
            </a:r>
            <a:pPr indent="0" marL="0">
              <a:buNone/>
            </a:pPr>
            <a:r>
              <a:rPr lang="en-US" sz="1550" i="1" baseline="30000" dirty="0">
                <a:solidFill>
                  <a:schemeClr val="tx1"/>
                </a:solidFill>
              </a:rPr>
              <a:t>2</a:t>
            </a:r>
            <a:pPr indent="0" marL="0">
              <a:buNone/>
            </a:pPr>
            <a:r>
              <a:rPr lang="en-US" sz="1550" i="1" dirty="0">
                <a:solidFill>
                  <a:schemeClr val="tx1"/>
                </a:solidFill>
              </a:rPr>
              <a:t> / (4 (v + λ)) + ½ ,     x̃</a:t>
            </a:r>
            <a:pPr indent="0" marL="0">
              <a:buNone/>
            </a:pPr>
            <a:r>
              <a:rPr lang="en-US" sz="1550" i="1" baseline="-40000" dirty="0">
                <a:solidFill>
                  <a:schemeClr val="tx1"/>
                </a:solidFill>
              </a:rPr>
              <a:t>i</a:t>
            </a:r>
            <a:pPr indent="0" marL="0">
              <a:buNone/>
            </a:pPr>
            <a:r>
              <a:rPr lang="en-US" sz="1550" i="1" dirty="0">
                <a:solidFill>
                  <a:schemeClr val="tx1"/>
                </a:solidFill>
              </a:rPr>
              <a:t> = x</a:t>
            </a:r>
            <a:pPr indent="0" marL="0">
              <a:buNone/>
            </a:pPr>
            <a:r>
              <a:rPr lang="en-US" sz="1550" i="1" baseline="-40000" dirty="0">
                <a:solidFill>
                  <a:schemeClr val="tx1"/>
                </a:solidFill>
              </a:rPr>
              <a:t>i</a:t>
            </a:r>
            <a:pPr indent="0" marL="0">
              <a:buNone/>
            </a:pPr>
            <a:r>
              <a:rPr lang="en-US" sz="1550" i="1" dirty="0">
                <a:solidFill>
                  <a:schemeClr val="tx1"/>
                </a:solidFill>
              </a:rPr>
              <a:t> · sigmoid(E</a:t>
            </a:r>
            <a:pPr indent="0" marL="0">
              <a:buNone/>
            </a:pPr>
            <a:r>
              <a:rPr lang="en-US" sz="1550" i="1" baseline="-40000" dirty="0">
                <a:solidFill>
                  <a:schemeClr val="tx1"/>
                </a:solidFill>
              </a:rPr>
              <a:t>i</a:t>
            </a:r>
            <a:pPr indent="0" marL="0">
              <a:buNone/>
            </a:pPr>
            <a:r>
              <a:rPr lang="en-US" sz="1550" i="1" baseline="30000" dirty="0">
                <a:solidFill>
                  <a:schemeClr val="tx1"/>
                </a:solidFill>
              </a:rPr>
              <a:t>−1</a:t>
            </a:r>
            <a:pPr indent="0" marL="0">
              <a:buNone/>
            </a:pPr>
            <a:r>
              <a:rPr lang="en-US" sz="1550" i="1" dirty="0">
                <a:solidFill>
                  <a:schemeClr val="tx1"/>
                </a:solidFill>
              </a:rPr>
              <a:t>)</a:t>
            </a:r>
            <a:endParaRPr lang="en-US" sz="1550" dirty="0"/>
          </a:p>
        </p:txBody>
      </p:sp>
      <p:sp>
        <p:nvSpPr>
          <p:cNvPr id="12" name="text-320"/>
          <p:cNvSpPr txBox="1"/>
          <p:nvPr/>
        </p:nvSpPr>
        <p:spPr>
          <a:xfrm>
            <a:off x="548640" y="5486400"/>
            <a:ext cx="11094415" cy="548640"/>
          </a:xfrm>
          <a:prstGeom prst="rect">
            <a:avLst/>
          </a:prstGeom>
          <a:noFill/>
          <a:ln/>
        </p:spPr>
        <p:txBody>
          <a:bodyPr wrap="square" lIns="0" tIns="0" rIns="0" bIns="0" rtlCol="0" anchor="t"/>
          <a:lstStyle/>
          <a:p>
            <a:pPr indent="0" marL="0">
              <a:buNone/>
            </a:pPr>
            <a:r>
              <a:rPr lang="en-US" sz="1400" dirty="0">
                <a:solidFill>
                  <a:schemeClr val="tx1"/>
                </a:solidFill>
              </a:rPr>
              <a:t>M = T · H · W positions per channel (whole clip), λ = 10⁻⁴. The weight lies between about 0.62 and 1, and SimAM adds no learned parameters.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The temporal encoder and published SLSTT</a:t>
            </a:r>
            <a:endParaRPr lang="en-US" sz="3000" dirty="0"/>
          </a:p>
        </p:txBody>
      </p:sp>
      <p:sp>
        <p:nvSpPr>
          <p:cNvPr id="4" name="card-321"/>
          <p:cNvSpPr/>
          <p:nvPr/>
        </p:nvSpPr>
        <p:spPr>
          <a:xfrm>
            <a:off x="548640" y="1325880"/>
            <a:ext cx="11094415" cy="548640"/>
          </a:xfrm>
          <a:prstGeom prst="roundRect">
            <a:avLst>
              <a:gd name="adj" fmla="val 16667"/>
            </a:avLst>
          </a:prstGeom>
          <a:solidFill>
            <a:schemeClr val="bg2"/>
          </a:solidFill>
          <a:ln w="6350">
            <a:solidFill>
              <a:schemeClr val="bg2"/>
            </a:solidFill>
            <a:prstDash val="solid"/>
          </a:ln>
        </p:spPr>
      </p:sp>
      <p:sp>
        <p:nvSpPr>
          <p:cNvPr id="5" name="eq-label-10"/>
          <p:cNvSpPr txBox="1"/>
          <p:nvPr/>
        </p:nvSpPr>
        <p:spPr>
          <a:xfrm>
            <a:off x="731520" y="1325880"/>
            <a:ext cx="1737360" cy="548640"/>
          </a:xfrm>
          <a:prstGeom prst="rect">
            <a:avLst/>
          </a:prstGeom>
          <a:noFill/>
          <a:ln/>
        </p:spPr>
        <p:txBody>
          <a:bodyPr wrap="square" lIns="0" tIns="0" rIns="0" bIns="0" rtlCol="0" anchor="ctr"/>
          <a:lstStyle/>
          <a:p>
            <a:pPr indent="0" marL="0">
              <a:buNone/>
            </a:pPr>
            <a:r>
              <a:rPr lang="en-US" sz="1200" b="1" dirty="0">
                <a:solidFill>
                  <a:schemeClr val="accent1"/>
                </a:solidFill>
              </a:rPr>
              <a:t>Self-attention</a:t>
            </a:r>
            <a:endParaRPr lang="en-US" sz="1200" dirty="0"/>
          </a:p>
        </p:txBody>
      </p:sp>
      <p:sp>
        <p:nvSpPr>
          <p:cNvPr id="6" name="eq-10"/>
          <p:cNvSpPr txBox="1"/>
          <p:nvPr/>
        </p:nvSpPr>
        <p:spPr>
          <a:xfrm>
            <a:off x="2514600" y="1325880"/>
            <a:ext cx="8991295" cy="548640"/>
          </a:xfrm>
          <a:prstGeom prst="rect">
            <a:avLst/>
          </a:prstGeom>
          <a:noFill/>
          <a:ln/>
        </p:spPr>
        <p:txBody>
          <a:bodyPr wrap="square" lIns="0" tIns="0" rIns="0" bIns="0" rtlCol="0" anchor="ctr"/>
          <a:lstStyle/>
          <a:p>
            <a:pPr indent="0" marL="0">
              <a:buNone/>
            </a:pPr>
            <a:r>
              <a:rPr lang="en-US" sz="1550" i="1" dirty="0">
                <a:solidFill>
                  <a:schemeClr val="tx1"/>
                </a:solidFill>
              </a:rPr>
              <a:t>Attention(Q, K, V) = softmax(Q K</a:t>
            </a:r>
            <a:pPr indent="0" marL="0">
              <a:buNone/>
            </a:pPr>
            <a:r>
              <a:rPr lang="en-US" sz="1550" i="1" baseline="30000" dirty="0">
                <a:solidFill>
                  <a:schemeClr val="tx1"/>
                </a:solidFill>
              </a:rPr>
              <a:t>T</a:t>
            </a:r>
            <a:pPr indent="0" marL="0">
              <a:buNone/>
            </a:pPr>
            <a:r>
              <a:rPr lang="en-US" sz="1550" i="1" dirty="0">
                <a:solidFill>
                  <a:schemeClr val="tx1"/>
                </a:solidFill>
              </a:rPr>
              <a:t> / √d</a:t>
            </a:r>
            <a:pPr indent="0" marL="0">
              <a:buNone/>
            </a:pPr>
            <a:r>
              <a:rPr lang="en-US" sz="1550" i="1" baseline="-40000" dirty="0">
                <a:solidFill>
                  <a:schemeClr val="tx1"/>
                </a:solidFill>
              </a:rPr>
              <a:t>k</a:t>
            </a:r>
            <a:pPr indent="0" marL="0">
              <a:buNone/>
            </a:pPr>
            <a:r>
              <a:rPr lang="en-US" sz="1550" i="1" dirty="0">
                <a:solidFill>
                  <a:schemeClr val="tx1"/>
                </a:solidFill>
              </a:rPr>
              <a:t>) V</a:t>
            </a:r>
            <a:endParaRPr lang="en-US" sz="1550" dirty="0"/>
          </a:p>
        </p:txBody>
      </p:sp>
      <p:sp>
        <p:nvSpPr>
          <p:cNvPr id="7" name="card-322"/>
          <p:cNvSpPr/>
          <p:nvPr/>
        </p:nvSpPr>
        <p:spPr>
          <a:xfrm>
            <a:off x="548640" y="1938528"/>
            <a:ext cx="11094415" cy="548640"/>
          </a:xfrm>
          <a:prstGeom prst="roundRect">
            <a:avLst>
              <a:gd name="adj" fmla="val 16667"/>
            </a:avLst>
          </a:prstGeom>
          <a:solidFill>
            <a:schemeClr val="bg2"/>
          </a:solidFill>
          <a:ln w="6350">
            <a:solidFill>
              <a:schemeClr val="bg2"/>
            </a:solidFill>
            <a:prstDash val="solid"/>
          </a:ln>
        </p:spPr>
      </p:sp>
      <p:sp>
        <p:nvSpPr>
          <p:cNvPr id="8" name="eq-label-11"/>
          <p:cNvSpPr txBox="1"/>
          <p:nvPr/>
        </p:nvSpPr>
        <p:spPr>
          <a:xfrm>
            <a:off x="731520" y="1938528"/>
            <a:ext cx="1737360" cy="548640"/>
          </a:xfrm>
          <a:prstGeom prst="rect">
            <a:avLst/>
          </a:prstGeom>
          <a:noFill/>
          <a:ln/>
        </p:spPr>
        <p:txBody>
          <a:bodyPr wrap="square" lIns="0" tIns="0" rIns="0" bIns="0" rtlCol="0" anchor="ctr"/>
          <a:lstStyle/>
          <a:p>
            <a:pPr indent="0" marL="0">
              <a:buNone/>
            </a:pPr>
            <a:r>
              <a:rPr lang="en-US" sz="1200" b="1" dirty="0">
                <a:solidFill>
                  <a:schemeClr val="accent1"/>
                </a:solidFill>
              </a:rPr>
              <a:t>Positional encoding</a:t>
            </a:r>
            <a:endParaRPr lang="en-US" sz="1200" dirty="0"/>
          </a:p>
        </p:txBody>
      </p:sp>
      <p:sp>
        <p:nvSpPr>
          <p:cNvPr id="9" name="eq-11"/>
          <p:cNvSpPr txBox="1"/>
          <p:nvPr/>
        </p:nvSpPr>
        <p:spPr>
          <a:xfrm>
            <a:off x="2514600" y="1938528"/>
            <a:ext cx="8991295" cy="548640"/>
          </a:xfrm>
          <a:prstGeom prst="rect">
            <a:avLst/>
          </a:prstGeom>
          <a:noFill/>
          <a:ln/>
        </p:spPr>
        <p:txBody>
          <a:bodyPr wrap="square" lIns="0" tIns="0" rIns="0" bIns="0" rtlCol="0" anchor="ctr"/>
          <a:lstStyle/>
          <a:p>
            <a:pPr indent="0" marL="0">
              <a:buNone/>
            </a:pPr>
            <a:r>
              <a:rPr lang="en-US" sz="1550" i="1" dirty="0">
                <a:solidFill>
                  <a:schemeClr val="tx1"/>
                </a:solidFill>
              </a:rPr>
              <a:t>PE(p, 2i) = sin(p / 10000</a:t>
            </a:r>
            <a:pPr indent="0" marL="0">
              <a:buNone/>
            </a:pPr>
            <a:r>
              <a:rPr lang="en-US" sz="1550" i="1" baseline="30000" dirty="0">
                <a:solidFill>
                  <a:schemeClr val="tx1"/>
                </a:solidFill>
              </a:rPr>
              <a:t>2i/96</a:t>
            </a:r>
            <a:pPr indent="0" marL="0">
              <a:buNone/>
            </a:pPr>
            <a:r>
              <a:rPr lang="en-US" sz="1550" i="1" dirty="0">
                <a:solidFill>
                  <a:schemeClr val="tx1"/>
                </a:solidFill>
              </a:rPr>
              <a:t>) ,     PE(p, 2i+1) = cos(p / 10000</a:t>
            </a:r>
            <a:pPr indent="0" marL="0">
              <a:buNone/>
            </a:pPr>
            <a:r>
              <a:rPr lang="en-US" sz="1550" i="1" baseline="30000" dirty="0">
                <a:solidFill>
                  <a:schemeClr val="tx1"/>
                </a:solidFill>
              </a:rPr>
              <a:t>2i/96</a:t>
            </a:r>
            <a:pPr indent="0" marL="0">
              <a:buNone/>
            </a:pPr>
            <a:r>
              <a:rPr lang="en-US" sz="1550" i="1" dirty="0">
                <a:solidFill>
                  <a:schemeClr val="tx1"/>
                </a:solidFill>
              </a:rPr>
              <a:t>)</a:t>
            </a:r>
            <a:endParaRPr lang="en-US" sz="1550" dirty="0"/>
          </a:p>
        </p:txBody>
      </p:sp>
      <p:graphicFrame>
        <p:nvGraphicFramePr>
          <p:cNvPr id="34" name="table-slstt"/>
          <p:cNvGraphicFramePr>
            <a:graphicFrameLocks noGrp="1"/>
          </p:cNvGraphicFramePr>
          <p:nvPr>
            <p:extLst>
              <p:ext uri="{D42A27DB-BD31-4B8C-83A1-F6EECF244321}">
                <p14:modId xmlns:p14="http://schemas.microsoft.com/office/powerpoint/2010/main" val="1579011935"/>
              </p:ext>
            </p:extLst>
          </p:nvPr>
        </p:nvGraphicFramePr>
        <p:xfrm>
          <a:off x="548640" y="2651760"/>
          <a:ext cx="11094415" cy="914400"/>
        </p:xfrm>
        <a:graphic>
          <a:graphicData uri="http://schemas.openxmlformats.org/drawingml/2006/table">
            <a:tbl>
              <a:tblPr/>
              <a:tblGrid>
                <a:gridCol w="2194560"/>
                <a:gridCol w="4480560"/>
                <a:gridCol w="4416552"/>
              </a:tblGrid>
              <a:tr h="384048">
                <a:tc>
                  <a:txBody>
                    <a:bodyPr/>
                    <a:lstStyle/>
                    <a:p>
                      <a:pPr algn="l" indent="0" marL="0">
                        <a:buNone/>
                      </a:pPr>
                      <a:r>
                        <a:rPr lang="en-US" sz="1200" b="1" dirty="0">
                          <a:solidFill>
                            <a:srgbClr val="FFFFFF"/>
                          </a:solidFill>
                        </a:rPr>
                        <a:t>Property</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Published SLSTT (Zhang et al., 2022)</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This thesis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250" b="1" dirty="0">
                          <a:solidFill>
                            <a:srgbClr val="1B2B34"/>
                          </a:solidFill>
                        </a:rPr>
                        <a:t>Attention axis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Spatial patches within a frame</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Temporal tokens within a clip</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b="1" dirty="0">
                          <a:solidFill>
                            <a:srgbClr val="1B2B34"/>
                          </a:solidFill>
                        </a:rPr>
                        <a:t>Aggregation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LSTM over spatially encoded frames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Mean after temporal self-attention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b="1" dirty="0">
                          <a:solidFill>
                            <a:srgbClr val="1B2B34"/>
                          </a:solidFill>
                        </a:rPr>
                        <a:t>Initialisation</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ImageNet-pre-trained ViT-B/16</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Trained from scratch</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b="1" dirty="0">
                          <a:solidFill>
                            <a:srgbClr val="1B2B34"/>
                          </a:solidFill>
                        </a:rPr>
                        <a:t>Capacity</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Twelve layers, width 768; 384 × 384 input</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Four layers, width 96; 32 tokens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b="1" dirty="0">
                          <a:solidFill>
                            <a:srgbClr val="1B2B34"/>
                          </a:solidFill>
                        </a:rPr>
                        <a:t>Positions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Learned spatial embeddings</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Fixed sinusoidal temporal encoding</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84048">
                <a:tc>
                  <a:txBody>
                    <a:bodyPr/>
                    <a:lstStyle/>
                    <a:p>
                      <a:pPr algn="l" indent="0" marL="0">
                        <a:buNone/>
                      </a:pPr>
                      <a:r>
                        <a:rPr lang="en-US" sz="1250" b="1" dirty="0">
                          <a:solidFill>
                            <a:srgbClr val="1B2B34"/>
                          </a:solidFill>
                        </a:rPr>
                        <a:t>Input flow</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Relative to the onset</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50" dirty="0">
                          <a:solidFill>
                            <a:srgbClr val="1B2B34"/>
                          </a:solidFill>
                        </a:rPr>
                        <a:t>Relative to the preceding sampled frame</a:t>
                      </a:r>
                      <a:endParaRPr lang="en-US" sz="12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11" name="text-323"/>
          <p:cNvSpPr txBox="1"/>
          <p:nvPr/>
        </p:nvSpPr>
        <p:spPr>
          <a:xfrm>
            <a:off x="548640" y="5486400"/>
            <a:ext cx="11094415" cy="640080"/>
          </a:xfrm>
          <a:prstGeom prst="rect">
            <a:avLst/>
          </a:prstGeom>
          <a:noFill/>
          <a:ln/>
        </p:spPr>
        <p:txBody>
          <a:bodyPr wrap="square" lIns="0" tIns="0" rIns="0" bIns="0" rtlCol="0" anchor="t"/>
          <a:lstStyle/>
          <a:p>
            <a:pPr indent="0" marL="0">
              <a:buNone/>
            </a:pPr>
            <a:r>
              <a:rPr lang="en-US" sz="1400" i="1" dirty="0">
                <a:solidFill>
                  <a:schemeClr val="tx2"/>
                </a:solidFill>
              </a:rPr>
              <a:t>The evaluated component is a small temporal transformer encoder, not a reproduction of SLSTT. Within SLSTT, UF1 on CASME II rises from 0.844 with mean aggregation to 0.901 with the LSTM.</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Training settings and loss functions</a:t>
            </a:r>
            <a:endParaRPr lang="en-US" sz="3000" dirty="0"/>
          </a:p>
        </p:txBody>
      </p:sp>
      <p:graphicFrame>
        <p:nvGraphicFramePr>
          <p:cNvPr id="35" name="table-training"/>
          <p:cNvGraphicFramePr>
            <a:graphicFrameLocks noGrp="1"/>
          </p:cNvGraphicFramePr>
          <p:nvPr>
            <p:extLst>
              <p:ext uri="{D42A27DB-BD31-4B8C-83A1-F6EECF244321}">
                <p14:modId xmlns:p14="http://schemas.microsoft.com/office/powerpoint/2010/main" val="1579011935"/>
              </p:ext>
            </p:extLst>
          </p:nvPr>
        </p:nvGraphicFramePr>
        <p:xfrm>
          <a:off x="548640" y="1325880"/>
          <a:ext cx="6400800" cy="914400"/>
        </p:xfrm>
        <a:graphic>
          <a:graphicData uri="http://schemas.openxmlformats.org/drawingml/2006/table">
            <a:tbl>
              <a:tblPr/>
              <a:tblGrid>
                <a:gridCol w="1554480"/>
                <a:gridCol w="4846320"/>
              </a:tblGrid>
              <a:tr h="402336">
                <a:tc>
                  <a:txBody>
                    <a:bodyPr/>
                    <a:lstStyle/>
                    <a:p>
                      <a:pPr algn="l" indent="0" marL="0">
                        <a:buNone/>
                      </a:pPr>
                      <a:r>
                        <a:rPr lang="en-US" sz="1200" b="1" dirty="0">
                          <a:solidFill>
                            <a:srgbClr val="FFFFFF"/>
                          </a:solidFill>
                        </a:rPr>
                        <a:t>Setting</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200" b="1" dirty="0">
                          <a:solidFill>
                            <a:srgbClr val="FFFFFF"/>
                          </a:solidFill>
                        </a:rPr>
                        <a:t>Value</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02336">
                <a:tc>
                  <a:txBody>
                    <a:bodyPr/>
                    <a:lstStyle/>
                    <a:p>
                      <a:pPr algn="l" indent="0" marL="0">
                        <a:buNone/>
                      </a:pPr>
                      <a:r>
                        <a:rPr lang="en-US" sz="1200" b="1" dirty="0">
                          <a:solidFill>
                            <a:srgbClr val="1B2B34"/>
                          </a:solidFill>
                        </a:rPr>
                        <a:t>Loss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Focal loss with γ = 2 and label smoothing 0.05; no class weights</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Sampling</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Class-balanced: weight inversely proportional to class size, with replacement</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Augmentation</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Random horizontal flip (p = 0.5), horizontal flow negated</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Optimiser</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AdamW, learning rate 10⁻⁴, weight decay 10⁻⁴</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Learning rate</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Linear warmup over 5 epochs from 10⁻⁵, then cosine annealing to 10⁻⁷</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Epochs, batch</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50 epochs without early stopping; batch size 8</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Stability</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Gradient clipping at global norm 1.0; mixed precision</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02336">
                <a:tc>
                  <a:txBody>
                    <a:bodyPr/>
                    <a:lstStyle/>
                    <a:p>
                      <a:pPr algn="l" indent="0" marL="0">
                        <a:buNone/>
                      </a:pPr>
                      <a:r>
                        <a:rPr lang="en-US" sz="1200" b="1" dirty="0">
                          <a:solidFill>
                            <a:srgbClr val="1B2B34"/>
                          </a:solidFill>
                        </a:rPr>
                        <a:t>Random seed</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200" dirty="0">
                          <a:solidFill>
                            <a:srgbClr val="1B2B34"/>
                          </a:solidFill>
                        </a:rPr>
                        <a:t>42, reset before every configuration and fold</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card-324"/>
          <p:cNvSpPr/>
          <p:nvPr/>
        </p:nvSpPr>
        <p:spPr>
          <a:xfrm>
            <a:off x="7178040" y="1325880"/>
            <a:ext cx="4462272" cy="566928"/>
          </a:xfrm>
          <a:prstGeom prst="roundRect">
            <a:avLst>
              <a:gd name="adj" fmla="val 16129"/>
            </a:avLst>
          </a:prstGeom>
          <a:solidFill>
            <a:schemeClr val="bg2"/>
          </a:solidFill>
          <a:ln w="6350">
            <a:solidFill>
              <a:schemeClr val="bg2"/>
            </a:solidFill>
            <a:prstDash val="solid"/>
          </a:ln>
        </p:spPr>
      </p:sp>
      <p:sp>
        <p:nvSpPr>
          <p:cNvPr id="6" name="eq-label-12"/>
          <p:cNvSpPr txBox="1"/>
          <p:nvPr/>
        </p:nvSpPr>
        <p:spPr>
          <a:xfrm>
            <a:off x="7360920" y="132588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Focal loss</a:t>
            </a:r>
            <a:endParaRPr lang="en-US" sz="1200" dirty="0"/>
          </a:p>
        </p:txBody>
      </p:sp>
      <p:sp>
        <p:nvSpPr>
          <p:cNvPr id="7" name="eq-12"/>
          <p:cNvSpPr txBox="1"/>
          <p:nvPr/>
        </p:nvSpPr>
        <p:spPr>
          <a:xfrm>
            <a:off x="9144000" y="1325880"/>
            <a:ext cx="2359152" cy="566928"/>
          </a:xfrm>
          <a:prstGeom prst="rect">
            <a:avLst/>
          </a:prstGeom>
          <a:noFill/>
          <a:ln/>
        </p:spPr>
        <p:txBody>
          <a:bodyPr wrap="square" lIns="0" tIns="0" rIns="0" bIns="0" rtlCol="0" anchor="ctr"/>
          <a:lstStyle/>
          <a:p>
            <a:pPr indent="0" marL="0">
              <a:buNone/>
            </a:pPr>
            <a:r>
              <a:rPr lang="en-US" sz="1400" i="1" dirty="0">
                <a:solidFill>
                  <a:schemeClr val="tx1"/>
                </a:solidFill>
              </a:rPr>
              <a:t>FL = −α</a:t>
            </a:r>
            <a:pPr indent="0" marL="0">
              <a:buNone/>
            </a:pPr>
            <a:r>
              <a:rPr lang="en-US" sz="1400" i="1" baseline="-40000" dirty="0">
                <a:solidFill>
                  <a:schemeClr val="tx1"/>
                </a:solidFill>
              </a:rPr>
              <a:t>t</a:t>
            </a:r>
            <a:pPr indent="0" marL="0">
              <a:buNone/>
            </a:pPr>
            <a:r>
              <a:rPr lang="en-US" sz="1400" i="1" dirty="0">
                <a:solidFill>
                  <a:schemeClr val="tx1"/>
                </a:solidFill>
              </a:rPr>
              <a:t> (1 − p</a:t>
            </a:r>
            <a:pPr indent="0" marL="0">
              <a:buNone/>
            </a:pPr>
            <a:r>
              <a:rPr lang="en-US" sz="1400" i="1" baseline="-40000" dirty="0">
                <a:solidFill>
                  <a:schemeClr val="tx1"/>
                </a:solidFill>
              </a:rPr>
              <a:t>t</a:t>
            </a:r>
            <a:pPr indent="0" marL="0">
              <a:buNone/>
            </a:pPr>
            <a:r>
              <a:rPr lang="en-US" sz="1400" i="1" dirty="0">
                <a:solidFill>
                  <a:schemeClr val="tx1"/>
                </a:solidFill>
              </a:rPr>
              <a:t>)</a:t>
            </a:r>
            <a:pPr indent="0" marL="0">
              <a:buNone/>
            </a:pPr>
            <a:r>
              <a:rPr lang="en-US" sz="1400" i="1" baseline="30000" dirty="0">
                <a:solidFill>
                  <a:schemeClr val="tx1"/>
                </a:solidFill>
              </a:rPr>
              <a:t>γ</a:t>
            </a:r>
            <a:pPr indent="0" marL="0">
              <a:buNone/>
            </a:pPr>
            <a:r>
              <a:rPr lang="en-US" sz="1400" i="1" dirty="0">
                <a:solidFill>
                  <a:schemeClr val="tx1"/>
                </a:solidFill>
              </a:rPr>
              <a:t> log p</a:t>
            </a:r>
            <a:pPr indent="0" marL="0">
              <a:buNone/>
            </a:pPr>
            <a:r>
              <a:rPr lang="en-US" sz="1400" i="1" baseline="-40000" dirty="0">
                <a:solidFill>
                  <a:schemeClr val="tx1"/>
                </a:solidFill>
              </a:rPr>
              <a:t>t</a:t>
            </a:r>
            <a:endParaRPr lang="en-US" sz="1400" dirty="0"/>
          </a:p>
        </p:txBody>
      </p:sp>
      <p:sp>
        <p:nvSpPr>
          <p:cNvPr id="8" name="card-325"/>
          <p:cNvSpPr/>
          <p:nvPr/>
        </p:nvSpPr>
        <p:spPr>
          <a:xfrm>
            <a:off x="7178040" y="1965960"/>
            <a:ext cx="4462272" cy="566928"/>
          </a:xfrm>
          <a:prstGeom prst="roundRect">
            <a:avLst>
              <a:gd name="adj" fmla="val 16129"/>
            </a:avLst>
          </a:prstGeom>
          <a:solidFill>
            <a:schemeClr val="bg2"/>
          </a:solidFill>
          <a:ln w="6350">
            <a:solidFill>
              <a:schemeClr val="bg2"/>
            </a:solidFill>
            <a:prstDash val="solid"/>
          </a:ln>
        </p:spPr>
      </p:sp>
      <p:sp>
        <p:nvSpPr>
          <p:cNvPr id="9" name="eq-label-13"/>
          <p:cNvSpPr txBox="1"/>
          <p:nvPr/>
        </p:nvSpPr>
        <p:spPr>
          <a:xfrm>
            <a:off x="7360920" y="196596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Sampler weight</a:t>
            </a:r>
            <a:endParaRPr lang="en-US" sz="1200" dirty="0"/>
          </a:p>
        </p:txBody>
      </p:sp>
      <p:sp>
        <p:nvSpPr>
          <p:cNvPr id="10" name="eq-13"/>
          <p:cNvSpPr txBox="1"/>
          <p:nvPr/>
        </p:nvSpPr>
        <p:spPr>
          <a:xfrm>
            <a:off x="9144000" y="1965960"/>
            <a:ext cx="2359152" cy="566928"/>
          </a:xfrm>
          <a:prstGeom prst="rect">
            <a:avLst/>
          </a:prstGeom>
          <a:noFill/>
          <a:ln/>
        </p:spPr>
        <p:txBody>
          <a:bodyPr wrap="square" lIns="0" tIns="0" rIns="0" bIns="0" rtlCol="0" anchor="ctr"/>
          <a:lstStyle/>
          <a:p>
            <a:pPr indent="0" marL="0">
              <a:buNone/>
            </a:pPr>
            <a:r>
              <a:rPr lang="en-US" sz="1500" i="1" dirty="0">
                <a:solidFill>
                  <a:schemeClr val="tx1"/>
                </a:solidFill>
              </a:rPr>
              <a:t>w</a:t>
            </a:r>
            <a:pPr indent="0" marL="0">
              <a:buNone/>
            </a:pPr>
            <a:r>
              <a:rPr lang="en-US" sz="1500" i="1" baseline="-40000" dirty="0">
                <a:solidFill>
                  <a:schemeClr val="tx1"/>
                </a:solidFill>
              </a:rPr>
              <a:t>i</a:t>
            </a:r>
            <a:pPr indent="0" marL="0">
              <a:buNone/>
            </a:pPr>
            <a:r>
              <a:rPr lang="en-US" sz="1500" i="1" dirty="0">
                <a:solidFill>
                  <a:schemeClr val="tx1"/>
                </a:solidFill>
              </a:rPr>
              <a:t> = 1 / n</a:t>
            </a:r>
            <a:pPr indent="0" marL="0">
              <a:buNone/>
            </a:pPr>
            <a:r>
              <a:rPr lang="en-US" sz="1500" i="1" baseline="-40000" dirty="0">
                <a:solidFill>
                  <a:schemeClr val="tx1"/>
                </a:solidFill>
              </a:rPr>
              <a:t>c</a:t>
            </a:r>
            <a:endParaRPr lang="en-US" sz="1500" dirty="0"/>
          </a:p>
        </p:txBody>
      </p:sp>
      <p:sp>
        <p:nvSpPr>
          <p:cNvPr id="11" name="card-326"/>
          <p:cNvSpPr/>
          <p:nvPr/>
        </p:nvSpPr>
        <p:spPr>
          <a:xfrm>
            <a:off x="7178040" y="2606040"/>
            <a:ext cx="4462272" cy="566928"/>
          </a:xfrm>
          <a:prstGeom prst="roundRect">
            <a:avLst>
              <a:gd name="adj" fmla="val 16129"/>
            </a:avLst>
          </a:prstGeom>
          <a:solidFill>
            <a:schemeClr val="bg2"/>
          </a:solidFill>
          <a:ln w="6350">
            <a:solidFill>
              <a:schemeClr val="bg2"/>
            </a:solidFill>
            <a:prstDash val="solid"/>
          </a:ln>
        </p:spPr>
      </p:sp>
      <p:sp>
        <p:nvSpPr>
          <p:cNvPr id="12" name="eq-label-14"/>
          <p:cNvSpPr txBox="1"/>
          <p:nvPr/>
        </p:nvSpPr>
        <p:spPr>
          <a:xfrm>
            <a:off x="7360920" y="260604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Smoothed target</a:t>
            </a:r>
            <a:endParaRPr lang="en-US" sz="1200" dirty="0"/>
          </a:p>
        </p:txBody>
      </p:sp>
      <p:sp>
        <p:nvSpPr>
          <p:cNvPr id="13" name="eq-14"/>
          <p:cNvSpPr txBox="1"/>
          <p:nvPr/>
        </p:nvSpPr>
        <p:spPr>
          <a:xfrm>
            <a:off x="9144000" y="2606040"/>
            <a:ext cx="2359152" cy="566928"/>
          </a:xfrm>
          <a:prstGeom prst="rect">
            <a:avLst/>
          </a:prstGeom>
          <a:noFill/>
          <a:ln/>
        </p:spPr>
        <p:txBody>
          <a:bodyPr wrap="square" lIns="0" tIns="0" rIns="0" bIns="0" rtlCol="0" anchor="ctr"/>
          <a:lstStyle/>
          <a:p>
            <a:pPr indent="0" marL="0">
              <a:buNone/>
            </a:pPr>
            <a:r>
              <a:rPr lang="en-US" sz="1300" i="1" dirty="0">
                <a:solidFill>
                  <a:schemeClr val="tx1"/>
                </a:solidFill>
              </a:rPr>
              <a:t>q</a:t>
            </a:r>
            <a:pPr indent="0" marL="0">
              <a:buNone/>
            </a:pPr>
            <a:r>
              <a:rPr lang="en-US" sz="1300" i="1" baseline="-40000" dirty="0">
                <a:solidFill>
                  <a:schemeClr val="tx1"/>
                </a:solidFill>
              </a:rPr>
              <a:t>c</a:t>
            </a:r>
            <a:pPr indent="0" marL="0">
              <a:buNone/>
            </a:pPr>
            <a:r>
              <a:rPr lang="en-US" sz="1300" i="1" dirty="0">
                <a:solidFill>
                  <a:schemeClr val="tx1"/>
                </a:solidFill>
              </a:rPr>
              <a:t> = (1 − ε) · 1[c = t] + ε / C</a:t>
            </a:r>
            <a:endParaRPr lang="en-US" sz="1300" dirty="0"/>
          </a:p>
        </p:txBody>
      </p:sp>
      <p:sp>
        <p:nvSpPr>
          <p:cNvPr id="14" name="card-327"/>
          <p:cNvSpPr/>
          <p:nvPr/>
        </p:nvSpPr>
        <p:spPr>
          <a:xfrm>
            <a:off x="7178040" y="3337560"/>
            <a:ext cx="4462272" cy="1609344"/>
          </a:xfrm>
          <a:prstGeom prst="roundRect">
            <a:avLst>
              <a:gd name="adj" fmla="val 5682"/>
            </a:avLst>
          </a:prstGeom>
          <a:solidFill>
            <a:schemeClr val="tx2"/>
          </a:solidFill>
          <a:ln w="6350">
            <a:solidFill>
              <a:schemeClr val="tx2"/>
            </a:solidFill>
            <a:prstDash val="solid"/>
          </a:ln>
        </p:spPr>
      </p:sp>
      <p:sp>
        <p:nvSpPr>
          <p:cNvPr id="15" name="text-328"/>
          <p:cNvSpPr txBox="1"/>
          <p:nvPr/>
        </p:nvSpPr>
        <p:spPr>
          <a:xfrm>
            <a:off x="7333488" y="3410712"/>
            <a:ext cx="4169664" cy="1481328"/>
          </a:xfrm>
          <a:prstGeom prst="rect">
            <a:avLst/>
          </a:prstGeom>
          <a:noFill/>
          <a:ln/>
        </p:spPr>
        <p:txBody>
          <a:bodyPr wrap="square" lIns="0" tIns="0" rIns="0" bIns="0" rtlCol="0" anchor="t"/>
          <a:lstStyle/>
          <a:p>
            <a:pPr indent="0" marL="0">
              <a:buNone/>
            </a:pPr>
            <a:r>
              <a:rPr lang="en-US" sz="1400" b="1" dirty="0">
                <a:solidFill>
                  <a:schemeClr val="accent2"/>
                </a:solidFill>
              </a:rPr>
              <a:t>Class-weighting rule</a:t>
            </a:r>
            <a:endParaRPr lang="en-US" sz="1650" dirty="0"/>
          </a:p>
          <a:p>
            <a:pPr indent="0" marL="0">
              <a:buNone/>
            </a:pPr>
            <a:r>
              <a:rPr lang="en-US" sz="1200" dirty="0">
                <a:solidFill>
                  <a:schemeClr val="bg1"/>
                </a:solidFill>
              </a:rPr>
              <a:t>Loss weights and the sampler correct the same imbalance, so only the sampler is used. In development, loss weights alone stopped predicting Positive; both together stopped predicting Negative. The causal effect of the rule is not isolated.</a:t>
            </a:r>
            <a:endParaRPr lang="en-US" sz="1650" dirty="0"/>
          </a:p>
        </p:txBody>
      </p:sp>
      <p:sp>
        <p:nvSpPr>
          <p:cNvPr id="16" name="text-329"/>
          <p:cNvSpPr txBox="1"/>
          <p:nvPr/>
        </p:nvSpPr>
        <p:spPr>
          <a:xfrm>
            <a:off x="548640" y="5074920"/>
            <a:ext cx="11094415" cy="548640"/>
          </a:xfrm>
          <a:prstGeom prst="rect">
            <a:avLst/>
          </a:prstGeom>
          <a:noFill/>
          <a:ln/>
        </p:spPr>
        <p:txBody>
          <a:bodyPr wrap="square" lIns="0" tIns="0" rIns="0" bIns="0" rtlCol="0" anchor="t"/>
          <a:lstStyle/>
          <a:p>
            <a:pPr indent="0" marL="0">
              <a:buNone/>
            </a:pPr>
            <a:r>
              <a:rPr lang="en-US" sz="1400" i="1" dirty="0">
                <a:solidFill>
                  <a:schemeClr val="tx2"/>
                </a:solidFill>
              </a:rPr>
              <a:t>All settings are fixed defaults, identical across the twelve configurations and the 25 folds. No hyperparameter search was performed.</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Evaluation metrics</a:t>
            </a:r>
            <a:endParaRPr lang="en-US" sz="3000" dirty="0"/>
          </a:p>
        </p:txBody>
      </p:sp>
      <p:sp>
        <p:nvSpPr>
          <p:cNvPr id="4" name="card-330"/>
          <p:cNvSpPr/>
          <p:nvPr/>
        </p:nvSpPr>
        <p:spPr>
          <a:xfrm>
            <a:off x="548640" y="1325880"/>
            <a:ext cx="11094415" cy="566928"/>
          </a:xfrm>
          <a:prstGeom prst="roundRect">
            <a:avLst>
              <a:gd name="adj" fmla="val 16129"/>
            </a:avLst>
          </a:prstGeom>
          <a:solidFill>
            <a:schemeClr val="bg2"/>
          </a:solidFill>
          <a:ln w="6350">
            <a:solidFill>
              <a:schemeClr val="bg2"/>
            </a:solidFill>
            <a:prstDash val="solid"/>
          </a:ln>
        </p:spPr>
      </p:sp>
      <p:sp>
        <p:nvSpPr>
          <p:cNvPr id="5" name="eq-label-15"/>
          <p:cNvSpPr txBox="1"/>
          <p:nvPr/>
        </p:nvSpPr>
        <p:spPr>
          <a:xfrm>
            <a:off x="731520" y="132588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Precision and recall</a:t>
            </a:r>
            <a:endParaRPr lang="en-US" sz="1200" dirty="0"/>
          </a:p>
        </p:txBody>
      </p:sp>
      <p:sp>
        <p:nvSpPr>
          <p:cNvPr id="6" name="eq-15"/>
          <p:cNvSpPr txBox="1"/>
          <p:nvPr/>
        </p:nvSpPr>
        <p:spPr>
          <a:xfrm>
            <a:off x="2514600" y="1325880"/>
            <a:ext cx="8991295" cy="566928"/>
          </a:xfrm>
          <a:prstGeom prst="rect">
            <a:avLst/>
          </a:prstGeom>
          <a:noFill/>
          <a:ln/>
        </p:spPr>
        <p:txBody>
          <a:bodyPr wrap="square" lIns="0" tIns="0" rIns="0" bIns="0" rtlCol="0" anchor="ctr"/>
          <a:lstStyle/>
          <a:p>
            <a:pPr indent="0" marL="0">
              <a:buNone/>
            </a:pPr>
            <a:r>
              <a:rPr lang="en-US" sz="1550" i="1" dirty="0">
                <a:solidFill>
                  <a:schemeClr val="tx1"/>
                </a:solidFill>
              </a:rPr>
              <a:t>P</a:t>
            </a:r>
            <a:pPr indent="0" marL="0">
              <a:buNone/>
            </a:pPr>
            <a:r>
              <a:rPr lang="en-US" sz="1550" i="1" baseline="-40000" dirty="0">
                <a:solidFill>
                  <a:schemeClr val="tx1"/>
                </a:solidFill>
              </a:rPr>
              <a:t>c</a:t>
            </a:r>
            <a:pPr indent="0" marL="0">
              <a:buNone/>
            </a:pPr>
            <a:r>
              <a:rPr lang="en-US" sz="1550" i="1" dirty="0">
                <a:solidFill>
                  <a:schemeClr val="tx1"/>
                </a:solidFill>
              </a:rPr>
              <a:t> = TP</a:t>
            </a:r>
            <a:pPr indent="0" marL="0">
              <a:buNone/>
            </a:pPr>
            <a:r>
              <a:rPr lang="en-US" sz="1550" i="1" baseline="-40000" dirty="0">
                <a:solidFill>
                  <a:schemeClr val="tx1"/>
                </a:solidFill>
              </a:rPr>
              <a:t>c</a:t>
            </a:r>
            <a:pPr indent="0" marL="0">
              <a:buNone/>
            </a:pPr>
            <a:r>
              <a:rPr lang="en-US" sz="1550" i="1" dirty="0">
                <a:solidFill>
                  <a:schemeClr val="tx1"/>
                </a:solidFill>
              </a:rPr>
              <a:t> / (TP</a:t>
            </a:r>
            <a:pPr indent="0" marL="0">
              <a:buNone/>
            </a:pPr>
            <a:r>
              <a:rPr lang="en-US" sz="1550" i="1" baseline="-40000" dirty="0">
                <a:solidFill>
                  <a:schemeClr val="tx1"/>
                </a:solidFill>
              </a:rPr>
              <a:t>c</a:t>
            </a:r>
            <a:pPr indent="0" marL="0">
              <a:buNone/>
            </a:pPr>
            <a:r>
              <a:rPr lang="en-US" sz="1550" i="1" dirty="0">
                <a:solidFill>
                  <a:schemeClr val="tx1"/>
                </a:solidFill>
              </a:rPr>
              <a:t> + FP</a:t>
            </a:r>
            <a:pPr indent="0" marL="0">
              <a:buNone/>
            </a:pPr>
            <a:r>
              <a:rPr lang="en-US" sz="1550" i="1" baseline="-40000" dirty="0">
                <a:solidFill>
                  <a:schemeClr val="tx1"/>
                </a:solidFill>
              </a:rPr>
              <a:t>c</a:t>
            </a:r>
            <a:pPr indent="0" marL="0">
              <a:buNone/>
            </a:pPr>
            <a:r>
              <a:rPr lang="en-US" sz="1550" i="1" dirty="0">
                <a:solidFill>
                  <a:schemeClr val="tx1"/>
                </a:solidFill>
              </a:rPr>
              <a:t>) ,     R</a:t>
            </a:r>
            <a:pPr indent="0" marL="0">
              <a:buNone/>
            </a:pPr>
            <a:r>
              <a:rPr lang="en-US" sz="1550" i="1" baseline="-40000" dirty="0">
                <a:solidFill>
                  <a:schemeClr val="tx1"/>
                </a:solidFill>
              </a:rPr>
              <a:t>c</a:t>
            </a:r>
            <a:pPr indent="0" marL="0">
              <a:buNone/>
            </a:pPr>
            <a:r>
              <a:rPr lang="en-US" sz="1550" i="1" dirty="0">
                <a:solidFill>
                  <a:schemeClr val="tx1"/>
                </a:solidFill>
              </a:rPr>
              <a:t> = TP</a:t>
            </a:r>
            <a:pPr indent="0" marL="0">
              <a:buNone/>
            </a:pPr>
            <a:r>
              <a:rPr lang="en-US" sz="1550" i="1" baseline="-40000" dirty="0">
                <a:solidFill>
                  <a:schemeClr val="tx1"/>
                </a:solidFill>
              </a:rPr>
              <a:t>c</a:t>
            </a:r>
            <a:pPr indent="0" marL="0">
              <a:buNone/>
            </a:pPr>
            <a:r>
              <a:rPr lang="en-US" sz="1550" i="1" dirty="0">
                <a:solidFill>
                  <a:schemeClr val="tx1"/>
                </a:solidFill>
              </a:rPr>
              <a:t> / (TP</a:t>
            </a:r>
            <a:pPr indent="0" marL="0">
              <a:buNone/>
            </a:pPr>
            <a:r>
              <a:rPr lang="en-US" sz="1550" i="1" baseline="-40000" dirty="0">
                <a:solidFill>
                  <a:schemeClr val="tx1"/>
                </a:solidFill>
              </a:rPr>
              <a:t>c</a:t>
            </a:r>
            <a:pPr indent="0" marL="0">
              <a:buNone/>
            </a:pPr>
            <a:r>
              <a:rPr lang="en-US" sz="1550" i="1" dirty="0">
                <a:solidFill>
                  <a:schemeClr val="tx1"/>
                </a:solidFill>
              </a:rPr>
              <a:t> + FN</a:t>
            </a:r>
            <a:pPr indent="0" marL="0">
              <a:buNone/>
            </a:pPr>
            <a:r>
              <a:rPr lang="en-US" sz="1550" i="1" baseline="-40000" dirty="0">
                <a:solidFill>
                  <a:schemeClr val="tx1"/>
                </a:solidFill>
              </a:rPr>
              <a:t>c</a:t>
            </a:r>
            <a:pPr indent="0" marL="0">
              <a:buNone/>
            </a:pPr>
            <a:r>
              <a:rPr lang="en-US" sz="1550" i="1" dirty="0">
                <a:solidFill>
                  <a:schemeClr val="tx1"/>
                </a:solidFill>
              </a:rPr>
              <a:t>)</a:t>
            </a:r>
            <a:endParaRPr lang="en-US" sz="1550" dirty="0"/>
          </a:p>
        </p:txBody>
      </p:sp>
      <p:sp>
        <p:nvSpPr>
          <p:cNvPr id="7" name="card-331"/>
          <p:cNvSpPr/>
          <p:nvPr/>
        </p:nvSpPr>
        <p:spPr>
          <a:xfrm>
            <a:off x="548640" y="1965960"/>
            <a:ext cx="11094415" cy="566928"/>
          </a:xfrm>
          <a:prstGeom prst="roundRect">
            <a:avLst>
              <a:gd name="adj" fmla="val 16129"/>
            </a:avLst>
          </a:prstGeom>
          <a:solidFill>
            <a:schemeClr val="bg2"/>
          </a:solidFill>
          <a:ln w="6350">
            <a:solidFill>
              <a:schemeClr val="bg2"/>
            </a:solidFill>
            <a:prstDash val="solid"/>
          </a:ln>
        </p:spPr>
      </p:sp>
      <p:sp>
        <p:nvSpPr>
          <p:cNvPr id="8" name="eq-label-16"/>
          <p:cNvSpPr txBox="1"/>
          <p:nvPr/>
        </p:nvSpPr>
        <p:spPr>
          <a:xfrm>
            <a:off x="731520" y="196596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Class F1</a:t>
            </a:r>
            <a:endParaRPr lang="en-US" sz="1200" dirty="0"/>
          </a:p>
        </p:txBody>
      </p:sp>
      <p:sp>
        <p:nvSpPr>
          <p:cNvPr id="9" name="eq-16"/>
          <p:cNvSpPr txBox="1"/>
          <p:nvPr/>
        </p:nvSpPr>
        <p:spPr>
          <a:xfrm>
            <a:off x="2514600" y="1965960"/>
            <a:ext cx="8991295" cy="566928"/>
          </a:xfrm>
          <a:prstGeom prst="rect">
            <a:avLst/>
          </a:prstGeom>
          <a:noFill/>
          <a:ln/>
        </p:spPr>
        <p:txBody>
          <a:bodyPr wrap="square" lIns="0" tIns="0" rIns="0" bIns="0" rtlCol="0" anchor="ctr"/>
          <a:lstStyle/>
          <a:p>
            <a:pPr indent="0" marL="0">
              <a:buNone/>
            </a:pPr>
            <a:r>
              <a:rPr lang="en-US" sz="1550" i="1" dirty="0">
                <a:solidFill>
                  <a:schemeClr val="tx1"/>
                </a:solidFill>
              </a:rPr>
              <a:t>F1</a:t>
            </a:r>
            <a:pPr indent="0" marL="0">
              <a:buNone/>
            </a:pPr>
            <a:r>
              <a:rPr lang="en-US" sz="1550" i="1" baseline="-40000" dirty="0">
                <a:solidFill>
                  <a:schemeClr val="tx1"/>
                </a:solidFill>
              </a:rPr>
              <a:t>c</a:t>
            </a:r>
            <a:pPr indent="0" marL="0">
              <a:buNone/>
            </a:pPr>
            <a:r>
              <a:rPr lang="en-US" sz="1550" i="1" dirty="0">
                <a:solidFill>
                  <a:schemeClr val="tx1"/>
                </a:solidFill>
              </a:rPr>
              <a:t> = 2 TP</a:t>
            </a:r>
            <a:pPr indent="0" marL="0">
              <a:buNone/>
            </a:pPr>
            <a:r>
              <a:rPr lang="en-US" sz="1550" i="1" baseline="-40000" dirty="0">
                <a:solidFill>
                  <a:schemeClr val="tx1"/>
                </a:solidFill>
              </a:rPr>
              <a:t>c</a:t>
            </a:r>
            <a:pPr indent="0" marL="0">
              <a:buNone/>
            </a:pPr>
            <a:r>
              <a:rPr lang="en-US" sz="1550" i="1" dirty="0">
                <a:solidFill>
                  <a:schemeClr val="tx1"/>
                </a:solidFill>
              </a:rPr>
              <a:t> / (2 TP</a:t>
            </a:r>
            <a:pPr indent="0" marL="0">
              <a:buNone/>
            </a:pPr>
            <a:r>
              <a:rPr lang="en-US" sz="1550" i="1" baseline="-40000" dirty="0">
                <a:solidFill>
                  <a:schemeClr val="tx1"/>
                </a:solidFill>
              </a:rPr>
              <a:t>c</a:t>
            </a:r>
            <a:pPr indent="0" marL="0">
              <a:buNone/>
            </a:pPr>
            <a:r>
              <a:rPr lang="en-US" sz="1550" i="1" dirty="0">
                <a:solidFill>
                  <a:schemeClr val="tx1"/>
                </a:solidFill>
              </a:rPr>
              <a:t> + FP</a:t>
            </a:r>
            <a:pPr indent="0" marL="0">
              <a:buNone/>
            </a:pPr>
            <a:r>
              <a:rPr lang="en-US" sz="1550" i="1" baseline="-40000" dirty="0">
                <a:solidFill>
                  <a:schemeClr val="tx1"/>
                </a:solidFill>
              </a:rPr>
              <a:t>c</a:t>
            </a:r>
            <a:pPr indent="0" marL="0">
              <a:buNone/>
            </a:pPr>
            <a:r>
              <a:rPr lang="en-US" sz="1550" i="1" dirty="0">
                <a:solidFill>
                  <a:schemeClr val="tx1"/>
                </a:solidFill>
              </a:rPr>
              <a:t> + FN</a:t>
            </a:r>
            <a:pPr indent="0" marL="0">
              <a:buNone/>
            </a:pPr>
            <a:r>
              <a:rPr lang="en-US" sz="1550" i="1" baseline="-40000" dirty="0">
                <a:solidFill>
                  <a:schemeClr val="tx1"/>
                </a:solidFill>
              </a:rPr>
              <a:t>c</a:t>
            </a:r>
            <a:pPr indent="0" marL="0">
              <a:buNone/>
            </a:pPr>
            <a:r>
              <a:rPr lang="en-US" sz="1550" i="1" dirty="0">
                <a:solidFill>
                  <a:schemeClr val="tx1"/>
                </a:solidFill>
              </a:rPr>
              <a:t>)</a:t>
            </a:r>
            <a:endParaRPr lang="en-US" sz="1550" dirty="0"/>
          </a:p>
        </p:txBody>
      </p:sp>
      <p:sp>
        <p:nvSpPr>
          <p:cNvPr id="10" name="card-332"/>
          <p:cNvSpPr/>
          <p:nvPr/>
        </p:nvSpPr>
        <p:spPr>
          <a:xfrm>
            <a:off x="548640" y="2606040"/>
            <a:ext cx="11094415" cy="566928"/>
          </a:xfrm>
          <a:prstGeom prst="roundRect">
            <a:avLst>
              <a:gd name="adj" fmla="val 16129"/>
            </a:avLst>
          </a:prstGeom>
          <a:solidFill>
            <a:schemeClr val="bg2"/>
          </a:solidFill>
          <a:ln w="6350">
            <a:solidFill>
              <a:schemeClr val="bg2"/>
            </a:solidFill>
            <a:prstDash val="solid"/>
          </a:ln>
        </p:spPr>
      </p:sp>
      <p:sp>
        <p:nvSpPr>
          <p:cNvPr id="11" name="eq-label-17"/>
          <p:cNvSpPr txBox="1"/>
          <p:nvPr/>
        </p:nvSpPr>
        <p:spPr>
          <a:xfrm>
            <a:off x="731520" y="2606040"/>
            <a:ext cx="1737360" cy="566928"/>
          </a:xfrm>
          <a:prstGeom prst="rect">
            <a:avLst/>
          </a:prstGeom>
          <a:noFill/>
          <a:ln/>
        </p:spPr>
        <p:txBody>
          <a:bodyPr wrap="square" lIns="0" tIns="0" rIns="0" bIns="0" rtlCol="0" anchor="ctr"/>
          <a:lstStyle/>
          <a:p>
            <a:pPr indent="0" marL="0">
              <a:buNone/>
            </a:pPr>
            <a:r>
              <a:rPr lang="en-US" sz="1200" b="1" dirty="0">
                <a:solidFill>
                  <a:schemeClr val="accent1"/>
                </a:solidFill>
              </a:rPr>
              <a:t>Macro F1</a:t>
            </a:r>
            <a:endParaRPr lang="en-US" sz="1200" dirty="0"/>
          </a:p>
        </p:txBody>
      </p:sp>
      <p:sp>
        <p:nvSpPr>
          <p:cNvPr id="12" name="eq-17"/>
          <p:cNvSpPr txBox="1"/>
          <p:nvPr/>
        </p:nvSpPr>
        <p:spPr>
          <a:xfrm>
            <a:off x="2514600" y="2606040"/>
            <a:ext cx="8991295" cy="566928"/>
          </a:xfrm>
          <a:prstGeom prst="rect">
            <a:avLst/>
          </a:prstGeom>
          <a:noFill/>
          <a:ln/>
        </p:spPr>
        <p:txBody>
          <a:bodyPr wrap="square" lIns="0" tIns="0" rIns="0" bIns="0" rtlCol="0" anchor="ctr"/>
          <a:lstStyle/>
          <a:p>
            <a:pPr indent="0" marL="0">
              <a:buNone/>
            </a:pPr>
            <a:r>
              <a:rPr lang="en-US" sz="1550" i="1" dirty="0">
                <a:solidFill>
                  <a:schemeClr val="tx1"/>
                </a:solidFill>
              </a:rPr>
              <a:t>F1</a:t>
            </a:r>
            <a:pPr indent="0" marL="0">
              <a:buNone/>
            </a:pPr>
            <a:r>
              <a:rPr lang="en-US" sz="1550" i="1" baseline="-40000" dirty="0">
                <a:solidFill>
                  <a:schemeClr val="tx1"/>
                </a:solidFill>
              </a:rPr>
              <a:t>macro</a:t>
            </a:r>
            <a:pPr indent="0" marL="0">
              <a:buNone/>
            </a:pPr>
            <a:r>
              <a:rPr lang="en-US" sz="1550" i="1" dirty="0">
                <a:solidFill>
                  <a:schemeClr val="tx1"/>
                </a:solidFill>
              </a:rPr>
              <a:t> = (1/C) Σ F1</a:t>
            </a:r>
            <a:pPr indent="0" marL="0">
              <a:buNone/>
            </a:pPr>
            <a:r>
              <a:rPr lang="en-US" sz="1550" i="1" baseline="-40000" dirty="0">
                <a:solidFill>
                  <a:schemeClr val="tx1"/>
                </a:solidFill>
              </a:rPr>
              <a:t>c</a:t>
            </a:r>
            <a:endParaRPr lang="en-US" sz="1550" dirty="0"/>
          </a:p>
        </p:txBody>
      </p:sp>
      <p:sp>
        <p:nvSpPr>
          <p:cNvPr id="13" name="card-333"/>
          <p:cNvSpPr/>
          <p:nvPr/>
        </p:nvSpPr>
        <p:spPr>
          <a:xfrm>
            <a:off x="548640" y="3383280"/>
            <a:ext cx="3566160" cy="2697480"/>
          </a:xfrm>
          <a:prstGeom prst="roundRect">
            <a:avLst>
              <a:gd name="adj" fmla="val 3390"/>
            </a:avLst>
          </a:prstGeom>
          <a:solidFill>
            <a:schemeClr val="tx2"/>
          </a:solidFill>
          <a:ln w="6350">
            <a:solidFill>
              <a:schemeClr val="tx2"/>
            </a:solidFill>
            <a:prstDash val="solid"/>
          </a:ln>
        </p:spPr>
      </p:sp>
      <p:sp>
        <p:nvSpPr>
          <p:cNvPr id="14" name="text-334"/>
          <p:cNvSpPr txBox="1"/>
          <p:nvPr/>
        </p:nvSpPr>
        <p:spPr>
          <a:xfrm>
            <a:off x="749808" y="3493008"/>
            <a:ext cx="3200400" cy="365760"/>
          </a:xfrm>
          <a:prstGeom prst="rect">
            <a:avLst/>
          </a:prstGeom>
          <a:noFill/>
          <a:ln/>
        </p:spPr>
        <p:txBody>
          <a:bodyPr wrap="square" lIns="0" tIns="0" rIns="0" bIns="0" rtlCol="0" anchor="t"/>
          <a:lstStyle/>
          <a:p>
            <a:pPr indent="0" marL="0">
              <a:buNone/>
            </a:pPr>
            <a:r>
              <a:rPr lang="en-US" sz="1500" b="1" dirty="0">
                <a:solidFill>
                  <a:schemeClr val="accent2"/>
                </a:solidFill>
              </a:rPr>
              <a:t>Pooled macro F1 (primary)</a:t>
            </a:r>
            <a:endParaRPr lang="en-US" sz="1500" dirty="0"/>
          </a:p>
        </p:txBody>
      </p:sp>
      <p:sp>
        <p:nvSpPr>
          <p:cNvPr id="15" name="text-335"/>
          <p:cNvSpPr txBox="1"/>
          <p:nvPr/>
        </p:nvSpPr>
        <p:spPr>
          <a:xfrm>
            <a:off x="749808" y="39319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bg1"/>
                </a:solidFill>
              </a:rPr>
              <a:t>Confusion matrices of the 25 folds are summed into one 3 × 3 matrix</a:t>
            </a:r>
            <a:endParaRPr lang="en-US" sz="1650" dirty="0"/>
          </a:p>
          <a:p>
            <a:pPr marL="342900" indent="-342900">
              <a:spcAft>
                <a:spcPts val="500"/>
              </a:spcAft>
              <a:buSzPct val="100000"/>
              <a:buChar char="•"/>
            </a:pPr>
            <a:r>
              <a:rPr lang="en-US" sz="1300" dirty="0">
                <a:solidFill>
                  <a:schemeClr val="bg1"/>
                </a:solidFill>
              </a:rPr>
              <a:t>Per-class F1 is computed once from the pooled counts</a:t>
            </a:r>
            <a:endParaRPr lang="en-US" sz="1650" dirty="0"/>
          </a:p>
          <a:p>
            <a:pPr marL="342900" indent="-342900">
              <a:spcAft>
                <a:spcPts val="500"/>
              </a:spcAft>
              <a:buSzPct val="100000"/>
              <a:buChar char="•"/>
            </a:pPr>
            <a:r>
              <a:rPr lang="en-US" sz="1300" dirty="0">
                <a:solidFill>
                  <a:schemeClr val="bg1"/>
                </a:solidFill>
              </a:rPr>
              <a:t>Identical in construction to the UF1 of MEGC 2019</a:t>
            </a:r>
            <a:endParaRPr lang="en-US" sz="1650" dirty="0"/>
          </a:p>
        </p:txBody>
      </p:sp>
      <p:sp>
        <p:nvSpPr>
          <p:cNvPr id="16" name="card-336"/>
          <p:cNvSpPr/>
          <p:nvPr/>
        </p:nvSpPr>
        <p:spPr>
          <a:xfrm>
            <a:off x="4315968" y="3383280"/>
            <a:ext cx="3566160" cy="2697480"/>
          </a:xfrm>
          <a:prstGeom prst="roundRect">
            <a:avLst>
              <a:gd name="adj" fmla="val 3390"/>
            </a:avLst>
          </a:prstGeom>
          <a:solidFill>
            <a:schemeClr val="bg2"/>
          </a:solidFill>
          <a:ln w="6350">
            <a:solidFill>
              <a:schemeClr val="bg2"/>
            </a:solidFill>
            <a:prstDash val="solid"/>
          </a:ln>
        </p:spPr>
      </p:sp>
      <p:sp>
        <p:nvSpPr>
          <p:cNvPr id="17" name="text-337"/>
          <p:cNvSpPr txBox="1"/>
          <p:nvPr/>
        </p:nvSpPr>
        <p:spPr>
          <a:xfrm>
            <a:off x="4517136" y="3493008"/>
            <a:ext cx="3200400" cy="365760"/>
          </a:xfrm>
          <a:prstGeom prst="rect">
            <a:avLst/>
          </a:prstGeom>
          <a:noFill/>
          <a:ln/>
        </p:spPr>
        <p:txBody>
          <a:bodyPr wrap="square" lIns="0" tIns="0" rIns="0" bIns="0" rtlCol="0" anchor="t"/>
          <a:lstStyle/>
          <a:p>
            <a:pPr indent="0" marL="0">
              <a:buNone/>
            </a:pPr>
            <a:r>
              <a:rPr lang="en-US" sz="1500" b="1" dirty="0">
                <a:solidFill>
                  <a:schemeClr val="accent1"/>
                </a:solidFill>
              </a:rPr>
              <a:t>Mean-of-folds macro F1 (rejected)</a:t>
            </a:r>
            <a:endParaRPr lang="en-US" sz="1500" dirty="0"/>
          </a:p>
        </p:txBody>
      </p:sp>
      <p:sp>
        <p:nvSpPr>
          <p:cNvPr id="18" name="text-338"/>
          <p:cNvSpPr txBox="1"/>
          <p:nvPr/>
        </p:nvSpPr>
        <p:spPr>
          <a:xfrm>
            <a:off x="4517136" y="39319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Macro F1 is computed in each fold and averaged</a:t>
            </a:r>
            <a:endParaRPr lang="en-US" sz="1650" dirty="0"/>
          </a:p>
          <a:p>
            <a:pPr marL="342900" indent="-342900">
              <a:spcAft>
                <a:spcPts val="500"/>
              </a:spcAft>
              <a:buSzPct val="100000"/>
              <a:buChar char="•"/>
            </a:pPr>
            <a:r>
              <a:rPr lang="en-US" sz="1300" dirty="0">
                <a:solidFill>
                  <a:schemeClr val="tx1"/>
                </a:solidFill>
              </a:rPr>
              <a:t>A class absent from a fold scores zero</a:t>
            </a:r>
            <a:endParaRPr lang="en-US" sz="1650" dirty="0"/>
          </a:p>
          <a:p>
            <a:pPr marL="342900" indent="-342900">
              <a:spcAft>
                <a:spcPts val="500"/>
              </a:spcAft>
              <a:buSzPct val="100000"/>
              <a:buChar char="•"/>
            </a:pPr>
            <a:r>
              <a:rPr lang="en-US" sz="1300" dirty="0">
                <a:solidFill>
                  <a:schemeClr val="tx1"/>
                </a:solidFill>
              </a:rPr>
              <a:t>Bounded at 0.627 by fold composition alone</a:t>
            </a:r>
            <a:endParaRPr lang="en-US" sz="1650" dirty="0"/>
          </a:p>
        </p:txBody>
      </p:sp>
      <p:sp>
        <p:nvSpPr>
          <p:cNvPr id="19" name="card-339"/>
          <p:cNvSpPr/>
          <p:nvPr/>
        </p:nvSpPr>
        <p:spPr>
          <a:xfrm>
            <a:off x="8083296" y="3383280"/>
            <a:ext cx="3566160" cy="2697480"/>
          </a:xfrm>
          <a:prstGeom prst="roundRect">
            <a:avLst>
              <a:gd name="adj" fmla="val 3390"/>
            </a:avLst>
          </a:prstGeom>
          <a:solidFill>
            <a:schemeClr val="bg2"/>
          </a:solidFill>
          <a:ln w="6350">
            <a:solidFill>
              <a:schemeClr val="bg2"/>
            </a:solidFill>
            <a:prstDash val="solid"/>
          </a:ln>
        </p:spPr>
      </p:sp>
      <p:sp>
        <p:nvSpPr>
          <p:cNvPr id="20" name="text-340"/>
          <p:cNvSpPr txBox="1"/>
          <p:nvPr/>
        </p:nvSpPr>
        <p:spPr>
          <a:xfrm>
            <a:off x="8284464" y="3493008"/>
            <a:ext cx="3200400" cy="365760"/>
          </a:xfrm>
          <a:prstGeom prst="rect">
            <a:avLst/>
          </a:prstGeom>
          <a:noFill/>
          <a:ln/>
        </p:spPr>
        <p:txBody>
          <a:bodyPr wrap="square" lIns="0" tIns="0" rIns="0" bIns="0" rtlCol="0" anchor="t"/>
          <a:lstStyle/>
          <a:p>
            <a:pPr indent="0" marL="0">
              <a:buNone/>
            </a:pPr>
            <a:r>
              <a:rPr lang="en-US" sz="1500" b="1" dirty="0">
                <a:solidFill>
                  <a:schemeClr val="accent1"/>
                </a:solidFill>
              </a:rPr>
              <a:t>Accuracy (reported alongside)</a:t>
            </a:r>
            <a:endParaRPr lang="en-US" sz="1500" dirty="0"/>
          </a:p>
        </p:txBody>
      </p:sp>
      <p:sp>
        <p:nvSpPr>
          <p:cNvPr id="21" name="text-341"/>
          <p:cNvSpPr txBox="1"/>
          <p:nvPr/>
        </p:nvSpPr>
        <p:spPr>
          <a:xfrm>
            <a:off x="8284464" y="39319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Equals micro F1 in single-label classification</a:t>
            </a:r>
            <a:endParaRPr lang="en-US" sz="1650" dirty="0"/>
          </a:p>
          <a:p>
            <a:pPr marL="342900" indent="-342900">
              <a:spcAft>
                <a:spcPts val="500"/>
              </a:spcAft>
              <a:buSzPct val="100000"/>
              <a:buChar char="•"/>
            </a:pPr>
            <a:r>
              <a:rPr lang="en-US" sz="1300" dirty="0">
                <a:solidFill>
                  <a:schemeClr val="tx1"/>
                </a:solidFill>
              </a:rPr>
              <a:t>Dominated by the majority class</a:t>
            </a:r>
            <a:endParaRPr lang="en-US" sz="1650" dirty="0"/>
          </a:p>
          <a:p>
            <a:pPr marL="342900" indent="-342900">
              <a:spcAft>
                <a:spcPts val="500"/>
              </a:spcAft>
              <a:buSzPct val="100000"/>
              <a:buChar char="•"/>
            </a:pPr>
            <a:r>
              <a:rPr lang="en-US" sz="1300" dirty="0">
                <a:solidFill>
                  <a:schemeClr val="tx1"/>
                </a:solidFill>
              </a:rPr>
              <a:t>All-Negative: accuracy 0.6346, macro F1 0.2588</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Published evidence for magnification and strain</a:t>
            </a:r>
            <a:endParaRPr lang="en-US" sz="3000" dirty="0"/>
          </a:p>
        </p:txBody>
      </p:sp>
      <p:sp>
        <p:nvSpPr>
          <p:cNvPr id="4" name="text-342"/>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Magnification on CASME II (Li et al., 2018)</a:t>
            </a:r>
            <a:endParaRPr lang="en-US" sz="1600" dirty="0"/>
          </a:p>
        </p:txBody>
      </p:sp>
      <p:graphicFrame>
        <p:nvGraphicFramePr>
          <p:cNvPr id="37" name="table-evm-effect"/>
          <p:cNvGraphicFramePr>
            <a:graphicFrameLocks noGrp="1"/>
          </p:cNvGraphicFramePr>
          <p:nvPr>
            <p:extLst>
              <p:ext uri="{D42A27DB-BD31-4B8C-83A1-F6EECF244321}">
                <p14:modId xmlns:p14="http://schemas.microsoft.com/office/powerpoint/2010/main" val="1579011935"/>
              </p:ext>
            </p:extLst>
          </p:nvPr>
        </p:nvGraphicFramePr>
        <p:xfrm>
          <a:off x="548640" y="1691640"/>
          <a:ext cx="5449824" cy="914400"/>
        </p:xfrm>
        <a:graphic>
          <a:graphicData uri="http://schemas.openxmlformats.org/drawingml/2006/table">
            <a:tbl>
              <a:tblPr/>
              <a:tblGrid>
                <a:gridCol w="1554480"/>
                <a:gridCol w="1298448"/>
                <a:gridCol w="1298448"/>
                <a:gridCol w="1298448"/>
              </a:tblGrid>
              <a:tr h="420624">
                <a:tc>
                  <a:txBody>
                    <a:bodyPr/>
                    <a:lstStyle/>
                    <a:p>
                      <a:pPr algn="l" indent="0" marL="0">
                        <a:buNone/>
                      </a:pPr>
                      <a:r>
                        <a:rPr lang="en-US" sz="1200" b="1" dirty="0">
                          <a:solidFill>
                            <a:srgbClr val="FFFFFF"/>
                          </a:solidFill>
                        </a:rPr>
                        <a:t>Descriptor</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Without</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With</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Gain</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300" dirty="0">
                          <a:solidFill>
                            <a:srgbClr val="1B2B34"/>
                          </a:solidFill>
                        </a:rPr>
                        <a:t>LBP</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55.87 %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60.73 %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b="1" dirty="0">
                          <a:solidFill>
                            <a:srgbClr val="1B2B34"/>
                          </a:solidFill>
                        </a:rPr>
                        <a:t>+4.86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HOG</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57.49 %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63.97 %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b="1" dirty="0">
                          <a:solidFill>
                            <a:srgbClr val="1B2B34"/>
                          </a:solidFill>
                        </a:rPr>
                        <a:t>+6.48</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420624">
                <a:tc>
                  <a:txBody>
                    <a:bodyPr/>
                    <a:lstStyle/>
                    <a:p>
                      <a:pPr algn="l" indent="0" marL="0">
                        <a:buNone/>
                      </a:pPr>
                      <a:r>
                        <a:rPr lang="en-US" sz="1300" dirty="0">
                          <a:solidFill>
                            <a:srgbClr val="1B2B34"/>
                          </a:solidFill>
                        </a:rPr>
                        <a:t>HIGO</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57.09 %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67.21 %</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b="1" dirty="0">
                          <a:solidFill>
                            <a:srgbClr val="1B2B34"/>
                          </a:solidFill>
                        </a:rPr>
                        <a:t>+10.12</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6" name="text-343"/>
          <p:cNvSpPr txBox="1"/>
          <p:nvPr/>
        </p:nvSpPr>
        <p:spPr>
          <a:xfrm>
            <a:off x="548640" y="3840480"/>
            <a:ext cx="5449824" cy="22860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Leave-one-subject-out accuracy; the only controlled comparison with and without magnification in the reviewed literature</a:t>
            </a:r>
            <a:endParaRPr lang="en-US" sz="1650" dirty="0"/>
          </a:p>
          <a:p>
            <a:pPr marL="342900" indent="-342900">
              <a:spcAft>
                <a:spcPts val="500"/>
              </a:spcAft>
              <a:buSzPct val="100000"/>
              <a:buChar char="•"/>
            </a:pPr>
            <a:r>
              <a:rPr lang="en-US" sz="1300" dirty="0">
                <a:solidFill>
                  <a:schemeClr val="tx1"/>
                </a:solidFill>
              </a:rPr>
              <a:t>Accuracy over α is 'rainbow-shaped', with the best performance generally in the range 8 to 16</a:t>
            </a:r>
            <a:endParaRPr lang="en-US" sz="1650" dirty="0"/>
          </a:p>
          <a:p>
            <a:pPr marL="342900" indent="-342900">
              <a:spcAft>
                <a:spcPts val="500"/>
              </a:spcAft>
              <a:buSzPct val="100000"/>
              <a:buChar char="•"/>
            </a:pPr>
            <a:r>
              <a:rPr lang="en-US" sz="1300" dirty="0">
                <a:solidFill>
                  <a:schemeClr val="tx1"/>
                </a:solidFill>
              </a:rPr>
              <a:t>Every evaluation uses an appearance-based descriptor; none uses an explicit motion field</a:t>
            </a:r>
            <a:endParaRPr lang="en-US" sz="1650" dirty="0"/>
          </a:p>
        </p:txBody>
      </p:sp>
      <p:sp>
        <p:nvSpPr>
          <p:cNvPr id="7" name="text-344"/>
          <p:cNvSpPr txBox="1"/>
          <p:nvPr/>
        </p:nvSpPr>
        <p:spPr>
          <a:xfrm>
            <a:off x="6190488" y="128016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Strain descriptors (Liong et al., 2016)</a:t>
            </a:r>
            <a:endParaRPr lang="en-US" sz="1600" dirty="0"/>
          </a:p>
        </p:txBody>
      </p:sp>
      <p:graphicFrame>
        <p:nvGraphicFramePr>
          <p:cNvPr id="73" name="table-strain"/>
          <p:cNvGraphicFramePr>
            <a:graphicFrameLocks noGrp="1"/>
          </p:cNvGraphicFramePr>
          <p:nvPr>
            <p:extLst>
              <p:ext uri="{D42A27DB-BD31-4B8C-83A1-F6EECF244321}">
                <p14:modId xmlns:p14="http://schemas.microsoft.com/office/powerpoint/2010/main" val="1579011935"/>
              </p:ext>
            </p:extLst>
          </p:nvPr>
        </p:nvGraphicFramePr>
        <p:xfrm>
          <a:off x="6190488" y="1691640"/>
          <a:ext cx="5449824" cy="914400"/>
        </p:xfrm>
        <a:graphic>
          <a:graphicData uri="http://schemas.openxmlformats.org/drawingml/2006/table">
            <a:tbl>
              <a:tblPr/>
              <a:tblGrid>
                <a:gridCol w="2340864"/>
                <a:gridCol w="1554480"/>
                <a:gridCol w="1554480"/>
              </a:tblGrid>
              <a:tr h="365760">
                <a:tc>
                  <a:txBody>
                    <a:bodyPr/>
                    <a:lstStyle/>
                    <a:p>
                      <a:pPr algn="l" indent="0" marL="0">
                        <a:buNone/>
                      </a:pPr>
                      <a:r>
                        <a:rPr lang="en-US" sz="1200" b="1" dirty="0">
                          <a:solidFill>
                            <a:srgbClr val="FFFFFF"/>
                          </a:solidFill>
                        </a:rPr>
                        <a:t>Method</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SMIC (%)</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200" b="1" dirty="0">
                          <a:solidFill>
                            <a:srgbClr val="FFFFFF"/>
                          </a:solidFill>
                        </a:rPr>
                        <a:t>CASME II (%)</a:t>
                      </a:r>
                      <a:endParaRPr lang="en-US" sz="12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65760">
                <a:tc>
                  <a:txBody>
                    <a:bodyPr/>
                    <a:lstStyle/>
                    <a:p>
                      <a:pPr algn="l" indent="0" marL="0">
                        <a:buNone/>
                      </a:pPr>
                      <a:r>
                        <a:rPr lang="en-US" sz="1300" dirty="0">
                          <a:solidFill>
                            <a:srgbClr val="1B2B34"/>
                          </a:solidFill>
                        </a:rPr>
                        <a:t>Baseline (texture)</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45.73</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61.94</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65760">
                <a:tc>
                  <a:txBody>
                    <a:bodyPr/>
                    <a:lstStyle/>
                    <a:p>
                      <a:pPr algn="l" indent="0" marL="0">
                        <a:buNone/>
                      </a:pPr>
                      <a:r>
                        <a:rPr lang="en-US" sz="1300" dirty="0">
                          <a:solidFill>
                            <a:srgbClr val="1B2B34"/>
                          </a:solidFill>
                        </a:rPr>
                        <a:t>OSF</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41.46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51.01</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65760">
                <a:tc>
                  <a:txBody>
                    <a:bodyPr/>
                    <a:lstStyle/>
                    <a:p>
                      <a:pPr algn="l" indent="0" marL="0">
                        <a:buNone/>
                      </a:pPr>
                      <a:r>
                        <a:rPr lang="en-US" sz="1300" b="1" dirty="0">
                          <a:solidFill>
                            <a:srgbClr val="1B2B34"/>
                          </a:solidFill>
                        </a:rPr>
                        <a:t>OSF + OSW</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b="1" dirty="0">
                          <a:solidFill>
                            <a:srgbClr val="1B2B34"/>
                          </a:solidFill>
                        </a:rPr>
                        <a:t>52.44</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b="1" dirty="0">
                          <a:solidFill>
                            <a:srgbClr val="1B2B34"/>
                          </a:solidFill>
                        </a:rPr>
                        <a:t>63.16</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65760">
                <a:tc>
                  <a:txBody>
                    <a:bodyPr/>
                    <a:lstStyle/>
                    <a:p>
                      <a:pPr algn="l" indent="0" marL="0">
                        <a:buNone/>
                      </a:pPr>
                      <a:r>
                        <a:rPr lang="en-US" sz="1300" dirty="0">
                          <a:solidFill>
                            <a:srgbClr val="1B2B34"/>
                          </a:solidFill>
                        </a:rPr>
                        <a:t>OFF + OFW (flow)</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40.24</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300" dirty="0">
                          <a:solidFill>
                            <a:srgbClr val="1B2B34"/>
                          </a:solidFill>
                        </a:rPr>
                        <a:t>55.87</a:t>
                      </a:r>
                      <a:endParaRPr lang="en-US" sz="13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9" name="text-345"/>
          <p:cNvSpPr txBox="1"/>
          <p:nvPr/>
        </p:nvSpPr>
        <p:spPr>
          <a:xfrm>
            <a:off x="6190488" y="3840480"/>
            <a:ext cx="5449824" cy="22860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A matched comparison of strain and flow within one framework</a:t>
            </a:r>
            <a:endParaRPr lang="en-US" sz="1650" dirty="0"/>
          </a:p>
          <a:p>
            <a:pPr marL="342900" indent="-342900">
              <a:spcAft>
                <a:spcPts val="500"/>
              </a:spcAft>
              <a:buSzPct val="100000"/>
              <a:buChar char="•"/>
            </a:pPr>
            <a:r>
              <a:rPr lang="en-US" sz="1300" dirty="0">
                <a:solidFill>
                  <a:schemeClr val="tx1"/>
                </a:solidFill>
              </a:rPr>
              <a:t>CASME II is evaluated leave-one-video-out, which is not subject-independent</a:t>
            </a:r>
            <a:endParaRPr lang="en-US" sz="1650" dirty="0"/>
          </a:p>
          <a:p>
            <a:pPr marL="342900" indent="-342900">
              <a:spcAft>
                <a:spcPts val="500"/>
              </a:spcAft>
              <a:buSzPct val="100000"/>
              <a:buChar char="•"/>
            </a:pPr>
            <a:r>
              <a:rPr lang="en-US" sz="1300" dirty="0">
                <a:solidFill>
                  <a:schemeClr val="tx1"/>
                </a:solidFill>
              </a:rPr>
              <a:t>Hand-crafted descriptors; it does not establish the gain from a strain channel in a learned sequence model</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Full results for the twelve configurations</a:t>
            </a:r>
            <a:endParaRPr lang="en-US" sz="3000" dirty="0"/>
          </a:p>
        </p:txBody>
      </p:sp>
      <p:graphicFrame>
        <p:nvGraphicFramePr>
          <p:cNvPr id="38" name="table-full-results"/>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731520"/>
                <a:gridCol w="914400"/>
                <a:gridCol w="731520"/>
                <a:gridCol w="822960"/>
                <a:gridCol w="731520"/>
                <a:gridCol w="731520"/>
                <a:gridCol w="1234440"/>
                <a:gridCol w="1234440"/>
                <a:gridCol w="1325880"/>
                <a:gridCol w="1325880"/>
                <a:gridCol w="1307592"/>
              </a:tblGrid>
              <a:tr h="352044">
                <a:tc>
                  <a:txBody>
                    <a:bodyPr/>
                    <a:lstStyle/>
                    <a:p>
                      <a:pPr algn="ctr" indent="0" marL="0">
                        <a:buNone/>
                      </a:pPr>
                      <a:r>
                        <a:rPr lang="en-US" sz="1150" b="1" dirty="0">
                          <a:solidFill>
                            <a:srgbClr val="FFFFFF"/>
                          </a:solidFill>
                        </a:rPr>
                        <a:t>Rank</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Config.</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EVM</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SimAM</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CNN</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TF</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Macro F1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Accuracy</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F1 Negative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F1 Positive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50" b="1" dirty="0">
                          <a:solidFill>
                            <a:srgbClr val="FFFFFF"/>
                          </a:solidFill>
                        </a:rPr>
                        <a:t>F1 Surprise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52044">
                <a:tc>
                  <a:txBody>
                    <a:bodyPr/>
                    <a:lstStyle/>
                    <a:p>
                      <a:pPr algn="ctr" indent="0" marL="0">
                        <a:buNone/>
                      </a:pPr>
                      <a:r>
                        <a:rPr lang="en-US" sz="1150" dirty="0">
                          <a:solidFill>
                            <a:srgbClr val="1B2B34"/>
                          </a:solidFill>
                        </a:rPr>
                        <a:t>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0.7122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0.7436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0.8068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0.6506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0.6792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0.6659</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0.7500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0.8458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0.5556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0.5965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3</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0.6625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0.7051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0.7845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0.5479</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0.6552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4</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C12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0.6581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0.6795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0.7485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0.5591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0.6667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0.6171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0.7308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0.8325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0.4286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0.5902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C9</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0.5830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0.7308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0.8491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0.6000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0.3000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C13</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0.4480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0.4359</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0.4127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0.5278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0.4035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C4</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0.4386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0.4808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0.5641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0.5055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0.2462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9</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0.4337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0.4615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0.5600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0.3714</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0.3696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10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C5</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0.4302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0.4231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0.3840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0.5227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0.3838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11</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C3</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0.4252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0.4167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0.3607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0.5227</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0.3922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50" dirty="0">
                          <a:solidFill>
                            <a:srgbClr val="1B2B34"/>
                          </a:solidFill>
                        </a:rPr>
                        <a:t>12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B3C49"/>
                          </a:solidFill>
                        </a:rPr>
                        <a:t>C16</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0E6B7A"/>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7C8D99"/>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B2B34"/>
                          </a:solidFill>
                        </a:rPr>
                        <a:t>0.4192</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EAF1F3"/>
                    </a:solidFill>
                  </a:tcPr>
                </a:tc>
                <a:tc>
                  <a:txBody>
                    <a:bodyPr/>
                    <a:lstStyle/>
                    <a:p>
                      <a:pPr algn="ctr" indent="0" marL="0">
                        <a:buNone/>
                      </a:pPr>
                      <a:r>
                        <a:rPr lang="en-US" sz="1150" dirty="0">
                          <a:solidFill>
                            <a:srgbClr val="1B2B34"/>
                          </a:solidFill>
                        </a:rPr>
                        <a:t>0.4038</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0.3500</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0.5143</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B2B34"/>
                          </a:solidFill>
                        </a:rPr>
                        <a:t>0.3934</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text-346"/>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150" i="1" dirty="0">
                <a:solidFill>
                  <a:schemeClr val="accent3"/>
                </a:solidFill>
              </a:rPr>
              <a:t>Pooled over the 25 leave-one-subject-out folds (156 clips). EVM: magnification; CNN: convolutional stem; TF: transformer.</a:t>
            </a:r>
            <a:endParaRPr lang="en-US" sz="11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How often each class is predicted</a:t>
            </a:r>
            <a:endParaRPr lang="en-US" sz="3000" dirty="0"/>
          </a:p>
        </p:txBody>
      </p:sp>
      <p:graphicFrame>
        <p:nvGraphicFramePr>
          <p:cNvPr id="4" name="Chart 0" descr="Clustered bar chart of predicted class counts for every configuration against the true class sizes"/>
          <p:cNvGraphicFramePr/>
          <p:nvPr/>
        </p:nvGraphicFramePr>
        <p:xfrm>
          <a:off x="548640" y="1280160"/>
          <a:ext cx="7955280" cy="4846320"/>
        </p:xfrm>
        <a:graphic xmlns:a="http://schemas.openxmlformats.org/drawingml/2006/main">
          <a:graphicData uri="http://schemas.openxmlformats.org/drawingml/2006/chart">
            <c:chart xmlns:c="http://schemas.openxmlformats.org/drawingml/2006/chart" r:id="rId1"/>
          </a:graphicData>
        </a:graphic>
      </p:graphicFrame>
      <p:sp>
        <p:nvSpPr>
          <p:cNvPr id="5" name="text-347"/>
          <p:cNvSpPr txBox="1"/>
          <p:nvPr/>
        </p:nvSpPr>
        <p:spPr>
          <a:xfrm>
            <a:off x="8732520" y="1417320"/>
            <a:ext cx="2907792" cy="4663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First group: true class sizes (99, 32, 25)</a:t>
            </a:r>
            <a:endParaRPr lang="en-US" sz="1650" dirty="0"/>
          </a:p>
          <a:p>
            <a:pPr marL="342900" indent="-342900">
              <a:spcAft>
                <a:spcPts val="700"/>
              </a:spcAft>
              <a:buSzPct val="100000"/>
              <a:buChar char="•"/>
            </a:pPr>
            <a:r>
              <a:rPr lang="en-US" sz="1400" dirty="0">
                <a:solidFill>
                  <a:schemeClr val="tx1"/>
                </a:solidFill>
              </a:rPr>
              <a:t>Without the transformer, Surprise is predicted 40 to 97 times and Positive 38 to 59 times</a:t>
            </a:r>
            <a:endParaRPr lang="en-US" sz="1650" dirty="0"/>
          </a:p>
          <a:p>
            <a:pPr marL="342900" indent="-342900">
              <a:spcAft>
                <a:spcPts val="700"/>
              </a:spcAft>
              <a:buSzPct val="100000"/>
              <a:buChar char="•"/>
            </a:pPr>
            <a:r>
              <a:rPr lang="en-US" sz="1400" dirty="0">
                <a:solidFill>
                  <a:schemeClr val="tx1"/>
                </a:solidFill>
              </a:rPr>
              <a:t>With the transformer, predicted counts lie much closer to the true counts</a:t>
            </a:r>
            <a:endParaRPr lang="en-US" sz="1650" dirty="0"/>
          </a:p>
          <a:p>
            <a:pPr marL="342900" indent="-342900">
              <a:spcAft>
                <a:spcPts val="700"/>
              </a:spcAft>
              <a:buSzPct val="100000"/>
              <a:buChar char="•"/>
            </a:pPr>
            <a:r>
              <a:rPr lang="en-US" sz="1400" dirty="0">
                <a:solidFill>
                  <a:schemeClr val="tx1"/>
                </a:solidFill>
              </a:rPr>
              <a:t>With stem and transformer, Negative is predicted 82 to 113 times</a:t>
            </a:r>
            <a:endParaRPr lang="en-US" sz="16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Twelve declared divergences from the reviewed literature</a:t>
            </a:r>
            <a:endParaRPr lang="en-US" sz="3000" dirty="0"/>
          </a:p>
        </p:txBody>
      </p:sp>
      <p:graphicFrame>
        <p:nvGraphicFramePr>
          <p:cNvPr id="40" name="table-divergences"/>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457200"/>
                <a:gridCol w="5669280"/>
                <a:gridCol w="4965192"/>
              </a:tblGrid>
              <a:tr h="352044">
                <a:tc>
                  <a:txBody>
                    <a:bodyPr/>
                    <a:lstStyle/>
                    <a:p>
                      <a:pPr algn="ctr" indent="0" marL="0">
                        <a:buNone/>
                      </a:pPr>
                      <a:r>
                        <a:rPr lang="en-US" sz="1150" b="1" dirty="0">
                          <a:solidFill>
                            <a:srgbClr val="FFFFFF"/>
                          </a:solidFill>
                        </a:rPr>
                        <a: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50" b="1" dirty="0">
                          <a:solidFill>
                            <a:srgbClr val="FFFFFF"/>
                          </a:solidFill>
                        </a:rPr>
                        <a:t>Divergence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50" b="1" dirty="0">
                          <a:solidFill>
                            <a:srgbClr val="FFFFFF"/>
                          </a:solidFill>
                        </a:rPr>
                        <a:t>Consequence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352044">
                <a:tc>
                  <a:txBody>
                    <a:bodyPr/>
                    <a:lstStyle/>
                    <a:p>
                      <a:pPr algn="ctr" indent="0" marL="0">
                        <a:buNone/>
                      </a:pPr>
                      <a:r>
                        <a:rPr lang="en-US" sz="1100" b="1" dirty="0">
                          <a:solidFill>
                            <a:srgbClr val="0E6B7A"/>
                          </a:solidFill>
                        </a:rPr>
                        <a:t>1</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Working set of 156 clips (sadness and fear in Negative); MEGC subset has 145</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Comparison with challenge results is not like-for-like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2</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Original frames used, not the registered release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No landmark detection or alignment precedes the network</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3</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Magnification band 5–25 Hz with a Fourier mask, not 15–25 Hz with a Butterworth filter</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Admits the low frequencies that Bai et al. rejected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4</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Strain magnitude counts shear once, not twice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Shear weighted lower by √2; untested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5</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No dedicated strain filter</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Differentiation can amplify noise in the flow estimate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6</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Uniform index sampling, not TIM</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Avoids fabricating motion; cannot lengthen short clips</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7</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Magnification applied after subsampling</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Realised pass-band is clip-dependent and lower than intended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8</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Stem kernels are spatial only</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Tests a learned spatial stem, not spatio-temporal convolution</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9</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Stem input is 224 × 224, above the 100 × 100 of Xia et al.</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Stem effect may reflect resolution as much as architecture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10</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SimAM statistics over the whole clip; λ not re-tuned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Activations judged against the clip, not the frame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11</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Six differences from published SLSTT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The temporal encoder is not a reproduction of SLSTT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352044">
                <a:tc>
                  <a:txBody>
                    <a:bodyPr/>
                    <a:lstStyle/>
                    <a:p>
                      <a:pPr algn="ctr" indent="0" marL="0">
                        <a:buNone/>
                      </a:pPr>
                      <a:r>
                        <a:rPr lang="en-US" sz="1100" b="1" dirty="0">
                          <a:solidFill>
                            <a:srgbClr val="0E6B7A"/>
                          </a:solidFill>
                        </a:rPr>
                        <a:t>12</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Label smoothing of 0.05</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Neither supported nor contradicted by the reviewed literature</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text-348"/>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50" i="1" dirty="0">
                <a:solidFill>
                  <a:schemeClr val="tx2"/>
                </a:solidFill>
              </a:rPr>
              <a:t>None invalidates the ablation, because every configuration shares them. They constrain the wording of the conclusions.</a:t>
            </a:r>
            <a:endParaRPr lang="en-US" sz="125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ctr"/>
          <a:lstStyle/>
          <a:p>
            <a:pPr algn="l" indent="0" marL="0">
              <a:buNone/>
            </a:pPr>
            <a:r>
              <a:rPr lang="en-US" sz="3000" b="1" dirty="0">
                <a:solidFill>
                  <a:schemeClr val="tx2"/>
                </a:solidFill>
              </a:rPr>
              <a:t>Research gap and limitation for each component</a:t>
            </a:r>
            <a:endParaRPr lang="en-US" sz="3000" dirty="0"/>
          </a:p>
        </p:txBody>
      </p:sp>
      <p:graphicFrame>
        <p:nvGraphicFramePr>
          <p:cNvPr id="41" name="table-gaps"/>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920240"/>
                <a:gridCol w="4846320"/>
                <a:gridCol w="4325112"/>
              </a:tblGrid>
              <a:tr h="548640">
                <a:tc>
                  <a:txBody>
                    <a:bodyPr/>
                    <a:lstStyle/>
                    <a:p>
                      <a:pPr algn="l" indent="0" marL="0">
                        <a:buNone/>
                      </a:pPr>
                      <a:r>
                        <a:rPr lang="en-US" sz="1150" b="1" dirty="0">
                          <a:solidFill>
                            <a:srgbClr val="FFFFFF"/>
                          </a:solidFill>
                        </a:rPr>
                        <a:t>Component</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50" b="1" dirty="0">
                          <a:solidFill>
                            <a:srgbClr val="FFFFFF"/>
                          </a:solidFill>
                        </a:rPr>
                        <a:t>Research gap in the reviewed literature</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50" b="1" dirty="0">
                          <a:solidFill>
                            <a:srgbClr val="FFFFFF"/>
                          </a:solidFill>
                        </a:rPr>
                        <a:t>Limitation in this thesis</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solidFill>
                      <a:srgbClr val="0B3C49"/>
                    </a:solidFill>
                  </a:tcPr>
                </a:tc>
              </a:tr>
              <a:tr h="548640">
                <a:tc>
                  <a:txBody>
                    <a:bodyPr/>
                    <a:lstStyle/>
                    <a:p>
                      <a:pPr algn="l" indent="0" marL="0">
                        <a:buNone/>
                      </a:pPr>
                      <a:r>
                        <a:rPr lang="en-US" sz="1150" b="1" dirty="0">
                          <a:solidFill>
                            <a:srgbClr val="0E6B7A"/>
                          </a:solidFill>
                        </a:rPr>
                        <a:t>Magnification</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Evaluated only in front of appearance-based descriptors, never with an explicit motion field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α = 10 not varied; band, filter and ordering depart from the reference; no alignment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0E6B7A"/>
                          </a:solidFill>
                        </a:rPr>
                        <a:t>Optical flow</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Estimator not settled; a single onset-to-apex field against a flow sequence has not been measured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Farnebäck only; consecutive-frame flow; no flow-based alignment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0E6B7A"/>
                          </a:solidFill>
                        </a:rPr>
                        <a:t>Optical strain</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Evidence from hand-crafted descriptors under a protocol that is not subject-independent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Shear counted once; no strain filter; present in all twelve configurations</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0E6B7A"/>
                          </a:solidFill>
                        </a:rPr>
                        <a:t>Convolutional stem</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No study removes the learned stem; depth and resolution reduce performance on composite data</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Spatial kernels only; 224 × 224 input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0E6B7A"/>
                          </a:solidFill>
                        </a:rPr>
                        <a:t>SimAM</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Evaluated on natural images; per-frame against per-clip statistics untested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Clip-level statistics; λ not re-tuned; four pairs only</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E08E2B"/>
                          </a:solidFill>
                        </a:rPr>
                        <a:t>Temporal normalisation</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Ten frames by convention; studies report different optima; no comparison for motion input</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Uniform sampling, not TIM; 33 frames not varied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r h="548640">
                <a:tc>
                  <a:txBody>
                    <a:bodyPr/>
                    <a:lstStyle/>
                    <a:p>
                      <a:pPr algn="l" indent="0" marL="0">
                        <a:buNone/>
                      </a:pPr>
                      <a:r>
                        <a:rPr lang="en-US" sz="1150" b="1" dirty="0">
                          <a:solidFill>
                            <a:srgbClr val="E08E2B"/>
                          </a:solidFill>
                        </a:rPr>
                        <a:t>Transformer</a:t>
                      </a:r>
                      <a:endParaRPr lang="en-US" sz="115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Best results combine a pre-trained spatial transformer with an LSTM; from-scratch benefit not isolated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c>
                  <a:txBody>
                    <a:bodyPr/>
                    <a:lstStyle/>
                    <a:p>
                      <a:pPr algn="l" indent="0" marL="0">
                        <a:buNone/>
                      </a:pPr>
                      <a:r>
                        <a:rPr lang="en-US" sz="1100" dirty="0">
                          <a:solidFill>
                            <a:srgbClr val="1B2B34"/>
                          </a:solidFill>
                        </a:rPr>
                        <a:t>Six differences from SLSTT; self-attention not isolated</a:t>
                      </a:r>
                      <a:endParaRPr lang="en-US" sz="1100" dirty="0"/>
                    </a:p>
                  </a:txBody>
                  <a:tcPr marL="91440" marR="91440" marT="45720" marB="45720" anchor="ctr">
                    <a:lnL w="9525" cap="flat" cmpd="sng" algn="ctr">
                      <a:solidFill>
                        <a:srgbClr val="DDE5E8"/>
                      </a:solidFill>
                      <a:prstDash val="solid"/>
                      <a:round/>
                      <a:headEnd type="none" w="med" len="med"/>
                      <a:tailEnd type="none" w="med" len="med"/>
                    </a:lnL>
                    <a:lnR w="9525" cap="flat" cmpd="sng" algn="ctr">
                      <a:solidFill>
                        <a:srgbClr val="DDE5E8"/>
                      </a:solidFill>
                      <a:prstDash val="solid"/>
                      <a:round/>
                      <a:headEnd type="none" w="med" len="med"/>
                      <a:tailEnd type="none" w="med" len="med"/>
                    </a:lnR>
                    <a:lnT w="9525" cap="flat" cmpd="sng" algn="ctr">
                      <a:solidFill>
                        <a:srgbClr val="DDE5E8"/>
                      </a:solidFill>
                      <a:prstDash val="solid"/>
                      <a:round/>
                      <a:headEnd type="none" w="med" len="med"/>
                      <a:tailEnd type="none" w="med" len="med"/>
                    </a:lnT>
                    <a:lnB w="9525" cap="flat" cmpd="sng" algn="ctr">
                      <a:solidFill>
                        <a:srgbClr val="DDE5E8"/>
                      </a:solidFill>
                      <a:prstDash val="solid"/>
                      <a:round/>
                      <a:headEnd type="none" w="med" len="med"/>
                      <a:tailEnd type="none" w="med" len="med"/>
                    </a:lnB>
                  </a:tcPr>
                </a:tc>
              </a:tr>
            </a:tbl>
          </a:graphicData>
        </a:graphic>
      </p:graphicFrame>
      <p:sp>
        <p:nvSpPr>
          <p:cNvPr id="5" name="text-349"/>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i="1" dirty="0">
                <a:solidFill>
                  <a:schemeClr val="tx2"/>
                </a:solidFill>
              </a:rPr>
              <a:t>Teal: motion modelling. Amber: temporal modelling. Training: the imbalance treatment, γ and label smoothing are identical in all configurations, so their effects are not measured.</a:t>
            </a:r>
            <a:endParaRPr lang="en-US" sz="12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MER Defence">
  <a:themeElements>
    <a:clrScheme name="MER Defence">
      <a:dk1>
        <a:srgbClr val="1B2B34"/>
      </a:dk1>
      <a:lt1>
        <a:srgbClr val="FFFFFF"/>
      </a:lt1>
      <a:dk2>
        <a:srgbClr val="0B3C49"/>
      </a:dk2>
      <a:lt2>
        <a:srgbClr val="EAF1F3"/>
      </a:lt2>
      <a:accent1>
        <a:srgbClr val="0E6B7A"/>
      </a:accent1>
      <a:accent2>
        <a:srgbClr val="E08E2B"/>
      </a:accent2>
      <a:accent3>
        <a:srgbClr val="7C8D99"/>
      </a:accent3>
      <a:accent4>
        <a:srgbClr val="B4433A"/>
      </a:accent4>
      <a:accent5>
        <a:srgbClr val="3F8F6B"/>
      </a:accent5>
      <a:accent6>
        <a:srgbClr val="5A4E8C"/>
      </a:accent6>
      <a:hlink>
        <a:srgbClr val="0E6B7A"/>
      </a:hlink>
      <a:folHlink>
        <a:srgbClr val="5A4E8C"/>
      </a:folHlink>
    </a:clrScheme>
    <a:fontScheme name="MER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Micro-Expression Recognition through Temporal and Motion Modeling</dc:title>
  <dc:subject>Master's thesis defence</dc:subject>
  <dc:creator>PptxGenJS</dc:creator>
  <cp:lastModifiedBy>PptxGenJS</cp:lastModifiedBy>
  <cp:revision>1</cp:revision>
  <dcterms:created xsi:type="dcterms:W3CDTF">2026-10-01T23:34:59Z</dcterms:created>
  <dcterms:modified xsi:type="dcterms:W3CDTF">2026-10-01T23:34:59Z</dcterms:modified>
</cp:coreProperties>
</file>